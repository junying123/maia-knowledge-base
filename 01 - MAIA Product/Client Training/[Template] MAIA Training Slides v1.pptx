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10.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116.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63.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114.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110.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92.xml"/>
  <Override ContentType="application/vnd.openxmlformats-officedocument.presentationml.slide+xml" PartName="/ppt/slides/slide115.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60" r:id="rId6"/>
    <p:sldMasterId id="2147483661"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 id="301" r:id="rId54"/>
    <p:sldId id="302" r:id="rId55"/>
    <p:sldId id="303" r:id="rId56"/>
    <p:sldId id="304" r:id="rId57"/>
    <p:sldId id="305" r:id="rId58"/>
    <p:sldId id="306" r:id="rId59"/>
    <p:sldId id="307" r:id="rId60"/>
    <p:sldId id="308" r:id="rId61"/>
    <p:sldId id="309" r:id="rId62"/>
    <p:sldId id="310" r:id="rId63"/>
    <p:sldId id="311" r:id="rId64"/>
    <p:sldId id="312" r:id="rId65"/>
    <p:sldId id="313" r:id="rId66"/>
    <p:sldId id="314" r:id="rId67"/>
    <p:sldId id="315" r:id="rId68"/>
    <p:sldId id="316" r:id="rId69"/>
    <p:sldId id="317" r:id="rId70"/>
    <p:sldId id="318" r:id="rId71"/>
    <p:sldId id="319" r:id="rId72"/>
    <p:sldId id="320" r:id="rId73"/>
    <p:sldId id="321" r:id="rId74"/>
    <p:sldId id="322" r:id="rId75"/>
    <p:sldId id="323" r:id="rId76"/>
    <p:sldId id="324" r:id="rId77"/>
    <p:sldId id="325" r:id="rId78"/>
    <p:sldId id="326" r:id="rId79"/>
    <p:sldId id="327" r:id="rId80"/>
    <p:sldId id="328" r:id="rId81"/>
    <p:sldId id="329" r:id="rId82"/>
    <p:sldId id="330" r:id="rId83"/>
    <p:sldId id="331" r:id="rId84"/>
    <p:sldId id="332" r:id="rId85"/>
    <p:sldId id="333" r:id="rId86"/>
    <p:sldId id="334" r:id="rId87"/>
    <p:sldId id="335" r:id="rId88"/>
    <p:sldId id="336" r:id="rId89"/>
    <p:sldId id="337" r:id="rId90"/>
    <p:sldId id="338" r:id="rId91"/>
    <p:sldId id="339" r:id="rId92"/>
    <p:sldId id="340" r:id="rId93"/>
    <p:sldId id="341" r:id="rId94"/>
    <p:sldId id="342" r:id="rId95"/>
    <p:sldId id="343" r:id="rId96"/>
    <p:sldId id="344" r:id="rId97"/>
    <p:sldId id="345" r:id="rId98"/>
    <p:sldId id="346" r:id="rId99"/>
    <p:sldId id="347" r:id="rId100"/>
    <p:sldId id="348" r:id="rId101"/>
    <p:sldId id="349" r:id="rId102"/>
    <p:sldId id="350" r:id="rId103"/>
    <p:sldId id="351" r:id="rId104"/>
    <p:sldId id="352" r:id="rId105"/>
    <p:sldId id="353" r:id="rId106"/>
    <p:sldId id="354" r:id="rId107"/>
    <p:sldId id="355" r:id="rId108"/>
    <p:sldId id="356" r:id="rId109"/>
    <p:sldId id="357" r:id="rId110"/>
    <p:sldId id="358" r:id="rId111"/>
    <p:sldId id="359" r:id="rId112"/>
    <p:sldId id="360" r:id="rId113"/>
    <p:sldId id="361" r:id="rId114"/>
    <p:sldId id="362" r:id="rId115"/>
    <p:sldId id="363" r:id="rId116"/>
    <p:sldId id="364" r:id="rId117"/>
    <p:sldId id="365" r:id="rId118"/>
    <p:sldId id="366" r:id="rId119"/>
    <p:sldId id="367" r:id="rId120"/>
    <p:sldId id="368" r:id="rId121"/>
    <p:sldId id="369" r:id="rId122"/>
    <p:sldId id="370" r:id="rId123"/>
    <p:sldId id="371" r:id="rId124"/>
  </p:sldIdLst>
  <p:sldSz cy="5143500" cx="9144000"/>
  <p:notesSz cx="6858000" cy="9144000"/>
  <p:embeddedFontLst>
    <p:embeddedFont>
      <p:font typeface="Poppins"/>
      <p:regular r:id="rId125"/>
      <p:bold r:id="rId126"/>
      <p:italic r:id="rId127"/>
      <p:boldItalic r:id="rId128"/>
    </p:embeddedFont>
    <p:embeddedFont>
      <p:font typeface="Poppins Light"/>
      <p:regular r:id="rId129"/>
      <p:bold r:id="rId130"/>
      <p:italic r:id="rId131"/>
      <p:boldItalic r:id="rId1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Wan Sin"/>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BF32AB1-0267-494F-B4B6-53FBB97378B1}">
  <a:tblStyle styleId="{EBF32AB1-0267-494F-B4B6-53FBB97378B1}"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2.xml"/><Relationship Id="rId42" Type="http://schemas.openxmlformats.org/officeDocument/2006/relationships/slide" Target="slides/slide34.xml"/><Relationship Id="rId41" Type="http://schemas.openxmlformats.org/officeDocument/2006/relationships/slide" Target="slides/slide33.xml"/><Relationship Id="rId44" Type="http://schemas.openxmlformats.org/officeDocument/2006/relationships/slide" Target="slides/slide36.xml"/><Relationship Id="rId43" Type="http://schemas.openxmlformats.org/officeDocument/2006/relationships/slide" Target="slides/slide35.xml"/><Relationship Id="rId46" Type="http://schemas.openxmlformats.org/officeDocument/2006/relationships/slide" Target="slides/slide38.xml"/><Relationship Id="rId45" Type="http://schemas.openxmlformats.org/officeDocument/2006/relationships/slide" Target="slides/slide37.xml"/><Relationship Id="rId107" Type="http://schemas.openxmlformats.org/officeDocument/2006/relationships/slide" Target="slides/slide99.xml"/><Relationship Id="rId106" Type="http://schemas.openxmlformats.org/officeDocument/2006/relationships/slide" Target="slides/slide98.xml"/><Relationship Id="rId105" Type="http://schemas.openxmlformats.org/officeDocument/2006/relationships/slide" Target="slides/slide97.xml"/><Relationship Id="rId104" Type="http://schemas.openxmlformats.org/officeDocument/2006/relationships/slide" Target="slides/slide96.xml"/><Relationship Id="rId109" Type="http://schemas.openxmlformats.org/officeDocument/2006/relationships/slide" Target="slides/slide101.xml"/><Relationship Id="rId108" Type="http://schemas.openxmlformats.org/officeDocument/2006/relationships/slide" Target="slides/slide100.xml"/><Relationship Id="rId48" Type="http://schemas.openxmlformats.org/officeDocument/2006/relationships/slide" Target="slides/slide40.xml"/><Relationship Id="rId47" Type="http://schemas.openxmlformats.org/officeDocument/2006/relationships/slide" Target="slides/slide39.xml"/><Relationship Id="rId49" Type="http://schemas.openxmlformats.org/officeDocument/2006/relationships/slide" Target="slides/slide41.xml"/><Relationship Id="rId103" Type="http://schemas.openxmlformats.org/officeDocument/2006/relationships/slide" Target="slides/slide95.xml"/><Relationship Id="rId102" Type="http://schemas.openxmlformats.org/officeDocument/2006/relationships/slide" Target="slides/slide94.xml"/><Relationship Id="rId101" Type="http://schemas.openxmlformats.org/officeDocument/2006/relationships/slide" Target="slides/slide93.xml"/><Relationship Id="rId100" Type="http://schemas.openxmlformats.org/officeDocument/2006/relationships/slide" Target="slides/slide92.xml"/><Relationship Id="rId31" Type="http://schemas.openxmlformats.org/officeDocument/2006/relationships/slide" Target="slides/slide23.xml"/><Relationship Id="rId30" Type="http://schemas.openxmlformats.org/officeDocument/2006/relationships/slide" Target="slides/slide22.xml"/><Relationship Id="rId33" Type="http://schemas.openxmlformats.org/officeDocument/2006/relationships/slide" Target="slides/slide25.xml"/><Relationship Id="rId32" Type="http://schemas.openxmlformats.org/officeDocument/2006/relationships/slide" Target="slides/slide24.xml"/><Relationship Id="rId35" Type="http://schemas.openxmlformats.org/officeDocument/2006/relationships/slide" Target="slides/slide27.xml"/><Relationship Id="rId34" Type="http://schemas.openxmlformats.org/officeDocument/2006/relationships/slide" Target="slides/slide26.xml"/><Relationship Id="rId37" Type="http://schemas.openxmlformats.org/officeDocument/2006/relationships/slide" Target="slides/slide29.xml"/><Relationship Id="rId36" Type="http://schemas.openxmlformats.org/officeDocument/2006/relationships/slide" Target="slides/slide28.xml"/><Relationship Id="rId39" Type="http://schemas.openxmlformats.org/officeDocument/2006/relationships/slide" Target="slides/slide31.xml"/><Relationship Id="rId38" Type="http://schemas.openxmlformats.org/officeDocument/2006/relationships/slide" Target="slides/slide30.xml"/><Relationship Id="rId20" Type="http://schemas.openxmlformats.org/officeDocument/2006/relationships/slide" Target="slides/slide12.xml"/><Relationship Id="rId22" Type="http://schemas.openxmlformats.org/officeDocument/2006/relationships/slide" Target="slides/slide14.xml"/><Relationship Id="rId21" Type="http://schemas.openxmlformats.org/officeDocument/2006/relationships/slide" Target="slides/slide13.xml"/><Relationship Id="rId24" Type="http://schemas.openxmlformats.org/officeDocument/2006/relationships/slide" Target="slides/slide16.xml"/><Relationship Id="rId23" Type="http://schemas.openxmlformats.org/officeDocument/2006/relationships/slide" Target="slides/slide15.xml"/><Relationship Id="rId129" Type="http://schemas.openxmlformats.org/officeDocument/2006/relationships/font" Target="fonts/PoppinsLight-regular.fntdata"/><Relationship Id="rId128" Type="http://schemas.openxmlformats.org/officeDocument/2006/relationships/font" Target="fonts/Poppins-boldItalic.fntdata"/><Relationship Id="rId127" Type="http://schemas.openxmlformats.org/officeDocument/2006/relationships/font" Target="fonts/Poppins-italic.fntdata"/><Relationship Id="rId126" Type="http://schemas.openxmlformats.org/officeDocument/2006/relationships/font" Target="fonts/Poppins-bold.fntdata"/><Relationship Id="rId26" Type="http://schemas.openxmlformats.org/officeDocument/2006/relationships/slide" Target="slides/slide18.xml"/><Relationship Id="rId121" Type="http://schemas.openxmlformats.org/officeDocument/2006/relationships/slide" Target="slides/slide113.xml"/><Relationship Id="rId25" Type="http://schemas.openxmlformats.org/officeDocument/2006/relationships/slide" Target="slides/slide17.xml"/><Relationship Id="rId120" Type="http://schemas.openxmlformats.org/officeDocument/2006/relationships/slide" Target="slides/slide112.xml"/><Relationship Id="rId28" Type="http://schemas.openxmlformats.org/officeDocument/2006/relationships/slide" Target="slides/slide20.xml"/><Relationship Id="rId27" Type="http://schemas.openxmlformats.org/officeDocument/2006/relationships/slide" Target="slides/slide19.xml"/><Relationship Id="rId125" Type="http://schemas.openxmlformats.org/officeDocument/2006/relationships/font" Target="fonts/Poppins-regular.fntdata"/><Relationship Id="rId29" Type="http://schemas.openxmlformats.org/officeDocument/2006/relationships/slide" Target="slides/slide21.xml"/><Relationship Id="rId124" Type="http://schemas.openxmlformats.org/officeDocument/2006/relationships/slide" Target="slides/slide116.xml"/><Relationship Id="rId123" Type="http://schemas.openxmlformats.org/officeDocument/2006/relationships/slide" Target="slides/slide115.xml"/><Relationship Id="rId122" Type="http://schemas.openxmlformats.org/officeDocument/2006/relationships/slide" Target="slides/slide114.xml"/><Relationship Id="rId95" Type="http://schemas.openxmlformats.org/officeDocument/2006/relationships/slide" Target="slides/slide87.xml"/><Relationship Id="rId94" Type="http://schemas.openxmlformats.org/officeDocument/2006/relationships/slide" Target="slides/slide86.xml"/><Relationship Id="rId97" Type="http://schemas.openxmlformats.org/officeDocument/2006/relationships/slide" Target="slides/slide89.xml"/><Relationship Id="rId96" Type="http://schemas.openxmlformats.org/officeDocument/2006/relationships/slide" Target="slides/slide88.xml"/><Relationship Id="rId11" Type="http://schemas.openxmlformats.org/officeDocument/2006/relationships/slide" Target="slides/slide3.xml"/><Relationship Id="rId99" Type="http://schemas.openxmlformats.org/officeDocument/2006/relationships/slide" Target="slides/slide91.xml"/><Relationship Id="rId10" Type="http://schemas.openxmlformats.org/officeDocument/2006/relationships/slide" Target="slides/slide2.xml"/><Relationship Id="rId98" Type="http://schemas.openxmlformats.org/officeDocument/2006/relationships/slide" Target="slides/slide90.xml"/><Relationship Id="rId13" Type="http://schemas.openxmlformats.org/officeDocument/2006/relationships/slide" Target="slides/slide5.xml"/><Relationship Id="rId12" Type="http://schemas.openxmlformats.org/officeDocument/2006/relationships/slide" Target="slides/slide4.xml"/><Relationship Id="rId91" Type="http://schemas.openxmlformats.org/officeDocument/2006/relationships/slide" Target="slides/slide83.xml"/><Relationship Id="rId90" Type="http://schemas.openxmlformats.org/officeDocument/2006/relationships/slide" Target="slides/slide82.xml"/><Relationship Id="rId93" Type="http://schemas.openxmlformats.org/officeDocument/2006/relationships/slide" Target="slides/slide85.xml"/><Relationship Id="rId92" Type="http://schemas.openxmlformats.org/officeDocument/2006/relationships/slide" Target="slides/slide84.xml"/><Relationship Id="rId118" Type="http://schemas.openxmlformats.org/officeDocument/2006/relationships/slide" Target="slides/slide110.xml"/><Relationship Id="rId117" Type="http://schemas.openxmlformats.org/officeDocument/2006/relationships/slide" Target="slides/slide109.xml"/><Relationship Id="rId116" Type="http://schemas.openxmlformats.org/officeDocument/2006/relationships/slide" Target="slides/slide108.xml"/><Relationship Id="rId115" Type="http://schemas.openxmlformats.org/officeDocument/2006/relationships/slide" Target="slides/slide107.xml"/><Relationship Id="rId119" Type="http://schemas.openxmlformats.org/officeDocument/2006/relationships/slide" Target="slides/slide111.xml"/><Relationship Id="rId15" Type="http://schemas.openxmlformats.org/officeDocument/2006/relationships/slide" Target="slides/slide7.xml"/><Relationship Id="rId110" Type="http://schemas.openxmlformats.org/officeDocument/2006/relationships/slide" Target="slides/slide102.xml"/><Relationship Id="rId14" Type="http://schemas.openxmlformats.org/officeDocument/2006/relationships/slide" Target="slides/slide6.xml"/><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14" Type="http://schemas.openxmlformats.org/officeDocument/2006/relationships/slide" Target="slides/slide106.xml"/><Relationship Id="rId18" Type="http://schemas.openxmlformats.org/officeDocument/2006/relationships/slide" Target="slides/slide10.xml"/><Relationship Id="rId113" Type="http://schemas.openxmlformats.org/officeDocument/2006/relationships/slide" Target="slides/slide105.xml"/><Relationship Id="rId112" Type="http://schemas.openxmlformats.org/officeDocument/2006/relationships/slide" Target="slides/slide104.xml"/><Relationship Id="rId111" Type="http://schemas.openxmlformats.org/officeDocument/2006/relationships/slide" Target="slides/slide103.xml"/><Relationship Id="rId84" Type="http://schemas.openxmlformats.org/officeDocument/2006/relationships/slide" Target="slides/slide76.xml"/><Relationship Id="rId83" Type="http://schemas.openxmlformats.org/officeDocument/2006/relationships/slide" Target="slides/slide75.xml"/><Relationship Id="rId86" Type="http://schemas.openxmlformats.org/officeDocument/2006/relationships/slide" Target="slides/slide78.xml"/><Relationship Id="rId85" Type="http://schemas.openxmlformats.org/officeDocument/2006/relationships/slide" Target="slides/slide77.xml"/><Relationship Id="rId88" Type="http://schemas.openxmlformats.org/officeDocument/2006/relationships/slide" Target="slides/slide80.xml"/><Relationship Id="rId87" Type="http://schemas.openxmlformats.org/officeDocument/2006/relationships/slide" Target="slides/slide79.xml"/><Relationship Id="rId89" Type="http://schemas.openxmlformats.org/officeDocument/2006/relationships/slide" Target="slides/slide81.xml"/><Relationship Id="rId80" Type="http://schemas.openxmlformats.org/officeDocument/2006/relationships/slide" Target="slides/slide72.xml"/><Relationship Id="rId82" Type="http://schemas.openxmlformats.org/officeDocument/2006/relationships/slide" Target="slides/slide74.xml"/><Relationship Id="rId81" Type="http://schemas.openxmlformats.org/officeDocument/2006/relationships/slide" Target="slides/slide73.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1.xml"/><Relationship Id="rId5" Type="http://schemas.openxmlformats.org/officeDocument/2006/relationships/commentAuthors" Target="commentAuthors.xml"/><Relationship Id="rId6" Type="http://schemas.openxmlformats.org/officeDocument/2006/relationships/slideMaster" Target="slideMasters/slideMaster1.xml"/><Relationship Id="rId7" Type="http://schemas.openxmlformats.org/officeDocument/2006/relationships/slideMaster" Target="slideMasters/slideMaster2.xml"/><Relationship Id="rId8" Type="http://schemas.openxmlformats.org/officeDocument/2006/relationships/notesMaster" Target="notesMasters/notesMaster1.xml"/><Relationship Id="rId73" Type="http://schemas.openxmlformats.org/officeDocument/2006/relationships/slide" Target="slides/slide65.xml"/><Relationship Id="rId72" Type="http://schemas.openxmlformats.org/officeDocument/2006/relationships/slide" Target="slides/slide64.xml"/><Relationship Id="rId75" Type="http://schemas.openxmlformats.org/officeDocument/2006/relationships/slide" Target="slides/slide67.xml"/><Relationship Id="rId74" Type="http://schemas.openxmlformats.org/officeDocument/2006/relationships/slide" Target="slides/slide66.xml"/><Relationship Id="rId77" Type="http://schemas.openxmlformats.org/officeDocument/2006/relationships/slide" Target="slides/slide69.xml"/><Relationship Id="rId76" Type="http://schemas.openxmlformats.org/officeDocument/2006/relationships/slide" Target="slides/slide68.xml"/><Relationship Id="rId79" Type="http://schemas.openxmlformats.org/officeDocument/2006/relationships/slide" Target="slides/slide71.xml"/><Relationship Id="rId78" Type="http://schemas.openxmlformats.org/officeDocument/2006/relationships/slide" Target="slides/slide70.xml"/><Relationship Id="rId71" Type="http://schemas.openxmlformats.org/officeDocument/2006/relationships/slide" Target="slides/slide63.xml"/><Relationship Id="rId70" Type="http://schemas.openxmlformats.org/officeDocument/2006/relationships/slide" Target="slides/slide62.xml"/><Relationship Id="rId132" Type="http://schemas.openxmlformats.org/officeDocument/2006/relationships/font" Target="fonts/PoppinsLight-boldItalic.fntdata"/><Relationship Id="rId131" Type="http://schemas.openxmlformats.org/officeDocument/2006/relationships/font" Target="fonts/PoppinsLight-italic.fntdata"/><Relationship Id="rId130" Type="http://schemas.openxmlformats.org/officeDocument/2006/relationships/font" Target="fonts/PoppinsLight-bold.fntdata"/><Relationship Id="rId62" Type="http://schemas.openxmlformats.org/officeDocument/2006/relationships/slide" Target="slides/slide54.xml"/><Relationship Id="rId61" Type="http://schemas.openxmlformats.org/officeDocument/2006/relationships/slide" Target="slides/slide53.xml"/><Relationship Id="rId64" Type="http://schemas.openxmlformats.org/officeDocument/2006/relationships/slide" Target="slides/slide56.xml"/><Relationship Id="rId63" Type="http://schemas.openxmlformats.org/officeDocument/2006/relationships/slide" Target="slides/slide55.xml"/><Relationship Id="rId66" Type="http://schemas.openxmlformats.org/officeDocument/2006/relationships/slide" Target="slides/slide58.xml"/><Relationship Id="rId65" Type="http://schemas.openxmlformats.org/officeDocument/2006/relationships/slide" Target="slides/slide57.xml"/><Relationship Id="rId68" Type="http://schemas.openxmlformats.org/officeDocument/2006/relationships/slide" Target="slides/slide60.xml"/><Relationship Id="rId67" Type="http://schemas.openxmlformats.org/officeDocument/2006/relationships/slide" Target="slides/slide59.xml"/><Relationship Id="rId60" Type="http://schemas.openxmlformats.org/officeDocument/2006/relationships/slide" Target="slides/slide52.xml"/><Relationship Id="rId69" Type="http://schemas.openxmlformats.org/officeDocument/2006/relationships/slide" Target="slides/slide61.xml"/><Relationship Id="rId51" Type="http://schemas.openxmlformats.org/officeDocument/2006/relationships/slide" Target="slides/slide43.xml"/><Relationship Id="rId50" Type="http://schemas.openxmlformats.org/officeDocument/2006/relationships/slide" Target="slides/slide42.xml"/><Relationship Id="rId53" Type="http://schemas.openxmlformats.org/officeDocument/2006/relationships/slide" Target="slides/slide45.xml"/><Relationship Id="rId52" Type="http://schemas.openxmlformats.org/officeDocument/2006/relationships/slide" Target="slides/slide44.xml"/><Relationship Id="rId55" Type="http://schemas.openxmlformats.org/officeDocument/2006/relationships/slide" Target="slides/slide47.xml"/><Relationship Id="rId54" Type="http://schemas.openxmlformats.org/officeDocument/2006/relationships/slide" Target="slides/slide46.xml"/><Relationship Id="rId57" Type="http://schemas.openxmlformats.org/officeDocument/2006/relationships/slide" Target="slides/slide49.xml"/><Relationship Id="rId56" Type="http://schemas.openxmlformats.org/officeDocument/2006/relationships/slide" Target="slides/slide48.xml"/><Relationship Id="rId59" Type="http://schemas.openxmlformats.org/officeDocument/2006/relationships/slide" Target="slides/slide51.xml"/><Relationship Id="rId58" Type="http://schemas.openxmlformats.org/officeDocument/2006/relationships/slide" Target="slides/slide50.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6-17T03:46:01.185">
    <p:pos x="6000" y="0"/>
    <p:text>Folder to client training slides:
https://drive.google.com/drive/folders/1Yl5aOvkw9dmGK9JelXqqik48bhr8nvcX?usp=drive_link</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g3ec41b1eb9b_7_2:notes"/>
          <p:cNvSpPr/>
          <p:nvPr>
            <p:ph idx="2" type="sldImg"/>
          </p:nvPr>
        </p:nvSpPr>
        <p:spPr>
          <a:xfrm>
            <a:off x="685654" y="857296"/>
            <a:ext cx="5486693" cy="231469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 name="Google Shape;56;g3ec41b1eb9b_7_2:notes"/>
          <p:cNvSpPr txBox="1"/>
          <p:nvPr>
            <p:ph idx="1" type="body"/>
          </p:nvPr>
        </p:nvSpPr>
        <p:spPr>
          <a:xfrm>
            <a:off x="685800" y="3300588"/>
            <a:ext cx="5486400" cy="2700481"/>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[BUILD] Welcome everyone by name and role. Set the frame in one sentence: "In two hours you won't just see MAIA — you'll run real orders in it yourself." Don't start presenting yet. Go straight to the icebreaker.</a:t>
            </a:r>
            <a:br>
              <a:rPr lang="en-GB"/>
            </a:br>
            <a:br>
              <a:rPr lang="en-GB"/>
            </a:br>
            <a:r>
              <a:rPr lang="en-GB"/>
              <a:t>[PLACEHOLDER: fill in [Client Name], [Date], and [Trainer Name] on this slide before the session.]</a:t>
            </a:r>
            <a:endParaRPr/>
          </a:p>
        </p:txBody>
      </p:sp>
      <p:sp>
        <p:nvSpPr>
          <p:cNvPr id="57" name="Google Shape;57;g3ec41b1eb9b_7_2:notes"/>
          <p:cNvSpPr txBox="1"/>
          <p:nvPr>
            <p:ph idx="12" type="sldNum"/>
          </p:nvPr>
        </p:nvSpPr>
        <p:spPr>
          <a:xfrm>
            <a:off x="3884613" y="6514257"/>
            <a:ext cx="2971800" cy="34410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f1292e4412_0_1924:notes"/>
          <p:cNvSpPr/>
          <p:nvPr>
            <p:ph idx="2" type="sldImg"/>
          </p:nvPr>
        </p:nvSpPr>
        <p:spPr>
          <a:xfrm>
            <a:off x="685654" y="857296"/>
            <a:ext cx="5486700" cy="23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 name="Google Shape;115;g3f1292e4412_0_1924:notes"/>
          <p:cNvSpPr txBox="1"/>
          <p:nvPr>
            <p:ph idx="1" type="body"/>
          </p:nvPr>
        </p:nvSpPr>
        <p:spPr>
          <a:xfrm>
            <a:off x="685800" y="3300588"/>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Calibri"/>
                <a:ea typeface="Calibri"/>
                <a:cs typeface="Calibri"/>
                <a:sym typeface="Calibri"/>
              </a:rPr>
              <a:t>ICEBREAKER VARIANT 1 — Worst PO War Story. Use for experienced operational teams who share a pain. DELETE this slide if using V2 or V3.</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[BUILD → SPIKE] "I'll start — then we go round the room." Give a quick 1-liner yourself to model the tone (keep it light). Go popcorn-style — each person gives ONE sentence. React, laugh, keep the pace fast. 4–5 min total. Do NOT turn this into a teaching moment about MAIA. When it winds down, say: "OK — by the end of today, most of those war stories won't exist anymore. Let's go."</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[slide ref: OPEN  ·  S2a]</a:t>
            </a:r>
            <a:br>
              <a:rPr lang="en-GB" sz="1200">
                <a:solidFill>
                  <a:schemeClr val="dk1"/>
                </a:solidFill>
                <a:latin typeface="Calibri"/>
                <a:ea typeface="Calibri"/>
                <a:cs typeface="Calibri"/>
                <a:sym typeface="Calibri"/>
              </a:rPr>
            </a:br>
            <a:br>
              <a:rPr lang="en-GB" sz="1200">
                <a:solidFill>
                  <a:schemeClr val="dk1"/>
                </a:solidFill>
                <a:latin typeface="Calibri"/>
                <a:ea typeface="Calibri"/>
                <a:cs typeface="Calibri"/>
                <a:sym typeface="Calibri"/>
              </a:rPr>
            </a:br>
            <a:endParaRPr/>
          </a:p>
        </p:txBody>
      </p:sp>
      <p:sp>
        <p:nvSpPr>
          <p:cNvPr id="116" name="Google Shape;116;g3f1292e4412_0_1924:notes"/>
          <p:cNvSpPr txBox="1"/>
          <p:nvPr>
            <p:ph idx="12" type="sldNum"/>
          </p:nvPr>
        </p:nvSpPr>
        <p:spPr>
          <a:xfrm>
            <a:off x="3884613" y="6514257"/>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f1292e4412_0_1938:notes"/>
          <p:cNvSpPr/>
          <p:nvPr>
            <p:ph idx="2" type="sldImg"/>
          </p:nvPr>
        </p:nvSpPr>
        <p:spPr>
          <a:xfrm>
            <a:off x="685654" y="857296"/>
            <a:ext cx="5486700" cy="23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 name="Google Shape;130;g3f1292e4412_0_1938:notes"/>
          <p:cNvSpPr txBox="1"/>
          <p:nvPr>
            <p:ph idx="1" type="body"/>
          </p:nvPr>
        </p:nvSpPr>
        <p:spPr>
          <a:xfrm>
            <a:off x="685800" y="3300588"/>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Calibri"/>
                <a:ea typeface="Calibri"/>
                <a:cs typeface="Calibri"/>
                <a:sym typeface="Calibri"/>
              </a:rPr>
              <a:t>ICEBREAKER VARIANT 2 — Two Truths and a Lie. Use for cross-department rooms where people don't know each other. DELETE this slide if using V1 or V3.</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[BUILD] "Let's start with something completely non-work." Each person (or one per table for large rooms) gives two real things and one lie about themselves; the room guesses. Pure rapport — zero content. 4–5 min. When it ends: "Good. Now you know each other's names, and in 52 minutes you'll be competing against each other. Let's make sure you know what you're doing before then." Transition to S3.</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[slide ref: OPEN  ·  S2b]</a:t>
            </a:r>
            <a:endParaRPr/>
          </a:p>
        </p:txBody>
      </p:sp>
      <p:sp>
        <p:nvSpPr>
          <p:cNvPr id="131" name="Google Shape;131;g3f1292e4412_0_1938:notes"/>
          <p:cNvSpPr txBox="1"/>
          <p:nvPr>
            <p:ph idx="12" type="sldNum"/>
          </p:nvPr>
        </p:nvSpPr>
        <p:spPr>
          <a:xfrm>
            <a:off x="3884613" y="6514257"/>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f1292e4412_0_1951:notes"/>
          <p:cNvSpPr/>
          <p:nvPr>
            <p:ph idx="2" type="sldImg"/>
          </p:nvPr>
        </p:nvSpPr>
        <p:spPr>
          <a:xfrm>
            <a:off x="685654" y="857296"/>
            <a:ext cx="5486700" cy="23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4" name="Google Shape;144;g3f1292e4412_0_1951:notes"/>
          <p:cNvSpPr txBox="1"/>
          <p:nvPr>
            <p:ph idx="1" type="body"/>
          </p:nvPr>
        </p:nvSpPr>
        <p:spPr>
          <a:xfrm>
            <a:off x="685800" y="3300588"/>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Calibri"/>
                <a:ea typeface="Calibri"/>
                <a:cs typeface="Calibri"/>
                <a:sym typeface="Calibri"/>
              </a:rPr>
              <a:t>ICEBREAKER VARIANT 3 — Hands-Up Energizer. Use for junior conductors, large rooms, tight time, or a room that already knows each other. Fastest option. DELETE this slide if using V1 or V2.</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[SPIKE] Fire 4–5 rapid whole-room prompts — hands up and shout out. Read these exactly:</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1. "Hands up if you've replied to a customer order after 9pm this week."</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2. "Hands up if you've ever keyed the same thing twice — once in the system, once in a chat or spreadsheet."</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3. "Hands up if you've had a customer ask you to resend an invoice from 6 months ago."</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4. "Hands up if you're in more than 5 work WhatsApp groups right now."</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5. "Hands up if you've ever made a delivery only to find out the stock wasn't available."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React to each — "still happening?", "every week?", laugh with them. 3 min total. Don't explain. Don't teach. Just let the recognition land. Then: "OK. Let's fix some of that." Advance to S3.</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[slide ref: OPEN  ·  S2c]</a:t>
            </a:r>
            <a:endParaRPr/>
          </a:p>
        </p:txBody>
      </p:sp>
      <p:sp>
        <p:nvSpPr>
          <p:cNvPr id="145" name="Google Shape;145;g3f1292e4412_0_1951:notes"/>
          <p:cNvSpPr txBox="1"/>
          <p:nvPr>
            <p:ph idx="12" type="sldNum"/>
          </p:nvPr>
        </p:nvSpPr>
        <p:spPr>
          <a:xfrm>
            <a:off x="3884613" y="6514257"/>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ec41b1eb9b_13_126:notes"/>
          <p:cNvSpPr/>
          <p:nvPr>
            <p:ph idx="2" type="sldImg"/>
          </p:nvPr>
        </p:nvSpPr>
        <p:spPr>
          <a:xfrm>
            <a:off x="685654" y="857296"/>
            <a:ext cx="5486700" cy="23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7" name="Google Shape;157;g3ec41b1eb9b_13_126:notes"/>
          <p:cNvSpPr txBox="1"/>
          <p:nvPr>
            <p:ph idx="1" type="body"/>
          </p:nvPr>
        </p:nvSpPr>
        <p:spPr>
          <a:xfrm>
            <a:off x="685800" y="3300588"/>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Calibri"/>
                <a:ea typeface="Calibri"/>
                <a:cs typeface="Calibri"/>
                <a:sym typeface="Calibri"/>
              </a:rPr>
              <a:t>[BUILD] "Most of this session is number 3. The first two are here so you know what you're doing when you get to it." Phones on the table — you'll need them soon. Quick tease: "There's a competition at the end, and there are winners."</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[slide ref: OPEN  ·  S3]</a:t>
            </a:r>
            <a:endParaRPr/>
          </a:p>
        </p:txBody>
      </p:sp>
      <p:sp>
        <p:nvSpPr>
          <p:cNvPr id="158" name="Google Shape;158;g3ec41b1eb9b_13_126:notes"/>
          <p:cNvSpPr txBox="1"/>
          <p:nvPr>
            <p:ph idx="12" type="sldNum"/>
          </p:nvPr>
        </p:nvSpPr>
        <p:spPr>
          <a:xfrm>
            <a:off x="3884613" y="6514257"/>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ec41b1eb9b_13_158:notes"/>
          <p:cNvSpPr/>
          <p:nvPr>
            <p:ph idx="2" type="sldImg"/>
          </p:nvPr>
        </p:nvSpPr>
        <p:spPr>
          <a:xfrm>
            <a:off x="685654" y="857296"/>
            <a:ext cx="5486700" cy="23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0" name="Google Shape;190;g3ec41b1eb9b_13_158:notes"/>
          <p:cNvSpPr txBox="1"/>
          <p:nvPr>
            <p:ph idx="1" type="body"/>
          </p:nvPr>
        </p:nvSpPr>
        <p:spPr>
          <a:xfrm>
            <a:off x="685800" y="3300588"/>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Calibri"/>
                <a:ea typeface="Calibri"/>
                <a:cs typeface="Calibri"/>
                <a:sym typeface="Calibri"/>
              </a:rPr>
              <a:t>[SUSTAIN]</a:t>
            </a:r>
            <a:endParaRPr sz="1200">
              <a:solidFill>
                <a:schemeClr val="dk1"/>
              </a:solidFill>
              <a:latin typeface="Calibri"/>
              <a:ea typeface="Calibri"/>
              <a:cs typeface="Calibri"/>
              <a:sym typeface="Calibri"/>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[ASK THE ROOM] "How many of you have had to log into more than one system to process a single order?" Let hands go up. </a:t>
            </a:r>
            <a:endParaRPr sz="1200">
              <a:solidFill>
                <a:schemeClr val="dk1"/>
              </a:solidFill>
              <a:latin typeface="Calibri"/>
              <a:ea typeface="Calibri"/>
              <a:cs typeface="Calibri"/>
              <a:sym typeface="Calibri"/>
            </a:endParaRPr>
          </a:p>
          <a:p>
            <a:pPr indent="0" lvl="0" marL="0" rtl="0" algn="l">
              <a:spcBef>
                <a:spcPts val="0"/>
              </a:spcBef>
              <a:spcAft>
                <a:spcPts val="0"/>
              </a:spcAft>
              <a:buSzPts val="1100"/>
              <a:buNone/>
            </a:pPr>
            <a:r>
              <a:rPr lang="en-GB" sz="1200">
                <a:solidFill>
                  <a:schemeClr val="dk1"/>
                </a:solidFill>
                <a:latin typeface="Calibri"/>
                <a:ea typeface="Calibri"/>
                <a:cs typeface="Calibri"/>
                <a:sym typeface="Calibri"/>
              </a:rPr>
              <a:t>👤 Before MAIA: same order gets keyed twice — once in your system, again in a chat or spreadsheet so the sales team can track it.</a:t>
            </a:r>
            <a:endParaRPr sz="1200">
              <a:solidFill>
                <a:schemeClr val="dk1"/>
              </a:solidFill>
              <a:latin typeface="Calibri"/>
              <a:ea typeface="Calibri"/>
              <a:cs typeface="Calibri"/>
              <a:sym typeface="Calibri"/>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Talking point: MAIA is not just a chatbot, OCR tool, dashboard, or ERP replacement. It is a validation-first operational layer: it captures messy inputs, standardises them, checks business rules, routes exceptions, and keeps the document trail visible.</a:t>
            </a:r>
            <a:endParaRPr>
              <a:solidFill>
                <a:schemeClr val="dk1"/>
              </a:solidFill>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Channel point: WhatsApp is the primary training channel; Telegram is supported; Email and Microsoft Teams are add-ons; other chat platforms can be customised when justified. The channel is the doorway, not the whole product.</a:t>
            </a:r>
            <a:endParaRPr>
              <a:solidFill>
                <a:schemeClr val="dk1"/>
              </a:solidFill>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Pain solved: no rip-and-replace, less system-hunting, and less pressure to remember where every answer lives.</a:t>
            </a:r>
            <a:endParaRPr>
              <a:solidFill>
                <a:schemeClr val="dk1"/>
              </a:solidFill>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[slide ref: SECTION 1 · S4 | SECTION 1  ·  S4]</a:t>
            </a:r>
            <a:endParaRPr>
              <a:solidFill>
                <a:schemeClr val="dk1"/>
              </a:solidFill>
            </a:endParaRPr>
          </a:p>
          <a:p>
            <a:pPr indent="0" lvl="0" marL="0" rtl="0" algn="l">
              <a:spcBef>
                <a:spcPts val="0"/>
              </a:spcBef>
              <a:spcAft>
                <a:spcPts val="0"/>
              </a:spcAft>
              <a:buClr>
                <a:srgbClr val="000000"/>
              </a:buClr>
              <a:buFont typeface="Arial"/>
              <a:buNone/>
            </a:pPr>
            <a:r>
              <a:t/>
            </a:r>
            <a:endParaRPr sz="1200">
              <a:solidFill>
                <a:schemeClr val="dk1"/>
              </a:solidFill>
              <a:latin typeface="Calibri"/>
              <a:ea typeface="Calibri"/>
              <a:cs typeface="Calibri"/>
              <a:sym typeface="Calibri"/>
            </a:endParaRPr>
          </a:p>
        </p:txBody>
      </p:sp>
      <p:sp>
        <p:nvSpPr>
          <p:cNvPr id="191" name="Google Shape;191;g3ec41b1eb9b_13_158:notes"/>
          <p:cNvSpPr txBox="1"/>
          <p:nvPr>
            <p:ph idx="12" type="sldNum"/>
          </p:nvPr>
        </p:nvSpPr>
        <p:spPr>
          <a:xfrm>
            <a:off x="3884613" y="6514257"/>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ec41b1eb9b_7_286:notes"/>
          <p:cNvSpPr/>
          <p:nvPr>
            <p:ph idx="2" type="sldImg"/>
          </p:nvPr>
        </p:nvSpPr>
        <p:spPr>
          <a:xfrm>
            <a:off x="685654" y="857296"/>
            <a:ext cx="5486693" cy="231469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0" name="Google Shape;250;g3ec41b1eb9b_7_286:notes"/>
          <p:cNvSpPr txBox="1"/>
          <p:nvPr>
            <p:ph idx="1" type="body"/>
          </p:nvPr>
        </p:nvSpPr>
        <p:spPr>
          <a:xfrm>
            <a:off x="685800" y="3300588"/>
            <a:ext cx="5486400" cy="2700481"/>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1" name="Google Shape;251;g3ec41b1eb9b_7_286:notes"/>
          <p:cNvSpPr txBox="1"/>
          <p:nvPr>
            <p:ph idx="12" type="sldNum"/>
          </p:nvPr>
        </p:nvSpPr>
        <p:spPr>
          <a:xfrm>
            <a:off x="3884613" y="6514257"/>
            <a:ext cx="2971800" cy="34410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f1292e4412_0_23:notes"/>
          <p:cNvSpPr/>
          <p:nvPr>
            <p:ph idx="2" type="sldImg"/>
          </p:nvPr>
        </p:nvSpPr>
        <p:spPr>
          <a:xfrm>
            <a:off x="685654" y="857296"/>
            <a:ext cx="5486700" cy="23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2" name="Google Shape;262;g3f1292e4412_0_23:notes"/>
          <p:cNvSpPr txBox="1"/>
          <p:nvPr>
            <p:ph idx="1" type="body"/>
          </p:nvPr>
        </p:nvSpPr>
        <p:spPr>
          <a:xfrm>
            <a:off x="685800" y="3300588"/>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Calibri"/>
                <a:ea typeface="Calibri"/>
                <a:cs typeface="Calibri"/>
                <a:sym typeface="Calibri"/>
              </a:rPr>
              <a:t>[SUSTAIN]</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[ASK THE ROOM] "How long does it take you right now to find out if a customer has overdue invoices before you accept their order?" Let them answer. The usual answer is 5–10 minutes and a phone call to finance.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Before MAIA: checking a customer's credit means calling finance and waiting — a 10-minute round trip at best — and often you don't bother, so risk slips through.</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Talking point: MAIA puts it at the exact moment of decision — one signal, right there. The layers are one tap away: overdue (T0), billed-unpaid vs limit (T1), unbilled committed orders (T2), pipeline (T3). Set the limit, enforce or not, see standing.</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Pain solved: the 10-minute round trip disappears. Risk is judged at the moment you decide, by the person who is deciding.</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[slide ref: SECTION 1 · S7 | SECTION 1  ·  S7]</a:t>
            </a:r>
            <a:endParaRPr/>
          </a:p>
        </p:txBody>
      </p:sp>
      <p:sp>
        <p:nvSpPr>
          <p:cNvPr id="263" name="Google Shape;263;g3f1292e4412_0_23:notes"/>
          <p:cNvSpPr txBox="1"/>
          <p:nvPr>
            <p:ph idx="12" type="sldNum"/>
          </p:nvPr>
        </p:nvSpPr>
        <p:spPr>
          <a:xfrm>
            <a:off x="3884613" y="6514257"/>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ec41b1eb9b_7_444:notes"/>
          <p:cNvSpPr/>
          <p:nvPr>
            <p:ph idx="2" type="sldImg"/>
          </p:nvPr>
        </p:nvSpPr>
        <p:spPr>
          <a:xfrm>
            <a:off x="685654" y="857296"/>
            <a:ext cx="5486693" cy="231469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6" name="Google Shape;286;g3ec41b1eb9b_7_444:notes"/>
          <p:cNvSpPr txBox="1"/>
          <p:nvPr>
            <p:ph idx="1" type="body"/>
          </p:nvPr>
        </p:nvSpPr>
        <p:spPr>
          <a:xfrm>
            <a:off x="685800" y="3300588"/>
            <a:ext cx="5486400" cy="2700481"/>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Calibri"/>
                <a:ea typeface="Calibri"/>
                <a:cs typeface="Calibri"/>
                <a:sym typeface="Calibri"/>
              </a:rPr>
              <a:t>[SUSTAIN]</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[ASK THE ROOM] "How do you currently find out if you can fulfil a customer's order — especially for something that needs to be made or processed first?"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Before MAIA: to know what you can promise, a sales user calls the production planner to ask what jobs are scheduled, who calls purchasing about incoming materials, who calls back — and often sales has no system access to production at all, so they guess and overcommit.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Talking point: one live signal across the entire org — what's available right now, what you can make from raw materials on hand (B2B reality: finished goods often aren't sitting on a shelf — they're JIT or need light processing), and what's incoming from Work Orders and supplier POs. MAIA surfaces all of it without breaching permissions — sales sees the signal, not the BOM or the production schedule. And once an order is confirmed, stock is reserved so two people can't sell the same units.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Pain solved: ① no overcommitting blind; ② the production/purchasing phone-tag chain becomes an on-screen number; ③ reservation stops double-selling.</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[slide ref: SECTION 1 · S11 | SECTION 1  ·  S11]</a:t>
            </a:r>
            <a:endParaRPr/>
          </a:p>
        </p:txBody>
      </p:sp>
      <p:sp>
        <p:nvSpPr>
          <p:cNvPr id="287" name="Google Shape;287;g3ec41b1eb9b_7_444:notes"/>
          <p:cNvSpPr txBox="1"/>
          <p:nvPr>
            <p:ph idx="12" type="sldNum"/>
          </p:nvPr>
        </p:nvSpPr>
        <p:spPr>
          <a:xfrm>
            <a:off x="3884613" y="6514257"/>
            <a:ext cx="2971800" cy="34410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3ec41b1eb9b_7_352:notes"/>
          <p:cNvSpPr/>
          <p:nvPr>
            <p:ph idx="2" type="sldImg"/>
          </p:nvPr>
        </p:nvSpPr>
        <p:spPr>
          <a:xfrm>
            <a:off x="685654" y="857296"/>
            <a:ext cx="5486693" cy="231469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2" name="Google Shape;312;g3ec41b1eb9b_7_352:notes"/>
          <p:cNvSpPr txBox="1"/>
          <p:nvPr>
            <p:ph idx="1" type="body"/>
          </p:nvPr>
        </p:nvSpPr>
        <p:spPr>
          <a:xfrm>
            <a:off x="685800" y="3300588"/>
            <a:ext cx="5486400" cy="2700481"/>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Calibri"/>
                <a:ea typeface="Calibri"/>
                <a:cs typeface="Calibri"/>
                <a:sym typeface="Calibri"/>
              </a:rPr>
              <a:t>[SUSTAIN]</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[ASK THE ROOM] "Has anyone ever accidentally quoted the wrong price to a customer — too low, or the wrong rate for a contract customer?" Let it land.</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Before MAIA: the right price lives in someone's memory or a PDF rate card that's "somewhere on the shared drive." People underprice, especially on contract customers, and the company loses margin quietly.</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Talking point: Min/Max are global guardrails — no one in the org can sell above or below without an override. RRP/MSRP/Wholesale/Bulk/Cost are at every user's fingertips, managed by finance at the item level. Customer Item Price auto-applies the agreed preferential rate the moment you pick the customer.</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Pain solved: ① no wrong/under price; ② no relying on memory for agreed rates; ③ no digging through PDF rate cards — it's already applied.</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[slide ref: SECTION 1 · S9 | SECTION 1  ·  S9]</a:t>
            </a:r>
            <a:endParaRPr/>
          </a:p>
        </p:txBody>
      </p:sp>
      <p:sp>
        <p:nvSpPr>
          <p:cNvPr id="313" name="Google Shape;313;g3ec41b1eb9b_7_352:notes"/>
          <p:cNvSpPr txBox="1"/>
          <p:nvPr>
            <p:ph idx="12" type="sldNum"/>
          </p:nvPr>
        </p:nvSpPr>
        <p:spPr>
          <a:xfrm>
            <a:off x="3884613" y="6514257"/>
            <a:ext cx="2971800" cy="34410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3ec41b1eb9b_7_402:notes"/>
          <p:cNvSpPr/>
          <p:nvPr>
            <p:ph idx="2" type="sldImg"/>
          </p:nvPr>
        </p:nvSpPr>
        <p:spPr>
          <a:xfrm>
            <a:off x="685654" y="857296"/>
            <a:ext cx="5486693" cy="231469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6" name="Google Shape;366;g3ec41b1eb9b_7_402:notes"/>
          <p:cNvSpPr txBox="1"/>
          <p:nvPr>
            <p:ph idx="1" type="body"/>
          </p:nvPr>
        </p:nvSpPr>
        <p:spPr>
          <a:xfrm>
            <a:off x="685800" y="3300588"/>
            <a:ext cx="5486400" cy="2700481"/>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Calibri"/>
                <a:ea typeface="Calibri"/>
                <a:cs typeface="Calibri"/>
                <a:sym typeface="Calibri"/>
              </a:rPr>
              <a:t>[SUSTAIN]</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Before MAIA: you memorise item codes; you do carton-to-piece conversions by hand or in a calculator; and specs/options for certain products simply don't fit anywhere in a standard ERP.</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Pain solved: ① plain-language retrieval — no memorising codes; ② multi-UOM auto-conversion — no maths, no conversion errors; ③ custom attributes hold specs/grades/options that vanilla ERP can't store. (Also: item image gallery + a customer-facing product link to share.)</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[slide ref: SECTION 1 · S10 | SECTION 1  ·  S10]</a:t>
            </a:r>
            <a:endParaRPr/>
          </a:p>
        </p:txBody>
      </p:sp>
      <p:sp>
        <p:nvSpPr>
          <p:cNvPr id="367" name="Google Shape;367;g3ec41b1eb9b_7_402:notes"/>
          <p:cNvSpPr txBox="1"/>
          <p:nvPr>
            <p:ph idx="12" type="sldNum"/>
          </p:nvPr>
        </p:nvSpPr>
        <p:spPr>
          <a:xfrm>
            <a:off x="3884613" y="6514257"/>
            <a:ext cx="2971800" cy="34410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3ec41b1eb9b_13_294:notes"/>
          <p:cNvSpPr/>
          <p:nvPr>
            <p:ph idx="2" type="sldImg"/>
          </p:nvPr>
        </p:nvSpPr>
        <p:spPr>
          <a:xfrm>
            <a:off x="685654" y="857296"/>
            <a:ext cx="5486700" cy="23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7" name="Google Shape;407;g3ec41b1eb9b_13_294:notes"/>
          <p:cNvSpPr txBox="1"/>
          <p:nvPr>
            <p:ph idx="1" type="body"/>
          </p:nvPr>
        </p:nvSpPr>
        <p:spPr>
          <a:xfrm>
            <a:off x="685800" y="3300588"/>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Calibri"/>
                <a:ea typeface="Calibri"/>
                <a:cs typeface="Calibri"/>
                <a:sym typeface="Calibri"/>
              </a:rPr>
              <a:t>[SUSTAIN]</a:t>
            </a:r>
            <a:endParaRPr sz="1200">
              <a:solidFill>
                <a:schemeClr val="dk1"/>
              </a:solidFill>
              <a:latin typeface="Calibri"/>
              <a:ea typeface="Calibri"/>
              <a:cs typeface="Calibri"/>
              <a:sym typeface="Calibri"/>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Before MAIA: customer knowledge lives in someone's head. You search by a code you have to remember. Notes are in someone's WhatsApp. Events are in someone's diary.</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Talking point: MAIA captures a larger set of fields — which also means you can search and query in plain language, not codes. All customer tasks, events, and notes are logged in one place.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Pain solved: ① richer data; ② plain-language search (the customer's nickname, their area, what they usually buy — all work); ③ single source of truth instead of "ask Azman, he handles them."</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[slide ref: SECTION 1 · S6 | SECTION 1  ·  S6]</a:t>
            </a:r>
            <a:endParaRPr/>
          </a:p>
        </p:txBody>
      </p:sp>
      <p:sp>
        <p:nvSpPr>
          <p:cNvPr id="408" name="Google Shape;408;g3ec41b1eb9b_13_294:notes"/>
          <p:cNvSpPr txBox="1"/>
          <p:nvPr>
            <p:ph idx="12" type="sldNum"/>
          </p:nvPr>
        </p:nvSpPr>
        <p:spPr>
          <a:xfrm>
            <a:off x="3884613" y="6514257"/>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3ec41b1eb9b_7_311:notes"/>
          <p:cNvSpPr/>
          <p:nvPr>
            <p:ph idx="2" type="sldImg"/>
          </p:nvPr>
        </p:nvSpPr>
        <p:spPr>
          <a:xfrm>
            <a:off x="685654" y="857296"/>
            <a:ext cx="5486693" cy="231469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2" name="Google Shape;462;g3ec41b1eb9b_7_311:notes"/>
          <p:cNvSpPr txBox="1"/>
          <p:nvPr>
            <p:ph idx="1" type="body"/>
          </p:nvPr>
        </p:nvSpPr>
        <p:spPr>
          <a:xfrm>
            <a:off x="685800" y="3300588"/>
            <a:ext cx="5486400" cy="2700481"/>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Calibri"/>
                <a:ea typeface="Calibri"/>
                <a:cs typeface="Calibri"/>
                <a:sym typeface="Calibri"/>
              </a:rPr>
              <a:t>[SUSTAIN]</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Before MAIA: customers ask these three questions on rotation. Your team drops everything to dig through old folders, forward emails, and hunt for PDFs. Then the customer asks again next month.</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Pain solved: send a link once. The customer self-serves their outstanding, their balances, and every document — SO, Invoice, DN, Receipt, CN, Voucher. Those interrupt-driven hunts stop.</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[slide ref: SECTION 1 · S8 | SECTION 1  ·  S8]</a:t>
            </a:r>
            <a:endParaRPr/>
          </a:p>
        </p:txBody>
      </p:sp>
      <p:sp>
        <p:nvSpPr>
          <p:cNvPr id="463" name="Google Shape;463;g3ec41b1eb9b_7_311:notes"/>
          <p:cNvSpPr txBox="1"/>
          <p:nvPr>
            <p:ph idx="12" type="sldNum"/>
          </p:nvPr>
        </p:nvSpPr>
        <p:spPr>
          <a:xfrm>
            <a:off x="3884613" y="6514257"/>
            <a:ext cx="2971800" cy="34410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g3f1292e4412_0_110:notes"/>
          <p:cNvSpPr/>
          <p:nvPr>
            <p:ph idx="2" type="sldImg"/>
          </p:nvPr>
        </p:nvSpPr>
        <p:spPr>
          <a:xfrm>
            <a:off x="685654" y="857296"/>
            <a:ext cx="5486700" cy="23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1" name="Google Shape;501;g3f1292e4412_0_110:notes"/>
          <p:cNvSpPr txBox="1"/>
          <p:nvPr>
            <p:ph idx="1" type="body"/>
          </p:nvPr>
        </p:nvSpPr>
        <p:spPr>
          <a:xfrm>
            <a:off x="685800" y="3300588"/>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Calibri"/>
                <a:ea typeface="Calibri"/>
                <a:cs typeface="Calibri"/>
                <a:sym typeface="Calibri"/>
              </a:rPr>
              <a:t>[slide ref: SECTION 1 · S11a | SECTION 1  ·  S11a]</a:t>
            </a:r>
            <a:endParaRPr/>
          </a:p>
        </p:txBody>
      </p:sp>
      <p:sp>
        <p:nvSpPr>
          <p:cNvPr id="502" name="Google Shape;502;g3f1292e4412_0_110:notes"/>
          <p:cNvSpPr txBox="1"/>
          <p:nvPr>
            <p:ph idx="12" type="sldNum"/>
          </p:nvPr>
        </p:nvSpPr>
        <p:spPr>
          <a:xfrm>
            <a:off x="3884613" y="6514257"/>
            <a:ext cx="2971800" cy="344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g3f1292e4412_0_195:notes"/>
          <p:cNvSpPr/>
          <p:nvPr>
            <p:ph idx="2" type="sldImg"/>
          </p:nvPr>
        </p:nvSpPr>
        <p:spPr>
          <a:xfrm>
            <a:off x="685654" y="857296"/>
            <a:ext cx="5486700" cy="23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6" name="Google Shape;546;g3f1292e4412_0_195:notes"/>
          <p:cNvSpPr txBox="1"/>
          <p:nvPr>
            <p:ph idx="1" type="body"/>
          </p:nvPr>
        </p:nvSpPr>
        <p:spPr>
          <a:xfrm>
            <a:off x="685800" y="3300588"/>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Calibri"/>
                <a:ea typeface="Calibri"/>
                <a:cs typeface="Calibri"/>
                <a:sym typeface="Calibri"/>
              </a:rPr>
              <a:t>[slide ref: SECTION 1 · S11b | SECTION 1  ·  S11b]</a:t>
            </a:r>
            <a:endParaRPr/>
          </a:p>
        </p:txBody>
      </p:sp>
      <p:sp>
        <p:nvSpPr>
          <p:cNvPr id="547" name="Google Shape;547;g3f1292e4412_0_195:notes"/>
          <p:cNvSpPr txBox="1"/>
          <p:nvPr>
            <p:ph idx="12" type="sldNum"/>
          </p:nvPr>
        </p:nvSpPr>
        <p:spPr>
          <a:xfrm>
            <a:off x="3884613" y="6514257"/>
            <a:ext cx="2971800" cy="344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g3ec41b1eb9b_13_2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7" name="Google Shape;607;g3ec41b1eb9b_13_2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200">
                <a:solidFill>
                  <a:schemeClr val="dk1"/>
                </a:solidFill>
                <a:latin typeface="Calibri"/>
                <a:ea typeface="Calibri"/>
                <a:cs typeface="Calibri"/>
                <a:sym typeface="Calibri"/>
              </a:rPr>
              <a:t>[SUSTAIN]</a:t>
            </a:r>
            <a:endParaRPr>
              <a:solidFill>
                <a:schemeClr val="dk1"/>
              </a:solidFill>
            </a:endParaRPr>
          </a:p>
          <a:p>
            <a:pPr indent="0" lvl="0" marL="0" rtl="0" algn="l">
              <a:spcBef>
                <a:spcPts val="0"/>
              </a:spcBef>
              <a:spcAft>
                <a:spcPts val="0"/>
              </a:spcAft>
              <a:buClr>
                <a:schemeClr val="dk1"/>
              </a:buClr>
              <a:buFont typeface="Arial"/>
              <a:buNone/>
            </a:pPr>
            <a:r>
              <a:rPr lang="en-GB" sz="1200">
                <a:solidFill>
                  <a:schemeClr val="dk1"/>
                </a:solidFill>
                <a:latin typeface="Calibri"/>
                <a:ea typeface="Calibri"/>
                <a:cs typeface="Calibri"/>
                <a:sym typeface="Calibri"/>
              </a:rPr>
              <a:t>"MAIA doesn't add to that list — it sits on top of what you already have."</a:t>
            </a:r>
            <a:endParaRPr>
              <a:solidFill>
                <a:schemeClr val="dk1"/>
              </a:solidFill>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Pain solved: MAIA lets the client keep the existing ERP or accounting system while adding a workflow, validation, and visibility layer. What's created or approved in MAIA can sync back where the connector and scope allow. Data can also be exported.</a:t>
            </a:r>
            <a:endParaRPr>
              <a:solidFill>
                <a:schemeClr val="dk1"/>
              </a:solidFill>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Boundary to say plainly: MAIA does not automatically carry over every custom field or custom automation from an old system. Those are reviewed separately. Often the business need is already handled by MAIA's standard workflow; if not, it becomes a separately scoped custom requirement. (Full integration detail = Appendix A6.)</a:t>
            </a:r>
            <a:endParaRPr>
              <a:solidFill>
                <a:schemeClr val="dk1"/>
              </a:solidFill>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[slide ref: SECTION 1 · S5]</a:t>
            </a:r>
            <a:endParaRPr>
              <a:solidFill>
                <a:schemeClr val="dk1"/>
              </a:solidFill>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[slide ref: SECTION 1 · S5]</a:t>
            </a:r>
            <a:endParaRPr>
              <a:solidFill>
                <a:schemeClr val="dk1"/>
              </a:solidFill>
            </a:endParaRPr>
          </a:p>
          <a:p>
            <a:pPr indent="0" lvl="0" marL="0" rtl="0" algn="l">
              <a:spcBef>
                <a:spcPts val="0"/>
              </a:spcBef>
              <a:spcAft>
                <a:spcPts val="0"/>
              </a:spcAft>
              <a:buClr>
                <a:schemeClr val="dk1"/>
              </a:buClr>
              <a:buFont typeface="Arial"/>
              <a:buNone/>
            </a:pPr>
            <a:r>
              <a:t/>
            </a:r>
            <a:endParaRPr>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g3ec41b1eb9b_7_568:notes"/>
          <p:cNvSpPr/>
          <p:nvPr>
            <p:ph idx="2" type="sldImg"/>
          </p:nvPr>
        </p:nvSpPr>
        <p:spPr>
          <a:xfrm>
            <a:off x="685654" y="857296"/>
            <a:ext cx="5486693" cy="231469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3" name="Google Shape;683;g3ec41b1eb9b_7_568:notes"/>
          <p:cNvSpPr txBox="1"/>
          <p:nvPr>
            <p:ph idx="1" type="body"/>
          </p:nvPr>
        </p:nvSpPr>
        <p:spPr>
          <a:xfrm>
            <a:off x="685800" y="3300588"/>
            <a:ext cx="5486400" cy="2700481"/>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Calibri"/>
                <a:ea typeface="Calibri"/>
                <a:cs typeface="Calibri"/>
                <a:sym typeface="Calibri"/>
              </a:rPr>
              <a:t>[SPIKE → SUSTAIN] This is a 60-second activation beat. Do not skip it.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"Hands up if any of these sound like your week." Let the hands go up. Note which ones get the most. React: "Right — so [the top two] are the ones we're going to feel the most in the game today."</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Value-proposition landing: each pain maps back to the source-of-truth promise: less manual coordination, earlier risk detection, clearer accountability, and stronger auditability.</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Why this is here: it breaks the passive block at the 10-minute mark; it makes the features personal before the demo; it gives the conductor real-time intel on what matters most to THIS specific room. Use it.</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[slide ref: SECTION 1 · S12  —  ACTIVATION BEAT | SECTION 1  ·  S12]</a:t>
            </a:r>
            <a:endParaRPr/>
          </a:p>
        </p:txBody>
      </p:sp>
      <p:sp>
        <p:nvSpPr>
          <p:cNvPr id="684" name="Google Shape;684;g3ec41b1eb9b_7_568:notes"/>
          <p:cNvSpPr txBox="1"/>
          <p:nvPr>
            <p:ph idx="12" type="sldNum"/>
          </p:nvPr>
        </p:nvSpPr>
        <p:spPr>
          <a:xfrm>
            <a:off x="3884613" y="6514257"/>
            <a:ext cx="2971800" cy="34410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g3f1292e4412_0_314:notes"/>
          <p:cNvSpPr/>
          <p:nvPr>
            <p:ph idx="2" type="sldImg"/>
          </p:nvPr>
        </p:nvSpPr>
        <p:spPr>
          <a:xfrm>
            <a:off x="685654" y="857296"/>
            <a:ext cx="5486700" cy="23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1" name="Google Shape;731;g3f1292e4412_0_314:notes"/>
          <p:cNvSpPr txBox="1"/>
          <p:nvPr>
            <p:ph idx="1" type="body"/>
          </p:nvPr>
        </p:nvSpPr>
        <p:spPr>
          <a:xfrm>
            <a:off x="685800" y="3300588"/>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Calibri"/>
                <a:ea typeface="Calibri"/>
                <a:cs typeface="Calibri"/>
                <a:sym typeface="Calibri"/>
              </a:rPr>
              <a:t>[SUSTAIN] "This is the spine you will run in the game today — all the way from a customer's PO landing in your hands to marking it delivered. The invoicing and payment tail comes after; it's not part of today." Let them look at it for a few seconds — this is the map they'll need.</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[slide ref: SECTION 1 · S13 | SECTION 1  ·  S13]</a:t>
            </a:r>
            <a:endParaRPr/>
          </a:p>
        </p:txBody>
      </p:sp>
      <p:sp>
        <p:nvSpPr>
          <p:cNvPr id="732" name="Google Shape;732;g3f1292e4412_0_314:notes"/>
          <p:cNvSpPr txBox="1"/>
          <p:nvPr>
            <p:ph idx="12" type="sldNum"/>
          </p:nvPr>
        </p:nvSpPr>
        <p:spPr>
          <a:xfrm>
            <a:off x="3884613" y="6514257"/>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g3ec41b1eb9b_7_665:notes"/>
          <p:cNvSpPr/>
          <p:nvPr>
            <p:ph idx="2" type="sldImg"/>
          </p:nvPr>
        </p:nvSpPr>
        <p:spPr>
          <a:xfrm>
            <a:off x="685654" y="857296"/>
            <a:ext cx="5486693" cy="231469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4" name="Google Shape;774;g3ec41b1eb9b_7_665:notes"/>
          <p:cNvSpPr txBox="1"/>
          <p:nvPr>
            <p:ph idx="1" type="body"/>
          </p:nvPr>
        </p:nvSpPr>
        <p:spPr>
          <a:xfrm>
            <a:off x="685800" y="3300588"/>
            <a:ext cx="5486400" cy="2700481"/>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Calibri"/>
                <a:ea typeface="Calibri"/>
                <a:cs typeface="Calibri"/>
                <a:sym typeface="Calibri"/>
              </a:rPr>
              <a:t>[SUSTAIN] "In the game, your team runs this entire flow together. Sales submits, Controller approves, Logistics picks and delivers, Driver marks it done. The handoff is the game — so know where yours is." (Full role responsibilities = Appendix A1–A4.)</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[slide ref: SECTION 1 · S14 | SECTION 1  ·  S14]</a:t>
            </a:r>
            <a:endParaRPr/>
          </a:p>
        </p:txBody>
      </p:sp>
      <p:sp>
        <p:nvSpPr>
          <p:cNvPr id="775" name="Google Shape;775;g3ec41b1eb9b_7_665:notes"/>
          <p:cNvSpPr txBox="1"/>
          <p:nvPr>
            <p:ph idx="12" type="sldNum"/>
          </p:nvPr>
        </p:nvSpPr>
        <p:spPr>
          <a:xfrm>
            <a:off x="3884613" y="6514257"/>
            <a:ext cx="2971800" cy="34410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8" name="Shape 828"/>
        <p:cNvGrpSpPr/>
        <p:nvPr/>
      </p:nvGrpSpPr>
      <p:grpSpPr>
        <a:xfrm>
          <a:off x="0" y="0"/>
          <a:ext cx="0" cy="0"/>
          <a:chOff x="0" y="0"/>
          <a:chExt cx="0" cy="0"/>
        </a:xfrm>
      </p:grpSpPr>
      <p:sp>
        <p:nvSpPr>
          <p:cNvPr id="829" name="Google Shape;829;g3ec41b1eb9b_7_723:notes"/>
          <p:cNvSpPr/>
          <p:nvPr>
            <p:ph idx="2" type="sldImg"/>
          </p:nvPr>
        </p:nvSpPr>
        <p:spPr>
          <a:xfrm>
            <a:off x="685654" y="857296"/>
            <a:ext cx="5486693" cy="231469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0" name="Google Shape;830;g3ec41b1eb9b_7_723:notes"/>
          <p:cNvSpPr txBox="1"/>
          <p:nvPr>
            <p:ph idx="1" type="body"/>
          </p:nvPr>
        </p:nvSpPr>
        <p:spPr>
          <a:xfrm>
            <a:off x="685800" y="3300588"/>
            <a:ext cx="5486400" cy="2700481"/>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Calibri"/>
                <a:ea typeface="Calibri"/>
                <a:cs typeface="Calibri"/>
                <a:sym typeface="Calibri"/>
              </a:rPr>
              <a:t>[FOCUS]</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[ASK THE ROOM] "What's something you'd never want a system to decide automatically for you?" Let two or three people answer. "Exactly. MAIA doesn't pretend to do that part."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Talking point (honesty builds trust): MAIA surfaces signals and prepares the work; judgment stays with people. It tells you what matters and routes you — it doesn't fake the human part.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Specific boundaries from the value proposition: MAIA does not replace the ERP, guarantee tax/legal compliance, decide credit policy, guarantee every payment or bank line matches, carry over every custom field or hook, or make every ERP action available inside every chat channel.</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Pain solved: you're never fighting a black box.</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Clock check: should be at ~28 min. If late, trim the [ASK] on this slide.</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[slide ref: SECTION 1 · S15 | SECTION 1  ·  S15]</a:t>
            </a:r>
            <a:endParaRPr/>
          </a:p>
        </p:txBody>
      </p:sp>
      <p:sp>
        <p:nvSpPr>
          <p:cNvPr id="831" name="Google Shape;831;g3ec41b1eb9b_7_723:notes"/>
          <p:cNvSpPr txBox="1"/>
          <p:nvPr>
            <p:ph idx="12" type="sldNum"/>
          </p:nvPr>
        </p:nvSpPr>
        <p:spPr>
          <a:xfrm>
            <a:off x="3884613" y="6514257"/>
            <a:ext cx="2971800" cy="34410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6" name="Shape 886"/>
        <p:cNvGrpSpPr/>
        <p:nvPr/>
      </p:nvGrpSpPr>
      <p:grpSpPr>
        <a:xfrm>
          <a:off x="0" y="0"/>
          <a:ext cx="0" cy="0"/>
          <a:chOff x="0" y="0"/>
          <a:chExt cx="0" cy="0"/>
        </a:xfrm>
      </p:grpSpPr>
      <p:sp>
        <p:nvSpPr>
          <p:cNvPr id="887" name="Google Shape;887;g3ec41b1eb9b_7_772:notes"/>
          <p:cNvSpPr/>
          <p:nvPr>
            <p:ph idx="2" type="sldImg"/>
          </p:nvPr>
        </p:nvSpPr>
        <p:spPr>
          <a:xfrm>
            <a:off x="685654" y="857296"/>
            <a:ext cx="5486693" cy="231469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8" name="Google Shape;888;g3ec41b1eb9b_7_772:notes"/>
          <p:cNvSpPr txBox="1"/>
          <p:nvPr>
            <p:ph idx="1" type="body"/>
          </p:nvPr>
        </p:nvSpPr>
        <p:spPr>
          <a:xfrm>
            <a:off x="685800" y="3300588"/>
            <a:ext cx="5486400" cy="2700481"/>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Calibri"/>
                <a:ea typeface="Calibri"/>
                <a:cs typeface="Calibri"/>
                <a:sym typeface="Calibri"/>
              </a:rPr>
              <a:t>[SUSTAIN] "Phones down for this part — eyes up. Every time I pause, I'll ask you to predict what MAIA does next. There are no wrong answers — it's how we stay awake." Do not narrate at length. Start the first video.</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Section 2 starts ~28 min in. End by ~50 min. Each video segment runs ~3.5–4 min with predict pause.</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[slide ref: SECTION 2  ·  S16]</a:t>
            </a:r>
            <a:endParaRPr/>
          </a:p>
        </p:txBody>
      </p:sp>
      <p:sp>
        <p:nvSpPr>
          <p:cNvPr id="889" name="Google Shape;889;g3ec41b1eb9b_7_772:notes"/>
          <p:cNvSpPr txBox="1"/>
          <p:nvPr>
            <p:ph idx="12" type="sldNum"/>
          </p:nvPr>
        </p:nvSpPr>
        <p:spPr>
          <a:xfrm>
            <a:off x="3884613" y="6514257"/>
            <a:ext cx="2971800" cy="34410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2" name="Shape 922"/>
        <p:cNvGrpSpPr/>
        <p:nvPr/>
      </p:nvGrpSpPr>
      <p:grpSpPr>
        <a:xfrm>
          <a:off x="0" y="0"/>
          <a:ext cx="0" cy="0"/>
          <a:chOff x="0" y="0"/>
          <a:chExt cx="0" cy="0"/>
        </a:xfrm>
      </p:grpSpPr>
      <p:sp>
        <p:nvSpPr>
          <p:cNvPr id="923" name="Google Shape;923;g3ec41b1eb9b_7_811:notes"/>
          <p:cNvSpPr/>
          <p:nvPr>
            <p:ph idx="2" type="sldImg"/>
          </p:nvPr>
        </p:nvSpPr>
        <p:spPr>
          <a:xfrm>
            <a:off x="685654" y="857296"/>
            <a:ext cx="5486693" cy="231469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4" name="Google Shape;924;g3ec41b1eb9b_7_811:notes"/>
          <p:cNvSpPr txBox="1"/>
          <p:nvPr>
            <p:ph idx="1" type="body"/>
          </p:nvPr>
        </p:nvSpPr>
        <p:spPr>
          <a:xfrm>
            <a:off x="685800" y="3300588"/>
            <a:ext cx="5486400" cy="2700481"/>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Calibri"/>
                <a:ea typeface="Calibri"/>
                <a:cs typeface="Calibri"/>
                <a:sym typeface="Calibri"/>
              </a:rPr>
              <a:t>[SUSTAIN] 30 seconds max. "Warung Pak Din — their ordering clerk sent a photo." [ASK THE ROOM] "What do you think MAIA is about to do with this?" Don't answer. Advance to video immediately.</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[slide ref: SECTION 2  ·  S17a]</a:t>
            </a:r>
            <a:endParaRPr/>
          </a:p>
        </p:txBody>
      </p:sp>
      <p:sp>
        <p:nvSpPr>
          <p:cNvPr id="925" name="Google Shape;925;g3ec41b1eb9b_7_811:notes"/>
          <p:cNvSpPr txBox="1"/>
          <p:nvPr>
            <p:ph idx="12" type="sldNum"/>
          </p:nvPr>
        </p:nvSpPr>
        <p:spPr>
          <a:xfrm>
            <a:off x="3884613" y="6514257"/>
            <a:ext cx="2971800" cy="34410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1" name="Shape 941"/>
        <p:cNvGrpSpPr/>
        <p:nvPr/>
      </p:nvGrpSpPr>
      <p:grpSpPr>
        <a:xfrm>
          <a:off x="0" y="0"/>
          <a:ext cx="0" cy="0"/>
          <a:chOff x="0" y="0"/>
          <a:chExt cx="0" cy="0"/>
        </a:xfrm>
      </p:grpSpPr>
      <p:sp>
        <p:nvSpPr>
          <p:cNvPr id="942" name="Google Shape;942;g3f1292e4412_0_3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3" name="Google Shape;943;g3f1292e4412_0_3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7" name="Shape 947"/>
        <p:cNvGrpSpPr/>
        <p:nvPr/>
      </p:nvGrpSpPr>
      <p:grpSpPr>
        <a:xfrm>
          <a:off x="0" y="0"/>
          <a:ext cx="0" cy="0"/>
          <a:chOff x="0" y="0"/>
          <a:chExt cx="0" cy="0"/>
        </a:xfrm>
      </p:grpSpPr>
      <p:sp>
        <p:nvSpPr>
          <p:cNvPr id="948" name="Google Shape;948;g3f1292e4412_0_428:notes"/>
          <p:cNvSpPr/>
          <p:nvPr>
            <p:ph idx="2" type="sldImg"/>
          </p:nvPr>
        </p:nvSpPr>
        <p:spPr>
          <a:xfrm>
            <a:off x="685654" y="857296"/>
            <a:ext cx="5486700" cy="23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9" name="Google Shape;949;g3f1292e4412_0_428:notes"/>
          <p:cNvSpPr txBox="1"/>
          <p:nvPr>
            <p:ph idx="1" type="body"/>
          </p:nvPr>
        </p:nvSpPr>
        <p:spPr>
          <a:xfrm>
            <a:off x="685800" y="3300588"/>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Calibri"/>
                <a:ea typeface="Calibri"/>
                <a:cs typeface="Calibri"/>
                <a:sym typeface="Calibri"/>
              </a:rPr>
              <a:t>[SUSTAIN] 30 seconds max. "Hotel Permai. Big order." [ASK THE ROOM] "Will this go through?" Don't answer. Play the video.</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[slide ref: SECTION 2  ·  S18a]</a:t>
            </a:r>
            <a:endParaRPr/>
          </a:p>
        </p:txBody>
      </p:sp>
      <p:sp>
        <p:nvSpPr>
          <p:cNvPr id="950" name="Google Shape;950;g3f1292e4412_0_428:notes"/>
          <p:cNvSpPr txBox="1"/>
          <p:nvPr>
            <p:ph idx="12" type="sldNum"/>
          </p:nvPr>
        </p:nvSpPr>
        <p:spPr>
          <a:xfrm>
            <a:off x="3884613" y="6514257"/>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8" name="Shape 958"/>
        <p:cNvGrpSpPr/>
        <p:nvPr/>
      </p:nvGrpSpPr>
      <p:grpSpPr>
        <a:xfrm>
          <a:off x="0" y="0"/>
          <a:ext cx="0" cy="0"/>
          <a:chOff x="0" y="0"/>
          <a:chExt cx="0" cy="0"/>
        </a:xfrm>
      </p:grpSpPr>
      <p:sp>
        <p:nvSpPr>
          <p:cNvPr id="959" name="Google Shape;959;g3f1292e4412_0_4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0" name="Google Shape;960;g3f1292e4412_0_4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4" name="Shape 964"/>
        <p:cNvGrpSpPr/>
        <p:nvPr/>
      </p:nvGrpSpPr>
      <p:grpSpPr>
        <a:xfrm>
          <a:off x="0" y="0"/>
          <a:ext cx="0" cy="0"/>
          <a:chOff x="0" y="0"/>
          <a:chExt cx="0" cy="0"/>
        </a:xfrm>
      </p:grpSpPr>
      <p:sp>
        <p:nvSpPr>
          <p:cNvPr id="965" name="Google Shape;965;g3ec41b1eb9b_7_1027:notes"/>
          <p:cNvSpPr/>
          <p:nvPr>
            <p:ph idx="2" type="sldImg"/>
          </p:nvPr>
        </p:nvSpPr>
        <p:spPr>
          <a:xfrm>
            <a:off x="685654" y="857296"/>
            <a:ext cx="5486693" cy="231469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6" name="Google Shape;966;g3ec41b1eb9b_7_1027:notes"/>
          <p:cNvSpPr txBox="1"/>
          <p:nvPr>
            <p:ph idx="1" type="body"/>
          </p:nvPr>
        </p:nvSpPr>
        <p:spPr>
          <a:xfrm>
            <a:off x="685800" y="3300588"/>
            <a:ext cx="5486400" cy="2700481"/>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Calibri"/>
                <a:ea typeface="Calibri"/>
                <a:cs typeface="Calibri"/>
                <a:sym typeface="Calibri"/>
              </a:rPr>
              <a:t>[slide ref: SECTION 2  ·  S19b]</a:t>
            </a:r>
            <a:endParaRPr/>
          </a:p>
        </p:txBody>
      </p:sp>
      <p:sp>
        <p:nvSpPr>
          <p:cNvPr id="967" name="Google Shape;967;g3ec41b1eb9b_7_1027:notes"/>
          <p:cNvSpPr txBox="1"/>
          <p:nvPr>
            <p:ph idx="12" type="sldNum"/>
          </p:nvPr>
        </p:nvSpPr>
        <p:spPr>
          <a:xfrm>
            <a:off x="3884613" y="6514257"/>
            <a:ext cx="2971800" cy="344109"/>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7" name="Shape 987"/>
        <p:cNvGrpSpPr/>
        <p:nvPr/>
      </p:nvGrpSpPr>
      <p:grpSpPr>
        <a:xfrm>
          <a:off x="0" y="0"/>
          <a:ext cx="0" cy="0"/>
          <a:chOff x="0" y="0"/>
          <a:chExt cx="0" cy="0"/>
        </a:xfrm>
      </p:grpSpPr>
      <p:sp>
        <p:nvSpPr>
          <p:cNvPr id="988" name="Google Shape;988;g3f1292e4412_0_16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9" name="Google Shape;989;g3f1292e4412_0_16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3" name="Shape 993"/>
        <p:cNvGrpSpPr/>
        <p:nvPr/>
      </p:nvGrpSpPr>
      <p:grpSpPr>
        <a:xfrm>
          <a:off x="0" y="0"/>
          <a:ext cx="0" cy="0"/>
          <a:chOff x="0" y="0"/>
          <a:chExt cx="0" cy="0"/>
        </a:xfrm>
      </p:grpSpPr>
      <p:sp>
        <p:nvSpPr>
          <p:cNvPr id="994" name="Google Shape;994;g3ec41b1eb9b_7_1053:notes"/>
          <p:cNvSpPr/>
          <p:nvPr>
            <p:ph idx="2" type="sldImg"/>
          </p:nvPr>
        </p:nvSpPr>
        <p:spPr>
          <a:xfrm>
            <a:off x="685654" y="857296"/>
            <a:ext cx="5486693" cy="231469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5" name="Google Shape;995;g3ec41b1eb9b_7_1053:notes"/>
          <p:cNvSpPr txBox="1"/>
          <p:nvPr>
            <p:ph idx="1" type="body"/>
          </p:nvPr>
        </p:nvSpPr>
        <p:spPr>
          <a:xfrm>
            <a:off x="685800" y="3300588"/>
            <a:ext cx="5486400" cy="2700481"/>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Calibri"/>
                <a:ea typeface="Calibri"/>
                <a:cs typeface="Calibri"/>
                <a:sym typeface="Calibri"/>
              </a:rPr>
              <a:t>[slide ref: SECTION 2  ·  S19c]</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[conductor cue] Slow down here. “This is the only screen the warehouse needs — what to pick, how many, where it is. No money, no customer drama.” Point out the short-pick exception cue: the warehouse is where stock truth gets corrected.</a:t>
            </a:r>
            <a:endParaRPr/>
          </a:p>
        </p:txBody>
      </p:sp>
      <p:sp>
        <p:nvSpPr>
          <p:cNvPr id="996" name="Google Shape;996;g3ec41b1eb9b_7_1053:notes"/>
          <p:cNvSpPr txBox="1"/>
          <p:nvPr>
            <p:ph idx="12" type="sldNum"/>
          </p:nvPr>
        </p:nvSpPr>
        <p:spPr>
          <a:xfrm>
            <a:off x="3884613" y="6514257"/>
            <a:ext cx="2971800" cy="344109"/>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9" name="Shape 1049"/>
        <p:cNvGrpSpPr/>
        <p:nvPr/>
      </p:nvGrpSpPr>
      <p:grpSpPr>
        <a:xfrm>
          <a:off x="0" y="0"/>
          <a:ext cx="0" cy="0"/>
          <a:chOff x="0" y="0"/>
          <a:chExt cx="0" cy="0"/>
        </a:xfrm>
      </p:grpSpPr>
      <p:sp>
        <p:nvSpPr>
          <p:cNvPr id="1050" name="Google Shape;1050;g3ec41b1eb9b_7_947:notes"/>
          <p:cNvSpPr/>
          <p:nvPr>
            <p:ph idx="2" type="sldImg"/>
          </p:nvPr>
        </p:nvSpPr>
        <p:spPr>
          <a:xfrm>
            <a:off x="685654" y="857296"/>
            <a:ext cx="5486693" cy="231469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1" name="Google Shape;1051;g3ec41b1eb9b_7_947:notes"/>
          <p:cNvSpPr txBox="1"/>
          <p:nvPr>
            <p:ph idx="1" type="body"/>
          </p:nvPr>
        </p:nvSpPr>
        <p:spPr>
          <a:xfrm>
            <a:off x="685800" y="3300588"/>
            <a:ext cx="5486400" cy="2700481"/>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Calibri"/>
                <a:ea typeface="Calibri"/>
                <a:cs typeface="Calibri"/>
                <a:sym typeface="Calibri"/>
              </a:rPr>
              <a:t>[SUSTAIN] 30 seconds max. No predict for this segment — it's the backbone flow, keep it brisk. "This is the flow you'll run in the game. Watch it once — end to end." Play the video immediately.</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[slide ref: SECTION 2  ·  S19a]</a:t>
            </a:r>
            <a:endParaRPr/>
          </a:p>
        </p:txBody>
      </p:sp>
      <p:sp>
        <p:nvSpPr>
          <p:cNvPr id="1052" name="Google Shape;1052;g3ec41b1eb9b_7_947:notes"/>
          <p:cNvSpPr txBox="1"/>
          <p:nvPr>
            <p:ph idx="12" type="sldNum"/>
          </p:nvPr>
        </p:nvSpPr>
        <p:spPr>
          <a:xfrm>
            <a:off x="3884613" y="6514257"/>
            <a:ext cx="2971800" cy="34410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1" name="Shape 1071"/>
        <p:cNvGrpSpPr/>
        <p:nvPr/>
      </p:nvGrpSpPr>
      <p:grpSpPr>
        <a:xfrm>
          <a:off x="0" y="0"/>
          <a:ext cx="0" cy="0"/>
          <a:chOff x="0" y="0"/>
          <a:chExt cx="0" cy="0"/>
        </a:xfrm>
      </p:grpSpPr>
      <p:sp>
        <p:nvSpPr>
          <p:cNvPr id="1072" name="Google Shape;1072;g3f1292e4412_0_4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3" name="Google Shape;1073;g3f1292e4412_0_4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7" name="Shape 1077"/>
        <p:cNvGrpSpPr/>
        <p:nvPr/>
      </p:nvGrpSpPr>
      <p:grpSpPr>
        <a:xfrm>
          <a:off x="0" y="0"/>
          <a:ext cx="0" cy="0"/>
          <a:chOff x="0" y="0"/>
          <a:chExt cx="0" cy="0"/>
        </a:xfrm>
      </p:grpSpPr>
      <p:sp>
        <p:nvSpPr>
          <p:cNvPr id="1078" name="Google Shape;1078;g3ec41b1eb9b_7_1180:notes"/>
          <p:cNvSpPr/>
          <p:nvPr>
            <p:ph idx="2" type="sldImg"/>
          </p:nvPr>
        </p:nvSpPr>
        <p:spPr>
          <a:xfrm>
            <a:off x="685654" y="857296"/>
            <a:ext cx="5486693" cy="231469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9" name="Google Shape;1079;g3ec41b1eb9b_7_1180:notes"/>
          <p:cNvSpPr txBox="1"/>
          <p:nvPr>
            <p:ph idx="1" type="body"/>
          </p:nvPr>
        </p:nvSpPr>
        <p:spPr>
          <a:xfrm>
            <a:off x="685800" y="3300588"/>
            <a:ext cx="5486400" cy="2700481"/>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Calibri"/>
                <a:ea typeface="Calibri"/>
                <a:cs typeface="Calibri"/>
                <a:sym typeface="Calibri"/>
              </a:rPr>
              <a:t>[SUSTAIN] 30 seconds max. No formal predict — let the video be the reveal. "Last one. Remember those three customer questions from earlier?" Pause one beat. Play the video.</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[slide ref: SECTION 2  ·  S21a]</a:t>
            </a:r>
            <a:endParaRPr/>
          </a:p>
        </p:txBody>
      </p:sp>
      <p:sp>
        <p:nvSpPr>
          <p:cNvPr id="1080" name="Google Shape;1080;g3ec41b1eb9b_7_1180:notes"/>
          <p:cNvSpPr txBox="1"/>
          <p:nvPr>
            <p:ph idx="12" type="sldNum"/>
          </p:nvPr>
        </p:nvSpPr>
        <p:spPr>
          <a:xfrm>
            <a:off x="3884613" y="6514257"/>
            <a:ext cx="2971800" cy="34410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6" name="Shape 1086"/>
        <p:cNvGrpSpPr/>
        <p:nvPr/>
      </p:nvGrpSpPr>
      <p:grpSpPr>
        <a:xfrm>
          <a:off x="0" y="0"/>
          <a:ext cx="0" cy="0"/>
          <a:chOff x="0" y="0"/>
          <a:chExt cx="0" cy="0"/>
        </a:xfrm>
      </p:grpSpPr>
      <p:sp>
        <p:nvSpPr>
          <p:cNvPr id="1087" name="Google Shape;1087;g3f1292e4412_0_15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8" name="Google Shape;1088;g3f1292e4412_0_15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2" name="Shape 1092"/>
        <p:cNvGrpSpPr/>
        <p:nvPr/>
      </p:nvGrpSpPr>
      <p:grpSpPr>
        <a:xfrm>
          <a:off x="0" y="0"/>
          <a:ext cx="0" cy="0"/>
          <a:chOff x="0" y="0"/>
          <a:chExt cx="0" cy="0"/>
        </a:xfrm>
      </p:grpSpPr>
      <p:sp>
        <p:nvSpPr>
          <p:cNvPr id="1093" name="Google Shape;1093;g3ec41b1eb9b_7_1194:notes"/>
          <p:cNvSpPr/>
          <p:nvPr>
            <p:ph idx="2" type="sldImg"/>
          </p:nvPr>
        </p:nvSpPr>
        <p:spPr>
          <a:xfrm>
            <a:off x="685654" y="857296"/>
            <a:ext cx="5486700" cy="23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4" name="Google Shape;1094;g3ec41b1eb9b_7_1194:notes"/>
          <p:cNvSpPr txBox="1"/>
          <p:nvPr>
            <p:ph idx="1" type="body"/>
          </p:nvPr>
        </p:nvSpPr>
        <p:spPr>
          <a:xfrm>
            <a:off x="685800" y="3300588"/>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Calibri"/>
                <a:ea typeface="Calibri"/>
                <a:cs typeface="Calibri"/>
                <a:sym typeface="Calibri"/>
              </a:rPr>
              <a:t>▶ VIDEO SLIDE — this slide is replaced by a screen recording the conductor narrates live (plain-language retrieval + Statement of Account).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[PLACEHOLDER: record and embed/link the video for this segment before the live session.]</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VIDEO CONTENT:</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1. WhatsApp message typed: "send Restoran Maju their statement." MAIA replies with the SOA link card — no navigation, no modules.</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2. Quick plain-language find: "find the oil order from last Tuesday" → result surfaces with no codes.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LIVE NARRATION CUE: Bring back the S8 struck-through questions: "Remember those three customer questions from earlier? Here's how the 'resend my statement' one dies." Play the SOA retrieval. "And here's how 'what happened to that order' becomes a two-second ask." Land it warm: "The goal isn't that MAIA is impressive. It's that Monday morning is less exhausting."</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[slide ref: SECTION 2  ·  S21]</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[conductor cue] “A new customer should never be a 10-minute detour.” Show the duplicate check, the required fields, then the return to the order. Land the boundary: who can create customers is set per deployment — not everyone.</a:t>
            </a:r>
            <a:endParaRPr/>
          </a:p>
        </p:txBody>
      </p:sp>
      <p:sp>
        <p:nvSpPr>
          <p:cNvPr id="1095" name="Google Shape;1095;g3ec41b1eb9b_7_1194:notes"/>
          <p:cNvSpPr txBox="1"/>
          <p:nvPr>
            <p:ph idx="12" type="sldNum"/>
          </p:nvPr>
        </p:nvSpPr>
        <p:spPr>
          <a:xfrm>
            <a:off x="3884613" y="6514257"/>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2" name="Shape 1132"/>
        <p:cNvGrpSpPr/>
        <p:nvPr/>
      </p:nvGrpSpPr>
      <p:grpSpPr>
        <a:xfrm>
          <a:off x="0" y="0"/>
          <a:ext cx="0" cy="0"/>
          <a:chOff x="0" y="0"/>
          <a:chExt cx="0" cy="0"/>
        </a:xfrm>
      </p:grpSpPr>
      <p:sp>
        <p:nvSpPr>
          <p:cNvPr id="1133" name="Google Shape;1133;g3ec41b1eb9b_7_1232:notes"/>
          <p:cNvSpPr/>
          <p:nvPr>
            <p:ph idx="2" type="sldImg"/>
          </p:nvPr>
        </p:nvSpPr>
        <p:spPr>
          <a:xfrm>
            <a:off x="685654" y="857296"/>
            <a:ext cx="5486693" cy="231469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4" name="Google Shape;1134;g3ec41b1eb9b_7_1232:notes"/>
          <p:cNvSpPr txBox="1"/>
          <p:nvPr>
            <p:ph idx="1" type="body"/>
          </p:nvPr>
        </p:nvSpPr>
        <p:spPr>
          <a:xfrm>
            <a:off x="685800" y="3300588"/>
            <a:ext cx="5486400" cy="2700481"/>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Calibri"/>
                <a:ea typeface="Calibri"/>
                <a:cs typeface="Calibri"/>
                <a:sym typeface="Calibri"/>
              </a:rPr>
              <a:t>[slide ref: SECTION 2  ·  S21b]</a:t>
            </a:r>
            <a:endParaRPr/>
          </a:p>
        </p:txBody>
      </p:sp>
      <p:sp>
        <p:nvSpPr>
          <p:cNvPr id="1135" name="Google Shape;1135;g3ec41b1eb9b_7_1232:notes"/>
          <p:cNvSpPr txBox="1"/>
          <p:nvPr>
            <p:ph idx="12" type="sldNum"/>
          </p:nvPr>
        </p:nvSpPr>
        <p:spPr>
          <a:xfrm>
            <a:off x="3884613" y="6514257"/>
            <a:ext cx="2971800" cy="344109"/>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1" name="Shape 1141"/>
        <p:cNvGrpSpPr/>
        <p:nvPr/>
      </p:nvGrpSpPr>
      <p:grpSpPr>
        <a:xfrm>
          <a:off x="0" y="0"/>
          <a:ext cx="0" cy="0"/>
          <a:chOff x="0" y="0"/>
          <a:chExt cx="0" cy="0"/>
        </a:xfrm>
      </p:grpSpPr>
      <p:sp>
        <p:nvSpPr>
          <p:cNvPr id="1142" name="Google Shape;1142;g3f1292e4412_0_15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3" name="Google Shape;1143;g3f1292e4412_0_15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7" name="Shape 1147"/>
        <p:cNvGrpSpPr/>
        <p:nvPr/>
      </p:nvGrpSpPr>
      <p:grpSpPr>
        <a:xfrm>
          <a:off x="0" y="0"/>
          <a:ext cx="0" cy="0"/>
          <a:chOff x="0" y="0"/>
          <a:chExt cx="0" cy="0"/>
        </a:xfrm>
      </p:grpSpPr>
      <p:sp>
        <p:nvSpPr>
          <p:cNvPr id="1148" name="Google Shape;1148;g3ec41b1eb9b_7_1246:notes"/>
          <p:cNvSpPr/>
          <p:nvPr>
            <p:ph idx="2" type="sldImg"/>
          </p:nvPr>
        </p:nvSpPr>
        <p:spPr>
          <a:xfrm>
            <a:off x="685654" y="857296"/>
            <a:ext cx="5486700" cy="23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9" name="Google Shape;1149;g3ec41b1eb9b_7_1246:notes"/>
          <p:cNvSpPr txBox="1"/>
          <p:nvPr>
            <p:ph idx="1" type="body"/>
          </p:nvPr>
        </p:nvSpPr>
        <p:spPr>
          <a:xfrm>
            <a:off x="685800" y="3300588"/>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Calibri"/>
                <a:ea typeface="Calibri"/>
                <a:cs typeface="Calibri"/>
                <a:sym typeface="Calibri"/>
              </a:rPr>
              <a:t>[slide ref: SECTION 2  ·  S21c]</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[conductor cue] “Bad item data is forever — that’s why MAIA reviews first.” Stress the item-type lock: stock vs service is decided once. Boundary: who can create items is set per deployment, and the chatbot refuses to guess.</a:t>
            </a:r>
            <a:endParaRPr/>
          </a:p>
        </p:txBody>
      </p:sp>
      <p:sp>
        <p:nvSpPr>
          <p:cNvPr id="1150" name="Google Shape;1150;g3ec41b1eb9b_7_1246:notes"/>
          <p:cNvSpPr txBox="1"/>
          <p:nvPr>
            <p:ph idx="12" type="sldNum"/>
          </p:nvPr>
        </p:nvSpPr>
        <p:spPr>
          <a:xfrm>
            <a:off x="3884613" y="6514257"/>
            <a:ext cx="2971800" cy="344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7" name="Shape 1187"/>
        <p:cNvGrpSpPr/>
        <p:nvPr/>
      </p:nvGrpSpPr>
      <p:grpSpPr>
        <a:xfrm>
          <a:off x="0" y="0"/>
          <a:ext cx="0" cy="0"/>
          <a:chOff x="0" y="0"/>
          <a:chExt cx="0" cy="0"/>
        </a:xfrm>
      </p:grpSpPr>
      <p:sp>
        <p:nvSpPr>
          <p:cNvPr id="1188" name="Google Shape;1188;g3f1292e4412_0_480:notes"/>
          <p:cNvSpPr/>
          <p:nvPr>
            <p:ph idx="2" type="sldImg"/>
          </p:nvPr>
        </p:nvSpPr>
        <p:spPr>
          <a:xfrm>
            <a:off x="685654" y="857296"/>
            <a:ext cx="5486700" cy="23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9" name="Google Shape;1189;g3f1292e4412_0_480:notes"/>
          <p:cNvSpPr txBox="1"/>
          <p:nvPr>
            <p:ph idx="1" type="body"/>
          </p:nvPr>
        </p:nvSpPr>
        <p:spPr>
          <a:xfrm>
            <a:off x="685800" y="3300588"/>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lang="en-GB" sz="1200">
                <a:solidFill>
                  <a:schemeClr val="dk1"/>
                </a:solidFill>
                <a:latin typeface="Calibri"/>
                <a:ea typeface="Calibri"/>
                <a:cs typeface="Calibri"/>
                <a:sym typeface="Calibri"/>
              </a:rPr>
              <a:t>[SPIKE] This is the energy switch. Pace up. Be direct.</a:t>
            </a:r>
            <a:endParaRPr>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Clr>
                <a:schemeClr val="dk1"/>
              </a:buClr>
              <a:buFont typeface="Arial"/>
              <a:buNone/>
            </a:pPr>
            <a:r>
              <a:rPr lang="en-GB" sz="1200">
                <a:solidFill>
                  <a:schemeClr val="dk1"/>
                </a:solidFill>
                <a:latin typeface="Calibri"/>
                <a:ea typeface="Calibri"/>
                <a:cs typeface="Calibri"/>
                <a:sym typeface="Calibri"/>
              </a:rPr>
              <a:t>"Everything you just watched — you're about to do it. For real. In MAIA. On your phone."</a:t>
            </a:r>
            <a:endParaRPr>
              <a:solidFill>
                <a:schemeClr val="dk1"/>
              </a:solidFill>
            </a:endParaRPr>
          </a:p>
          <a:p>
            <a:pPr indent="0" lvl="0" marL="0" rtl="0" algn="l">
              <a:spcBef>
                <a:spcPts val="0"/>
              </a:spcBef>
              <a:spcAft>
                <a:spcPts val="0"/>
              </a:spcAft>
              <a:buClr>
                <a:schemeClr val="dk1"/>
              </a:buClr>
              <a:buFont typeface="Arial"/>
              <a:buNone/>
            </a:pPr>
            <a:r>
              <a:rPr lang="en-GB" sz="1200">
                <a:solidFill>
                  <a:schemeClr val="dk1"/>
                </a:solidFill>
                <a:latin typeface="Calibri"/>
                <a:ea typeface="Calibri"/>
                <a:cs typeface="Calibri"/>
                <a:sym typeface="Calibri"/>
              </a:rPr>
              <a:t>"Your team has been pre-assigned. You have a role. That role has one job in each mission."</a:t>
            </a:r>
            <a:endParaRPr>
              <a:solidFill>
                <a:schemeClr val="dk1"/>
              </a:solidFill>
            </a:endParaRPr>
          </a:p>
          <a:p>
            <a:pPr indent="0" lvl="0" marL="0" rtl="0" algn="l">
              <a:spcBef>
                <a:spcPts val="0"/>
              </a:spcBef>
              <a:spcAft>
                <a:spcPts val="0"/>
              </a:spcAft>
              <a:buClr>
                <a:schemeClr val="dk1"/>
              </a:buClr>
              <a:buFont typeface="Arial"/>
              <a:buNone/>
            </a:pPr>
            <a:r>
              <a:rPr lang="en-GB" sz="1200">
                <a:solidFill>
                  <a:schemeClr val="dk1"/>
                </a:solidFill>
                <a:latin typeface="Calibri"/>
                <a:ea typeface="Calibri"/>
                <a:cs typeface="Calibri"/>
                <a:sym typeface="Calibri"/>
              </a:rPr>
              <a:t>[Physical cue — say this:] "Take out your phone. Open WhatsApp. Find the MAIA chat. Raise your hand when you're in." Wait for hands. Don't move to rules until everyone is in the chat.</a:t>
            </a:r>
            <a:endParaRPr>
              <a:solidFill>
                <a:schemeClr val="dk1"/>
              </a:solidFill>
            </a:endParaRPr>
          </a:p>
          <a:p>
            <a:pPr indent="0" lvl="0" marL="0" rtl="0" algn="l">
              <a:spcBef>
                <a:spcPts val="0"/>
              </a:spcBef>
              <a:spcAft>
                <a:spcPts val="0"/>
              </a:spcAft>
              <a:buClr>
                <a:schemeClr val="dk1"/>
              </a:buClr>
              <a:buFont typeface="Arial"/>
              <a:buNone/>
            </a:pPr>
            <a:r>
              <a:rPr lang="en-GB" sz="1200">
                <a:solidFill>
                  <a:schemeClr val="dk1"/>
                </a:solidFill>
                <a:latin typeface="Calibri"/>
                <a:ea typeface="Calibri"/>
                <a:cs typeface="Calibri"/>
                <a:sym typeface="Calibri"/>
              </a:rPr>
              <a:t>"Here's how it works — 60 seconds, then we GO."</a:t>
            </a:r>
            <a:endParaRPr>
              <a:solidFill>
                <a:schemeClr val="dk1"/>
              </a:solidFill>
            </a:endParaRPr>
          </a:p>
          <a:p>
            <a:pPr indent="0" lvl="0" marL="0" rtl="0" algn="l">
              <a:spcBef>
                <a:spcPts val="0"/>
              </a:spcBef>
              <a:spcAft>
                <a:spcPts val="0"/>
              </a:spcAft>
              <a:buClr>
                <a:schemeClr val="dk1"/>
              </a:buClr>
              <a:buFont typeface="Arial"/>
              <a:buNone/>
            </a:pPr>
            <a:r>
              <a:rPr lang="en-GB" sz="1200">
                <a:solidFill>
                  <a:schemeClr val="dk1"/>
                </a:solidFill>
                <a:latin typeface="Calibri"/>
                <a:ea typeface="Calibri"/>
                <a:cs typeface="Calibri"/>
                <a:sym typeface="Calibri"/>
              </a:rPr>
              <a:t>[slide ref: SECTION 2  ·  S22]</a:t>
            </a:r>
            <a:endParaRPr>
              <a:solidFill>
                <a:schemeClr val="dk1"/>
              </a:solidFill>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190" name="Google Shape;1190;g3f1292e4412_0_480:notes"/>
          <p:cNvSpPr txBox="1"/>
          <p:nvPr>
            <p:ph idx="12" type="sldNum"/>
          </p:nvPr>
        </p:nvSpPr>
        <p:spPr>
          <a:xfrm>
            <a:off x="3884613" y="6514257"/>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5" name="Shape 1195"/>
        <p:cNvGrpSpPr/>
        <p:nvPr/>
      </p:nvGrpSpPr>
      <p:grpSpPr>
        <a:xfrm>
          <a:off x="0" y="0"/>
          <a:ext cx="0" cy="0"/>
          <a:chOff x="0" y="0"/>
          <a:chExt cx="0" cy="0"/>
        </a:xfrm>
      </p:grpSpPr>
      <p:sp>
        <p:nvSpPr>
          <p:cNvPr id="1196" name="Google Shape;1196;g3f1292e4412_0_1742:notes"/>
          <p:cNvSpPr/>
          <p:nvPr>
            <p:ph idx="2" type="sldImg"/>
          </p:nvPr>
        </p:nvSpPr>
        <p:spPr>
          <a:xfrm>
            <a:off x="685654" y="857296"/>
            <a:ext cx="5486700" cy="23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7" name="Google Shape;1197;g3f1292e4412_0_1742:notes"/>
          <p:cNvSpPr txBox="1"/>
          <p:nvPr>
            <p:ph idx="1" type="body"/>
          </p:nvPr>
        </p:nvSpPr>
        <p:spPr>
          <a:xfrm>
            <a:off x="685800" y="3300588"/>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Calibri"/>
                <a:ea typeface="Calibri"/>
                <a:cs typeface="Calibri"/>
                <a:sym typeface="Calibri"/>
              </a:rPr>
              <a:t>[SPIKE] This is the energy switch. Pace up. Be direct.</a:t>
            </a:r>
            <a:endParaRPr>
              <a:solidFill>
                <a:schemeClr val="dk1"/>
              </a:solidFill>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"Everything you just watched — you're about to do it. For real. In MAIA. On your phone."</a:t>
            </a:r>
            <a:endParaRPr>
              <a:solidFill>
                <a:schemeClr val="dk1"/>
              </a:solidFill>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"Your team has been pre-assigned. You have a role. That role has one job in each mission."</a:t>
            </a:r>
            <a:endParaRPr>
              <a:solidFill>
                <a:schemeClr val="dk1"/>
              </a:solidFill>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[Physical cue — say this:] "Take out your phone. Open WhatsApp. Find the MAIA chat. Raise your hand when you're in." Wait for hands. Don't move to rules until everyone is in the chat.</a:t>
            </a:r>
            <a:endParaRPr>
              <a:solidFill>
                <a:schemeClr val="dk1"/>
              </a:solidFill>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"Here's how it works — 60 seconds, then we GO."</a:t>
            </a:r>
            <a:endParaRPr>
              <a:solidFill>
                <a:schemeClr val="dk1"/>
              </a:solidFill>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[slide ref: SECTION 2  ·  S22]</a:t>
            </a:r>
            <a:endParaRPr>
              <a:solidFill>
                <a:schemeClr val="dk1"/>
              </a:solidFill>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198" name="Google Shape;1198;g3f1292e4412_0_1742:notes"/>
          <p:cNvSpPr txBox="1"/>
          <p:nvPr>
            <p:ph idx="12" type="sldNum"/>
          </p:nvPr>
        </p:nvSpPr>
        <p:spPr>
          <a:xfrm>
            <a:off x="3884613" y="6514257"/>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6" name="Shape 1206"/>
        <p:cNvGrpSpPr/>
        <p:nvPr/>
      </p:nvGrpSpPr>
      <p:grpSpPr>
        <a:xfrm>
          <a:off x="0" y="0"/>
          <a:ext cx="0" cy="0"/>
          <a:chOff x="0" y="0"/>
          <a:chExt cx="0" cy="0"/>
        </a:xfrm>
      </p:grpSpPr>
      <p:sp>
        <p:nvSpPr>
          <p:cNvPr id="1207" name="Google Shape;1207;g3f1292e4412_0_524:notes"/>
          <p:cNvSpPr/>
          <p:nvPr>
            <p:ph idx="2" type="sldImg"/>
          </p:nvPr>
        </p:nvSpPr>
        <p:spPr>
          <a:xfrm>
            <a:off x="685654" y="857296"/>
            <a:ext cx="5486700" cy="23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8" name="Google Shape;1208;g3f1292e4412_0_524:notes"/>
          <p:cNvSpPr txBox="1"/>
          <p:nvPr>
            <p:ph idx="1" type="body"/>
          </p:nvPr>
        </p:nvSpPr>
        <p:spPr>
          <a:xfrm>
            <a:off x="685800" y="3300588"/>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Calibri"/>
                <a:ea typeface="Calibri"/>
                <a:cs typeface="Calibri"/>
                <a:sym typeface="Calibri"/>
              </a:rPr>
              <a:t>⏱ Game starts ~50 min in. Must reach S34 (Close) by ~102 min.</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[SPIKE] One line: "Real orders. MAIA. WhatsApp. Phones in hand. Highest QC-passed score wins."</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[slide ref: GAME  ·  S23]</a:t>
            </a:r>
            <a:endParaRPr/>
          </a:p>
        </p:txBody>
      </p:sp>
      <p:sp>
        <p:nvSpPr>
          <p:cNvPr id="1209" name="Google Shape;1209;g3f1292e4412_0_524:notes"/>
          <p:cNvSpPr txBox="1"/>
          <p:nvPr>
            <p:ph idx="12" type="sldNum"/>
          </p:nvPr>
        </p:nvSpPr>
        <p:spPr>
          <a:xfrm>
            <a:off x="3884613" y="6514257"/>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7" name="Shape 1227"/>
        <p:cNvGrpSpPr/>
        <p:nvPr/>
      </p:nvGrpSpPr>
      <p:grpSpPr>
        <a:xfrm>
          <a:off x="0" y="0"/>
          <a:ext cx="0" cy="0"/>
          <a:chOff x="0" y="0"/>
          <a:chExt cx="0" cy="0"/>
        </a:xfrm>
      </p:grpSpPr>
      <p:sp>
        <p:nvSpPr>
          <p:cNvPr id="1228" name="Google Shape;1228;g3ec41b1eb9b_7_1284:notes"/>
          <p:cNvSpPr/>
          <p:nvPr>
            <p:ph idx="2" type="sldImg"/>
          </p:nvPr>
        </p:nvSpPr>
        <p:spPr>
          <a:xfrm>
            <a:off x="685654" y="857296"/>
            <a:ext cx="5486693" cy="231469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29" name="Google Shape;1229;g3ec41b1eb9b_7_1284:notes"/>
          <p:cNvSpPr txBox="1"/>
          <p:nvPr>
            <p:ph idx="1" type="body"/>
          </p:nvPr>
        </p:nvSpPr>
        <p:spPr>
          <a:xfrm>
            <a:off x="685800" y="3300588"/>
            <a:ext cx="5486400" cy="2700481"/>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Calibri"/>
                <a:ea typeface="Calibri"/>
                <a:cs typeface="Calibri"/>
                <a:sym typeface="Calibri"/>
              </a:rPr>
              <a:t>[SPIKE] This is the energy switch. Pace up. Be direct.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"Everything you just watched — you're about to do it. For real. In MAIA. On your phone."</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"Your team has been pre-assigned. You have a role. That role has one job in each mission."</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[Physical cue — say this:] "Take out your phone. Open WhatsApp. Find the MAIA chat. Raise your hand when you're in." Wait for hands. Don't move to rules until everyone is in the chat.</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"Here's how it works — 60 seconds, then we GO."</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[slide ref: SECTION 2  ·  S22]</a:t>
            </a:r>
            <a:endParaRPr/>
          </a:p>
        </p:txBody>
      </p:sp>
      <p:sp>
        <p:nvSpPr>
          <p:cNvPr id="1230" name="Google Shape;1230;g3ec41b1eb9b_7_1284:notes"/>
          <p:cNvSpPr txBox="1"/>
          <p:nvPr>
            <p:ph idx="12" type="sldNum"/>
          </p:nvPr>
        </p:nvSpPr>
        <p:spPr>
          <a:xfrm>
            <a:off x="3884613" y="6514257"/>
            <a:ext cx="2971800" cy="34410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6" name="Shape 1276"/>
        <p:cNvGrpSpPr/>
        <p:nvPr/>
      </p:nvGrpSpPr>
      <p:grpSpPr>
        <a:xfrm>
          <a:off x="0" y="0"/>
          <a:ext cx="0" cy="0"/>
          <a:chOff x="0" y="0"/>
          <a:chExt cx="0" cy="0"/>
        </a:xfrm>
      </p:grpSpPr>
      <p:sp>
        <p:nvSpPr>
          <p:cNvPr id="1277" name="Google Shape;1277;g3ec41b1eb9b_7_1420:notes"/>
          <p:cNvSpPr/>
          <p:nvPr>
            <p:ph idx="2" type="sldImg"/>
          </p:nvPr>
        </p:nvSpPr>
        <p:spPr>
          <a:xfrm>
            <a:off x="685654" y="857296"/>
            <a:ext cx="5486693" cy="231469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8" name="Google Shape;1278;g3ec41b1eb9b_7_1420:notes"/>
          <p:cNvSpPr txBox="1"/>
          <p:nvPr>
            <p:ph idx="1" type="body"/>
          </p:nvPr>
        </p:nvSpPr>
        <p:spPr>
          <a:xfrm>
            <a:off x="685800" y="3300588"/>
            <a:ext cx="5486400" cy="2700481"/>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lang="en-GB" sz="1200">
                <a:solidFill>
                  <a:schemeClr val="dk1"/>
                </a:solidFill>
                <a:latin typeface="Calibri"/>
                <a:ea typeface="Calibri"/>
                <a:cs typeface="Calibri"/>
                <a:sym typeface="Calibri"/>
              </a:rPr>
              <a:t>[SUSTAIN] "The facilitators will QC every document you log — right items, right price, credit handled correctly, correct delivery. A document that passes QC scores 1. A bonus for catching the trap inside the mission. Speed only breaks a tie." Let it land. "Go fast. But go right."</a:t>
            </a:r>
            <a:endParaRPr>
              <a:solidFill>
                <a:schemeClr val="dk1"/>
              </a:solidFill>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[slide ref: GAME · S26 | GAME  ·  S26]</a:t>
            </a:r>
            <a:br>
              <a:rPr lang="en-GB" sz="1200">
                <a:solidFill>
                  <a:schemeClr val="dk1"/>
                </a:solidFill>
                <a:latin typeface="Calibri"/>
                <a:ea typeface="Calibri"/>
                <a:cs typeface="Calibri"/>
                <a:sym typeface="Calibri"/>
              </a:rPr>
            </a:br>
            <a:br>
              <a:rPr lang="en-GB" sz="1200">
                <a:solidFill>
                  <a:schemeClr val="dk1"/>
                </a:solidFill>
                <a:latin typeface="Calibri"/>
                <a:ea typeface="Calibri"/>
                <a:cs typeface="Calibri"/>
                <a:sym typeface="Calibri"/>
              </a:rPr>
            </a:br>
            <a:r>
              <a:rPr lang="en-GB" sz="1200">
                <a:solidFill>
                  <a:schemeClr val="dk1"/>
                </a:solidFill>
                <a:latin typeface="Calibri"/>
                <a:ea typeface="Calibri"/>
                <a:cs typeface="Calibri"/>
                <a:sym typeface="Calibri"/>
              </a:rPr>
              <a:t>[SUSTAIN] Walk this once with a worked example: "Team A picks up Mission 1 — Restoran Maju. Uploads the CPO. Sales creates the SO. Logistics picks and delivers. Driver marks delivered. You write SO-2026-XXXXX and DN-2026-XXXXX on the board. We QC it. You score 1. That's it."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M7 exception: The Brew Lab ends at a Quotation — record the QT ID, not an SO.</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M8 exception: Grand Ballroom ends at SWO complete — record the SO + SWO ID.</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[slide ref: GAME · S25 | GAME  ·  S25]</a:t>
            </a:r>
            <a:endParaRPr/>
          </a:p>
        </p:txBody>
      </p:sp>
      <p:sp>
        <p:nvSpPr>
          <p:cNvPr id="1279" name="Google Shape;1279;g3ec41b1eb9b_7_1420:notes"/>
          <p:cNvSpPr txBox="1"/>
          <p:nvPr>
            <p:ph idx="12" type="sldNum"/>
          </p:nvPr>
        </p:nvSpPr>
        <p:spPr>
          <a:xfrm>
            <a:off x="3884613" y="6514257"/>
            <a:ext cx="2971800" cy="34410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0" name="Shape 1360"/>
        <p:cNvGrpSpPr/>
        <p:nvPr/>
      </p:nvGrpSpPr>
      <p:grpSpPr>
        <a:xfrm>
          <a:off x="0" y="0"/>
          <a:ext cx="0" cy="0"/>
          <a:chOff x="0" y="0"/>
          <a:chExt cx="0" cy="0"/>
        </a:xfrm>
      </p:grpSpPr>
      <p:sp>
        <p:nvSpPr>
          <p:cNvPr id="1361" name="Google Shape;1361;g3ec41b1eb9b_7_1356:notes"/>
          <p:cNvSpPr/>
          <p:nvPr>
            <p:ph idx="2" type="sldImg"/>
          </p:nvPr>
        </p:nvSpPr>
        <p:spPr>
          <a:xfrm>
            <a:off x="685654" y="857296"/>
            <a:ext cx="5486693" cy="231469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2" name="Google Shape;1362;g3ec41b1eb9b_7_1356:notes"/>
          <p:cNvSpPr txBox="1"/>
          <p:nvPr>
            <p:ph idx="1" type="body"/>
          </p:nvPr>
        </p:nvSpPr>
        <p:spPr>
          <a:xfrm>
            <a:off x="685800" y="3300588"/>
            <a:ext cx="5486400" cy="2700481"/>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Calibri"/>
                <a:ea typeface="Calibri"/>
                <a:cs typeface="Calibri"/>
                <a:sym typeface="Calibri"/>
              </a:rPr>
              <a:t>[SPIKE → SUSTAIN] Read the teams. "Find your table. You are your role for the next 52 minutes. Sales submits. Controller approves. Logistics picks and delivers. Driver marks done." Pause. "The handoff is the game. Don't do your teammate's job — hand it to them."</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Instance naming convention: All teams work in the same MAIA Training Sdn Bhd instance. To help the facilitator QC without confusion, each team uses a team prefix in the customer reference/notes field: Team A types "A" · Team B types "B" etc. when confirming the SO. The system-generated SO ID is unique regardless, but the prefix helps the facilitator quickly filter documents during QC. Brief each team on this now.</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[PLACEHOLDER: fill in real names and role assignments in the roster table before the session — see Session Prep.]</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[slide ref: GAME · S24 | GAME  ·  S24]</a:t>
            </a:r>
            <a:endParaRPr/>
          </a:p>
        </p:txBody>
      </p:sp>
      <p:sp>
        <p:nvSpPr>
          <p:cNvPr id="1363" name="Google Shape;1363;g3ec41b1eb9b_7_1356:notes"/>
          <p:cNvSpPr txBox="1"/>
          <p:nvPr>
            <p:ph idx="12" type="sldNum"/>
          </p:nvPr>
        </p:nvSpPr>
        <p:spPr>
          <a:xfrm>
            <a:off x="3884613" y="6514257"/>
            <a:ext cx="2971800" cy="34410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0" name="Shape 1400"/>
        <p:cNvGrpSpPr/>
        <p:nvPr/>
      </p:nvGrpSpPr>
      <p:grpSpPr>
        <a:xfrm>
          <a:off x="0" y="0"/>
          <a:ext cx="0" cy="0"/>
          <a:chOff x="0" y="0"/>
          <a:chExt cx="0" cy="0"/>
        </a:xfrm>
      </p:grpSpPr>
      <p:sp>
        <p:nvSpPr>
          <p:cNvPr id="1401" name="Google Shape;1401;g3ec41b1eb9b_7_1510:notes"/>
          <p:cNvSpPr/>
          <p:nvPr>
            <p:ph idx="2" type="sldImg"/>
          </p:nvPr>
        </p:nvSpPr>
        <p:spPr>
          <a:xfrm>
            <a:off x="685654" y="857296"/>
            <a:ext cx="5486693" cy="231469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02" name="Google Shape;1402;g3ec41b1eb9b_7_1510:notes"/>
          <p:cNvSpPr txBox="1"/>
          <p:nvPr>
            <p:ph idx="1" type="body"/>
          </p:nvPr>
        </p:nvSpPr>
        <p:spPr>
          <a:xfrm>
            <a:off x="685800" y="3300588"/>
            <a:ext cx="5486400" cy="2700481"/>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Calibri"/>
                <a:ea typeface="Calibri"/>
                <a:cs typeface="Calibri"/>
                <a:sym typeface="Calibri"/>
              </a:rPr>
              <a:t>[SUSTAIN] (facilitator) Confirm all participants are in the WhatsApp MAIA chat before advancing. If anyone is not in, resolve now — do not start the timer with someone locked out. If WhatsApp is down (verified in Session Prep), switch the room to Telegram now. Say the boundary once: "MAIA can meet users in familiar channels, but today we train on WhatsApp so everyone sees the same flow. Email, Teams, and other chat platforms are scoped separately."</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[slide ref: GAME · S27 | GAME  ·  S27]</a:t>
            </a:r>
            <a:endParaRPr/>
          </a:p>
        </p:txBody>
      </p:sp>
      <p:sp>
        <p:nvSpPr>
          <p:cNvPr id="1403" name="Google Shape;1403;g3ec41b1eb9b_7_1510:notes"/>
          <p:cNvSpPr txBox="1"/>
          <p:nvPr>
            <p:ph idx="12" type="sldNum"/>
          </p:nvPr>
        </p:nvSpPr>
        <p:spPr>
          <a:xfrm>
            <a:off x="3884613" y="6514257"/>
            <a:ext cx="2971800" cy="34410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4" name="Shape 1414"/>
        <p:cNvGrpSpPr/>
        <p:nvPr/>
      </p:nvGrpSpPr>
      <p:grpSpPr>
        <a:xfrm>
          <a:off x="0" y="0"/>
          <a:ext cx="0" cy="0"/>
          <a:chOff x="0" y="0"/>
          <a:chExt cx="0" cy="0"/>
        </a:xfrm>
      </p:grpSpPr>
      <p:sp>
        <p:nvSpPr>
          <p:cNvPr id="1415" name="Google Shape;1415;g3ec41b1eb9b_7_1531:notes"/>
          <p:cNvSpPr/>
          <p:nvPr>
            <p:ph idx="2" type="sldImg"/>
          </p:nvPr>
        </p:nvSpPr>
        <p:spPr>
          <a:xfrm>
            <a:off x="685654" y="857296"/>
            <a:ext cx="5486693" cy="231469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16" name="Google Shape;1416;g3ec41b1eb9b_7_1531:notes"/>
          <p:cNvSpPr txBox="1"/>
          <p:nvPr>
            <p:ph idx="1" type="body"/>
          </p:nvPr>
        </p:nvSpPr>
        <p:spPr>
          <a:xfrm>
            <a:off x="685800" y="3300588"/>
            <a:ext cx="5486400" cy="2700481"/>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Calibri"/>
                <a:ea typeface="Calibri"/>
                <a:cs typeface="Calibri"/>
                <a:sym typeface="Calibri"/>
              </a:rPr>
              <a:t>[SUSTAIN] Read them fast. "Any questions on the rules?" Take max 2 questions. Do not negotiate the rules. Then: "OK — your mission cards are on the table. Pick up Mission 1 first. Everyone starts on Restoran Maju."</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[slide ref: GAME · S28  —  MANDATORY, DO NOT SKIP | GAME  ·  S28]</a:t>
            </a:r>
            <a:endParaRPr/>
          </a:p>
        </p:txBody>
      </p:sp>
      <p:sp>
        <p:nvSpPr>
          <p:cNvPr id="1417" name="Google Shape;1417;g3ec41b1eb9b_7_1531:notes"/>
          <p:cNvSpPr txBox="1"/>
          <p:nvPr>
            <p:ph idx="12" type="sldNum"/>
          </p:nvPr>
        </p:nvSpPr>
        <p:spPr>
          <a:xfrm>
            <a:off x="3884613" y="6514257"/>
            <a:ext cx="2971800" cy="34410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8" name="Shape 1438"/>
        <p:cNvGrpSpPr/>
        <p:nvPr/>
      </p:nvGrpSpPr>
      <p:grpSpPr>
        <a:xfrm>
          <a:off x="0" y="0"/>
          <a:ext cx="0" cy="0"/>
          <a:chOff x="0" y="0"/>
          <a:chExt cx="0" cy="0"/>
        </a:xfrm>
      </p:grpSpPr>
      <p:sp>
        <p:nvSpPr>
          <p:cNvPr id="1439" name="Google Shape;1439;g3ec41b1eb9b_7_1563:notes"/>
          <p:cNvSpPr/>
          <p:nvPr>
            <p:ph idx="2" type="sldImg"/>
          </p:nvPr>
        </p:nvSpPr>
        <p:spPr>
          <a:xfrm>
            <a:off x="685654" y="857296"/>
            <a:ext cx="5486693" cy="231469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40" name="Google Shape;1440;g3ec41b1eb9b_7_1563:notes"/>
          <p:cNvSpPr txBox="1"/>
          <p:nvPr>
            <p:ph idx="1" type="body"/>
          </p:nvPr>
        </p:nvSpPr>
        <p:spPr>
          <a:xfrm>
            <a:off x="685800" y="3300588"/>
            <a:ext cx="5486400" cy="2700481"/>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Calibri"/>
                <a:ea typeface="Calibri"/>
                <a:cs typeface="Calibri"/>
                <a:sym typeface="Calibri"/>
              </a:rPr>
              <a:t>[SPIKE] Show this for 5 seconds only. "Everyone on M1. Go."</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[slide ref: GAME · S29 | GAME  ·  S29]</a:t>
            </a:r>
            <a:endParaRPr/>
          </a:p>
        </p:txBody>
      </p:sp>
      <p:sp>
        <p:nvSpPr>
          <p:cNvPr id="1441" name="Google Shape;1441;g3ec41b1eb9b_7_1563:notes"/>
          <p:cNvSpPr txBox="1"/>
          <p:nvPr>
            <p:ph idx="12" type="sldNum"/>
          </p:nvPr>
        </p:nvSpPr>
        <p:spPr>
          <a:xfrm>
            <a:off x="3884613" y="6514257"/>
            <a:ext cx="2971800" cy="34410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4" name="Shape 1504"/>
        <p:cNvGrpSpPr/>
        <p:nvPr/>
      </p:nvGrpSpPr>
      <p:grpSpPr>
        <a:xfrm>
          <a:off x="0" y="0"/>
          <a:ext cx="0" cy="0"/>
          <a:chOff x="0" y="0"/>
          <a:chExt cx="0" cy="0"/>
        </a:xfrm>
      </p:grpSpPr>
      <p:sp>
        <p:nvSpPr>
          <p:cNvPr id="1505" name="Google Shape;1505;g3ec41b1eb9b_7_1630:notes"/>
          <p:cNvSpPr/>
          <p:nvPr>
            <p:ph idx="2" type="sldImg"/>
          </p:nvPr>
        </p:nvSpPr>
        <p:spPr>
          <a:xfrm>
            <a:off x="685654" y="857296"/>
            <a:ext cx="5486693" cy="231469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06" name="Google Shape;1506;g3ec41b1eb9b_7_1630:notes"/>
          <p:cNvSpPr txBox="1"/>
          <p:nvPr>
            <p:ph idx="1" type="body"/>
          </p:nvPr>
        </p:nvSpPr>
        <p:spPr>
          <a:xfrm>
            <a:off x="685800" y="3300588"/>
            <a:ext cx="5486400" cy="2700481"/>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Calibri"/>
                <a:ea typeface="Calibri"/>
                <a:cs typeface="Calibri"/>
                <a:sym typeface="Calibri"/>
              </a:rPr>
              <a:t>[SPIKE] Start the timer. Conductor and facilitators circulate immediately — don't stand at the front. QC scoreboard entries as they come in. Only intervene when a team has been completely stuck for more than 5 minutes — give ONE directional hint, not the answer. Track which teams are ahead for the S31 mid-game energy call.</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[slide ref: GAME  ·  S30]</a:t>
            </a:r>
            <a:endParaRPr/>
          </a:p>
        </p:txBody>
      </p:sp>
      <p:sp>
        <p:nvSpPr>
          <p:cNvPr id="1507" name="Google Shape;1507;g3ec41b1eb9b_7_1630:notes"/>
          <p:cNvSpPr txBox="1"/>
          <p:nvPr>
            <p:ph idx="12" type="sldNum"/>
          </p:nvPr>
        </p:nvSpPr>
        <p:spPr>
          <a:xfrm>
            <a:off x="3884613" y="6514257"/>
            <a:ext cx="2971800" cy="34410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2" name="Shape 1512"/>
        <p:cNvGrpSpPr/>
        <p:nvPr/>
      </p:nvGrpSpPr>
      <p:grpSpPr>
        <a:xfrm>
          <a:off x="0" y="0"/>
          <a:ext cx="0" cy="0"/>
          <a:chOff x="0" y="0"/>
          <a:chExt cx="0" cy="0"/>
        </a:xfrm>
      </p:grpSpPr>
      <p:sp>
        <p:nvSpPr>
          <p:cNvPr id="1513" name="Google Shape;1513;g3ec41b1eb9b_7_2223:notes"/>
          <p:cNvSpPr/>
          <p:nvPr>
            <p:ph idx="2" type="sldImg"/>
          </p:nvPr>
        </p:nvSpPr>
        <p:spPr>
          <a:xfrm>
            <a:off x="685654" y="857296"/>
            <a:ext cx="5486693" cy="231469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14" name="Google Shape;1514;g3ec41b1eb9b_7_2223:notes"/>
          <p:cNvSpPr txBox="1"/>
          <p:nvPr>
            <p:ph idx="1" type="body"/>
          </p:nvPr>
        </p:nvSpPr>
        <p:spPr>
          <a:xfrm>
            <a:off x="685800" y="3300588"/>
            <a:ext cx="5486400" cy="2700481"/>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Calibri"/>
                <a:ea typeface="Calibri"/>
                <a:cs typeface="Calibri"/>
                <a:sym typeface="Calibri"/>
              </a:rPr>
              <a:t>MISSION M1 — Restoran Maju Jaya (WARM-UP)</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FRONT (team sees):</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“Mr. Tan sent over their weekly order. It's clean. Process it and get it delivered.”</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CPO Contents:</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Cooking Oil 17kg × 10</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Jasmine Rice 10kg × 5</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No anomalies — all items in stock.</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Record on board: SO ID  ·  DN ID</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BACK (facilitator QC):</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Correct items and quantities</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No credit issue (RM8k outstanding, RM30k limit)</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DN marked Delivered</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Trap: No trap — this is the on-ramp.</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[PLACEHOLDER: print this mission as a physical double-sided card for the game — front-panel content above for the team side, back-panel content for the facilitator side.]</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[slide ref: A7 · MISSION CARDS · M1 OF 10 | A7  ·  M1]</a:t>
            </a:r>
            <a:endParaRPr/>
          </a:p>
        </p:txBody>
      </p:sp>
      <p:sp>
        <p:nvSpPr>
          <p:cNvPr id="1515" name="Google Shape;1515;g3ec41b1eb9b_7_2223:notes"/>
          <p:cNvSpPr txBox="1"/>
          <p:nvPr>
            <p:ph idx="12" type="sldNum"/>
          </p:nvPr>
        </p:nvSpPr>
        <p:spPr>
          <a:xfrm>
            <a:off x="3884613" y="6514257"/>
            <a:ext cx="2971800" cy="34410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7" name="Shape 1527"/>
        <p:cNvGrpSpPr/>
        <p:nvPr/>
      </p:nvGrpSpPr>
      <p:grpSpPr>
        <a:xfrm>
          <a:off x="0" y="0"/>
          <a:ext cx="0" cy="0"/>
          <a:chOff x="0" y="0"/>
          <a:chExt cx="0" cy="0"/>
        </a:xfrm>
      </p:grpSpPr>
      <p:sp>
        <p:nvSpPr>
          <p:cNvPr id="1528" name="Google Shape;1528;g3f1292e4412_0_672:notes"/>
          <p:cNvSpPr/>
          <p:nvPr>
            <p:ph idx="2" type="sldImg"/>
          </p:nvPr>
        </p:nvSpPr>
        <p:spPr>
          <a:xfrm>
            <a:off x="685654" y="857296"/>
            <a:ext cx="5486700" cy="23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29" name="Google Shape;1529;g3f1292e4412_0_672:notes"/>
          <p:cNvSpPr txBox="1"/>
          <p:nvPr>
            <p:ph idx="1" type="body"/>
          </p:nvPr>
        </p:nvSpPr>
        <p:spPr>
          <a:xfrm>
            <a:off x="685800" y="3300588"/>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lang="en-GB" sz="1200">
                <a:solidFill>
                  <a:schemeClr val="dk1"/>
                </a:solidFill>
                <a:latin typeface="Calibri"/>
                <a:ea typeface="Calibri"/>
                <a:cs typeface="Calibri"/>
                <a:sym typeface="Calibri"/>
              </a:rPr>
              <a:t>MISSION M2 — Warung Pak Din Sdn Bhd</a:t>
            </a:r>
            <a:endParaRPr>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Clr>
                <a:schemeClr val="dk1"/>
              </a:buClr>
              <a:buFont typeface="Arial"/>
              <a:buNone/>
            </a:pPr>
            <a:r>
              <a:rPr lang="en-GB" sz="1200">
                <a:solidFill>
                  <a:schemeClr val="dk1"/>
                </a:solidFill>
                <a:latin typeface="Calibri"/>
                <a:ea typeface="Calibri"/>
                <a:cs typeface="Calibri"/>
                <a:sym typeface="Calibri"/>
              </a:rPr>
              <a:t>FRONT (team sees):</a:t>
            </a:r>
            <a:endParaRPr>
              <a:solidFill>
                <a:schemeClr val="dk1"/>
              </a:solidFill>
            </a:endParaRPr>
          </a:p>
          <a:p>
            <a:pPr indent="0" lvl="0" marL="0" rtl="0" algn="l">
              <a:spcBef>
                <a:spcPts val="0"/>
              </a:spcBef>
              <a:spcAft>
                <a:spcPts val="0"/>
              </a:spcAft>
              <a:buClr>
                <a:schemeClr val="dk1"/>
              </a:buClr>
              <a:buFont typeface="Arial"/>
              <a:buNone/>
            </a:pPr>
            <a:r>
              <a:rPr lang="en-GB" sz="1200">
                <a:solidFill>
                  <a:schemeClr val="dk1"/>
                </a:solidFill>
                <a:latin typeface="Calibri"/>
                <a:ea typeface="Calibri"/>
                <a:cs typeface="Calibri"/>
                <a:sym typeface="Calibri"/>
              </a:rPr>
              <a:t>“Their ordering clerk sent a photo PO. Some items are described in their own words. Make sure every line is correctly matched before you submit.”</a:t>
            </a:r>
            <a:endParaRPr>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Clr>
                <a:schemeClr val="dk1"/>
              </a:buClr>
              <a:buFont typeface="Arial"/>
              <a:buNone/>
            </a:pPr>
            <a:r>
              <a:rPr lang="en-GB" sz="1200">
                <a:solidFill>
                  <a:schemeClr val="dk1"/>
                </a:solidFill>
                <a:latin typeface="Calibri"/>
                <a:ea typeface="Calibri"/>
                <a:cs typeface="Calibri"/>
                <a:sym typeface="Calibri"/>
              </a:rPr>
              <a:t>CPO Contents:</a:t>
            </a:r>
            <a:endParaRPr>
              <a:solidFill>
                <a:schemeClr val="dk1"/>
              </a:solidFill>
            </a:endParaRPr>
          </a:p>
          <a:p>
            <a:pPr indent="0" lvl="0" marL="0" rtl="0" algn="l">
              <a:spcBef>
                <a:spcPts val="0"/>
              </a:spcBef>
              <a:spcAft>
                <a:spcPts val="0"/>
              </a:spcAft>
              <a:buClr>
                <a:schemeClr val="dk1"/>
              </a:buClr>
              <a:buFont typeface="Arial"/>
              <a:buNone/>
            </a:pPr>
            <a:r>
              <a:rPr lang="en-GB" sz="1200">
                <a:solidFill>
                  <a:schemeClr val="dk1"/>
                </a:solidFill>
                <a:latin typeface="Calibri"/>
                <a:ea typeface="Calibri"/>
                <a:cs typeface="Calibri"/>
                <a:sym typeface="Calibri"/>
              </a:rPr>
              <a:t>• Photo PO — “minyak masak besar” → Cooking Oil</a:t>
            </a:r>
            <a:endParaRPr>
              <a:solidFill>
                <a:schemeClr val="dk1"/>
              </a:solidFill>
            </a:endParaRPr>
          </a:p>
          <a:p>
            <a:pPr indent="0" lvl="0" marL="0" rtl="0" algn="l">
              <a:spcBef>
                <a:spcPts val="0"/>
              </a:spcBef>
              <a:spcAft>
                <a:spcPts val="0"/>
              </a:spcAft>
              <a:buClr>
                <a:schemeClr val="dk1"/>
              </a:buClr>
              <a:buFont typeface="Arial"/>
              <a:buNone/>
            </a:pPr>
            <a:r>
              <a:rPr lang="en-GB" sz="1200">
                <a:solidFill>
                  <a:schemeClr val="dk1"/>
                </a:solidFill>
                <a:latin typeface="Calibri"/>
                <a:ea typeface="Calibri"/>
                <a:cs typeface="Calibri"/>
                <a:sym typeface="Calibri"/>
              </a:rPr>
              <a:t>• “tepung banjir 25kg” → All-Purpose Flour</a:t>
            </a:r>
            <a:endParaRPr>
              <a:solidFill>
                <a:schemeClr val="dk1"/>
              </a:solidFill>
            </a:endParaRPr>
          </a:p>
          <a:p>
            <a:pPr indent="0" lvl="0" marL="0" rtl="0" algn="l">
              <a:spcBef>
                <a:spcPts val="0"/>
              </a:spcBef>
              <a:spcAft>
                <a:spcPts val="0"/>
              </a:spcAft>
              <a:buClr>
                <a:schemeClr val="dk1"/>
              </a:buClr>
              <a:buFont typeface="Arial"/>
              <a:buNone/>
            </a:pPr>
            <a:r>
              <a:rPr lang="en-GB" sz="1200">
                <a:solidFill>
                  <a:schemeClr val="dk1"/>
                </a:solidFill>
                <a:latin typeface="Calibri"/>
                <a:ea typeface="Calibri"/>
                <a:cs typeface="Calibri"/>
                <a:sym typeface="Calibri"/>
              </a:rPr>
              <a:t>• Soy sauce, in their carton size</a:t>
            </a:r>
            <a:endParaRPr>
              <a:solidFill>
                <a:schemeClr val="dk1"/>
              </a:solidFill>
            </a:endParaRPr>
          </a:p>
          <a:p>
            <a:pPr indent="0" lvl="0" marL="0" rtl="0" algn="l">
              <a:spcBef>
                <a:spcPts val="0"/>
              </a:spcBef>
              <a:spcAft>
                <a:spcPts val="0"/>
              </a:spcAft>
              <a:buClr>
                <a:schemeClr val="dk1"/>
              </a:buClr>
              <a:buFont typeface="Arial"/>
              <a:buNone/>
            </a:pPr>
            <a:r>
              <a:rPr lang="en-GB" sz="1200">
                <a:solidFill>
                  <a:schemeClr val="dk1"/>
                </a:solidFill>
                <a:latin typeface="Calibri"/>
                <a:ea typeface="Calibri"/>
                <a:cs typeface="Calibri"/>
                <a:sym typeface="Calibri"/>
              </a:rPr>
              <a:t>One line is low-confidence.</a:t>
            </a:r>
            <a:endParaRPr>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Clr>
                <a:schemeClr val="dk1"/>
              </a:buClr>
              <a:buFont typeface="Arial"/>
              <a:buNone/>
            </a:pPr>
            <a:r>
              <a:rPr lang="en-GB" sz="1200">
                <a:solidFill>
                  <a:schemeClr val="dk1"/>
                </a:solidFill>
                <a:latin typeface="Calibri"/>
                <a:ea typeface="Calibri"/>
                <a:cs typeface="Calibri"/>
                <a:sym typeface="Calibri"/>
              </a:rPr>
              <a:t>Record on board: SO ID  ·  DN ID  ·  Caught low-confidence? Y/N</a:t>
            </a:r>
            <a:endParaRPr>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Clr>
                <a:schemeClr val="dk1"/>
              </a:buClr>
              <a:buFont typeface="Arial"/>
              <a:buNone/>
            </a:pPr>
            <a:r>
              <a:rPr lang="en-GB" sz="1200">
                <a:solidFill>
                  <a:schemeClr val="dk1"/>
                </a:solidFill>
                <a:latin typeface="Calibri"/>
                <a:ea typeface="Calibri"/>
                <a:cs typeface="Calibri"/>
                <a:sym typeface="Calibri"/>
              </a:rPr>
              <a:t>BACK (facilitator QC):</a:t>
            </a:r>
            <a:endParaRPr>
              <a:solidFill>
                <a:schemeClr val="dk1"/>
              </a:solidFill>
            </a:endParaRPr>
          </a:p>
          <a:p>
            <a:pPr indent="0" lvl="0" marL="0" rtl="0" algn="l">
              <a:spcBef>
                <a:spcPts val="0"/>
              </a:spcBef>
              <a:spcAft>
                <a:spcPts val="0"/>
              </a:spcAft>
              <a:buClr>
                <a:schemeClr val="dk1"/>
              </a:buClr>
              <a:buFont typeface="Arial"/>
              <a:buNone/>
            </a:pPr>
            <a:r>
              <a:rPr lang="en-GB" sz="1200">
                <a:solidFill>
                  <a:schemeClr val="dk1"/>
                </a:solidFill>
                <a:latin typeface="Calibri"/>
                <a:ea typeface="Calibri"/>
                <a:cs typeface="Calibri"/>
                <a:sym typeface="Calibri"/>
              </a:rPr>
              <a:t>✓ All items correctly mapped — no wrong substitution</a:t>
            </a:r>
            <a:endParaRPr>
              <a:solidFill>
                <a:schemeClr val="dk1"/>
              </a:solidFill>
            </a:endParaRPr>
          </a:p>
          <a:p>
            <a:pPr indent="0" lvl="0" marL="0" rtl="0" algn="l">
              <a:spcBef>
                <a:spcPts val="0"/>
              </a:spcBef>
              <a:spcAft>
                <a:spcPts val="0"/>
              </a:spcAft>
              <a:buClr>
                <a:schemeClr val="dk1"/>
              </a:buClr>
              <a:buFont typeface="Arial"/>
              <a:buNone/>
            </a:pPr>
            <a:r>
              <a:rPr lang="en-GB" sz="1200">
                <a:solidFill>
                  <a:schemeClr val="dk1"/>
                </a:solidFill>
                <a:latin typeface="Calibri"/>
                <a:ea typeface="Calibri"/>
                <a:cs typeface="Calibri"/>
                <a:sym typeface="Calibri"/>
              </a:rPr>
              <a:t>✓ UOM matches the customer's intent</a:t>
            </a:r>
            <a:endParaRPr>
              <a:solidFill>
                <a:schemeClr val="dk1"/>
              </a:solidFill>
            </a:endParaRPr>
          </a:p>
          <a:p>
            <a:pPr indent="0" lvl="0" marL="0" rtl="0" algn="l">
              <a:spcBef>
                <a:spcPts val="0"/>
              </a:spcBef>
              <a:spcAft>
                <a:spcPts val="0"/>
              </a:spcAft>
              <a:buClr>
                <a:schemeClr val="dk1"/>
              </a:buClr>
              <a:buFont typeface="Arial"/>
              <a:buNone/>
            </a:pPr>
            <a:r>
              <a:rPr lang="en-GB" sz="1200">
                <a:solidFill>
                  <a:schemeClr val="dk1"/>
                </a:solidFill>
                <a:latin typeface="Calibri"/>
                <a:ea typeface="Calibri"/>
                <a:cs typeface="Calibri"/>
                <a:sym typeface="Calibri"/>
              </a:rPr>
              <a:t>✓ Low-confidence line corrected before confirming</a:t>
            </a:r>
            <a:endParaRPr>
              <a:solidFill>
                <a:schemeClr val="dk1"/>
              </a:solidFill>
            </a:endParaRPr>
          </a:p>
          <a:p>
            <a:pPr indent="0" lvl="0" marL="0" rtl="0" algn="l">
              <a:spcBef>
                <a:spcPts val="0"/>
              </a:spcBef>
              <a:spcAft>
                <a:spcPts val="0"/>
              </a:spcAft>
              <a:buClr>
                <a:schemeClr val="dk1"/>
              </a:buClr>
              <a:buFont typeface="Arial"/>
              <a:buNone/>
            </a:pPr>
            <a:r>
              <a:rPr lang="en-GB" sz="1200">
                <a:solidFill>
                  <a:schemeClr val="dk1"/>
                </a:solidFill>
                <a:latin typeface="Calibri"/>
                <a:ea typeface="Calibri"/>
                <a:cs typeface="Calibri"/>
                <a:sym typeface="Calibri"/>
              </a:rPr>
              <a:t>✓ DN marked Delivered</a:t>
            </a:r>
            <a:endParaRPr>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Clr>
                <a:schemeClr val="dk1"/>
              </a:buClr>
              <a:buFont typeface="Arial"/>
              <a:buNone/>
            </a:pPr>
            <a:r>
              <a:rPr lang="en-GB" sz="1200">
                <a:solidFill>
                  <a:schemeClr val="dk1"/>
                </a:solidFill>
                <a:latin typeface="Calibri"/>
                <a:ea typeface="Calibri"/>
                <a:cs typeface="Calibri"/>
                <a:sym typeface="Calibri"/>
              </a:rPr>
              <a:t>Trap: Trap: the low-confidence line. If confirmed without review, QC fails.</a:t>
            </a:r>
            <a:endParaRPr>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Clr>
                <a:schemeClr val="dk1"/>
              </a:buClr>
              <a:buFont typeface="Arial"/>
              <a:buNone/>
            </a:pPr>
            <a:r>
              <a:rPr lang="en-GB" sz="1200">
                <a:solidFill>
                  <a:schemeClr val="dk1"/>
                </a:solidFill>
                <a:latin typeface="Calibri"/>
                <a:ea typeface="Calibri"/>
                <a:cs typeface="Calibri"/>
                <a:sym typeface="Calibri"/>
              </a:rPr>
              <a:t>[PLACEHOLDER: print this mission as a physical double-sided card for the game — front-panel content above for the team side, back-panel content for the facilitator side.]</a:t>
            </a:r>
            <a:endParaRPr>
              <a:solidFill>
                <a:schemeClr val="dk1"/>
              </a:solidFill>
            </a:endParaRPr>
          </a:p>
          <a:p>
            <a:pPr indent="0" lvl="0" marL="0" rtl="0" algn="l">
              <a:spcBef>
                <a:spcPts val="0"/>
              </a:spcBef>
              <a:spcAft>
                <a:spcPts val="0"/>
              </a:spcAft>
              <a:buClr>
                <a:schemeClr val="dk1"/>
              </a:buClr>
              <a:buFont typeface="Arial"/>
              <a:buNone/>
            </a:pPr>
            <a:r>
              <a:rPr lang="en-GB" sz="1200">
                <a:solidFill>
                  <a:schemeClr val="dk1"/>
                </a:solidFill>
                <a:latin typeface="Calibri"/>
                <a:ea typeface="Calibri"/>
                <a:cs typeface="Calibri"/>
                <a:sym typeface="Calibri"/>
              </a:rPr>
              <a:t>[slide ref: A7 · MISSION CARDS · M2 OF 10 | A7  ·  M2]</a:t>
            </a:r>
            <a:endParaRPr>
              <a:solidFill>
                <a:schemeClr val="dk1"/>
              </a:solidFill>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530" name="Google Shape;1530;g3f1292e4412_0_672:notes"/>
          <p:cNvSpPr txBox="1"/>
          <p:nvPr>
            <p:ph idx="12" type="sldNum"/>
          </p:nvPr>
        </p:nvSpPr>
        <p:spPr>
          <a:xfrm>
            <a:off x="3884613" y="6514257"/>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1" name="Shape 1541"/>
        <p:cNvGrpSpPr/>
        <p:nvPr/>
      </p:nvGrpSpPr>
      <p:grpSpPr>
        <a:xfrm>
          <a:off x="0" y="0"/>
          <a:ext cx="0" cy="0"/>
          <a:chOff x="0" y="0"/>
          <a:chExt cx="0" cy="0"/>
        </a:xfrm>
      </p:grpSpPr>
      <p:sp>
        <p:nvSpPr>
          <p:cNvPr id="1542" name="Google Shape;1542;g3ec41b1eb9b_7_2300:notes"/>
          <p:cNvSpPr/>
          <p:nvPr>
            <p:ph idx="2" type="sldImg"/>
          </p:nvPr>
        </p:nvSpPr>
        <p:spPr>
          <a:xfrm>
            <a:off x="685654" y="857296"/>
            <a:ext cx="5486693" cy="231469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43" name="Google Shape;1543;g3ec41b1eb9b_7_2300:notes"/>
          <p:cNvSpPr txBox="1"/>
          <p:nvPr>
            <p:ph idx="1" type="body"/>
          </p:nvPr>
        </p:nvSpPr>
        <p:spPr>
          <a:xfrm>
            <a:off x="685800" y="3300588"/>
            <a:ext cx="5486400" cy="2700481"/>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Calibri"/>
                <a:ea typeface="Calibri"/>
                <a:cs typeface="Calibri"/>
                <a:sym typeface="Calibri"/>
              </a:rPr>
              <a:t>MISSION M3 — Lim Heng Trading Sdn Bhd</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FRONT (team sees):</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“En. Lim ordered 10 cartons of soy sauce. But their definition of a carton is not the same as yours. Check before you confirm.”</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CPO Contents:</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Light Soy Sauce 750ml × 10 cartons</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Lim Heng's carton = 24 bottles · ours = 12</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Record on board: SO ID  ·  DN ID  ·  Caught UOM mismatch? Y/N</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BACK (facilitator QC):</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SO line shows the correct quantity (240 bottles, or 10 cartons with conversion confirmed)</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DN marked Delivered</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Trap: Trap: UOM mismatch — must be caught and converted before confirming.</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[PLACEHOLDER: print this mission as a physical double-sided card for the game — front-panel content above for the team side, back-panel content for the facilitator side.]</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[slide ref: A7 · MISSION CARDS · M3 OF 10 | A7  ·  M3]</a:t>
            </a:r>
            <a:endParaRPr/>
          </a:p>
        </p:txBody>
      </p:sp>
      <p:sp>
        <p:nvSpPr>
          <p:cNvPr id="1544" name="Google Shape;1544;g3ec41b1eb9b_7_2300:notes"/>
          <p:cNvSpPr txBox="1"/>
          <p:nvPr>
            <p:ph idx="12" type="sldNum"/>
          </p:nvPr>
        </p:nvSpPr>
        <p:spPr>
          <a:xfrm>
            <a:off x="3884613" y="6514257"/>
            <a:ext cx="2971800" cy="34410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5" name="Shape 1555"/>
        <p:cNvGrpSpPr/>
        <p:nvPr/>
      </p:nvGrpSpPr>
      <p:grpSpPr>
        <a:xfrm>
          <a:off x="0" y="0"/>
          <a:ext cx="0" cy="0"/>
          <a:chOff x="0" y="0"/>
          <a:chExt cx="0" cy="0"/>
        </a:xfrm>
      </p:grpSpPr>
      <p:sp>
        <p:nvSpPr>
          <p:cNvPr id="1556" name="Google Shape;1556;g3ec41b1eb9b_7_2334:notes"/>
          <p:cNvSpPr/>
          <p:nvPr>
            <p:ph idx="2" type="sldImg"/>
          </p:nvPr>
        </p:nvSpPr>
        <p:spPr>
          <a:xfrm>
            <a:off x="685654" y="857296"/>
            <a:ext cx="5486693" cy="231469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57" name="Google Shape;1557;g3ec41b1eb9b_7_2334:notes"/>
          <p:cNvSpPr txBox="1"/>
          <p:nvPr>
            <p:ph idx="1" type="body"/>
          </p:nvPr>
        </p:nvSpPr>
        <p:spPr>
          <a:xfrm>
            <a:off x="685800" y="3300588"/>
            <a:ext cx="5486400" cy="2700481"/>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Calibri"/>
                <a:ea typeface="Calibri"/>
                <a:cs typeface="Calibri"/>
                <a:sym typeface="Calibri"/>
              </a:rPr>
              <a:t>MISSION M4 — Selera Catering &amp; Events Sdn Bhd</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FRONT (team sees):</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“Ms. Priya is a contract customer. She has special rates on a few items. Make sure you're not quoting her the wrong price.”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CPO Contents:</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Cooking Oil 17kg × 20</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Jasmine Rice 10kg × 10</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Both items have a Customer Item Price below standard.</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Record on board: SO ID  ·  DN ID  ·  Preferential price applied? Y/N</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BACK (facilitator QC):</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SO unit prices match Selera's Customer Item Price — not the standard rate</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DN marked Delivered</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Trap: Trap: verify the preferential rate auto-applied — don't override with standard pricing.</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[PLACEHOLDER: print this mission as a physical double-sided card for the game — front-panel content above for the team side, back-panel content for the facilitator side.]</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[slide ref: A7 · MISSION CARDS · M4 OF 10 | A7  ·  M4]</a:t>
            </a:r>
            <a:endParaRPr/>
          </a:p>
        </p:txBody>
      </p:sp>
      <p:sp>
        <p:nvSpPr>
          <p:cNvPr id="1558" name="Google Shape;1558;g3ec41b1eb9b_7_2334:notes"/>
          <p:cNvSpPr txBox="1"/>
          <p:nvPr>
            <p:ph idx="12" type="sldNum"/>
          </p:nvPr>
        </p:nvSpPr>
        <p:spPr>
          <a:xfrm>
            <a:off x="3884613" y="6514257"/>
            <a:ext cx="2971800" cy="34410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9" name="Shape 1569"/>
        <p:cNvGrpSpPr/>
        <p:nvPr/>
      </p:nvGrpSpPr>
      <p:grpSpPr>
        <a:xfrm>
          <a:off x="0" y="0"/>
          <a:ext cx="0" cy="0"/>
          <a:chOff x="0" y="0"/>
          <a:chExt cx="0" cy="0"/>
        </a:xfrm>
      </p:grpSpPr>
      <p:sp>
        <p:nvSpPr>
          <p:cNvPr id="1570" name="Google Shape;1570;g3ec41b1eb9b_7_2369:notes"/>
          <p:cNvSpPr/>
          <p:nvPr>
            <p:ph idx="2" type="sldImg"/>
          </p:nvPr>
        </p:nvSpPr>
        <p:spPr>
          <a:xfrm>
            <a:off x="685654" y="857296"/>
            <a:ext cx="5486693" cy="231469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71" name="Google Shape;1571;g3ec41b1eb9b_7_2369:notes"/>
          <p:cNvSpPr txBox="1"/>
          <p:nvPr>
            <p:ph idx="1" type="body"/>
          </p:nvPr>
        </p:nvSpPr>
        <p:spPr>
          <a:xfrm>
            <a:off x="685800" y="3300588"/>
            <a:ext cx="5486400" cy="2700481"/>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Calibri"/>
                <a:ea typeface="Calibri"/>
                <a:cs typeface="Calibri"/>
                <a:sym typeface="Calibri"/>
              </a:rPr>
              <a:t>MISSION M5 — Kafe Santai Enterprise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FRONT (team sees):</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“Ms. Lina wants to place a new order. Before you say yes — check.”</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CPO Contents:</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Oyster Sauce × 20</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Instant Coffee × 10</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Order value: RM4,500.</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Record on board: SO ID  ·  DN ID  ·  Who escalated? (name)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BACK (facilitator QC):</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Credit check flagged (T0 overdue RM6,200 · 45 days)</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Sales escalated to Credit Controller — handoff completed</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Controller override decision logged</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If overridden: SO confirmed and DN marked Delivered</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Trap: Trap: the credit escalation handoff itself.</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First cross-role handoff — skip it and QC fails.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[PLACEHOLDER: print this mission as a physical double-sided card for the game — front-panel content above for the team side, back-panel content for the facilitator side.]</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[slide ref: A7 · MISSION CARDS · M5 OF 10 | A7  ·  M5]</a:t>
            </a:r>
            <a:endParaRPr/>
          </a:p>
        </p:txBody>
      </p:sp>
      <p:sp>
        <p:nvSpPr>
          <p:cNvPr id="1572" name="Google Shape;1572;g3ec41b1eb9b_7_2369:notes"/>
          <p:cNvSpPr txBox="1"/>
          <p:nvPr>
            <p:ph idx="12" type="sldNum"/>
          </p:nvPr>
        </p:nvSpPr>
        <p:spPr>
          <a:xfrm>
            <a:off x="3884613" y="6514257"/>
            <a:ext cx="2971800" cy="34410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3" name="Shape 1583"/>
        <p:cNvGrpSpPr/>
        <p:nvPr/>
      </p:nvGrpSpPr>
      <p:grpSpPr>
        <a:xfrm>
          <a:off x="0" y="0"/>
          <a:ext cx="0" cy="0"/>
          <a:chOff x="0" y="0"/>
          <a:chExt cx="0" cy="0"/>
        </a:xfrm>
      </p:grpSpPr>
      <p:sp>
        <p:nvSpPr>
          <p:cNvPr id="1584" name="Google Shape;1584;g3ec41b1eb9b_7_2410:notes"/>
          <p:cNvSpPr/>
          <p:nvPr>
            <p:ph idx="2" type="sldImg"/>
          </p:nvPr>
        </p:nvSpPr>
        <p:spPr>
          <a:xfrm>
            <a:off x="685654" y="857296"/>
            <a:ext cx="5486693" cy="231469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85" name="Google Shape;1585;g3ec41b1eb9b_7_2410:notes"/>
          <p:cNvSpPr txBox="1"/>
          <p:nvPr>
            <p:ph idx="1" type="body"/>
          </p:nvPr>
        </p:nvSpPr>
        <p:spPr>
          <a:xfrm>
            <a:off x="685800" y="3300588"/>
            <a:ext cx="5486400" cy="2700481"/>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Calibri"/>
                <a:ea typeface="Calibri"/>
                <a:cs typeface="Calibri"/>
                <a:sym typeface="Calibri"/>
              </a:rPr>
              <a:t>MISSION M6 — Hotel Permai Group Sdn Bhd</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FRONT (team sees):</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“En. Faizal wants a large order — RM20,000 worth. Good customer. But check their exposure before you confirm.”</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CPO Contents:</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Cooking Oil × 50</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Flour × 20</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Mushrooms × 100</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Order value: ~RM20,000.</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Record on board: SO ID  ·  DN ID  ·  Routed to controller? Y/N</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BACK (facilitator QC):</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Billed-unpaid RM62k + unbilled SO RM15k = RM77k of RM80k limit</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New RM20k order pushes exposure to RM97k</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Escalated — controller override applied with judgment</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SO confirmed and DN marked Delivered</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Trap: Trap: near-limit exposure — subtler than M5, requires adding multiple numbers.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[PLACEHOLDER: print this mission as a physical double-sided card for the game — front-panel content above for the team side, back-panel content for the facilitator side.]</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[slide ref: A7 · MISSION CARDS · M6 OF 10 | A7  ·  M6]</a:t>
            </a:r>
            <a:endParaRPr/>
          </a:p>
        </p:txBody>
      </p:sp>
      <p:sp>
        <p:nvSpPr>
          <p:cNvPr id="1586" name="Google Shape;1586;g3ec41b1eb9b_7_2410:notes"/>
          <p:cNvSpPr txBox="1"/>
          <p:nvPr>
            <p:ph idx="12" type="sldNum"/>
          </p:nvPr>
        </p:nvSpPr>
        <p:spPr>
          <a:xfrm>
            <a:off x="3884613" y="6514257"/>
            <a:ext cx="2971800" cy="34410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7" name="Shape 1597"/>
        <p:cNvGrpSpPr/>
        <p:nvPr/>
      </p:nvGrpSpPr>
      <p:grpSpPr>
        <a:xfrm>
          <a:off x="0" y="0"/>
          <a:ext cx="0" cy="0"/>
          <a:chOff x="0" y="0"/>
          <a:chExt cx="0" cy="0"/>
        </a:xfrm>
      </p:grpSpPr>
      <p:sp>
        <p:nvSpPr>
          <p:cNvPr id="1598" name="Google Shape;1598;g3ec41b1eb9b_7_2450:notes"/>
          <p:cNvSpPr/>
          <p:nvPr>
            <p:ph idx="2" type="sldImg"/>
          </p:nvPr>
        </p:nvSpPr>
        <p:spPr>
          <a:xfrm>
            <a:off x="685654" y="857296"/>
            <a:ext cx="5486693" cy="231469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99" name="Google Shape;1599;g3ec41b1eb9b_7_2450:notes"/>
          <p:cNvSpPr txBox="1"/>
          <p:nvPr>
            <p:ph idx="1" type="body"/>
          </p:nvPr>
        </p:nvSpPr>
        <p:spPr>
          <a:xfrm>
            <a:off x="685800" y="3300588"/>
            <a:ext cx="5486400" cy="2700481"/>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Calibri"/>
                <a:ea typeface="Calibri"/>
                <a:cs typeface="Calibri"/>
                <a:sym typeface="Calibri"/>
              </a:rPr>
              <a:t>MISSION M7 — The Brew Lab</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FRONT (team sees):</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“Daniel from The Brew Lab is interested. He's not a customer yet — he wants a quote. Give him one.”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No CPO — WhatsApp message: “quote: 20 bags house blend coffee + 10× coffee machine servicing visits?”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Record on board: Quotation ID (not SO ID)</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BACK (facilitator QC):</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Quotation created — not a Sales Order</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The Brew Lab recorded as a lead / prospect, no customer account</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Quote includes both the coffee bags and the service visits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Trap: Trap: creating a Sales Order instead of a Quotation.</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[PLACEHOLDER: print this mission as a physical double-sided card for the game — front-panel content above for the team side, back-panel content for the facilitator side.]</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[slide ref: A7 · MISSION CARDS · M7 OF 10 | A7  ·  M7]</a:t>
            </a:r>
            <a:endParaRPr/>
          </a:p>
        </p:txBody>
      </p:sp>
      <p:sp>
        <p:nvSpPr>
          <p:cNvPr id="1600" name="Google Shape;1600;g3ec41b1eb9b_7_2450:notes"/>
          <p:cNvSpPr txBox="1"/>
          <p:nvPr>
            <p:ph idx="12" type="sldNum"/>
          </p:nvPr>
        </p:nvSpPr>
        <p:spPr>
          <a:xfrm>
            <a:off x="3884613" y="6514257"/>
            <a:ext cx="2971800" cy="34410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9" name="Shape 1609"/>
        <p:cNvGrpSpPr/>
        <p:nvPr/>
      </p:nvGrpSpPr>
      <p:grpSpPr>
        <a:xfrm>
          <a:off x="0" y="0"/>
          <a:ext cx="0" cy="0"/>
          <a:chOff x="0" y="0"/>
          <a:chExt cx="0" cy="0"/>
        </a:xfrm>
      </p:grpSpPr>
      <p:sp>
        <p:nvSpPr>
          <p:cNvPr id="1610" name="Google Shape;1610;g3ec41b1eb9b_7_2482:notes"/>
          <p:cNvSpPr/>
          <p:nvPr>
            <p:ph idx="2" type="sldImg"/>
          </p:nvPr>
        </p:nvSpPr>
        <p:spPr>
          <a:xfrm>
            <a:off x="685654" y="857296"/>
            <a:ext cx="5486693" cy="231469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11" name="Google Shape;1611;g3ec41b1eb9b_7_2482:notes"/>
          <p:cNvSpPr txBox="1"/>
          <p:nvPr>
            <p:ph idx="1" type="body"/>
          </p:nvPr>
        </p:nvSpPr>
        <p:spPr>
          <a:xfrm>
            <a:off x="685800" y="3300588"/>
            <a:ext cx="5486400" cy="2700481"/>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Calibri"/>
                <a:ea typeface="Calibri"/>
                <a:cs typeface="Calibri"/>
                <a:sym typeface="Calibri"/>
              </a:rPr>
              <a:t>MISSION M8 — Grand Ballroom Catering Sdn Bhd</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FRONT (team sees):</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“Grand Ballroom is ordering supplies AND booking a service. Make sure each part is fulfilled the right way — they're not the same.”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CPO Contents:</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Cooking Oil × 5</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Festive Hamper × 3</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Coffee Machine Servicing × 1 visit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Record on board: SO ID  ·  DN ID (goods)  ·  SWO ID (service)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BACK (facilitator QC):</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SO created with all three lines</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Goods fulfilled via DN — marked Delivered</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Service line (item_type = Service) fulfilled via SWO, not DN</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Trap: Trap: attempting to put the service line on the Delivery Note.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[PLACEHOLDER: print this mission as a physical double-sided card for the game — front-panel content above for the team side, back-panel content for the facilitator side.]</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[slide ref: A7 · MISSION CARDS · M8 OF 10 | A7  ·  M8]</a:t>
            </a:r>
            <a:endParaRPr/>
          </a:p>
        </p:txBody>
      </p:sp>
      <p:sp>
        <p:nvSpPr>
          <p:cNvPr id="1612" name="Google Shape;1612;g3ec41b1eb9b_7_2482:notes"/>
          <p:cNvSpPr txBox="1"/>
          <p:nvPr>
            <p:ph idx="12" type="sldNum"/>
          </p:nvPr>
        </p:nvSpPr>
        <p:spPr>
          <a:xfrm>
            <a:off x="3884613" y="6514257"/>
            <a:ext cx="2971800" cy="34410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3" name="Shape 1623"/>
        <p:cNvGrpSpPr/>
        <p:nvPr/>
      </p:nvGrpSpPr>
      <p:grpSpPr>
        <a:xfrm>
          <a:off x="0" y="0"/>
          <a:ext cx="0" cy="0"/>
          <a:chOff x="0" y="0"/>
          <a:chExt cx="0" cy="0"/>
        </a:xfrm>
      </p:grpSpPr>
      <p:sp>
        <p:nvSpPr>
          <p:cNvPr id="1624" name="Google Shape;1624;g3ec41b1eb9b_7_2519:notes"/>
          <p:cNvSpPr/>
          <p:nvPr>
            <p:ph idx="2" type="sldImg"/>
          </p:nvPr>
        </p:nvSpPr>
        <p:spPr>
          <a:xfrm>
            <a:off x="685654" y="857296"/>
            <a:ext cx="5486693" cy="231469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25" name="Google Shape;1625;g3ec41b1eb9b_7_2519:notes"/>
          <p:cNvSpPr txBox="1"/>
          <p:nvPr>
            <p:ph idx="1" type="body"/>
          </p:nvPr>
        </p:nvSpPr>
        <p:spPr>
          <a:xfrm>
            <a:off x="685800" y="3300588"/>
            <a:ext cx="5486400" cy="2700481"/>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Calibri"/>
                <a:ea typeface="Calibri"/>
                <a:cs typeface="Calibri"/>
                <a:sym typeface="Calibri"/>
              </a:rPr>
              <a:t>MISSION M9 — Encik Rahman</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FRONT (team sees):</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“Encik Rahman wants 80 tubs of House Sambal Paste. Check if you can make it before you say yes. He wants cash on delivery.”</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No CPO — WhatsApp message: “bro nak 80 tub sambal paste, boleh? nak COD”</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Record on board: SO ID  ·  DN ID  ·  Checked availability first? Y/N</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BACK (facilitator QC):</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Availability checked — Available (40) + Can-make (160) confirms 80 is feasible</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SO created for an Individual customer, not a company</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COD — no credit check, payment terms set accordingly</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DN marked Delivered</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Trap: Trap: skipping the availability check, and the wrong customer type.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[PLACEHOLDER: print this mission as a physical double-sided card for the game — front-panel content above for the team side, back-panel content for the facilitator side.]</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[slide ref: A7 · MISSION CARDS · M9 OF 10 | A7  ·  M9]</a:t>
            </a:r>
            <a:endParaRPr/>
          </a:p>
        </p:txBody>
      </p:sp>
      <p:sp>
        <p:nvSpPr>
          <p:cNvPr id="1626" name="Google Shape;1626;g3ec41b1eb9b_7_2519:notes"/>
          <p:cNvSpPr txBox="1"/>
          <p:nvPr>
            <p:ph idx="12" type="sldNum"/>
          </p:nvPr>
        </p:nvSpPr>
        <p:spPr>
          <a:xfrm>
            <a:off x="3884613" y="6514257"/>
            <a:ext cx="2971800" cy="34410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7" name="Shape 1637"/>
        <p:cNvGrpSpPr/>
        <p:nvPr/>
      </p:nvGrpSpPr>
      <p:grpSpPr>
        <a:xfrm>
          <a:off x="0" y="0"/>
          <a:ext cx="0" cy="0"/>
          <a:chOff x="0" y="0"/>
          <a:chExt cx="0" cy="0"/>
        </a:xfrm>
      </p:grpSpPr>
      <p:sp>
        <p:nvSpPr>
          <p:cNvPr id="1638" name="Google Shape;1638;g3ec41b1eb9b_7_2557:notes"/>
          <p:cNvSpPr/>
          <p:nvPr>
            <p:ph idx="2" type="sldImg"/>
          </p:nvPr>
        </p:nvSpPr>
        <p:spPr>
          <a:xfrm>
            <a:off x="685654" y="857296"/>
            <a:ext cx="5486693" cy="231469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39" name="Google Shape;1639;g3ec41b1eb9b_7_2557:notes"/>
          <p:cNvSpPr txBox="1"/>
          <p:nvPr>
            <p:ph idx="1" type="body"/>
          </p:nvPr>
        </p:nvSpPr>
        <p:spPr>
          <a:xfrm>
            <a:off x="685800" y="3300588"/>
            <a:ext cx="5486400" cy="2700481"/>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Calibri"/>
                <a:ea typeface="Calibri"/>
                <a:cs typeface="Calibri"/>
                <a:sym typeface="Calibri"/>
              </a:rPr>
              <a:t>MISSION M10 — Bintang Mart Sdn Bhd (BOSS)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FRONT (team sees):</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“Big order. Read it carefully. There's a mapping issue. One item is short. Process what you can — and when the delivery hits a problem, handle it.”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CPO Contents:</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Cooking Oil × 30 ✓   ·   Jasmine Rice × 20 ✓</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Soy Sauce × 15 cartons — “kicap halus” (low-confidence)</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Beef Stock Concentrate × 10 — only 6 available</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Outstation Delivery Charge × 1 ✓</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Record on board: SO ID (partial)  ·  DN ID  ·  Failed stop rescheduled? Y/N</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BACK (facilitator QC):</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Low-confidence soy sauce line corrected</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Beef Stock partial fill — SO for 6, back-order / note for the remaining 4</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DN raised for available items</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Driver app: 1 stop failed, reason logged, reschedule task created</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No-app variant: logistics marks partial delivery with a note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Trap: All three traps must be handled: mapping, partial stock, and delivery-failure recovery.</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Boss mission — full points require all three traps caught.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[PLACEHOLDER: print this mission as a physical double-sided card for the game — front-panel content above for the team side, back-panel content for the facilitator side.]</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[slide ref: A7 · MISSION CARDS · M10 OF 10 | A7  ·  M10]</a:t>
            </a:r>
            <a:endParaRPr/>
          </a:p>
        </p:txBody>
      </p:sp>
      <p:sp>
        <p:nvSpPr>
          <p:cNvPr id="1640" name="Google Shape;1640;g3ec41b1eb9b_7_2557:notes"/>
          <p:cNvSpPr txBox="1"/>
          <p:nvPr>
            <p:ph idx="12" type="sldNum"/>
          </p:nvPr>
        </p:nvSpPr>
        <p:spPr>
          <a:xfrm>
            <a:off x="3884613" y="6514257"/>
            <a:ext cx="2971800" cy="34410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3" name="Shape 1653"/>
        <p:cNvGrpSpPr/>
        <p:nvPr/>
      </p:nvGrpSpPr>
      <p:grpSpPr>
        <a:xfrm>
          <a:off x="0" y="0"/>
          <a:ext cx="0" cy="0"/>
          <a:chOff x="0" y="0"/>
          <a:chExt cx="0" cy="0"/>
        </a:xfrm>
      </p:grpSpPr>
      <p:sp>
        <p:nvSpPr>
          <p:cNvPr id="1654" name="Google Shape;1654;g3f1292e4412_0_1910:notes"/>
          <p:cNvSpPr/>
          <p:nvPr>
            <p:ph idx="2" type="sldImg"/>
          </p:nvPr>
        </p:nvSpPr>
        <p:spPr>
          <a:xfrm>
            <a:off x="685654" y="857296"/>
            <a:ext cx="5486700" cy="23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55" name="Google Shape;1655;g3f1292e4412_0_1910:notes"/>
          <p:cNvSpPr txBox="1"/>
          <p:nvPr>
            <p:ph idx="1" type="body"/>
          </p:nvPr>
        </p:nvSpPr>
        <p:spPr>
          <a:xfrm>
            <a:off x="685800" y="3300588"/>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6" name="Google Shape;1656;g3f1292e4412_0_1910:notes"/>
          <p:cNvSpPr txBox="1"/>
          <p:nvPr>
            <p:ph idx="12" type="sldNum"/>
          </p:nvPr>
        </p:nvSpPr>
        <p:spPr>
          <a:xfrm>
            <a:off x="3884613" y="6514257"/>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1" name="Shape 1661"/>
        <p:cNvGrpSpPr/>
        <p:nvPr/>
      </p:nvGrpSpPr>
      <p:grpSpPr>
        <a:xfrm>
          <a:off x="0" y="0"/>
          <a:ext cx="0" cy="0"/>
          <a:chOff x="0" y="0"/>
          <a:chExt cx="0" cy="0"/>
        </a:xfrm>
      </p:grpSpPr>
      <p:sp>
        <p:nvSpPr>
          <p:cNvPr id="1662" name="Google Shape;1662;g3ec41b1eb9b_7_1708:notes"/>
          <p:cNvSpPr/>
          <p:nvPr>
            <p:ph idx="2" type="sldImg"/>
          </p:nvPr>
        </p:nvSpPr>
        <p:spPr>
          <a:xfrm>
            <a:off x="685654" y="857296"/>
            <a:ext cx="5486693" cy="231469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63" name="Google Shape;1663;g3ec41b1eb9b_7_1708:notes"/>
          <p:cNvSpPr txBox="1"/>
          <p:nvPr>
            <p:ph idx="1" type="body"/>
          </p:nvPr>
        </p:nvSpPr>
        <p:spPr>
          <a:xfrm>
            <a:off x="685800" y="3300588"/>
            <a:ext cx="5486400" cy="2700481"/>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Calibri"/>
                <a:ea typeface="Calibri"/>
                <a:cs typeface="Calibri"/>
                <a:sym typeface="Calibri"/>
              </a:rPr>
              <a:t>[WARM → SPIKE] Read the final scores. Crown the winner — genuine applause, keep it warm. "Good game. Now let's talk about Monday morning."</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[PLACEHOLDER: fill in the winning team name and final scores before displaying.]</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[slide ref: GAME  ·  S33]</a:t>
            </a:r>
            <a:endParaRPr/>
          </a:p>
        </p:txBody>
      </p:sp>
      <p:sp>
        <p:nvSpPr>
          <p:cNvPr id="1664" name="Google Shape;1664;g3ec41b1eb9b_7_1708:notes"/>
          <p:cNvSpPr txBox="1"/>
          <p:nvPr>
            <p:ph idx="12" type="sldNum"/>
          </p:nvPr>
        </p:nvSpPr>
        <p:spPr>
          <a:xfrm>
            <a:off x="3884613" y="6514257"/>
            <a:ext cx="2971800" cy="34410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0" name="Shape 1710"/>
        <p:cNvGrpSpPr/>
        <p:nvPr/>
      </p:nvGrpSpPr>
      <p:grpSpPr>
        <a:xfrm>
          <a:off x="0" y="0"/>
          <a:ext cx="0" cy="0"/>
          <a:chOff x="0" y="0"/>
          <a:chExt cx="0" cy="0"/>
        </a:xfrm>
      </p:grpSpPr>
      <p:sp>
        <p:nvSpPr>
          <p:cNvPr id="1711" name="Google Shape;1711;g3ec41b1eb9b_7_1757:notes"/>
          <p:cNvSpPr/>
          <p:nvPr>
            <p:ph idx="2" type="sldImg"/>
          </p:nvPr>
        </p:nvSpPr>
        <p:spPr>
          <a:xfrm>
            <a:off x="685654" y="857296"/>
            <a:ext cx="5486693" cy="231469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12" name="Google Shape;1712;g3ec41b1eb9b_7_1757:notes"/>
          <p:cNvSpPr txBox="1"/>
          <p:nvPr>
            <p:ph idx="1" type="body"/>
          </p:nvPr>
        </p:nvSpPr>
        <p:spPr>
          <a:xfrm>
            <a:off x="685800" y="3300588"/>
            <a:ext cx="5486400" cy="2700481"/>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Calibri"/>
                <a:ea typeface="Calibri"/>
                <a:cs typeface="Calibri"/>
                <a:sym typeface="Calibri"/>
              </a:rPr>
              <a:t>⏱ Close starts ~102 min in. Hard stop at 120 min. Pace accordingly.</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[FOCUS → WARM] Read each one slowly. "You didn't just see this — you did it. In real orders, in the real system, in 52 minutes." Pause. Let it land.</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[slide ref: CLOSE · S34 | CLOSE  ·  S34]</a:t>
            </a:r>
            <a:endParaRPr/>
          </a:p>
        </p:txBody>
      </p:sp>
      <p:sp>
        <p:nvSpPr>
          <p:cNvPr id="1713" name="Google Shape;1713;g3ec41b1eb9b_7_1757:notes"/>
          <p:cNvSpPr txBox="1"/>
          <p:nvPr>
            <p:ph idx="12" type="sldNum"/>
          </p:nvPr>
        </p:nvSpPr>
        <p:spPr>
          <a:xfrm>
            <a:off x="3884613" y="6514257"/>
            <a:ext cx="2971800" cy="34410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0" name="Shape 1730"/>
        <p:cNvGrpSpPr/>
        <p:nvPr/>
      </p:nvGrpSpPr>
      <p:grpSpPr>
        <a:xfrm>
          <a:off x="0" y="0"/>
          <a:ext cx="0" cy="0"/>
          <a:chOff x="0" y="0"/>
          <a:chExt cx="0" cy="0"/>
        </a:xfrm>
      </p:grpSpPr>
      <p:sp>
        <p:nvSpPr>
          <p:cNvPr id="1731" name="Google Shape;1731;g3ec41b1eb9b_7_1778:notes"/>
          <p:cNvSpPr/>
          <p:nvPr>
            <p:ph idx="2" type="sldImg"/>
          </p:nvPr>
        </p:nvSpPr>
        <p:spPr>
          <a:xfrm>
            <a:off x="685654" y="857296"/>
            <a:ext cx="5486693" cy="231469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32" name="Google Shape;1732;g3ec41b1eb9b_7_1778:notes"/>
          <p:cNvSpPr txBox="1"/>
          <p:nvPr>
            <p:ph idx="1" type="body"/>
          </p:nvPr>
        </p:nvSpPr>
        <p:spPr>
          <a:xfrm>
            <a:off x="685800" y="3300588"/>
            <a:ext cx="5486400" cy="2700481"/>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Calibri"/>
                <a:ea typeface="Calibri"/>
                <a:cs typeface="Calibri"/>
                <a:sym typeface="Calibri"/>
              </a:rPr>
              <a:t>[WARM] "One thing. Your role. Monday. Don't try to do everything — do one thing right, and it becomes habit."</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[slide ref: CLOSE · S35 | CLOSE  ·  S35]</a:t>
            </a:r>
            <a:endParaRPr/>
          </a:p>
        </p:txBody>
      </p:sp>
      <p:sp>
        <p:nvSpPr>
          <p:cNvPr id="1733" name="Google Shape;1733;g3ec41b1eb9b_7_1778:notes"/>
          <p:cNvSpPr txBox="1"/>
          <p:nvPr>
            <p:ph idx="12" type="sldNum"/>
          </p:nvPr>
        </p:nvSpPr>
        <p:spPr>
          <a:xfrm>
            <a:off x="3884613" y="6514257"/>
            <a:ext cx="2971800" cy="34410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8" name="Shape 1768"/>
        <p:cNvGrpSpPr/>
        <p:nvPr/>
      </p:nvGrpSpPr>
      <p:grpSpPr>
        <a:xfrm>
          <a:off x="0" y="0"/>
          <a:ext cx="0" cy="0"/>
          <a:chOff x="0" y="0"/>
          <a:chExt cx="0" cy="0"/>
        </a:xfrm>
      </p:grpSpPr>
      <p:sp>
        <p:nvSpPr>
          <p:cNvPr id="1769" name="Google Shape;1769;g3ec41b1eb9b_7_1817:notes"/>
          <p:cNvSpPr/>
          <p:nvPr>
            <p:ph idx="2" type="sldImg"/>
          </p:nvPr>
        </p:nvSpPr>
        <p:spPr>
          <a:xfrm>
            <a:off x="685654" y="857296"/>
            <a:ext cx="5486693" cy="231469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70" name="Google Shape;1770;g3ec41b1eb9b_7_1817:notes"/>
          <p:cNvSpPr txBox="1"/>
          <p:nvPr>
            <p:ph idx="1" type="body"/>
          </p:nvPr>
        </p:nvSpPr>
        <p:spPr>
          <a:xfrm>
            <a:off x="685800" y="3300588"/>
            <a:ext cx="5486400" cy="2700481"/>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Calibri"/>
                <a:ea typeface="Calibri"/>
                <a:cs typeface="Calibri"/>
                <a:sym typeface="Calibri"/>
              </a:rPr>
              <a:t>(fill per client) Replace [Support channel handle] with the actual handle, group name, and response-time SLA before each session. "If you're stuck — don't guess. One message, and we'll get you back on track."</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[PLACEHOLDER: fill in the real support channel handle, response-time SLA, and group name before the session.]</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[slide ref: CLOSE · S36 | CLOSE  ·  S36]</a:t>
            </a:r>
            <a:endParaRPr/>
          </a:p>
        </p:txBody>
      </p:sp>
      <p:sp>
        <p:nvSpPr>
          <p:cNvPr id="1771" name="Google Shape;1771;g3ec41b1eb9b_7_1817:notes"/>
          <p:cNvSpPr txBox="1"/>
          <p:nvPr>
            <p:ph idx="12" type="sldNum"/>
          </p:nvPr>
        </p:nvSpPr>
        <p:spPr>
          <a:xfrm>
            <a:off x="3884613" y="6514257"/>
            <a:ext cx="2971800" cy="34410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4" name="Shape 1804"/>
        <p:cNvGrpSpPr/>
        <p:nvPr/>
      </p:nvGrpSpPr>
      <p:grpSpPr>
        <a:xfrm>
          <a:off x="0" y="0"/>
          <a:ext cx="0" cy="0"/>
          <a:chOff x="0" y="0"/>
          <a:chExt cx="0" cy="0"/>
        </a:xfrm>
      </p:grpSpPr>
      <p:sp>
        <p:nvSpPr>
          <p:cNvPr id="1805" name="Google Shape;1805;g3ec41b1eb9b_7_1855:notes"/>
          <p:cNvSpPr/>
          <p:nvPr>
            <p:ph idx="2" type="sldImg"/>
          </p:nvPr>
        </p:nvSpPr>
        <p:spPr>
          <a:xfrm>
            <a:off x="685654" y="857296"/>
            <a:ext cx="5486693" cy="231469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06" name="Google Shape;1806;g3ec41b1eb9b_7_1855:notes"/>
          <p:cNvSpPr txBox="1"/>
          <p:nvPr>
            <p:ph idx="1" type="body"/>
          </p:nvPr>
        </p:nvSpPr>
        <p:spPr>
          <a:xfrm>
            <a:off x="685800" y="3300588"/>
            <a:ext cx="5486400" cy="2700481"/>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Calibri"/>
                <a:ea typeface="Calibri"/>
                <a:cs typeface="Calibri"/>
                <a:sym typeface="Calibri"/>
              </a:rPr>
              <a:t>[FOCUS] This is the standardised competence check. Run it the same way every cohort, every conductor.</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"One last thing before questions — 60 seconds, on your own, no asking teammates." Start the timer.</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Record: ✓ (completed independently) or ✗ (needed help / didn't complete). Optionally ask for a confidence rating 1–5 at the end.</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This score, tracked across cohorts, is the signal that the session worked — not the feedback form.</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Do not skip this. Do not run it after Q&amp;A opens — once Q&amp;A starts, timing control is gone.</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[slide ref: CLOSE · S37  —  COMPETENCE CHECK, RUN BEFORE Q&amp;A | CLOSE  ·  S37]</a:t>
            </a:r>
            <a:endParaRPr/>
          </a:p>
        </p:txBody>
      </p:sp>
      <p:sp>
        <p:nvSpPr>
          <p:cNvPr id="1807" name="Google Shape;1807;g3ec41b1eb9b_7_1855:notes"/>
          <p:cNvSpPr txBox="1"/>
          <p:nvPr>
            <p:ph idx="12" type="sldNum"/>
          </p:nvPr>
        </p:nvSpPr>
        <p:spPr>
          <a:xfrm>
            <a:off x="3884613" y="6514257"/>
            <a:ext cx="2971800" cy="34410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2" name="Shape 1822"/>
        <p:cNvGrpSpPr/>
        <p:nvPr/>
      </p:nvGrpSpPr>
      <p:grpSpPr>
        <a:xfrm>
          <a:off x="0" y="0"/>
          <a:ext cx="0" cy="0"/>
          <a:chOff x="0" y="0"/>
          <a:chExt cx="0" cy="0"/>
        </a:xfrm>
      </p:grpSpPr>
      <p:sp>
        <p:nvSpPr>
          <p:cNvPr id="1823" name="Google Shape;1823;g3ec41b1eb9b_7_1874:notes"/>
          <p:cNvSpPr/>
          <p:nvPr>
            <p:ph idx="2" type="sldImg"/>
          </p:nvPr>
        </p:nvSpPr>
        <p:spPr>
          <a:xfrm>
            <a:off x="685654" y="857296"/>
            <a:ext cx="5486693" cy="231469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24" name="Google Shape;1824;g3ec41b1eb9b_7_1874:notes"/>
          <p:cNvSpPr txBox="1"/>
          <p:nvPr>
            <p:ph idx="1" type="body"/>
          </p:nvPr>
        </p:nvSpPr>
        <p:spPr>
          <a:xfrm>
            <a:off x="685800" y="3300588"/>
            <a:ext cx="5486400" cy="2700481"/>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Calibri"/>
                <a:ea typeface="Calibri"/>
                <a:cs typeface="Calibri"/>
                <a:sym typeface="Calibri"/>
              </a:rPr>
              <a:t>Take questions. Prioritise operational questions (how do I do X?) over product questions (why does Y work this way?) — operational questions help the whole room. Make sure everyone scans the QR before leaving.</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[PLACEHOLDER: replace the placeholder QR graphic with a real QR code linking to the feedback form.]</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[slide ref: CLOSE · S38 | CLOSE  ·  S38]</a:t>
            </a:r>
            <a:endParaRPr/>
          </a:p>
        </p:txBody>
      </p:sp>
      <p:sp>
        <p:nvSpPr>
          <p:cNvPr id="1825" name="Google Shape;1825;g3ec41b1eb9b_7_1874:notes"/>
          <p:cNvSpPr txBox="1"/>
          <p:nvPr>
            <p:ph idx="12" type="sldNum"/>
          </p:nvPr>
        </p:nvSpPr>
        <p:spPr>
          <a:xfrm>
            <a:off x="3884613" y="6514257"/>
            <a:ext cx="2971800" cy="34410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2" name="Shape 1832"/>
        <p:cNvGrpSpPr/>
        <p:nvPr/>
      </p:nvGrpSpPr>
      <p:grpSpPr>
        <a:xfrm>
          <a:off x="0" y="0"/>
          <a:ext cx="0" cy="0"/>
          <a:chOff x="0" y="0"/>
          <a:chExt cx="0" cy="0"/>
        </a:xfrm>
      </p:grpSpPr>
      <p:sp>
        <p:nvSpPr>
          <p:cNvPr id="1833" name="Google Shape;1833;g3ec41b1eb9b_7_1940:notes"/>
          <p:cNvSpPr/>
          <p:nvPr>
            <p:ph idx="2" type="sldImg"/>
          </p:nvPr>
        </p:nvSpPr>
        <p:spPr>
          <a:xfrm>
            <a:off x="685654" y="857296"/>
            <a:ext cx="5486693" cy="231469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34" name="Google Shape;1834;g3ec41b1eb9b_7_1940:notes"/>
          <p:cNvSpPr txBox="1"/>
          <p:nvPr>
            <p:ph idx="1" type="body"/>
          </p:nvPr>
        </p:nvSpPr>
        <p:spPr>
          <a:xfrm>
            <a:off x="685800" y="3300588"/>
            <a:ext cx="5486400" cy="2700481"/>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Calibri"/>
                <a:ea typeface="Calibri"/>
                <a:cs typeface="Calibri"/>
                <a:sym typeface="Calibri"/>
              </a:rPr>
              <a:t>[WARM] Warm, brief. No new content. "The system is live. Your accounts are active. Monday, give it one real order."</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[PLACEHOLDER: fill in the real support handle before the session.]</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[slide ref: CLOSE  ·  S39]</a:t>
            </a:r>
            <a:endParaRPr/>
          </a:p>
        </p:txBody>
      </p:sp>
      <p:sp>
        <p:nvSpPr>
          <p:cNvPr id="1835" name="Google Shape;1835;g3ec41b1eb9b_7_1940:notes"/>
          <p:cNvSpPr txBox="1"/>
          <p:nvPr>
            <p:ph idx="12" type="sldNum"/>
          </p:nvPr>
        </p:nvSpPr>
        <p:spPr>
          <a:xfrm>
            <a:off x="3884613" y="6514257"/>
            <a:ext cx="2971800" cy="34410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1" name="Shape 1841"/>
        <p:cNvGrpSpPr/>
        <p:nvPr/>
      </p:nvGrpSpPr>
      <p:grpSpPr>
        <a:xfrm>
          <a:off x="0" y="0"/>
          <a:ext cx="0" cy="0"/>
          <a:chOff x="0" y="0"/>
          <a:chExt cx="0" cy="0"/>
        </a:xfrm>
      </p:grpSpPr>
      <p:sp>
        <p:nvSpPr>
          <p:cNvPr id="1842" name="Google Shape;1842;g3ec41b1eb9b_7_1950:notes"/>
          <p:cNvSpPr/>
          <p:nvPr>
            <p:ph idx="2" type="sldImg"/>
          </p:nvPr>
        </p:nvSpPr>
        <p:spPr>
          <a:xfrm>
            <a:off x="685654" y="857296"/>
            <a:ext cx="5486693" cy="231469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43" name="Google Shape;1843;g3ec41b1eb9b_7_1950:notes"/>
          <p:cNvSpPr txBox="1"/>
          <p:nvPr>
            <p:ph idx="1" type="body"/>
          </p:nvPr>
        </p:nvSpPr>
        <p:spPr>
          <a:xfrm>
            <a:off x="685800" y="3300588"/>
            <a:ext cx="5486400" cy="2700481"/>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Facilitator &amp; Half-Day Reference Layer — not shown in the Core 2-Hour Cut. Skip this entire section in the standard 2-hour session; use only for half-day / extended sessions, or for facilitator and conductor preparation.</a:t>
            </a:r>
            <a:endParaRPr/>
          </a:p>
        </p:txBody>
      </p:sp>
      <p:sp>
        <p:nvSpPr>
          <p:cNvPr id="1844" name="Google Shape;1844;g3ec41b1eb9b_7_1950:notes"/>
          <p:cNvSpPr txBox="1"/>
          <p:nvPr>
            <p:ph idx="12" type="sldNum"/>
          </p:nvPr>
        </p:nvSpPr>
        <p:spPr>
          <a:xfrm>
            <a:off x="3884613" y="6514257"/>
            <a:ext cx="2971800" cy="34410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9" name="Shape 1849"/>
        <p:cNvGrpSpPr/>
        <p:nvPr/>
      </p:nvGrpSpPr>
      <p:grpSpPr>
        <a:xfrm>
          <a:off x="0" y="0"/>
          <a:ext cx="0" cy="0"/>
          <a:chOff x="0" y="0"/>
          <a:chExt cx="0" cy="0"/>
        </a:xfrm>
      </p:grpSpPr>
      <p:sp>
        <p:nvSpPr>
          <p:cNvPr id="1850" name="Google Shape;1850;g3f1292e4412_0_1514:notes"/>
          <p:cNvSpPr/>
          <p:nvPr>
            <p:ph idx="2" type="sldImg"/>
          </p:nvPr>
        </p:nvSpPr>
        <p:spPr>
          <a:xfrm>
            <a:off x="685654" y="857296"/>
            <a:ext cx="5486700" cy="23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51" name="Google Shape;1851;g3f1292e4412_0_1514:notes"/>
          <p:cNvSpPr txBox="1"/>
          <p:nvPr>
            <p:ph idx="1" type="body"/>
          </p:nvPr>
        </p:nvSpPr>
        <p:spPr>
          <a:xfrm>
            <a:off x="685800" y="3300588"/>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Calibri"/>
                <a:ea typeface="Calibri"/>
                <a:cs typeface="Calibri"/>
                <a:sym typeface="Calibri"/>
              </a:rPr>
              <a:t>MISSION M1 — Restoran Maju Jaya (WARM-UP)</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FRONT (team sees):</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“Mr. Tan sent over their weekly order. It's clean. Process it and get it delivered.”</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CPO Contents:</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Cooking Oil 17kg × 10</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Jasmine Rice 10kg × 5</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No anomalies — all items in stock.</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Record on board: SO ID  ·  DN ID</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BACK (facilitator QC):</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Correct items and quantities</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No credit issue (RM8k outstanding, RM30k limit)</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DN marked Delivered</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Trap: No trap — this is the on-ramp.</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[PLACEHOLDER: print this mission as a physical double-sided card for the game — front-panel content above for the team side, back-panel content for the facilitator side.]</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[slide ref: A7 · MISSION CARDS · M1 OF 10 | A7  ·  M1]</a:t>
            </a:r>
            <a:endParaRPr/>
          </a:p>
        </p:txBody>
      </p:sp>
      <p:sp>
        <p:nvSpPr>
          <p:cNvPr id="1852" name="Google Shape;1852;g3f1292e4412_0_1514:notes"/>
          <p:cNvSpPr txBox="1"/>
          <p:nvPr>
            <p:ph idx="12" type="sldNum"/>
          </p:nvPr>
        </p:nvSpPr>
        <p:spPr>
          <a:xfrm>
            <a:off x="3884613" y="6514257"/>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9" name="Shape 1889"/>
        <p:cNvGrpSpPr/>
        <p:nvPr/>
      </p:nvGrpSpPr>
      <p:grpSpPr>
        <a:xfrm>
          <a:off x="0" y="0"/>
          <a:ext cx="0" cy="0"/>
          <a:chOff x="0" y="0"/>
          <a:chExt cx="0" cy="0"/>
        </a:xfrm>
      </p:grpSpPr>
      <p:sp>
        <p:nvSpPr>
          <p:cNvPr id="1890" name="Google Shape;1890;g3ec41b1eb9b_7_2260:notes"/>
          <p:cNvSpPr/>
          <p:nvPr>
            <p:ph idx="2" type="sldImg"/>
          </p:nvPr>
        </p:nvSpPr>
        <p:spPr>
          <a:xfrm>
            <a:off x="685654" y="857296"/>
            <a:ext cx="5486693" cy="231469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91" name="Google Shape;1891;g3ec41b1eb9b_7_2260:notes"/>
          <p:cNvSpPr txBox="1"/>
          <p:nvPr>
            <p:ph idx="1" type="body"/>
          </p:nvPr>
        </p:nvSpPr>
        <p:spPr>
          <a:xfrm>
            <a:off x="685800" y="3300588"/>
            <a:ext cx="5486400" cy="2700481"/>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Calibri"/>
                <a:ea typeface="Calibri"/>
                <a:cs typeface="Calibri"/>
                <a:sym typeface="Calibri"/>
              </a:rPr>
              <a:t>MISSION M2 — Warung Pak Din Sdn Bhd</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FRONT (team sees):</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“Their ordering clerk sent a photo PO. Some items are described in their own words. Make sure every line is correctly matched before you submit.”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CPO Contents:</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Photo PO — “minyak masak besar” → Cooking Oil</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“tepung banjir 25kg” → All-Purpose Flour</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Soy sauce, in their carton size</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One line is low-confidence.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Record on board: SO ID  ·  DN ID  ·  Caught low-confidence? Y/N</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BACK (facilitator QC):</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All items correctly mapped — no wrong substitution</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UOM matches the customer's intent</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Low-confidence line corrected before confirming</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DN marked Delivered</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Trap: Trap: the low-confidence line. If confirmed without review, QC fails.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[PLACEHOLDER: print this mission as a physical double-sided card for the game — front-panel content above for the team side, back-panel content for the facilitator side.]</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[slide ref: A7 · MISSION CARDS · M2 OF 10 | A7  ·  M2]</a:t>
            </a:r>
            <a:endParaRPr/>
          </a:p>
        </p:txBody>
      </p:sp>
      <p:sp>
        <p:nvSpPr>
          <p:cNvPr id="1892" name="Google Shape;1892;g3ec41b1eb9b_7_2260:notes"/>
          <p:cNvSpPr txBox="1"/>
          <p:nvPr>
            <p:ph idx="12" type="sldNum"/>
          </p:nvPr>
        </p:nvSpPr>
        <p:spPr>
          <a:xfrm>
            <a:off x="3884613" y="6514257"/>
            <a:ext cx="2971800" cy="34410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9" name="Shape 1929"/>
        <p:cNvGrpSpPr/>
        <p:nvPr/>
      </p:nvGrpSpPr>
      <p:grpSpPr>
        <a:xfrm>
          <a:off x="0" y="0"/>
          <a:ext cx="0" cy="0"/>
          <a:chOff x="0" y="0"/>
          <a:chExt cx="0" cy="0"/>
        </a:xfrm>
      </p:grpSpPr>
      <p:sp>
        <p:nvSpPr>
          <p:cNvPr id="1930" name="Google Shape;1930;g3f1292e4412_0_716:notes"/>
          <p:cNvSpPr/>
          <p:nvPr>
            <p:ph idx="2" type="sldImg"/>
          </p:nvPr>
        </p:nvSpPr>
        <p:spPr>
          <a:xfrm>
            <a:off x="685654" y="857296"/>
            <a:ext cx="5486700" cy="23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31" name="Google Shape;1931;g3f1292e4412_0_716:notes"/>
          <p:cNvSpPr txBox="1"/>
          <p:nvPr>
            <p:ph idx="1" type="body"/>
          </p:nvPr>
        </p:nvSpPr>
        <p:spPr>
          <a:xfrm>
            <a:off x="685800" y="3300588"/>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Calibri"/>
                <a:ea typeface="Calibri"/>
                <a:cs typeface="Calibri"/>
                <a:sym typeface="Calibri"/>
              </a:rPr>
              <a:t>MISSION M3 — Lim Heng Trading Sdn Bhd</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FRONT (team sees):</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“En. Lim ordered 10 cartons of soy sauce. But their definition of a carton is not the same as yours. Check before you confirm.”</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CPO Contents:</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Light Soy Sauce 750ml × 10 cartons</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Lim Heng's carton = 24 bottles · ours = 12</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Record on board: SO ID  ·  DN ID  ·  Caught UOM mismatch? Y/N</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BACK (facilitator QC):</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SO line shows the correct quantity (240 bottles, or 10 cartons with conversion confirmed)</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DN marked Delivered</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Trap: Trap: UOM mismatch — must be caught and converted before confirming.</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[PLACEHOLDER: print this mission as a physical double-sided card for the game — front-panel content above for the team side, back-panel content for the facilitator side.]</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[slide ref: A7 · MISSION CARDS · M3 OF 10 | A7  ·  M3]</a:t>
            </a:r>
            <a:endParaRPr/>
          </a:p>
        </p:txBody>
      </p:sp>
      <p:sp>
        <p:nvSpPr>
          <p:cNvPr id="1932" name="Google Shape;1932;g3f1292e4412_0_716:notes"/>
          <p:cNvSpPr txBox="1"/>
          <p:nvPr>
            <p:ph idx="12" type="sldNum"/>
          </p:nvPr>
        </p:nvSpPr>
        <p:spPr>
          <a:xfrm>
            <a:off x="3884613" y="6514257"/>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3" name="Shape 1963"/>
        <p:cNvGrpSpPr/>
        <p:nvPr/>
      </p:nvGrpSpPr>
      <p:grpSpPr>
        <a:xfrm>
          <a:off x="0" y="0"/>
          <a:ext cx="0" cy="0"/>
          <a:chOff x="0" y="0"/>
          <a:chExt cx="0" cy="0"/>
        </a:xfrm>
      </p:grpSpPr>
      <p:sp>
        <p:nvSpPr>
          <p:cNvPr id="1964" name="Google Shape;1964;g3f1292e4412_0_771:notes"/>
          <p:cNvSpPr/>
          <p:nvPr>
            <p:ph idx="2" type="sldImg"/>
          </p:nvPr>
        </p:nvSpPr>
        <p:spPr>
          <a:xfrm>
            <a:off x="685654" y="857296"/>
            <a:ext cx="5486700" cy="23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65" name="Google Shape;1965;g3f1292e4412_0_771:notes"/>
          <p:cNvSpPr txBox="1"/>
          <p:nvPr>
            <p:ph idx="1" type="body"/>
          </p:nvPr>
        </p:nvSpPr>
        <p:spPr>
          <a:xfrm>
            <a:off x="685800" y="3300588"/>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Calibri"/>
                <a:ea typeface="Calibri"/>
                <a:cs typeface="Calibri"/>
                <a:sym typeface="Calibri"/>
              </a:rPr>
              <a:t>MISSION M4 — Selera Catering &amp; Events Sdn Bhd</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FRONT (team sees):</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“Ms. Priya is a contract customer. She has special rates on a few items. Make sure you're not quoting her the wrong price.”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CPO Contents:</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Cooking Oil 17kg × 20</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Jasmine Rice 10kg × 10</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Both items have a Customer Item Price below standard.</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Record on board: SO ID  ·  DN ID  ·  Preferential price applied? Y/N</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BACK (facilitator QC):</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SO unit prices match Selera's Customer Item Price — not the standard rate</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DN marked Delivered</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Trap: Trap: verify the preferential rate auto-applied — don't override with standard pricing.</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[PLACEHOLDER: print this mission as a physical double-sided card for the game — front-panel content above for the team side, back-panel content for the facilitator side.]</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[slide ref: A7 · MISSION CARDS · M4 OF 10 | A7  ·  M4]</a:t>
            </a:r>
            <a:endParaRPr/>
          </a:p>
        </p:txBody>
      </p:sp>
      <p:sp>
        <p:nvSpPr>
          <p:cNvPr id="1966" name="Google Shape;1966;g3f1292e4412_0_771:notes"/>
          <p:cNvSpPr txBox="1"/>
          <p:nvPr>
            <p:ph idx="12" type="sldNum"/>
          </p:nvPr>
        </p:nvSpPr>
        <p:spPr>
          <a:xfrm>
            <a:off x="3884613" y="6514257"/>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8" name="Shape 1998"/>
        <p:cNvGrpSpPr/>
        <p:nvPr/>
      </p:nvGrpSpPr>
      <p:grpSpPr>
        <a:xfrm>
          <a:off x="0" y="0"/>
          <a:ext cx="0" cy="0"/>
          <a:chOff x="0" y="0"/>
          <a:chExt cx="0" cy="0"/>
        </a:xfrm>
      </p:grpSpPr>
      <p:sp>
        <p:nvSpPr>
          <p:cNvPr id="1999" name="Google Shape;1999;g3f1292e4412_0_827:notes"/>
          <p:cNvSpPr/>
          <p:nvPr>
            <p:ph idx="2" type="sldImg"/>
          </p:nvPr>
        </p:nvSpPr>
        <p:spPr>
          <a:xfrm>
            <a:off x="685654" y="857296"/>
            <a:ext cx="5486700" cy="23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00" name="Google Shape;2000;g3f1292e4412_0_827:notes"/>
          <p:cNvSpPr txBox="1"/>
          <p:nvPr>
            <p:ph idx="1" type="body"/>
          </p:nvPr>
        </p:nvSpPr>
        <p:spPr>
          <a:xfrm>
            <a:off x="685800" y="3300588"/>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Calibri"/>
                <a:ea typeface="Calibri"/>
                <a:cs typeface="Calibri"/>
                <a:sym typeface="Calibri"/>
              </a:rPr>
              <a:t>MISSION M5 — Kafe Santai Enterprise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FRONT (team sees):</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“Ms. Lina wants to place a new order. Before you say yes — check.”</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CPO Contents:</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Oyster Sauce × 20</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Instant Coffee × 10</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Order value: RM4,500.</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Record on board: SO ID  ·  DN ID  ·  Who escalated? (name)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BACK (facilitator QC):</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Credit check flagged (T0 overdue RM6,200 · 45 days)</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Sales escalated to Credit Controller — handoff completed</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Controller override decision logged</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If overridden: SO confirmed and DN marked Delivered</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Trap: Trap: the credit escalation handoff itself.</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First cross-role handoff — skip it and QC fails.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[PLACEHOLDER: print this mission as a physical double-sided card for the game — front-panel content above for the team side, back-panel content for the facilitator side.]</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[slide ref: A7 · MISSION CARDS · M5 OF 10 | A7  ·  M5]</a:t>
            </a:r>
            <a:endParaRPr/>
          </a:p>
        </p:txBody>
      </p:sp>
      <p:sp>
        <p:nvSpPr>
          <p:cNvPr id="2001" name="Google Shape;2001;g3f1292e4412_0_827:notes"/>
          <p:cNvSpPr txBox="1"/>
          <p:nvPr>
            <p:ph idx="12" type="sldNum"/>
          </p:nvPr>
        </p:nvSpPr>
        <p:spPr>
          <a:xfrm>
            <a:off x="3884613" y="6514257"/>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9" name="Shape 2039"/>
        <p:cNvGrpSpPr/>
        <p:nvPr/>
      </p:nvGrpSpPr>
      <p:grpSpPr>
        <a:xfrm>
          <a:off x="0" y="0"/>
          <a:ext cx="0" cy="0"/>
          <a:chOff x="0" y="0"/>
          <a:chExt cx="0" cy="0"/>
        </a:xfrm>
      </p:grpSpPr>
      <p:sp>
        <p:nvSpPr>
          <p:cNvPr id="2040" name="Google Shape;2040;g3f1292e4412_0_883:notes"/>
          <p:cNvSpPr/>
          <p:nvPr>
            <p:ph idx="2" type="sldImg"/>
          </p:nvPr>
        </p:nvSpPr>
        <p:spPr>
          <a:xfrm>
            <a:off x="685654" y="857296"/>
            <a:ext cx="5486700" cy="23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41" name="Google Shape;2041;g3f1292e4412_0_883:notes"/>
          <p:cNvSpPr txBox="1"/>
          <p:nvPr>
            <p:ph idx="1" type="body"/>
          </p:nvPr>
        </p:nvSpPr>
        <p:spPr>
          <a:xfrm>
            <a:off x="685800" y="3300588"/>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Calibri"/>
                <a:ea typeface="Calibri"/>
                <a:cs typeface="Calibri"/>
                <a:sym typeface="Calibri"/>
              </a:rPr>
              <a:t>MISSION M6 — Hotel Permai Group Sdn Bhd</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FRONT (team sees):</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“En. Faizal wants a large order — RM20,000 worth. Good customer. But check their exposure before you confirm.”</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CPO Contents:</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Cooking Oil × 50</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Flour × 20</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Mushrooms × 100</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Order value: ~RM20,000.</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Record on board: SO ID  ·  DN ID  ·  Routed to controller? Y/N</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BACK (facilitator QC):</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Billed-unpaid RM62k + unbilled SO RM15k = RM77k of RM80k limit</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New RM20k order pushes exposure to RM97k</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Escalated — controller override applied with judgment</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SO confirmed and DN marked Delivered</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Trap: Trap: near-limit exposure — subtler than M5, requires adding multiple numbers.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[PLACEHOLDER: print this mission as a physical double-sided card for the game — front-panel content above for the team side, back-panel content for the facilitator side.]</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[slide ref: A7 · MISSION CARDS · M6 OF 10 | A7  ·  M6]</a:t>
            </a:r>
            <a:endParaRPr/>
          </a:p>
        </p:txBody>
      </p:sp>
      <p:sp>
        <p:nvSpPr>
          <p:cNvPr id="2042" name="Google Shape;2042;g3f1292e4412_0_883:notes"/>
          <p:cNvSpPr txBox="1"/>
          <p:nvPr>
            <p:ph idx="12" type="sldNum"/>
          </p:nvPr>
        </p:nvSpPr>
        <p:spPr>
          <a:xfrm>
            <a:off x="3884613" y="6514257"/>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9" name="Shape 2079"/>
        <p:cNvGrpSpPr/>
        <p:nvPr/>
      </p:nvGrpSpPr>
      <p:grpSpPr>
        <a:xfrm>
          <a:off x="0" y="0"/>
          <a:ext cx="0" cy="0"/>
          <a:chOff x="0" y="0"/>
          <a:chExt cx="0" cy="0"/>
        </a:xfrm>
      </p:grpSpPr>
      <p:sp>
        <p:nvSpPr>
          <p:cNvPr id="2080" name="Google Shape;2080;g3f1292e4412_0_939:notes"/>
          <p:cNvSpPr/>
          <p:nvPr>
            <p:ph idx="2" type="sldImg"/>
          </p:nvPr>
        </p:nvSpPr>
        <p:spPr>
          <a:xfrm>
            <a:off x="685654" y="857296"/>
            <a:ext cx="5486700" cy="23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81" name="Google Shape;2081;g3f1292e4412_0_939:notes"/>
          <p:cNvSpPr txBox="1"/>
          <p:nvPr>
            <p:ph idx="1" type="body"/>
          </p:nvPr>
        </p:nvSpPr>
        <p:spPr>
          <a:xfrm>
            <a:off x="685800" y="3300588"/>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Calibri"/>
                <a:ea typeface="Calibri"/>
                <a:cs typeface="Calibri"/>
                <a:sym typeface="Calibri"/>
              </a:rPr>
              <a:t>MISSION M7 — The Brew Lab</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FRONT (team sees):</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“Daniel from The Brew Lab is interested. He's not a customer yet — he wants a quote. Give him one.”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No CPO — WhatsApp message: “quote: 20 bags house blend coffee + 10× coffee machine servicing visits?”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Record on board: Quotation ID (not SO ID)</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BACK (facilitator QC):</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Quotation created — not a Sales Order</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The Brew Lab recorded as a lead / prospect, no customer account</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Quote includes both the coffee bags and the service visits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Trap: Trap: creating a Sales Order instead of a Quotation.</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[PLACEHOLDER: print this mission as a physical double-sided card for the game — front-panel content above for the team side, back-panel content for the facilitator side.]</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[slide ref: A7 · MISSION CARDS · M7 OF 10 | A7  ·  M7]</a:t>
            </a:r>
            <a:endParaRPr/>
          </a:p>
        </p:txBody>
      </p:sp>
      <p:sp>
        <p:nvSpPr>
          <p:cNvPr id="2082" name="Google Shape;2082;g3f1292e4412_0_939:notes"/>
          <p:cNvSpPr txBox="1"/>
          <p:nvPr>
            <p:ph idx="12" type="sldNum"/>
          </p:nvPr>
        </p:nvSpPr>
        <p:spPr>
          <a:xfrm>
            <a:off x="3884613" y="6514257"/>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1" name="Shape 2111"/>
        <p:cNvGrpSpPr/>
        <p:nvPr/>
      </p:nvGrpSpPr>
      <p:grpSpPr>
        <a:xfrm>
          <a:off x="0" y="0"/>
          <a:ext cx="0" cy="0"/>
          <a:chOff x="0" y="0"/>
          <a:chExt cx="0" cy="0"/>
        </a:xfrm>
      </p:grpSpPr>
      <p:sp>
        <p:nvSpPr>
          <p:cNvPr id="2112" name="Google Shape;2112;g3f1292e4412_0_986:notes"/>
          <p:cNvSpPr/>
          <p:nvPr>
            <p:ph idx="2" type="sldImg"/>
          </p:nvPr>
        </p:nvSpPr>
        <p:spPr>
          <a:xfrm>
            <a:off x="685654" y="857296"/>
            <a:ext cx="5486700" cy="23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13" name="Google Shape;2113;g3f1292e4412_0_986:notes"/>
          <p:cNvSpPr txBox="1"/>
          <p:nvPr>
            <p:ph idx="1" type="body"/>
          </p:nvPr>
        </p:nvSpPr>
        <p:spPr>
          <a:xfrm>
            <a:off x="685800" y="3300588"/>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Calibri"/>
                <a:ea typeface="Calibri"/>
                <a:cs typeface="Calibri"/>
                <a:sym typeface="Calibri"/>
              </a:rPr>
              <a:t>MISSION M8 — Grand Ballroom Catering Sdn Bhd</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FRONT (team sees):</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“Grand Ballroom is ordering supplies AND booking a service. Make sure each part is fulfilled the right way — they're not the same.”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CPO Contents:</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Cooking Oil × 5</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Festive Hamper × 3</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Coffee Machine Servicing × 1 visit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Record on board: SO ID  ·  DN ID (goods)  ·  SWO ID (service)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BACK (facilitator QC):</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SO created with all three lines</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Goods fulfilled via DN — marked Delivered</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Service line (item_type = Service) fulfilled via SWO, not DN</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Trap: Trap: attempting to put the service line on the Delivery Note.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[PLACEHOLDER: print this mission as a physical double-sided card for the game — front-panel content above for the team side, back-panel content for the facilitator side.]</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[slide ref: A7 · MISSION CARDS · M8 OF 10 | A7  ·  M8]</a:t>
            </a:r>
            <a:endParaRPr/>
          </a:p>
        </p:txBody>
      </p:sp>
      <p:sp>
        <p:nvSpPr>
          <p:cNvPr id="2114" name="Google Shape;2114;g3f1292e4412_0_986:notes"/>
          <p:cNvSpPr txBox="1"/>
          <p:nvPr>
            <p:ph idx="12" type="sldNum"/>
          </p:nvPr>
        </p:nvSpPr>
        <p:spPr>
          <a:xfrm>
            <a:off x="3884613" y="6514257"/>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8" name="Shape 2148"/>
        <p:cNvGrpSpPr/>
        <p:nvPr/>
      </p:nvGrpSpPr>
      <p:grpSpPr>
        <a:xfrm>
          <a:off x="0" y="0"/>
          <a:ext cx="0" cy="0"/>
          <a:chOff x="0" y="0"/>
          <a:chExt cx="0" cy="0"/>
        </a:xfrm>
      </p:grpSpPr>
      <p:sp>
        <p:nvSpPr>
          <p:cNvPr id="2149" name="Google Shape;2149;g3f1292e4412_0_1045:notes"/>
          <p:cNvSpPr/>
          <p:nvPr>
            <p:ph idx="2" type="sldImg"/>
          </p:nvPr>
        </p:nvSpPr>
        <p:spPr>
          <a:xfrm>
            <a:off x="685654" y="857296"/>
            <a:ext cx="5486700" cy="23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50" name="Google Shape;2150;g3f1292e4412_0_1045:notes"/>
          <p:cNvSpPr txBox="1"/>
          <p:nvPr>
            <p:ph idx="1" type="body"/>
          </p:nvPr>
        </p:nvSpPr>
        <p:spPr>
          <a:xfrm>
            <a:off x="685800" y="3300588"/>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Calibri"/>
                <a:ea typeface="Calibri"/>
                <a:cs typeface="Calibri"/>
                <a:sym typeface="Calibri"/>
              </a:rPr>
              <a:t>MISSION M9 — Encik Rahman</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FRONT (team sees):</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“Encik Rahman wants 80 tubs of House Sambal Paste. Check if you can make it before you say yes. He wants cash on delivery.”</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No CPO — WhatsApp message: “bro nak 80 tub sambal paste, boleh? nak COD”</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Record on board: SO ID  ·  DN ID  ·  Checked availability first? Y/N</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BACK (facilitator QC):</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Availability checked — Available (40) + Can-make (160) confirms 80 is feasible</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SO created for an Individual customer, not a company</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COD — no credit check, payment terms set accordingly</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DN marked Delivered</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Trap: Trap: skipping the availability check, and the wrong customer type.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[PLACEHOLDER: print this mission as a physical double-sided card for the game — front-panel content above for the team side, back-panel content for the facilitator side.]</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[slide ref: A7 · MISSION CARDS · M9 OF 10 | A7  ·  M9]</a:t>
            </a:r>
            <a:endParaRPr/>
          </a:p>
        </p:txBody>
      </p:sp>
      <p:sp>
        <p:nvSpPr>
          <p:cNvPr id="2151" name="Google Shape;2151;g3f1292e4412_0_1045:notes"/>
          <p:cNvSpPr txBox="1"/>
          <p:nvPr>
            <p:ph idx="12" type="sldNum"/>
          </p:nvPr>
        </p:nvSpPr>
        <p:spPr>
          <a:xfrm>
            <a:off x="3884613" y="6514257"/>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6" name="Shape 2186"/>
        <p:cNvGrpSpPr/>
        <p:nvPr/>
      </p:nvGrpSpPr>
      <p:grpSpPr>
        <a:xfrm>
          <a:off x="0" y="0"/>
          <a:ext cx="0" cy="0"/>
          <a:chOff x="0" y="0"/>
          <a:chExt cx="0" cy="0"/>
        </a:xfrm>
      </p:grpSpPr>
      <p:sp>
        <p:nvSpPr>
          <p:cNvPr id="2187" name="Google Shape;2187;g3f1292e4412_0_1097:notes"/>
          <p:cNvSpPr/>
          <p:nvPr>
            <p:ph idx="2" type="sldImg"/>
          </p:nvPr>
        </p:nvSpPr>
        <p:spPr>
          <a:xfrm>
            <a:off x="685654" y="857296"/>
            <a:ext cx="5486700" cy="23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88" name="Google Shape;2188;g3f1292e4412_0_1097:notes"/>
          <p:cNvSpPr txBox="1"/>
          <p:nvPr>
            <p:ph idx="1" type="body"/>
          </p:nvPr>
        </p:nvSpPr>
        <p:spPr>
          <a:xfrm>
            <a:off x="685800" y="3300588"/>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Calibri"/>
                <a:ea typeface="Calibri"/>
                <a:cs typeface="Calibri"/>
                <a:sym typeface="Calibri"/>
              </a:rPr>
              <a:t>MISSION M10 — Bintang Mart Sdn Bhd (BOSS)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FRONT (team sees):</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“Big order. Read it carefully. There's a mapping issue. One item is short. Process what you can — and when the delivery hits a problem, handle it.”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CPO Contents:</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Cooking Oil × 30 ✓   ·   Jasmine Rice × 20 ✓</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Soy Sauce × 15 cartons — “kicap halus” (low-confidence)</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Beef Stock Concentrate × 10 — only 6 available</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Outstation Delivery Charge × 1 ✓</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Record on board: SO ID (partial)  ·  DN ID  ·  Failed stop rescheduled? Y/N</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BACK (facilitator QC):</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Low-confidence soy sauce line corrected</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Beef Stock partial fill — SO for 6, back-order / note for the remaining 4</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DN raised for available items</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Driver app: 1 stop failed, reason logged, reschedule task created</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No-app variant: logistics marks partial delivery with a note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Trap: All three traps must be handled: mapping, partial stock, and delivery-failure recovery.</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Boss mission — full points require all three traps caught.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[PLACEHOLDER: print this mission as a physical double-sided card for the game — front-panel content above for the team side, back-panel content for the facilitator side.]</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[slide ref: A7 · MISSION CARDS · M10 OF 10 | A7  ·  M10]</a:t>
            </a:r>
            <a:endParaRPr/>
          </a:p>
        </p:txBody>
      </p:sp>
      <p:sp>
        <p:nvSpPr>
          <p:cNvPr id="2189" name="Google Shape;2189;g3f1292e4412_0_1097:notes"/>
          <p:cNvSpPr txBox="1"/>
          <p:nvPr>
            <p:ph idx="12" type="sldNum"/>
          </p:nvPr>
        </p:nvSpPr>
        <p:spPr>
          <a:xfrm>
            <a:off x="3884613" y="6514257"/>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2" name="Shape 2232"/>
        <p:cNvGrpSpPr/>
        <p:nvPr/>
      </p:nvGrpSpPr>
      <p:grpSpPr>
        <a:xfrm>
          <a:off x="0" y="0"/>
          <a:ext cx="0" cy="0"/>
          <a:chOff x="0" y="0"/>
          <a:chExt cx="0" cy="0"/>
        </a:xfrm>
      </p:grpSpPr>
      <p:sp>
        <p:nvSpPr>
          <p:cNvPr id="2233" name="Google Shape;2233;g3ec41b1eb9b_7_2603:notes"/>
          <p:cNvSpPr/>
          <p:nvPr>
            <p:ph idx="2" type="sldImg"/>
          </p:nvPr>
        </p:nvSpPr>
        <p:spPr>
          <a:xfrm>
            <a:off x="685654" y="857296"/>
            <a:ext cx="5486693" cy="231469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34" name="Google Shape;2234;g3ec41b1eb9b_7_2603:notes"/>
          <p:cNvSpPr txBox="1"/>
          <p:nvPr>
            <p:ph idx="1" type="body"/>
          </p:nvPr>
        </p:nvSpPr>
        <p:spPr>
          <a:xfrm>
            <a:off x="685800" y="3300588"/>
            <a:ext cx="5486400" cy="2700481"/>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Calibri"/>
                <a:ea typeface="Calibri"/>
                <a:cs typeface="Calibri"/>
                <a:sym typeface="Calibri"/>
              </a:rPr>
              <a:t>[slide ref: A8 | A8  ·  Special Missions]</a:t>
            </a:r>
            <a:endParaRPr/>
          </a:p>
        </p:txBody>
      </p:sp>
      <p:sp>
        <p:nvSpPr>
          <p:cNvPr id="2235" name="Google Shape;2235;g3ec41b1eb9b_7_2603:notes"/>
          <p:cNvSpPr txBox="1"/>
          <p:nvPr>
            <p:ph idx="12" type="sldNum"/>
          </p:nvPr>
        </p:nvSpPr>
        <p:spPr>
          <a:xfrm>
            <a:off x="3884613" y="6514257"/>
            <a:ext cx="2971800" cy="344109"/>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1" name="Shape 2241"/>
        <p:cNvGrpSpPr/>
        <p:nvPr/>
      </p:nvGrpSpPr>
      <p:grpSpPr>
        <a:xfrm>
          <a:off x="0" y="0"/>
          <a:ext cx="0" cy="0"/>
          <a:chOff x="0" y="0"/>
          <a:chExt cx="0" cy="0"/>
        </a:xfrm>
      </p:grpSpPr>
      <p:sp>
        <p:nvSpPr>
          <p:cNvPr id="2242" name="Google Shape;2242;g3ec41b1eb9b_7_2612:notes"/>
          <p:cNvSpPr/>
          <p:nvPr>
            <p:ph idx="2" type="sldImg"/>
          </p:nvPr>
        </p:nvSpPr>
        <p:spPr>
          <a:xfrm>
            <a:off x="685654" y="857296"/>
            <a:ext cx="5486693" cy="231469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43" name="Google Shape;2243;g3ec41b1eb9b_7_2612:notes"/>
          <p:cNvSpPr txBox="1"/>
          <p:nvPr>
            <p:ph idx="1" type="body"/>
          </p:nvPr>
        </p:nvSpPr>
        <p:spPr>
          <a:xfrm>
            <a:off x="685800" y="3300588"/>
            <a:ext cx="5486400" cy="2700481"/>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Calibri"/>
                <a:ea typeface="Calibri"/>
                <a:cs typeface="Calibri"/>
                <a:sym typeface="Calibri"/>
              </a:rPr>
              <a:t>[slide ref: A8 · SPECIAL MISSION · 1 OF 6 | A8  ·  Special 1 OF 6]</a:t>
            </a:r>
            <a:endParaRPr/>
          </a:p>
        </p:txBody>
      </p:sp>
      <p:sp>
        <p:nvSpPr>
          <p:cNvPr id="2244" name="Google Shape;2244;g3ec41b1eb9b_7_2612:notes"/>
          <p:cNvSpPr txBox="1"/>
          <p:nvPr>
            <p:ph idx="12" type="sldNum"/>
          </p:nvPr>
        </p:nvSpPr>
        <p:spPr>
          <a:xfrm>
            <a:off x="3884613" y="6514257"/>
            <a:ext cx="2971800" cy="344109"/>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8" name="Shape 2258"/>
        <p:cNvGrpSpPr/>
        <p:nvPr/>
      </p:nvGrpSpPr>
      <p:grpSpPr>
        <a:xfrm>
          <a:off x="0" y="0"/>
          <a:ext cx="0" cy="0"/>
          <a:chOff x="0" y="0"/>
          <a:chExt cx="0" cy="0"/>
        </a:xfrm>
      </p:grpSpPr>
      <p:sp>
        <p:nvSpPr>
          <p:cNvPr id="2259" name="Google Shape;2259;g3f1292e4412_0_1167:notes"/>
          <p:cNvSpPr/>
          <p:nvPr>
            <p:ph idx="2" type="sldImg"/>
          </p:nvPr>
        </p:nvSpPr>
        <p:spPr>
          <a:xfrm>
            <a:off x="685654" y="857296"/>
            <a:ext cx="5486700" cy="23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60" name="Google Shape;2260;g3f1292e4412_0_1167:notes"/>
          <p:cNvSpPr txBox="1"/>
          <p:nvPr>
            <p:ph idx="1" type="body"/>
          </p:nvPr>
        </p:nvSpPr>
        <p:spPr>
          <a:xfrm>
            <a:off x="685800" y="3300588"/>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Calibri"/>
                <a:ea typeface="Calibri"/>
                <a:cs typeface="Calibri"/>
                <a:sym typeface="Calibri"/>
              </a:rPr>
              <a:t>[slide ref: A8 · SPECIAL MISSION · 1 OF 6 | A8  ·  Special 1 OF 6]</a:t>
            </a:r>
            <a:endParaRPr/>
          </a:p>
        </p:txBody>
      </p:sp>
      <p:sp>
        <p:nvSpPr>
          <p:cNvPr id="2261" name="Google Shape;2261;g3f1292e4412_0_1167:notes"/>
          <p:cNvSpPr txBox="1"/>
          <p:nvPr>
            <p:ph idx="12" type="sldNum"/>
          </p:nvPr>
        </p:nvSpPr>
        <p:spPr>
          <a:xfrm>
            <a:off x="3884613" y="6514257"/>
            <a:ext cx="2971800" cy="344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9" name="Shape 2299"/>
        <p:cNvGrpSpPr/>
        <p:nvPr/>
      </p:nvGrpSpPr>
      <p:grpSpPr>
        <a:xfrm>
          <a:off x="0" y="0"/>
          <a:ext cx="0" cy="0"/>
          <a:chOff x="0" y="0"/>
          <a:chExt cx="0" cy="0"/>
        </a:xfrm>
      </p:grpSpPr>
      <p:sp>
        <p:nvSpPr>
          <p:cNvPr id="2300" name="Google Shape;2300;g3ec41b1eb9b_7_2653:notes"/>
          <p:cNvSpPr/>
          <p:nvPr>
            <p:ph idx="2" type="sldImg"/>
          </p:nvPr>
        </p:nvSpPr>
        <p:spPr>
          <a:xfrm>
            <a:off x="685654" y="857296"/>
            <a:ext cx="5486693" cy="231469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01" name="Google Shape;2301;g3ec41b1eb9b_7_2653:notes"/>
          <p:cNvSpPr txBox="1"/>
          <p:nvPr>
            <p:ph idx="1" type="body"/>
          </p:nvPr>
        </p:nvSpPr>
        <p:spPr>
          <a:xfrm>
            <a:off x="685800" y="3300588"/>
            <a:ext cx="5486400" cy="2700481"/>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Calibri"/>
                <a:ea typeface="Calibri"/>
                <a:cs typeface="Calibri"/>
                <a:sym typeface="Calibri"/>
              </a:rPr>
              <a:t>[slide ref: A8 · SPECIAL MISSION · 2 OF 6 | A8  ·  Special 2 OF 6]</a:t>
            </a:r>
            <a:endParaRPr/>
          </a:p>
        </p:txBody>
      </p:sp>
      <p:sp>
        <p:nvSpPr>
          <p:cNvPr id="2302" name="Google Shape;2302;g3ec41b1eb9b_7_2653:notes"/>
          <p:cNvSpPr txBox="1"/>
          <p:nvPr>
            <p:ph idx="12" type="sldNum"/>
          </p:nvPr>
        </p:nvSpPr>
        <p:spPr>
          <a:xfrm>
            <a:off x="3884613" y="6514257"/>
            <a:ext cx="2971800" cy="344109"/>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5" name="Shape 2315"/>
        <p:cNvGrpSpPr/>
        <p:nvPr/>
      </p:nvGrpSpPr>
      <p:grpSpPr>
        <a:xfrm>
          <a:off x="0" y="0"/>
          <a:ext cx="0" cy="0"/>
          <a:chOff x="0" y="0"/>
          <a:chExt cx="0" cy="0"/>
        </a:xfrm>
      </p:grpSpPr>
      <p:sp>
        <p:nvSpPr>
          <p:cNvPr id="2316" name="Google Shape;2316;g3f1292e4412_0_1225:notes"/>
          <p:cNvSpPr/>
          <p:nvPr>
            <p:ph idx="2" type="sldImg"/>
          </p:nvPr>
        </p:nvSpPr>
        <p:spPr>
          <a:xfrm>
            <a:off x="685654" y="857296"/>
            <a:ext cx="5486700" cy="23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17" name="Google Shape;2317;g3f1292e4412_0_1225:notes"/>
          <p:cNvSpPr txBox="1"/>
          <p:nvPr>
            <p:ph idx="1" type="body"/>
          </p:nvPr>
        </p:nvSpPr>
        <p:spPr>
          <a:xfrm>
            <a:off x="685800" y="3300588"/>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Calibri"/>
                <a:ea typeface="Calibri"/>
                <a:cs typeface="Calibri"/>
                <a:sym typeface="Calibri"/>
              </a:rPr>
              <a:t>[slide ref: A8 · SPECIAL MISSION · 2 OF 6 | A8  ·  Special 2 OF 6]</a:t>
            </a:r>
            <a:endParaRPr/>
          </a:p>
        </p:txBody>
      </p:sp>
      <p:sp>
        <p:nvSpPr>
          <p:cNvPr id="2318" name="Google Shape;2318;g3f1292e4412_0_1225:notes"/>
          <p:cNvSpPr txBox="1"/>
          <p:nvPr>
            <p:ph idx="12" type="sldNum"/>
          </p:nvPr>
        </p:nvSpPr>
        <p:spPr>
          <a:xfrm>
            <a:off x="3884613" y="6514257"/>
            <a:ext cx="2971800" cy="344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4" name="Shape 2354"/>
        <p:cNvGrpSpPr/>
        <p:nvPr/>
      </p:nvGrpSpPr>
      <p:grpSpPr>
        <a:xfrm>
          <a:off x="0" y="0"/>
          <a:ext cx="0" cy="0"/>
          <a:chOff x="0" y="0"/>
          <a:chExt cx="0" cy="0"/>
        </a:xfrm>
      </p:grpSpPr>
      <p:sp>
        <p:nvSpPr>
          <p:cNvPr id="2355" name="Google Shape;2355;g3ec41b1eb9b_7_2692:notes"/>
          <p:cNvSpPr/>
          <p:nvPr>
            <p:ph idx="2" type="sldImg"/>
          </p:nvPr>
        </p:nvSpPr>
        <p:spPr>
          <a:xfrm>
            <a:off x="685654" y="857296"/>
            <a:ext cx="5486693" cy="231469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56" name="Google Shape;2356;g3ec41b1eb9b_7_2692:notes"/>
          <p:cNvSpPr txBox="1"/>
          <p:nvPr>
            <p:ph idx="1" type="body"/>
          </p:nvPr>
        </p:nvSpPr>
        <p:spPr>
          <a:xfrm>
            <a:off x="685800" y="3300588"/>
            <a:ext cx="5486400" cy="2700481"/>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Calibri"/>
                <a:ea typeface="Calibri"/>
                <a:cs typeface="Calibri"/>
                <a:sym typeface="Calibri"/>
              </a:rPr>
              <a:t>[slide ref: A8 · SPECIAL MISSION · 3 OF 6 | A8  ·  Special 3 OF 6]</a:t>
            </a:r>
            <a:endParaRPr/>
          </a:p>
        </p:txBody>
      </p:sp>
      <p:sp>
        <p:nvSpPr>
          <p:cNvPr id="2357" name="Google Shape;2357;g3ec41b1eb9b_7_2692:notes"/>
          <p:cNvSpPr txBox="1"/>
          <p:nvPr>
            <p:ph idx="12" type="sldNum"/>
          </p:nvPr>
        </p:nvSpPr>
        <p:spPr>
          <a:xfrm>
            <a:off x="3884613" y="6514257"/>
            <a:ext cx="2971800" cy="344109"/>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0" name="Shape 2370"/>
        <p:cNvGrpSpPr/>
        <p:nvPr/>
      </p:nvGrpSpPr>
      <p:grpSpPr>
        <a:xfrm>
          <a:off x="0" y="0"/>
          <a:ext cx="0" cy="0"/>
          <a:chOff x="0" y="0"/>
          <a:chExt cx="0" cy="0"/>
        </a:xfrm>
      </p:grpSpPr>
      <p:sp>
        <p:nvSpPr>
          <p:cNvPr id="2371" name="Google Shape;2371;g3f1292e4412_0_1281:notes"/>
          <p:cNvSpPr/>
          <p:nvPr>
            <p:ph idx="2" type="sldImg"/>
          </p:nvPr>
        </p:nvSpPr>
        <p:spPr>
          <a:xfrm>
            <a:off x="685654" y="857296"/>
            <a:ext cx="5486700" cy="23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72" name="Google Shape;2372;g3f1292e4412_0_1281:notes"/>
          <p:cNvSpPr txBox="1"/>
          <p:nvPr>
            <p:ph idx="1" type="body"/>
          </p:nvPr>
        </p:nvSpPr>
        <p:spPr>
          <a:xfrm>
            <a:off x="685800" y="3300588"/>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Calibri"/>
                <a:ea typeface="Calibri"/>
                <a:cs typeface="Calibri"/>
                <a:sym typeface="Calibri"/>
              </a:rPr>
              <a:t>[slide ref: A8 · SPECIAL MISSION · 3 OF 6 | A8  ·  Special 3 OF 6]</a:t>
            </a:r>
            <a:endParaRPr/>
          </a:p>
        </p:txBody>
      </p:sp>
      <p:sp>
        <p:nvSpPr>
          <p:cNvPr id="2373" name="Google Shape;2373;g3f1292e4412_0_1281:notes"/>
          <p:cNvSpPr txBox="1"/>
          <p:nvPr>
            <p:ph idx="12" type="sldNum"/>
          </p:nvPr>
        </p:nvSpPr>
        <p:spPr>
          <a:xfrm>
            <a:off x="3884613" y="6514257"/>
            <a:ext cx="2971800" cy="344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9" name="Shape 2409"/>
        <p:cNvGrpSpPr/>
        <p:nvPr/>
      </p:nvGrpSpPr>
      <p:grpSpPr>
        <a:xfrm>
          <a:off x="0" y="0"/>
          <a:ext cx="0" cy="0"/>
          <a:chOff x="0" y="0"/>
          <a:chExt cx="0" cy="0"/>
        </a:xfrm>
      </p:grpSpPr>
      <p:sp>
        <p:nvSpPr>
          <p:cNvPr id="2410" name="Google Shape;2410;g3ec41b1eb9b_7_2731:notes"/>
          <p:cNvSpPr/>
          <p:nvPr>
            <p:ph idx="2" type="sldImg"/>
          </p:nvPr>
        </p:nvSpPr>
        <p:spPr>
          <a:xfrm>
            <a:off x="685654" y="857296"/>
            <a:ext cx="5486693" cy="231469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11" name="Google Shape;2411;g3ec41b1eb9b_7_2731:notes"/>
          <p:cNvSpPr txBox="1"/>
          <p:nvPr>
            <p:ph idx="1" type="body"/>
          </p:nvPr>
        </p:nvSpPr>
        <p:spPr>
          <a:xfrm>
            <a:off x="685800" y="3300588"/>
            <a:ext cx="5486400" cy="2700481"/>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Calibri"/>
                <a:ea typeface="Calibri"/>
                <a:cs typeface="Calibri"/>
                <a:sym typeface="Calibri"/>
              </a:rPr>
              <a:t>[slide ref: A8 · SPECIAL MISSION · 4 OF 6 | A8  ·  Special 4 OF 6]</a:t>
            </a:r>
            <a:endParaRPr/>
          </a:p>
        </p:txBody>
      </p:sp>
      <p:sp>
        <p:nvSpPr>
          <p:cNvPr id="2412" name="Google Shape;2412;g3ec41b1eb9b_7_2731:notes"/>
          <p:cNvSpPr txBox="1"/>
          <p:nvPr>
            <p:ph idx="12" type="sldNum"/>
          </p:nvPr>
        </p:nvSpPr>
        <p:spPr>
          <a:xfrm>
            <a:off x="3884613" y="6514257"/>
            <a:ext cx="2971800" cy="344109"/>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7" name="Shape 2427"/>
        <p:cNvGrpSpPr/>
        <p:nvPr/>
      </p:nvGrpSpPr>
      <p:grpSpPr>
        <a:xfrm>
          <a:off x="0" y="0"/>
          <a:ext cx="0" cy="0"/>
          <a:chOff x="0" y="0"/>
          <a:chExt cx="0" cy="0"/>
        </a:xfrm>
      </p:grpSpPr>
      <p:sp>
        <p:nvSpPr>
          <p:cNvPr id="2428" name="Google Shape;2428;g3f1292e4412_0_1337:notes"/>
          <p:cNvSpPr/>
          <p:nvPr>
            <p:ph idx="2" type="sldImg"/>
          </p:nvPr>
        </p:nvSpPr>
        <p:spPr>
          <a:xfrm>
            <a:off x="685654" y="857296"/>
            <a:ext cx="5486700" cy="23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29" name="Google Shape;2429;g3f1292e4412_0_1337:notes"/>
          <p:cNvSpPr txBox="1"/>
          <p:nvPr>
            <p:ph idx="1" type="body"/>
          </p:nvPr>
        </p:nvSpPr>
        <p:spPr>
          <a:xfrm>
            <a:off x="685800" y="3300588"/>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Calibri"/>
                <a:ea typeface="Calibri"/>
                <a:cs typeface="Calibri"/>
                <a:sym typeface="Calibri"/>
              </a:rPr>
              <a:t>[slide ref: A8 · SPECIAL MISSION · 4 OF 6 | A8  ·  Special 4 OF 6]</a:t>
            </a:r>
            <a:endParaRPr/>
          </a:p>
        </p:txBody>
      </p:sp>
      <p:sp>
        <p:nvSpPr>
          <p:cNvPr id="2430" name="Google Shape;2430;g3f1292e4412_0_1337:notes"/>
          <p:cNvSpPr txBox="1"/>
          <p:nvPr>
            <p:ph idx="12" type="sldNum"/>
          </p:nvPr>
        </p:nvSpPr>
        <p:spPr>
          <a:xfrm>
            <a:off x="3884613" y="6514257"/>
            <a:ext cx="2971800" cy="344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6" name="Shape 2466"/>
        <p:cNvGrpSpPr/>
        <p:nvPr/>
      </p:nvGrpSpPr>
      <p:grpSpPr>
        <a:xfrm>
          <a:off x="0" y="0"/>
          <a:ext cx="0" cy="0"/>
          <a:chOff x="0" y="0"/>
          <a:chExt cx="0" cy="0"/>
        </a:xfrm>
      </p:grpSpPr>
      <p:sp>
        <p:nvSpPr>
          <p:cNvPr id="2467" name="Google Shape;2467;g3ec41b1eb9b_7_2770:notes"/>
          <p:cNvSpPr/>
          <p:nvPr>
            <p:ph idx="2" type="sldImg"/>
          </p:nvPr>
        </p:nvSpPr>
        <p:spPr>
          <a:xfrm>
            <a:off x="685654" y="857296"/>
            <a:ext cx="5486693" cy="231469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68" name="Google Shape;2468;g3ec41b1eb9b_7_2770:notes"/>
          <p:cNvSpPr txBox="1"/>
          <p:nvPr>
            <p:ph idx="1" type="body"/>
          </p:nvPr>
        </p:nvSpPr>
        <p:spPr>
          <a:xfrm>
            <a:off x="685800" y="3300588"/>
            <a:ext cx="5486400" cy="2700481"/>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Calibri"/>
                <a:ea typeface="Calibri"/>
                <a:cs typeface="Calibri"/>
                <a:sym typeface="Calibri"/>
              </a:rPr>
              <a:t>[slide ref: A8 · SPECIAL MISSION · 5 OF 6 | A8  ·  Special 5 OF 6]</a:t>
            </a:r>
            <a:endParaRPr/>
          </a:p>
        </p:txBody>
      </p:sp>
      <p:sp>
        <p:nvSpPr>
          <p:cNvPr id="2469" name="Google Shape;2469;g3ec41b1eb9b_7_2770:notes"/>
          <p:cNvSpPr txBox="1"/>
          <p:nvPr>
            <p:ph idx="12" type="sldNum"/>
          </p:nvPr>
        </p:nvSpPr>
        <p:spPr>
          <a:xfrm>
            <a:off x="3884613" y="6514257"/>
            <a:ext cx="2971800" cy="344109"/>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3" name="Shape 2483"/>
        <p:cNvGrpSpPr/>
        <p:nvPr/>
      </p:nvGrpSpPr>
      <p:grpSpPr>
        <a:xfrm>
          <a:off x="0" y="0"/>
          <a:ext cx="0" cy="0"/>
          <a:chOff x="0" y="0"/>
          <a:chExt cx="0" cy="0"/>
        </a:xfrm>
      </p:grpSpPr>
      <p:sp>
        <p:nvSpPr>
          <p:cNvPr id="2484" name="Google Shape;2484;g3f1292e4412_0_1398:notes"/>
          <p:cNvSpPr/>
          <p:nvPr>
            <p:ph idx="2" type="sldImg"/>
          </p:nvPr>
        </p:nvSpPr>
        <p:spPr>
          <a:xfrm>
            <a:off x="685654" y="857296"/>
            <a:ext cx="5486700" cy="23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85" name="Google Shape;2485;g3f1292e4412_0_1398:notes"/>
          <p:cNvSpPr txBox="1"/>
          <p:nvPr>
            <p:ph idx="1" type="body"/>
          </p:nvPr>
        </p:nvSpPr>
        <p:spPr>
          <a:xfrm>
            <a:off x="685800" y="3300588"/>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Calibri"/>
                <a:ea typeface="Calibri"/>
                <a:cs typeface="Calibri"/>
                <a:sym typeface="Calibri"/>
              </a:rPr>
              <a:t>[slide ref: A8 · SPECIAL MISSION · 5 OF 6 | A8  ·  Special 5 OF 6]</a:t>
            </a:r>
            <a:endParaRPr/>
          </a:p>
        </p:txBody>
      </p:sp>
      <p:sp>
        <p:nvSpPr>
          <p:cNvPr id="2486" name="Google Shape;2486;g3f1292e4412_0_1398:notes"/>
          <p:cNvSpPr txBox="1"/>
          <p:nvPr>
            <p:ph idx="12" type="sldNum"/>
          </p:nvPr>
        </p:nvSpPr>
        <p:spPr>
          <a:xfrm>
            <a:off x="3884613" y="6514257"/>
            <a:ext cx="2971800" cy="344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4" name="Shape 2524"/>
        <p:cNvGrpSpPr/>
        <p:nvPr/>
      </p:nvGrpSpPr>
      <p:grpSpPr>
        <a:xfrm>
          <a:off x="0" y="0"/>
          <a:ext cx="0" cy="0"/>
          <a:chOff x="0" y="0"/>
          <a:chExt cx="0" cy="0"/>
        </a:xfrm>
      </p:grpSpPr>
      <p:sp>
        <p:nvSpPr>
          <p:cNvPr id="2525" name="Google Shape;2525;g3ec41b1eb9b_7_2811:notes"/>
          <p:cNvSpPr/>
          <p:nvPr>
            <p:ph idx="2" type="sldImg"/>
          </p:nvPr>
        </p:nvSpPr>
        <p:spPr>
          <a:xfrm>
            <a:off x="685654" y="857296"/>
            <a:ext cx="5486693" cy="231469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26" name="Google Shape;2526;g3ec41b1eb9b_7_2811:notes"/>
          <p:cNvSpPr txBox="1"/>
          <p:nvPr>
            <p:ph idx="1" type="body"/>
          </p:nvPr>
        </p:nvSpPr>
        <p:spPr>
          <a:xfrm>
            <a:off x="685800" y="3300588"/>
            <a:ext cx="5486400" cy="2700481"/>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Calibri"/>
                <a:ea typeface="Calibri"/>
                <a:cs typeface="Calibri"/>
                <a:sym typeface="Calibri"/>
              </a:rPr>
              <a:t>[slide ref: A8 · SPECIAL MISSION · 6 OF 6 | A8  ·  Special 6 OF 6]</a:t>
            </a:r>
            <a:endParaRPr/>
          </a:p>
        </p:txBody>
      </p:sp>
      <p:sp>
        <p:nvSpPr>
          <p:cNvPr id="2527" name="Google Shape;2527;g3ec41b1eb9b_7_2811:notes"/>
          <p:cNvSpPr txBox="1"/>
          <p:nvPr>
            <p:ph idx="12" type="sldNum"/>
          </p:nvPr>
        </p:nvSpPr>
        <p:spPr>
          <a:xfrm>
            <a:off x="3884613" y="6514257"/>
            <a:ext cx="2971800" cy="344109"/>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1" name="Shape 2541"/>
        <p:cNvGrpSpPr/>
        <p:nvPr/>
      </p:nvGrpSpPr>
      <p:grpSpPr>
        <a:xfrm>
          <a:off x="0" y="0"/>
          <a:ext cx="0" cy="0"/>
          <a:chOff x="0" y="0"/>
          <a:chExt cx="0" cy="0"/>
        </a:xfrm>
      </p:grpSpPr>
      <p:sp>
        <p:nvSpPr>
          <p:cNvPr id="2542" name="Google Shape;2542;g3f1292e4412_0_1457:notes"/>
          <p:cNvSpPr/>
          <p:nvPr>
            <p:ph idx="2" type="sldImg"/>
          </p:nvPr>
        </p:nvSpPr>
        <p:spPr>
          <a:xfrm>
            <a:off x="685654" y="857296"/>
            <a:ext cx="5486700" cy="23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43" name="Google Shape;2543;g3f1292e4412_0_1457:notes"/>
          <p:cNvSpPr txBox="1"/>
          <p:nvPr>
            <p:ph idx="1" type="body"/>
          </p:nvPr>
        </p:nvSpPr>
        <p:spPr>
          <a:xfrm>
            <a:off x="685800" y="3300588"/>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Calibri"/>
                <a:ea typeface="Calibri"/>
                <a:cs typeface="Calibri"/>
                <a:sym typeface="Calibri"/>
              </a:rPr>
              <a:t>[slide ref: A8 · SPECIAL MISSION · 6 OF 6 | A8  ·  Special 6 OF 6]</a:t>
            </a:r>
            <a:endParaRPr/>
          </a:p>
        </p:txBody>
      </p:sp>
      <p:sp>
        <p:nvSpPr>
          <p:cNvPr id="2544" name="Google Shape;2544;g3f1292e4412_0_1457:notes"/>
          <p:cNvSpPr txBox="1"/>
          <p:nvPr>
            <p:ph idx="12" type="sldNum"/>
          </p:nvPr>
        </p:nvSpPr>
        <p:spPr>
          <a:xfrm>
            <a:off x="3884613" y="6514257"/>
            <a:ext cx="2971800" cy="344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2" name="Shape 2582"/>
        <p:cNvGrpSpPr/>
        <p:nvPr/>
      </p:nvGrpSpPr>
      <p:grpSpPr>
        <a:xfrm>
          <a:off x="0" y="0"/>
          <a:ext cx="0" cy="0"/>
          <a:chOff x="0" y="0"/>
          <a:chExt cx="0" cy="0"/>
        </a:xfrm>
      </p:grpSpPr>
      <p:sp>
        <p:nvSpPr>
          <p:cNvPr id="2583" name="Google Shape;2583;g3f1292e4412_0_1556:notes"/>
          <p:cNvSpPr/>
          <p:nvPr>
            <p:ph idx="2" type="sldImg"/>
          </p:nvPr>
        </p:nvSpPr>
        <p:spPr>
          <a:xfrm>
            <a:off x="685654" y="857296"/>
            <a:ext cx="5486700" cy="23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84" name="Google Shape;2584;g3f1292e4412_0_1556:notes"/>
          <p:cNvSpPr txBox="1"/>
          <p:nvPr>
            <p:ph idx="1" type="body"/>
          </p:nvPr>
        </p:nvSpPr>
        <p:spPr>
          <a:xfrm>
            <a:off x="685800" y="3300588"/>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Facilitator &amp; Half-Day Reference Layer — not shown in the Core 2-Hour Cut. Skip this entire section in the standard 2-hour session; use only for half-day / extended sessions, or for facilitator and conductor preparation.</a:t>
            </a:r>
            <a:endParaRPr/>
          </a:p>
        </p:txBody>
      </p:sp>
      <p:sp>
        <p:nvSpPr>
          <p:cNvPr id="2585" name="Google Shape;2585;g3f1292e4412_0_1556:notes"/>
          <p:cNvSpPr txBox="1"/>
          <p:nvPr>
            <p:ph idx="12" type="sldNum"/>
          </p:nvPr>
        </p:nvSpPr>
        <p:spPr>
          <a:xfrm>
            <a:off x="3884613" y="6514257"/>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1" name="Shape 2591"/>
        <p:cNvGrpSpPr/>
        <p:nvPr/>
      </p:nvGrpSpPr>
      <p:grpSpPr>
        <a:xfrm>
          <a:off x="0" y="0"/>
          <a:ext cx="0" cy="0"/>
          <a:chOff x="0" y="0"/>
          <a:chExt cx="0" cy="0"/>
        </a:xfrm>
      </p:grpSpPr>
      <p:sp>
        <p:nvSpPr>
          <p:cNvPr id="2592" name="Google Shape;2592;g3ec41b1eb9b_7_1959:notes"/>
          <p:cNvSpPr/>
          <p:nvPr>
            <p:ph idx="2" type="sldImg"/>
          </p:nvPr>
        </p:nvSpPr>
        <p:spPr>
          <a:xfrm>
            <a:off x="685654" y="857296"/>
            <a:ext cx="5486693" cy="231469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93" name="Google Shape;2593;g3ec41b1eb9b_7_1959:notes"/>
          <p:cNvSpPr txBox="1"/>
          <p:nvPr>
            <p:ph idx="1" type="body"/>
          </p:nvPr>
        </p:nvSpPr>
        <p:spPr>
          <a:xfrm>
            <a:off x="685800" y="3300588"/>
            <a:ext cx="5486400" cy="2700481"/>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Calibri"/>
                <a:ea typeface="Calibri"/>
                <a:cs typeface="Calibri"/>
                <a:sym typeface="Calibri"/>
              </a:rPr>
              <a:t>Source: MAIA Training Slides Outline v0.7, Appendix A1. Sales responsibilities: revenue; customer relationship; business development; creates and oversees fulfilment; price negotiation; chases payment; resolves complaints.</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[slide ref: APPENDIX · A1 | APPENDIX  ·  A1]</a:t>
            </a:r>
            <a:endParaRPr/>
          </a:p>
        </p:txBody>
      </p:sp>
      <p:sp>
        <p:nvSpPr>
          <p:cNvPr id="2594" name="Google Shape;2594;g3ec41b1eb9b_7_1959:notes"/>
          <p:cNvSpPr txBox="1"/>
          <p:nvPr>
            <p:ph idx="12" type="sldNum"/>
          </p:nvPr>
        </p:nvSpPr>
        <p:spPr>
          <a:xfrm>
            <a:off x="3884613" y="6514257"/>
            <a:ext cx="2971800" cy="34410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8" name="Shape 2638"/>
        <p:cNvGrpSpPr/>
        <p:nvPr/>
      </p:nvGrpSpPr>
      <p:grpSpPr>
        <a:xfrm>
          <a:off x="0" y="0"/>
          <a:ext cx="0" cy="0"/>
          <a:chOff x="0" y="0"/>
          <a:chExt cx="0" cy="0"/>
        </a:xfrm>
      </p:grpSpPr>
      <p:sp>
        <p:nvSpPr>
          <p:cNvPr id="2639" name="Google Shape;2639;g3ec41b1eb9b_7_2006:notes"/>
          <p:cNvSpPr/>
          <p:nvPr>
            <p:ph idx="2" type="sldImg"/>
          </p:nvPr>
        </p:nvSpPr>
        <p:spPr>
          <a:xfrm>
            <a:off x="685654" y="857296"/>
            <a:ext cx="5486693" cy="231469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40" name="Google Shape;2640;g3ec41b1eb9b_7_2006:notes"/>
          <p:cNvSpPr txBox="1"/>
          <p:nvPr>
            <p:ph idx="1" type="body"/>
          </p:nvPr>
        </p:nvSpPr>
        <p:spPr>
          <a:xfrm>
            <a:off x="685800" y="3300588"/>
            <a:ext cx="5486400" cy="2700481"/>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Calibri"/>
                <a:ea typeface="Calibri"/>
                <a:cs typeface="Calibri"/>
                <a:sym typeface="Calibri"/>
              </a:rPr>
              <a:t>Source: MAIA Training Slides Outline v0.7, Appendix A2. Finance responsibilities: debtor accounts (billing, payments); approves Receipt &amp; Payment Vouchers (validated against money hitting the bank before issuing); reconciles payments.</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[slide ref: APPENDIX · A2 | APPENDIX  ·  A2]</a:t>
            </a:r>
            <a:endParaRPr/>
          </a:p>
        </p:txBody>
      </p:sp>
      <p:sp>
        <p:nvSpPr>
          <p:cNvPr id="2641" name="Google Shape;2641;g3ec41b1eb9b_7_2006:notes"/>
          <p:cNvSpPr txBox="1"/>
          <p:nvPr>
            <p:ph idx="12" type="sldNum"/>
          </p:nvPr>
        </p:nvSpPr>
        <p:spPr>
          <a:xfrm>
            <a:off x="3884613" y="6514257"/>
            <a:ext cx="2971800" cy="34410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5" name="Shape 2665"/>
        <p:cNvGrpSpPr/>
        <p:nvPr/>
      </p:nvGrpSpPr>
      <p:grpSpPr>
        <a:xfrm>
          <a:off x="0" y="0"/>
          <a:ext cx="0" cy="0"/>
          <a:chOff x="0" y="0"/>
          <a:chExt cx="0" cy="0"/>
        </a:xfrm>
      </p:grpSpPr>
      <p:sp>
        <p:nvSpPr>
          <p:cNvPr id="2666" name="Google Shape;2666;g3ec41b1eb9b_7_2033:notes"/>
          <p:cNvSpPr/>
          <p:nvPr>
            <p:ph idx="2" type="sldImg"/>
          </p:nvPr>
        </p:nvSpPr>
        <p:spPr>
          <a:xfrm>
            <a:off x="685654" y="857296"/>
            <a:ext cx="5486693" cy="231469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67" name="Google Shape;2667;g3ec41b1eb9b_7_2033:notes"/>
          <p:cNvSpPr txBox="1"/>
          <p:nvPr>
            <p:ph idx="1" type="body"/>
          </p:nvPr>
        </p:nvSpPr>
        <p:spPr>
          <a:xfrm>
            <a:off x="685800" y="3300588"/>
            <a:ext cx="5486400" cy="2700481"/>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Calibri"/>
                <a:ea typeface="Calibri"/>
                <a:cs typeface="Calibri"/>
                <a:sym typeface="Calibri"/>
              </a:rPr>
              <a:t>Source: MAIA Training Slides Outline v0.7, Appendix A3. Logistics / Warehouse responsibilities: plans fulfilment; stock movement and counts; stock planning from projections and aging to trigger purchasing or selling signals.</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[slide ref: APPENDIX · A3 | APPENDIX  ·  A3]</a:t>
            </a:r>
            <a:endParaRPr/>
          </a:p>
        </p:txBody>
      </p:sp>
      <p:sp>
        <p:nvSpPr>
          <p:cNvPr id="2668" name="Google Shape;2668;g3ec41b1eb9b_7_2033:notes"/>
          <p:cNvSpPr txBox="1"/>
          <p:nvPr>
            <p:ph idx="12" type="sldNum"/>
          </p:nvPr>
        </p:nvSpPr>
        <p:spPr>
          <a:xfrm>
            <a:off x="3884613" y="6514257"/>
            <a:ext cx="2971800" cy="34410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2" name="Shape 2692"/>
        <p:cNvGrpSpPr/>
        <p:nvPr/>
      </p:nvGrpSpPr>
      <p:grpSpPr>
        <a:xfrm>
          <a:off x="0" y="0"/>
          <a:ext cx="0" cy="0"/>
          <a:chOff x="0" y="0"/>
          <a:chExt cx="0" cy="0"/>
        </a:xfrm>
      </p:grpSpPr>
      <p:sp>
        <p:nvSpPr>
          <p:cNvPr id="2693" name="Google Shape;2693;g3ec41b1eb9b_7_2060:notes"/>
          <p:cNvSpPr/>
          <p:nvPr>
            <p:ph idx="2" type="sldImg"/>
          </p:nvPr>
        </p:nvSpPr>
        <p:spPr>
          <a:xfrm>
            <a:off x="685654" y="857296"/>
            <a:ext cx="5486693" cy="231469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94" name="Google Shape;2694;g3ec41b1eb9b_7_2060:notes"/>
          <p:cNvSpPr txBox="1"/>
          <p:nvPr>
            <p:ph idx="1" type="body"/>
          </p:nvPr>
        </p:nvSpPr>
        <p:spPr>
          <a:xfrm>
            <a:off x="685800" y="3300588"/>
            <a:ext cx="5486400" cy="2700481"/>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Calibri"/>
                <a:ea typeface="Calibri"/>
                <a:cs typeface="Calibri"/>
                <a:sym typeface="Calibri"/>
              </a:rPr>
              <a:t>Source: MAIA Training Slides Outline v0.7, Appendix A4. Credit Controller responsibilities: approves / overrides credit-limit or term breaches on orders; sets and manages customer credit limits.</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[slide ref: APPENDIX · A4 | APPENDIX  ·  A4]</a:t>
            </a:r>
            <a:endParaRPr/>
          </a:p>
        </p:txBody>
      </p:sp>
      <p:sp>
        <p:nvSpPr>
          <p:cNvPr id="2695" name="Google Shape;2695;g3ec41b1eb9b_7_2060:notes"/>
          <p:cNvSpPr txBox="1"/>
          <p:nvPr>
            <p:ph idx="12" type="sldNum"/>
          </p:nvPr>
        </p:nvSpPr>
        <p:spPr>
          <a:xfrm>
            <a:off x="3884613" y="6514257"/>
            <a:ext cx="2971800" cy="34410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4" name="Shape 2714"/>
        <p:cNvGrpSpPr/>
        <p:nvPr/>
      </p:nvGrpSpPr>
      <p:grpSpPr>
        <a:xfrm>
          <a:off x="0" y="0"/>
          <a:ext cx="0" cy="0"/>
          <a:chOff x="0" y="0"/>
          <a:chExt cx="0" cy="0"/>
        </a:xfrm>
      </p:grpSpPr>
      <p:sp>
        <p:nvSpPr>
          <p:cNvPr id="2715" name="Google Shape;2715;g3ec41b1eb9b_7_2082:notes"/>
          <p:cNvSpPr/>
          <p:nvPr>
            <p:ph idx="2" type="sldImg"/>
          </p:nvPr>
        </p:nvSpPr>
        <p:spPr>
          <a:xfrm>
            <a:off x="685654" y="857296"/>
            <a:ext cx="5486693" cy="231469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16" name="Google Shape;2716;g3ec41b1eb9b_7_2082:notes"/>
          <p:cNvSpPr txBox="1"/>
          <p:nvPr>
            <p:ph idx="1" type="body"/>
          </p:nvPr>
        </p:nvSpPr>
        <p:spPr>
          <a:xfrm>
            <a:off x="685800" y="3300588"/>
            <a:ext cx="5486400" cy="2700481"/>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Calibri"/>
                <a:ea typeface="Calibri"/>
                <a:cs typeface="Calibri"/>
                <a:sym typeface="Calibri"/>
              </a:rPr>
              <a:t>Source: MAIA Training Slides Outline v0.7, Appendix A5 — Role × Permission Matrix. ● create · ◑ approve / override · ○ view. Frappe roles are global to a user; company scoping via UserPermission.</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[slide ref: APPENDIX · A5 | APPENDIX  ·  A5]</a:t>
            </a:r>
            <a:endParaRPr/>
          </a:p>
        </p:txBody>
      </p:sp>
      <p:sp>
        <p:nvSpPr>
          <p:cNvPr id="2717" name="Google Shape;2717;g3ec41b1eb9b_7_2082:notes"/>
          <p:cNvSpPr txBox="1"/>
          <p:nvPr>
            <p:ph idx="12" type="sldNum"/>
          </p:nvPr>
        </p:nvSpPr>
        <p:spPr>
          <a:xfrm>
            <a:off x="3884613" y="6514257"/>
            <a:ext cx="2971800" cy="34410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4" name="Shape 2784"/>
        <p:cNvGrpSpPr/>
        <p:nvPr/>
      </p:nvGrpSpPr>
      <p:grpSpPr>
        <a:xfrm>
          <a:off x="0" y="0"/>
          <a:ext cx="0" cy="0"/>
          <a:chOff x="0" y="0"/>
          <a:chExt cx="0" cy="0"/>
        </a:xfrm>
      </p:grpSpPr>
      <p:sp>
        <p:nvSpPr>
          <p:cNvPr id="2785" name="Google Shape;2785;g3f1292e4412_0_16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6" name="Google Shape;2786;g3f1292e4412_0_16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0" name="Shape 2790"/>
        <p:cNvGrpSpPr/>
        <p:nvPr/>
      </p:nvGrpSpPr>
      <p:grpSpPr>
        <a:xfrm>
          <a:off x="0" y="0"/>
          <a:ext cx="0" cy="0"/>
          <a:chOff x="0" y="0"/>
          <a:chExt cx="0" cy="0"/>
        </a:xfrm>
      </p:grpSpPr>
      <p:sp>
        <p:nvSpPr>
          <p:cNvPr id="2791" name="Google Shape;2791;g3ec41b1eb9b_7_2152:notes"/>
          <p:cNvSpPr/>
          <p:nvPr>
            <p:ph idx="2" type="sldImg"/>
          </p:nvPr>
        </p:nvSpPr>
        <p:spPr>
          <a:xfrm>
            <a:off x="685654" y="857296"/>
            <a:ext cx="5486700" cy="23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92" name="Google Shape;2792;g3ec41b1eb9b_7_2152:notes"/>
          <p:cNvSpPr txBox="1"/>
          <p:nvPr>
            <p:ph idx="1" type="body"/>
          </p:nvPr>
        </p:nvSpPr>
        <p:spPr>
          <a:xfrm>
            <a:off x="685800" y="3300588"/>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Calibri"/>
                <a:ea typeface="Calibri"/>
                <a:cs typeface="Calibri"/>
                <a:sym typeface="Calibri"/>
              </a:rPr>
              <a:t>Source: MAIA Value Propositions.md, §4 Third-Party System Product Knowledge.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Supported systems: AutoCount, SQL, SAP B1, Epicor. In development: SAP HANA, Xeersoft.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What integration means in business language: the client keeps their ERP or accounting system; MAIA adds capture, validation, workflow, visibility, and exception routing.</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Typical data flow: customers, items, stock, pricing, credit, and documents move through approved connectors or approved data access. Worked example: "SO created in MAIA → appears in the client's ERP/accounting system where the connector and scope allow, no re-keying."</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Boundary: MAIA does not replace every native ERP function. It does not automatically carry over legacy User Defined Fields or User Defined Hooks.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Plain-English UDF/UDH explanation: a User Defined Field is a custom extra box the client added to an old system; a User Defined Hook is a custom automatic rule. These are out of standard integration scope unless Product/Solutions confirms MAIA already covers the business need or scopes a custom build.</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Channel boundary: WhatsApp and Telegram are conversational access channels. Email and Microsoft Teams are add-on channels. Other chat platforms can be customised if commercially and technically justified.</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[slide ref: APPENDIX · A6 | APPENDIX  ·  A6]</a:t>
            </a:r>
            <a:endParaRPr/>
          </a:p>
        </p:txBody>
      </p:sp>
      <p:sp>
        <p:nvSpPr>
          <p:cNvPr id="2793" name="Google Shape;2793;g3ec41b1eb9b_7_2152:notes"/>
          <p:cNvSpPr txBox="1"/>
          <p:nvPr>
            <p:ph idx="12" type="sldNum"/>
          </p:nvPr>
        </p:nvSpPr>
        <p:spPr>
          <a:xfrm>
            <a:off x="3884613" y="6514257"/>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3" name="Shape 2833"/>
        <p:cNvGrpSpPr/>
        <p:nvPr/>
      </p:nvGrpSpPr>
      <p:grpSpPr>
        <a:xfrm>
          <a:off x="0" y="0"/>
          <a:ext cx="0" cy="0"/>
          <a:chOff x="0" y="0"/>
          <a:chExt cx="0" cy="0"/>
        </a:xfrm>
      </p:grpSpPr>
      <p:sp>
        <p:nvSpPr>
          <p:cNvPr id="2834" name="Google Shape;2834;g3ec41b1eb9b_7_2193:notes"/>
          <p:cNvSpPr/>
          <p:nvPr>
            <p:ph idx="2" type="sldImg"/>
          </p:nvPr>
        </p:nvSpPr>
        <p:spPr>
          <a:xfrm>
            <a:off x="685654" y="857296"/>
            <a:ext cx="5486700" cy="23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35" name="Google Shape;2835;g3ec41b1eb9b_7_2193:notes"/>
          <p:cNvSpPr txBox="1"/>
          <p:nvPr>
            <p:ph idx="1" type="body"/>
          </p:nvPr>
        </p:nvSpPr>
        <p:spPr>
          <a:xfrm>
            <a:off x="685800" y="3300588"/>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Calibri"/>
                <a:ea typeface="Calibri"/>
                <a:cs typeface="Calibri"/>
                <a:sym typeface="Calibri"/>
              </a:rPr>
              <a:t>[slide ref: APPENDIX · A6 (cont.) | APPENDIX  ·  A6]</a:t>
            </a:r>
            <a:endParaRPr/>
          </a:p>
        </p:txBody>
      </p:sp>
      <p:sp>
        <p:nvSpPr>
          <p:cNvPr id="2836" name="Google Shape;2836;g3ec41b1eb9b_7_2193:notes"/>
          <p:cNvSpPr txBox="1"/>
          <p:nvPr>
            <p:ph idx="12" type="sldNum"/>
          </p:nvPr>
        </p:nvSpPr>
        <p:spPr>
          <a:xfrm>
            <a:off x="3884613" y="6514257"/>
            <a:ext cx="2971800" cy="344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6" name="Shape 2856"/>
        <p:cNvGrpSpPr/>
        <p:nvPr/>
      </p:nvGrpSpPr>
      <p:grpSpPr>
        <a:xfrm>
          <a:off x="0" y="0"/>
          <a:ext cx="0" cy="0"/>
          <a:chOff x="0" y="0"/>
          <a:chExt cx="0" cy="0"/>
        </a:xfrm>
      </p:grpSpPr>
      <p:sp>
        <p:nvSpPr>
          <p:cNvPr id="2857" name="Google Shape;2857;g3ec41b1eb9b_7_2852:notes"/>
          <p:cNvSpPr/>
          <p:nvPr>
            <p:ph idx="2" type="sldImg"/>
          </p:nvPr>
        </p:nvSpPr>
        <p:spPr>
          <a:xfrm>
            <a:off x="685654" y="857296"/>
            <a:ext cx="5486700" cy="23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58" name="Google Shape;2858;g3ec41b1eb9b_7_2852:notes"/>
          <p:cNvSpPr txBox="1"/>
          <p:nvPr>
            <p:ph idx="1" type="body"/>
          </p:nvPr>
        </p:nvSpPr>
        <p:spPr>
          <a:xfrm>
            <a:off x="685800" y="3300588"/>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Calibri"/>
                <a:ea typeface="Calibri"/>
                <a:cs typeface="Calibri"/>
                <a:sym typeface="Calibri"/>
              </a:rPr>
              <a:t>[slide ref: APPENDIX · A9 — OPTIONAL ADD-ON VIDEO | APPENDIX  ·  A9]</a:t>
            </a:r>
            <a:endParaRPr/>
          </a:p>
        </p:txBody>
      </p:sp>
      <p:sp>
        <p:nvSpPr>
          <p:cNvPr id="2859" name="Google Shape;2859;g3ec41b1eb9b_7_2852:notes"/>
          <p:cNvSpPr txBox="1"/>
          <p:nvPr>
            <p:ph idx="12" type="sldNum"/>
          </p:nvPr>
        </p:nvSpPr>
        <p:spPr>
          <a:xfrm>
            <a:off x="3884613" y="6514257"/>
            <a:ext cx="2971800" cy="344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6" name="Shape 2906"/>
        <p:cNvGrpSpPr/>
        <p:nvPr/>
      </p:nvGrpSpPr>
      <p:grpSpPr>
        <a:xfrm>
          <a:off x="0" y="0"/>
          <a:ext cx="0" cy="0"/>
          <a:chOff x="0" y="0"/>
          <a:chExt cx="0" cy="0"/>
        </a:xfrm>
      </p:grpSpPr>
      <p:sp>
        <p:nvSpPr>
          <p:cNvPr id="2907" name="Google Shape;2907;g3ec41b1eb9b_7_2900:notes"/>
          <p:cNvSpPr/>
          <p:nvPr>
            <p:ph idx="2" type="sldImg"/>
          </p:nvPr>
        </p:nvSpPr>
        <p:spPr>
          <a:xfrm>
            <a:off x="685654" y="857296"/>
            <a:ext cx="5486700" cy="23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08" name="Google Shape;2908;g3ec41b1eb9b_7_2900:notes"/>
          <p:cNvSpPr txBox="1"/>
          <p:nvPr>
            <p:ph idx="1" type="body"/>
          </p:nvPr>
        </p:nvSpPr>
        <p:spPr>
          <a:xfrm>
            <a:off x="685800" y="3300588"/>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Calibri"/>
                <a:ea typeface="Calibri"/>
                <a:cs typeface="Calibri"/>
                <a:sym typeface="Calibri"/>
              </a:rPr>
              <a:t>[slide ref: APPENDIX · A10 — OPTIONAL ADD-ON VIDEO | APPENDIX  ·  A10]</a:t>
            </a:r>
            <a:endParaRPr/>
          </a:p>
        </p:txBody>
      </p:sp>
      <p:sp>
        <p:nvSpPr>
          <p:cNvPr id="2909" name="Google Shape;2909;g3ec41b1eb9b_7_2900:notes"/>
          <p:cNvSpPr txBox="1"/>
          <p:nvPr>
            <p:ph idx="12" type="sldNum"/>
          </p:nvPr>
        </p:nvSpPr>
        <p:spPr>
          <a:xfrm>
            <a:off x="3884613" y="6514257"/>
            <a:ext cx="2971800" cy="344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6" name="Shape 2956"/>
        <p:cNvGrpSpPr/>
        <p:nvPr/>
      </p:nvGrpSpPr>
      <p:grpSpPr>
        <a:xfrm>
          <a:off x="0" y="0"/>
          <a:ext cx="0" cy="0"/>
          <a:chOff x="0" y="0"/>
          <a:chExt cx="0" cy="0"/>
        </a:xfrm>
      </p:grpSpPr>
      <p:sp>
        <p:nvSpPr>
          <p:cNvPr id="2957" name="Google Shape;2957;g3ec41b1eb9b_7_2948:notes"/>
          <p:cNvSpPr/>
          <p:nvPr>
            <p:ph idx="2" type="sldImg"/>
          </p:nvPr>
        </p:nvSpPr>
        <p:spPr>
          <a:xfrm>
            <a:off x="685654" y="857296"/>
            <a:ext cx="5486700" cy="23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58" name="Google Shape;2958;g3ec41b1eb9b_7_2948:notes"/>
          <p:cNvSpPr txBox="1"/>
          <p:nvPr>
            <p:ph idx="1" type="body"/>
          </p:nvPr>
        </p:nvSpPr>
        <p:spPr>
          <a:xfrm>
            <a:off x="685800" y="3300588"/>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Calibri"/>
                <a:ea typeface="Calibri"/>
                <a:cs typeface="Calibri"/>
                <a:sym typeface="Calibri"/>
              </a:rPr>
              <a:t>[slide ref: APPENDIX · A11 — OPTIONAL ADD-ON VIDEO | APPENDIX  ·  A11]</a:t>
            </a:r>
            <a:endParaRPr/>
          </a:p>
        </p:txBody>
      </p:sp>
      <p:sp>
        <p:nvSpPr>
          <p:cNvPr id="2959" name="Google Shape;2959;g3ec41b1eb9b_7_2948:notes"/>
          <p:cNvSpPr txBox="1"/>
          <p:nvPr>
            <p:ph idx="12" type="sldNum"/>
          </p:nvPr>
        </p:nvSpPr>
        <p:spPr>
          <a:xfrm>
            <a:off x="3884613" y="6514257"/>
            <a:ext cx="2971800" cy="344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6" name="Shape 3006"/>
        <p:cNvGrpSpPr/>
        <p:nvPr/>
      </p:nvGrpSpPr>
      <p:grpSpPr>
        <a:xfrm>
          <a:off x="0" y="0"/>
          <a:ext cx="0" cy="0"/>
          <a:chOff x="0" y="0"/>
          <a:chExt cx="0" cy="0"/>
        </a:xfrm>
      </p:grpSpPr>
      <p:sp>
        <p:nvSpPr>
          <p:cNvPr id="3007" name="Google Shape;3007;g3ec41b1eb9b_7_139:notes"/>
          <p:cNvSpPr/>
          <p:nvPr>
            <p:ph idx="2" type="sldImg"/>
          </p:nvPr>
        </p:nvSpPr>
        <p:spPr>
          <a:xfrm>
            <a:off x="685654" y="857296"/>
            <a:ext cx="5486700" cy="23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08" name="Google Shape;3008;g3ec41b1eb9b_7_139:notes"/>
          <p:cNvSpPr txBox="1"/>
          <p:nvPr>
            <p:ph idx="1" type="body"/>
          </p:nvPr>
        </p:nvSpPr>
        <p:spPr>
          <a:xfrm>
            <a:off x="685800" y="3300588"/>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Calibri"/>
                <a:ea typeface="Calibri"/>
                <a:cs typeface="Calibri"/>
                <a:sym typeface="Calibri"/>
              </a:rPr>
              <a:t>[SUSTAIN]</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[ASK THE ROOM] "How many of you have had to log into more than one system to process a single order?" Let hands go up. "MAIA doesn't add to that list — it sits on top of what you already have."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Talking point: MAIA is not just a chatbot, OCR tool, dashboard, or ERP replacement. It is a validation-first operational layer: it captures messy inputs, standardises them, checks business rules, routes exceptions, and keeps the document trail visible.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Channel point: WhatsApp is the primary training channel; Telegram is supported; Email and Microsoft Teams are add-ons; other chat platforms can be customised when justified. The channel is the doorway, not the whole product.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Pain solved: no rip-and-replace, less system-hunting, and less pressure to remember where every answer lives.</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[slide ref: SECTION 1 · S4 | SECTION 1  ·  S4]</a:t>
            </a:r>
            <a:endParaRPr/>
          </a:p>
        </p:txBody>
      </p:sp>
      <p:sp>
        <p:nvSpPr>
          <p:cNvPr id="3009" name="Google Shape;3009;g3ec41b1eb9b_7_139:notes"/>
          <p:cNvSpPr txBox="1"/>
          <p:nvPr>
            <p:ph idx="12" type="sldNum"/>
          </p:nvPr>
        </p:nvSpPr>
        <p:spPr>
          <a:xfrm>
            <a:off x="3884613" y="6514257"/>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7" name="Shape 3057"/>
        <p:cNvGrpSpPr/>
        <p:nvPr/>
      </p:nvGrpSpPr>
      <p:grpSpPr>
        <a:xfrm>
          <a:off x="0" y="0"/>
          <a:ext cx="0" cy="0"/>
          <a:chOff x="0" y="0"/>
          <a:chExt cx="0" cy="0"/>
        </a:xfrm>
      </p:grpSpPr>
      <p:sp>
        <p:nvSpPr>
          <p:cNvPr id="3058" name="Google Shape;3058;g3ec41b1eb9b_7_188:notes"/>
          <p:cNvSpPr/>
          <p:nvPr>
            <p:ph idx="2" type="sldImg"/>
          </p:nvPr>
        </p:nvSpPr>
        <p:spPr>
          <a:xfrm>
            <a:off x="685654" y="857296"/>
            <a:ext cx="5486700" cy="23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59" name="Google Shape;3059;g3ec41b1eb9b_7_188:notes"/>
          <p:cNvSpPr txBox="1"/>
          <p:nvPr>
            <p:ph idx="1" type="body"/>
          </p:nvPr>
        </p:nvSpPr>
        <p:spPr>
          <a:xfrm>
            <a:off x="685800" y="3300588"/>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Calibri"/>
                <a:ea typeface="Calibri"/>
                <a:cs typeface="Calibri"/>
                <a:sym typeface="Calibri"/>
              </a:rPr>
              <a:t>[SUSTAIN]</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Before MAIA: same order gets keyed twice — once in your system, again in a chat or spreadsheet so the sales team can track it.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Pain solved: MAIA lets the client keep the existing ERP or accounting system while adding a workflow, validation, and visibility layer. What's created or approved in MAIA can sync back where the connector and scope allow. Data can also be exported.</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Boundary to say plainly: MAIA does not automatically carry over every custom field or custom automation from an old system. Those are reviewed separately. Often the business need is already handled by MAIA's standard workflow; if not, it becomes a separately scoped custom requirement. (Full integration detail = Appendix A6.)</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[slide ref: SECTION 1 · S5]</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[slide ref: SECTION 1 · S5]</a:t>
            </a:r>
            <a:endParaRPr/>
          </a:p>
        </p:txBody>
      </p:sp>
      <p:sp>
        <p:nvSpPr>
          <p:cNvPr id="3060" name="Google Shape;3060;g3ec41b1eb9b_7_188:notes"/>
          <p:cNvSpPr txBox="1"/>
          <p:nvPr>
            <p:ph idx="12" type="sldNum"/>
          </p:nvPr>
        </p:nvSpPr>
        <p:spPr>
          <a:xfrm>
            <a:off x="3884613" y="6514257"/>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7" name="Shape 3107"/>
        <p:cNvGrpSpPr/>
        <p:nvPr/>
      </p:nvGrpSpPr>
      <p:grpSpPr>
        <a:xfrm>
          <a:off x="0" y="0"/>
          <a:ext cx="0" cy="0"/>
          <a:chOff x="0" y="0"/>
          <a:chExt cx="0" cy="0"/>
        </a:xfrm>
      </p:grpSpPr>
      <p:sp>
        <p:nvSpPr>
          <p:cNvPr id="3108" name="Google Shape;3108;g3ec41b1eb9b_7_236:notes"/>
          <p:cNvSpPr/>
          <p:nvPr>
            <p:ph idx="2" type="sldImg"/>
          </p:nvPr>
        </p:nvSpPr>
        <p:spPr>
          <a:xfrm>
            <a:off x="685654" y="857296"/>
            <a:ext cx="5486700" cy="23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09" name="Google Shape;3109;g3ec41b1eb9b_7_236:notes"/>
          <p:cNvSpPr txBox="1"/>
          <p:nvPr>
            <p:ph idx="1" type="body"/>
          </p:nvPr>
        </p:nvSpPr>
        <p:spPr>
          <a:xfrm>
            <a:off x="685800" y="3300588"/>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Calibri"/>
                <a:ea typeface="Calibri"/>
                <a:cs typeface="Calibri"/>
                <a:sym typeface="Calibri"/>
              </a:rPr>
              <a:t>[SUSTAIN]</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Before MAIA: customer knowledge lives in someone's head. You search by a code you have to remember. Notes are in someone's WhatsApp. Events are in someone's diary.</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Talking point: MAIA captures a larger set of fields — which also means you can search and query in plain language, not codes. All customer tasks, events, and notes are logged in one place.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 Pain solved: ① richer data; ② plain-language search (the customer's nickname, their area, what they usually buy — all work); ③ single source of truth instead of "ask Azman, he handles them."</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[slide ref: SECTION 1 · S6 | SECTION 1  ·  S6]</a:t>
            </a:r>
            <a:endParaRPr/>
          </a:p>
        </p:txBody>
      </p:sp>
      <p:sp>
        <p:nvSpPr>
          <p:cNvPr id="3110" name="Google Shape;3110;g3ec41b1eb9b_7_236:notes"/>
          <p:cNvSpPr txBox="1"/>
          <p:nvPr>
            <p:ph idx="12" type="sldNum"/>
          </p:nvPr>
        </p:nvSpPr>
        <p:spPr>
          <a:xfrm>
            <a:off x="3884613" y="6514257"/>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9" name="Shape 3159"/>
        <p:cNvGrpSpPr/>
        <p:nvPr/>
      </p:nvGrpSpPr>
      <p:grpSpPr>
        <a:xfrm>
          <a:off x="0" y="0"/>
          <a:ext cx="0" cy="0"/>
          <a:chOff x="0" y="0"/>
          <a:chExt cx="0" cy="0"/>
        </a:xfrm>
      </p:grpSpPr>
      <p:sp>
        <p:nvSpPr>
          <p:cNvPr id="3160" name="Google Shape;3160;g3ec41b1eb9b_7_471:notes"/>
          <p:cNvSpPr/>
          <p:nvPr>
            <p:ph idx="2" type="sldImg"/>
          </p:nvPr>
        </p:nvSpPr>
        <p:spPr>
          <a:xfrm>
            <a:off x="685654" y="857296"/>
            <a:ext cx="5486700" cy="23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61" name="Google Shape;3161;g3ec41b1eb9b_7_471:notes"/>
          <p:cNvSpPr txBox="1"/>
          <p:nvPr>
            <p:ph idx="1" type="body"/>
          </p:nvPr>
        </p:nvSpPr>
        <p:spPr>
          <a:xfrm>
            <a:off x="685800" y="3300588"/>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Calibri"/>
                <a:ea typeface="Calibri"/>
                <a:cs typeface="Calibri"/>
                <a:sym typeface="Calibri"/>
              </a:rPr>
              <a:t>[slide ref: SECTION 1 · S11a | SECTION 1  ·  S11a]</a:t>
            </a:r>
            <a:endParaRPr/>
          </a:p>
        </p:txBody>
      </p:sp>
      <p:sp>
        <p:nvSpPr>
          <p:cNvPr id="3162" name="Google Shape;3162;g3ec41b1eb9b_7_471:notes"/>
          <p:cNvSpPr txBox="1"/>
          <p:nvPr>
            <p:ph idx="12" type="sldNum"/>
          </p:nvPr>
        </p:nvSpPr>
        <p:spPr>
          <a:xfrm>
            <a:off x="3884613" y="6514257"/>
            <a:ext cx="2971800" cy="344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6" name="Shape 3206"/>
        <p:cNvGrpSpPr/>
        <p:nvPr/>
      </p:nvGrpSpPr>
      <p:grpSpPr>
        <a:xfrm>
          <a:off x="0" y="0"/>
          <a:ext cx="0" cy="0"/>
          <a:chOff x="0" y="0"/>
          <a:chExt cx="0" cy="0"/>
        </a:xfrm>
      </p:grpSpPr>
      <p:sp>
        <p:nvSpPr>
          <p:cNvPr id="3207" name="Google Shape;3207;g3ec41b1eb9b_7_517:notes"/>
          <p:cNvSpPr/>
          <p:nvPr>
            <p:ph idx="2" type="sldImg"/>
          </p:nvPr>
        </p:nvSpPr>
        <p:spPr>
          <a:xfrm>
            <a:off x="685654" y="857296"/>
            <a:ext cx="5486700" cy="23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08" name="Google Shape;3208;g3ec41b1eb9b_7_517:notes"/>
          <p:cNvSpPr txBox="1"/>
          <p:nvPr>
            <p:ph idx="1" type="body"/>
          </p:nvPr>
        </p:nvSpPr>
        <p:spPr>
          <a:xfrm>
            <a:off x="685800" y="3300588"/>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Calibri"/>
                <a:ea typeface="Calibri"/>
                <a:cs typeface="Calibri"/>
                <a:sym typeface="Calibri"/>
              </a:rPr>
              <a:t>[slide ref: SECTION 1 · S11b | SECTION 1  ·  S11b]</a:t>
            </a:r>
            <a:endParaRPr/>
          </a:p>
        </p:txBody>
      </p:sp>
      <p:sp>
        <p:nvSpPr>
          <p:cNvPr id="3209" name="Google Shape;3209;g3ec41b1eb9b_7_517:notes"/>
          <p:cNvSpPr txBox="1"/>
          <p:nvPr>
            <p:ph idx="12" type="sldNum"/>
          </p:nvPr>
        </p:nvSpPr>
        <p:spPr>
          <a:xfrm>
            <a:off x="3884613" y="6514257"/>
            <a:ext cx="2971800" cy="344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9" name="Shape 3259"/>
        <p:cNvGrpSpPr/>
        <p:nvPr/>
      </p:nvGrpSpPr>
      <p:grpSpPr>
        <a:xfrm>
          <a:off x="0" y="0"/>
          <a:ext cx="0" cy="0"/>
          <a:chOff x="0" y="0"/>
          <a:chExt cx="0" cy="0"/>
        </a:xfrm>
      </p:grpSpPr>
      <p:sp>
        <p:nvSpPr>
          <p:cNvPr id="3260" name="Google Shape;3260;g3ec41b1eb9b_7_617:notes"/>
          <p:cNvSpPr/>
          <p:nvPr>
            <p:ph idx="2" type="sldImg"/>
          </p:nvPr>
        </p:nvSpPr>
        <p:spPr>
          <a:xfrm>
            <a:off x="685654" y="857296"/>
            <a:ext cx="5486700" cy="23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61" name="Google Shape;3261;g3ec41b1eb9b_7_617:notes"/>
          <p:cNvSpPr txBox="1"/>
          <p:nvPr>
            <p:ph idx="1" type="body"/>
          </p:nvPr>
        </p:nvSpPr>
        <p:spPr>
          <a:xfrm>
            <a:off x="685800" y="3300588"/>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Calibri"/>
                <a:ea typeface="Calibri"/>
                <a:cs typeface="Calibri"/>
                <a:sym typeface="Calibri"/>
              </a:rPr>
              <a:t>[SUSTAIN] "This is the spine you will run in the game today — all the way from a customer's PO landing in your hands to marking it delivered. The invoicing and payment tail comes after; it's not part of today." Let them look at it for a few seconds — this is the map they'll need.</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[slide ref: SECTION 1 · S13 | SECTION 1  ·  S13]</a:t>
            </a:r>
            <a:endParaRPr/>
          </a:p>
        </p:txBody>
      </p:sp>
      <p:sp>
        <p:nvSpPr>
          <p:cNvPr id="3262" name="Google Shape;3262;g3ec41b1eb9b_7_617:notes"/>
          <p:cNvSpPr txBox="1"/>
          <p:nvPr>
            <p:ph idx="12" type="sldNum"/>
          </p:nvPr>
        </p:nvSpPr>
        <p:spPr>
          <a:xfrm>
            <a:off x="3884613" y="6514257"/>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7" name="Shape 3307"/>
        <p:cNvGrpSpPr/>
        <p:nvPr/>
      </p:nvGrpSpPr>
      <p:grpSpPr>
        <a:xfrm>
          <a:off x="0" y="0"/>
          <a:ext cx="0" cy="0"/>
          <a:chOff x="0" y="0"/>
          <a:chExt cx="0" cy="0"/>
        </a:xfrm>
      </p:grpSpPr>
      <p:sp>
        <p:nvSpPr>
          <p:cNvPr id="3308" name="Google Shape;3308;g3ec41b1eb9b_7_882:notes"/>
          <p:cNvSpPr/>
          <p:nvPr>
            <p:ph idx="2" type="sldImg"/>
          </p:nvPr>
        </p:nvSpPr>
        <p:spPr>
          <a:xfrm>
            <a:off x="685654" y="857296"/>
            <a:ext cx="5486700" cy="23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09" name="Google Shape;3309;g3ec41b1eb9b_7_882:notes"/>
          <p:cNvSpPr txBox="1"/>
          <p:nvPr>
            <p:ph idx="1" type="body"/>
          </p:nvPr>
        </p:nvSpPr>
        <p:spPr>
          <a:xfrm>
            <a:off x="685800" y="3300588"/>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Calibri"/>
                <a:ea typeface="Calibri"/>
                <a:cs typeface="Calibri"/>
                <a:sym typeface="Calibri"/>
              </a:rPr>
              <a:t>[SUSTAIN] 30 seconds max. "Hotel Permai. Big order." [ASK THE ROOM] "Will this go through?" Don't answer. Play the video.</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[slide ref: SECTION 2  ·  S18a]</a:t>
            </a:r>
            <a:endParaRPr/>
          </a:p>
        </p:txBody>
      </p:sp>
      <p:sp>
        <p:nvSpPr>
          <p:cNvPr id="3310" name="Google Shape;3310;g3ec41b1eb9b_7_882:notes"/>
          <p:cNvSpPr txBox="1"/>
          <p:nvPr>
            <p:ph idx="12" type="sldNum"/>
          </p:nvPr>
        </p:nvSpPr>
        <p:spPr>
          <a:xfrm>
            <a:off x="3884613" y="6514257"/>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4" name="Shape 3324"/>
        <p:cNvGrpSpPr/>
        <p:nvPr/>
      </p:nvGrpSpPr>
      <p:grpSpPr>
        <a:xfrm>
          <a:off x="0" y="0"/>
          <a:ext cx="0" cy="0"/>
          <a:chOff x="0" y="0"/>
          <a:chExt cx="0" cy="0"/>
        </a:xfrm>
      </p:grpSpPr>
      <p:sp>
        <p:nvSpPr>
          <p:cNvPr id="3325" name="Google Shape;3325;g3ec41b1eb9b_7_834:notes"/>
          <p:cNvSpPr/>
          <p:nvPr>
            <p:ph idx="2" type="sldImg"/>
          </p:nvPr>
        </p:nvSpPr>
        <p:spPr>
          <a:xfrm>
            <a:off x="685654" y="857296"/>
            <a:ext cx="5486700" cy="23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26" name="Google Shape;3326;g3ec41b1eb9b_7_834:notes"/>
          <p:cNvSpPr txBox="1"/>
          <p:nvPr>
            <p:ph idx="1" type="body"/>
          </p:nvPr>
        </p:nvSpPr>
        <p:spPr>
          <a:xfrm>
            <a:off x="685800" y="3300588"/>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Calibri"/>
                <a:ea typeface="Calibri"/>
                <a:cs typeface="Calibri"/>
                <a:sym typeface="Calibri"/>
              </a:rPr>
              <a:t>▶ VIDEO SLIDE — this slide is replaced by a screen recording the conductor narrates live (MAIA WhatsApp interface, Warung Pak Din PO).</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[PLACEHOLDER: record and embed/link the video for this segment before the live session.]</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VIDEO CONTENT (record in this order):</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1. A messy photo PO dropped into the WhatsApp chat. MAIA begins extraction. Show the bulk-upload variant briefly (several PDFs queued — one doc = one CPO).</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2. MAIA identifies the customer automatically — no typing required.</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3. MAIA maps items — the customer uses their own labels/codes, not ours. Leave one low-confidence line deliberately unresolved on screen. Let the amber warning flag sit there.</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4. User overrides the low-confidence line — picks the correct item. A small caption fades in: "MAIA learns this mapping for next time."</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5. MAIA maps the UOM: customer's carton = 20 units; ours = 10. Conversion shown. User confirms. Another learning caption.</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6. MAIA pulls remarks, payment terms, T&amp;Cs, PO due date into the correct fields — no retyping.</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7. Clean draft Sales Order appears.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LIVE NARRATION CUE: Pause before extraction fires. [ASK] "What do you think MAIA's about to do with this photo?" Reveal. Walk each beat as it happens. Pause on the low-confidence line. [ASK] "Would you have caught that mismatch if you were doing this by hand?" Reveal the override + learn. Land it: "Every time you fix a mismatch, MAIA remembers. By week two, it maps your most common customers automatically."</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[slide ref: SECTION 2  ·  S17]</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[conductor cue] [ASK] “What do you think MAIA's about to do with this photo?” Walk each beat; pause on the low-confidence line — “Would you have caught that by hand?” Land it: by week two, MAIA maps your most common customers automatically.</a:t>
            </a:r>
            <a:endParaRPr/>
          </a:p>
        </p:txBody>
      </p:sp>
      <p:sp>
        <p:nvSpPr>
          <p:cNvPr id="3327" name="Google Shape;3327;g3ec41b1eb9b_7_834:notes"/>
          <p:cNvSpPr txBox="1"/>
          <p:nvPr>
            <p:ph idx="12" type="sldNum"/>
          </p:nvPr>
        </p:nvSpPr>
        <p:spPr>
          <a:xfrm>
            <a:off x="3884613" y="6514257"/>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2" name="Shape 3372"/>
        <p:cNvGrpSpPr/>
        <p:nvPr/>
      </p:nvGrpSpPr>
      <p:grpSpPr>
        <a:xfrm>
          <a:off x="0" y="0"/>
          <a:ext cx="0" cy="0"/>
          <a:chOff x="0" y="0"/>
          <a:chExt cx="0" cy="0"/>
        </a:xfrm>
      </p:grpSpPr>
      <p:sp>
        <p:nvSpPr>
          <p:cNvPr id="3373" name="Google Shape;3373;g3ec41b1eb9b_7_897:notes"/>
          <p:cNvSpPr/>
          <p:nvPr>
            <p:ph idx="2" type="sldImg"/>
          </p:nvPr>
        </p:nvSpPr>
        <p:spPr>
          <a:xfrm>
            <a:off x="685654" y="857296"/>
            <a:ext cx="5486700" cy="23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74" name="Google Shape;3374;g3ec41b1eb9b_7_897:notes"/>
          <p:cNvSpPr txBox="1"/>
          <p:nvPr>
            <p:ph idx="1" type="body"/>
          </p:nvPr>
        </p:nvSpPr>
        <p:spPr>
          <a:xfrm>
            <a:off x="685800" y="3300588"/>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Calibri"/>
                <a:ea typeface="Calibri"/>
                <a:cs typeface="Calibri"/>
                <a:sym typeface="Calibri"/>
              </a:rPr>
              <a:t>▶ VIDEO SLIDE — this slide is replaced by a screen recording the conductor narrates live (order being built for Hotel Permai).</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[PLACEHOLDER: record and embed/link the video for this segment before the live session.]</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VIDEO CONTENT:</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1. Sales user starts building the order. The amber credit pill animates in at the confirmation step — visible, unmissable.</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2. Order is blocked. The breakdown expands: billed-unpaid (RM62k), unbilled SO (RM15k), limit (RM80k). New RM20k order tips over.</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3. Sales user routes to Credit Controller. Controller sees the full picture, makes the judgment call, overrides with a note.</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4. Order proceeds. Keep numbers large and legible throughout.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LIVE NARRATION CUE: Pause as the amber pill appears. [ASK] "Will this order go through?" Let the room guess. Reveal the block. Walk the breakdown. [ASK] "As the controller — would you override this one?" Discuss briefly (no right answer). Show the override. Land it: "That 10-minute call to finance? It's this screen. Right here. At the moment you need it."</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[slide ref: SECTION 2  ·  S18]</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[conductor cue] [ASK] “Will this order go through?” Let the room guess, reveal the block, walk the breakdown. [ASK] “As the controller — would you override this one?” Land it: that 10-minute call to finance? It's this screen, right here.</a:t>
            </a:r>
            <a:endParaRPr/>
          </a:p>
        </p:txBody>
      </p:sp>
      <p:sp>
        <p:nvSpPr>
          <p:cNvPr id="3375" name="Google Shape;3375;g3ec41b1eb9b_7_897:notes"/>
          <p:cNvSpPr txBox="1"/>
          <p:nvPr>
            <p:ph idx="12" type="sldNum"/>
          </p:nvPr>
        </p:nvSpPr>
        <p:spPr>
          <a:xfrm>
            <a:off x="3884613" y="6514257"/>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2" name="Shape 3422"/>
        <p:cNvGrpSpPr/>
        <p:nvPr/>
      </p:nvGrpSpPr>
      <p:grpSpPr>
        <a:xfrm>
          <a:off x="0" y="0"/>
          <a:ext cx="0" cy="0"/>
          <a:chOff x="0" y="0"/>
          <a:chExt cx="0" cy="0"/>
        </a:xfrm>
      </p:grpSpPr>
      <p:sp>
        <p:nvSpPr>
          <p:cNvPr id="3423" name="Google Shape;3423;g3ec41b1eb9b_7_973:notes"/>
          <p:cNvSpPr/>
          <p:nvPr>
            <p:ph idx="2" type="sldImg"/>
          </p:nvPr>
        </p:nvSpPr>
        <p:spPr>
          <a:xfrm>
            <a:off x="685654" y="857296"/>
            <a:ext cx="5486700" cy="23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24" name="Google Shape;3424;g3ec41b1eb9b_7_973:notes"/>
          <p:cNvSpPr txBox="1"/>
          <p:nvPr>
            <p:ph idx="1" type="body"/>
          </p:nvPr>
        </p:nvSpPr>
        <p:spPr>
          <a:xfrm>
            <a:off x="685800" y="3300588"/>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Calibri"/>
                <a:ea typeface="Calibri"/>
                <a:cs typeface="Calibri"/>
                <a:sym typeface="Calibri"/>
              </a:rPr>
              <a:t>▶ VIDEO SLIDE — this slide is replaced by a screen recording the conductor narrates live (SO through to DN).</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[PLACEHOLDER: record and embed/link the video for this segment before the live session.]</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VIDEO CONTENT:</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1. SO confirmed — a "Stock reserved ✓" toast appears immediately.</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2. Pick List generated. Logistics user sees it on their phone.</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3. Delivery Note created. Status trail visible on the SO.</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LIVE NARRATION CUE: Brisk — this is the backbone, no pausing. "This is the spine you'll run in the game. SO confirmed → stock locked → picked → out the door. Watch how stock reservation kicks in the moment the SO is confirmed — no one else can sell those units."</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[slide ref: SECTION 2  ·  S19]</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[conductor cue] Brisk — this is the commercial backbone. “SO confirmed → stock locked → delivered → invoiced.” Point out that the Sales Invoice is what turns a delivery into money owed.</a:t>
            </a:r>
            <a:endParaRPr/>
          </a:p>
        </p:txBody>
      </p:sp>
      <p:sp>
        <p:nvSpPr>
          <p:cNvPr id="3425" name="Google Shape;3425;g3ec41b1eb9b_7_973:notes"/>
          <p:cNvSpPr txBox="1"/>
          <p:nvPr>
            <p:ph idx="12" type="sldNum"/>
          </p:nvPr>
        </p:nvSpPr>
        <p:spPr>
          <a:xfrm>
            <a:off x="3884613" y="6514257"/>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6" name="Shape 3476"/>
        <p:cNvGrpSpPr/>
        <p:nvPr/>
      </p:nvGrpSpPr>
      <p:grpSpPr>
        <a:xfrm>
          <a:off x="0" y="0"/>
          <a:ext cx="0" cy="0"/>
          <a:chOff x="0" y="0"/>
          <a:chExt cx="0" cy="0"/>
        </a:xfrm>
      </p:grpSpPr>
      <p:sp>
        <p:nvSpPr>
          <p:cNvPr id="3477" name="Google Shape;3477;g3ec41b1eb9b_7_1640:notes"/>
          <p:cNvSpPr/>
          <p:nvPr>
            <p:ph idx="2" type="sldImg"/>
          </p:nvPr>
        </p:nvSpPr>
        <p:spPr>
          <a:xfrm>
            <a:off x="685654" y="857296"/>
            <a:ext cx="5486700" cy="23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78" name="Google Shape;3478;g3ec41b1eb9b_7_1640:notes"/>
          <p:cNvSpPr txBox="1"/>
          <p:nvPr>
            <p:ph idx="1" type="body"/>
          </p:nvPr>
        </p:nvSpPr>
        <p:spPr>
          <a:xfrm>
            <a:off x="685800" y="3300588"/>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Calibri"/>
                <a:ea typeface="Calibri"/>
                <a:cs typeface="Calibri"/>
                <a:sym typeface="Calibri"/>
              </a:rPr>
              <a:t>[SPIKE] Show this at the 26-minute mark. Call out the leaderboard: "Team [X] is leading with [N] points. Teams [Y] and [Z] are right behind them." Push the pace: "You have 26 minutes. M5 and M6 have the credit handoff — that's where the points separate. Go." Dismiss the slide in 30 seconds and get back to circulating.</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[PLACEHOLDER: update team names and live point totals on this slide during the session.]</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[slide ref: GAME  ·  S31]</a:t>
            </a:r>
            <a:endParaRPr/>
          </a:p>
        </p:txBody>
      </p:sp>
      <p:sp>
        <p:nvSpPr>
          <p:cNvPr id="3479" name="Google Shape;3479;g3ec41b1eb9b_7_1640:notes"/>
          <p:cNvSpPr txBox="1"/>
          <p:nvPr>
            <p:ph idx="12" type="sldNum"/>
          </p:nvPr>
        </p:nvSpPr>
        <p:spPr>
          <a:xfrm>
            <a:off x="3884613" y="6514257"/>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1" name="Shape 3501"/>
        <p:cNvGrpSpPr/>
        <p:nvPr/>
      </p:nvGrpSpPr>
      <p:grpSpPr>
        <a:xfrm>
          <a:off x="0" y="0"/>
          <a:ext cx="0" cy="0"/>
          <a:chOff x="0" y="0"/>
          <a:chExt cx="0" cy="0"/>
        </a:xfrm>
      </p:grpSpPr>
      <p:sp>
        <p:nvSpPr>
          <p:cNvPr id="3502" name="Google Shape;3502;g3ec41b1eb9b_7_1666:notes"/>
          <p:cNvSpPr/>
          <p:nvPr>
            <p:ph idx="2" type="sldImg"/>
          </p:nvPr>
        </p:nvSpPr>
        <p:spPr>
          <a:xfrm>
            <a:off x="685654" y="857296"/>
            <a:ext cx="5486700" cy="23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03" name="Google Shape;3503;g3ec41b1eb9b_7_1666:notes"/>
          <p:cNvSpPr txBox="1"/>
          <p:nvPr>
            <p:ph idx="1" type="body"/>
          </p:nvPr>
        </p:nvSpPr>
        <p:spPr>
          <a:xfrm>
            <a:off x="685800" y="3300588"/>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Calibri"/>
                <a:ea typeface="Calibri"/>
                <a:cs typeface="Calibri"/>
                <a:sym typeface="Calibri"/>
              </a:rPr>
              <a:t>[FOCUS] Pull up one QC-passed document and one QC-failed document on screen (real ones from the session). Walk the room through both. Use these specific talking points for the three most likely failures: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Most likely — UOM mismatch not caught (M3, Lim Heng): "You shipped 24 bottles. They ordered 10 cartons by their definition — which is 240 bottles. That's a short delivery. MAIA flagged the mismatch — the amber UOM warning was right there. What happened?" Don't moralize. Let them explain. Land it: "That's a return delivery and a credit note that costs more than the order was worth."</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Second most likely — Credit block processed without escalation (M5, Kafe Santai): "Kafe Santai has RM6,200 overdue for 45 days. You confirmed the order anyway — the red pill was visible the whole time. What was the thinking?" Let them explain. Land it: "You've just extended credit to someone who hasn't paid you. The controller override exists for judgment calls — route it, don't ignore it."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Third — Wrong price on a contract customer (M4, Selera Catering): "Selera has a negotiated rate on cooking oil — it's set in Customer Item Price. Did MAIA auto-apply it? Did you check? If you quoted standard rate, you either under-billed and lost margin, or over-billed and created a dispute." Land it: "MAIA applies it automatically. The trap is confirming without glancing at the price line."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Close the debrief: "These three — UOM, credit, and pricing — are where real money moves in real orders. That's why they're in the game."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[PLACEHOLDER: pull real SO documents from this session's instance to display on screen instead of the illustrative examples shown here.]</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[slide ref: GAME · S32  —  DEBRIEF | GAME  ·  S32]</a:t>
            </a:r>
            <a:endParaRPr/>
          </a:p>
        </p:txBody>
      </p:sp>
      <p:sp>
        <p:nvSpPr>
          <p:cNvPr id="3504" name="Google Shape;3504;g3ec41b1eb9b_7_1666:notes"/>
          <p:cNvSpPr txBox="1"/>
          <p:nvPr>
            <p:ph idx="12" type="sldNum"/>
          </p:nvPr>
        </p:nvSpPr>
        <p:spPr>
          <a:xfrm>
            <a:off x="3884613" y="6514257"/>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3" name="Shape 3543"/>
        <p:cNvGrpSpPr/>
        <p:nvPr/>
      </p:nvGrpSpPr>
      <p:grpSpPr>
        <a:xfrm>
          <a:off x="0" y="0"/>
          <a:ext cx="0" cy="0"/>
          <a:chOff x="0" y="0"/>
          <a:chExt cx="0" cy="0"/>
        </a:xfrm>
      </p:grpSpPr>
      <p:sp>
        <p:nvSpPr>
          <p:cNvPr id="3544" name="Google Shape;3544;g3ec41b1eb9b_7_760:notes"/>
          <p:cNvSpPr txBox="1"/>
          <p:nvPr>
            <p:ph idx="1" type="body"/>
          </p:nvPr>
        </p:nvSpPr>
        <p:spPr>
          <a:xfrm>
            <a:off x="685800" y="3300588"/>
            <a:ext cx="5486400" cy="2700481"/>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45" name="Google Shape;3545;g3ec41b1eb9b_7_760:notes"/>
          <p:cNvSpPr/>
          <p:nvPr>
            <p:ph idx="2" type="sldImg"/>
          </p:nvPr>
        </p:nvSpPr>
        <p:spPr>
          <a:xfrm>
            <a:off x="685654" y="857296"/>
            <a:ext cx="5486693" cy="231469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3" name="Shape 3553"/>
        <p:cNvGrpSpPr/>
        <p:nvPr/>
      </p:nvGrpSpPr>
      <p:grpSpPr>
        <a:xfrm>
          <a:off x="0" y="0"/>
          <a:ext cx="0" cy="0"/>
          <a:chOff x="0" y="0"/>
          <a:chExt cx="0" cy="0"/>
        </a:xfrm>
      </p:grpSpPr>
      <p:sp>
        <p:nvSpPr>
          <p:cNvPr id="3554" name="Google Shape;3554;g3f1292e4412_0_1635:notes"/>
          <p:cNvSpPr/>
          <p:nvPr>
            <p:ph idx="2" type="sldImg"/>
          </p:nvPr>
        </p:nvSpPr>
        <p:spPr>
          <a:xfrm>
            <a:off x="685654" y="857296"/>
            <a:ext cx="5486700" cy="23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55" name="Google Shape;3555;g3f1292e4412_0_1635:notes"/>
          <p:cNvSpPr txBox="1"/>
          <p:nvPr>
            <p:ph idx="1" type="body"/>
          </p:nvPr>
        </p:nvSpPr>
        <p:spPr>
          <a:xfrm>
            <a:off x="685800" y="3300588"/>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Calibri"/>
                <a:ea typeface="Calibri"/>
                <a:cs typeface="Calibri"/>
                <a:sym typeface="Calibri"/>
              </a:rPr>
              <a:t>[SPIKE → SUSTAIN] Read the teams. "Find your table. You are your role for the next 52 minutes. Sales submits. Controller approves. Logistics picks and delivers. Driver marks done." Pause. "The handoff is the game. Don't do your teammate's job — hand it to them."</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Instance naming convention: All teams work in the same MAIA Training Sdn Bhd instance. To help the facilitator QC without confusion, each team uses a team prefix in the customer reference/notes field: Team A types "A" · Team B types "B" etc. when confirming the SO. The system-generated SO ID is unique regardless, but the prefix helps the facilitator quickly filter documents during QC. Brief each team on this now.</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[PLACEHOLDER: fill in real names and role assignments in the roster table before the session — see Session Prep.]</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[slide ref: GAME · S24 | GAME  ·  S24]</a:t>
            </a:r>
            <a:endParaRPr/>
          </a:p>
        </p:txBody>
      </p:sp>
      <p:sp>
        <p:nvSpPr>
          <p:cNvPr id="3556" name="Google Shape;3556;g3f1292e4412_0_1635:notes"/>
          <p:cNvSpPr txBox="1"/>
          <p:nvPr>
            <p:ph idx="12" type="sldNum"/>
          </p:nvPr>
        </p:nvSpPr>
        <p:spPr>
          <a:xfrm>
            <a:off x="3884613" y="6514257"/>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7" name="Shape 3617"/>
        <p:cNvGrpSpPr/>
        <p:nvPr/>
      </p:nvGrpSpPr>
      <p:grpSpPr>
        <a:xfrm>
          <a:off x="0" y="0"/>
          <a:ext cx="0" cy="0"/>
          <a:chOff x="0" y="0"/>
          <a:chExt cx="0" cy="0"/>
        </a:xfrm>
      </p:grpSpPr>
      <p:sp>
        <p:nvSpPr>
          <p:cNvPr id="3618" name="Google Shape;3618;g3f1292e4412_0_1758:notes"/>
          <p:cNvSpPr/>
          <p:nvPr>
            <p:ph idx="2" type="sldImg"/>
          </p:nvPr>
        </p:nvSpPr>
        <p:spPr>
          <a:xfrm>
            <a:off x="685654" y="857296"/>
            <a:ext cx="5486700" cy="23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19" name="Google Shape;3619;g3f1292e4412_0_1758:notes"/>
          <p:cNvSpPr txBox="1"/>
          <p:nvPr>
            <p:ph idx="1" type="body"/>
          </p:nvPr>
        </p:nvSpPr>
        <p:spPr>
          <a:xfrm>
            <a:off x="685800" y="3300588"/>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Calibri"/>
                <a:ea typeface="Calibri"/>
                <a:cs typeface="Calibri"/>
                <a:sym typeface="Calibri"/>
              </a:rPr>
              <a:t>[SUSTAIN] Walk this once with a worked example: "Team A picks up Mission 1 — Restoran Maju. Uploads the CPO. Sales creates the SO. Logistics picks and delivers. Driver marks delivered. You write SO-2026-XXXXX and DN-2026-XXXXX on the board. We QC it. You score 1. That's it."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M7 exception: The Brew Lab ends at a Quotation — record the QT ID, not an SO.</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M8 exception: Grand Ballroom ends at SWO complete — record the SO + SWO ID.</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[slide ref: GAME · S25 | GAME  ·  S25]</a:t>
            </a:r>
            <a:endParaRPr/>
          </a:p>
        </p:txBody>
      </p:sp>
      <p:sp>
        <p:nvSpPr>
          <p:cNvPr id="3620" name="Google Shape;3620;g3f1292e4412_0_1758:notes"/>
          <p:cNvSpPr txBox="1"/>
          <p:nvPr>
            <p:ph idx="12" type="sldNum"/>
          </p:nvPr>
        </p:nvSpPr>
        <p:spPr>
          <a:xfrm>
            <a:off x="3884613" y="6514257"/>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0" name="Shape 3670"/>
        <p:cNvGrpSpPr/>
        <p:nvPr/>
      </p:nvGrpSpPr>
      <p:grpSpPr>
        <a:xfrm>
          <a:off x="0" y="0"/>
          <a:ext cx="0" cy="0"/>
          <a:chOff x="0" y="0"/>
          <a:chExt cx="0" cy="0"/>
        </a:xfrm>
      </p:grpSpPr>
      <p:sp>
        <p:nvSpPr>
          <p:cNvPr id="3671" name="Google Shape;3671;g3ec41b1eb9b_7_1474:notes"/>
          <p:cNvSpPr/>
          <p:nvPr>
            <p:ph idx="2" type="sldImg"/>
          </p:nvPr>
        </p:nvSpPr>
        <p:spPr>
          <a:xfrm>
            <a:off x="685654" y="857296"/>
            <a:ext cx="5486693" cy="231469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72" name="Google Shape;3672;g3ec41b1eb9b_7_1474:notes"/>
          <p:cNvSpPr txBox="1"/>
          <p:nvPr>
            <p:ph idx="1" type="body"/>
          </p:nvPr>
        </p:nvSpPr>
        <p:spPr>
          <a:xfrm>
            <a:off x="685800" y="3300588"/>
            <a:ext cx="5486400" cy="2700481"/>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Calibri"/>
                <a:ea typeface="Calibri"/>
                <a:cs typeface="Calibri"/>
                <a:sym typeface="Calibri"/>
              </a:rPr>
              <a:t>[SUSTAIN] "The facilitators will QC every document you log — right items, right price, credit handled correctly, correct delivery. A document that passes QC scores 1. A bonus for catching the trap inside the mission. Speed only breaks a tie." Let it land. "Go fast. But go right."</a:t>
            </a:r>
            <a:endParaRPr/>
          </a:p>
          <a:p>
            <a:pPr indent="0" lvl="0" marL="0" rtl="0" algn="l">
              <a:spcBef>
                <a:spcPts val="0"/>
              </a:spcBef>
              <a:spcAft>
                <a:spcPts val="0"/>
              </a:spcAft>
              <a:buNone/>
            </a:pPr>
            <a:r>
              <a:rPr lang="en-GB" sz="1200">
                <a:solidFill>
                  <a:schemeClr val="dk1"/>
                </a:solidFill>
                <a:latin typeface="Calibri"/>
                <a:ea typeface="Calibri"/>
                <a:cs typeface="Calibri"/>
                <a:sym typeface="Calibri"/>
              </a:rPr>
              <a:t>[slide ref: GAME · S26 | GAME  ·  S26]</a:t>
            </a:r>
            <a:endParaRPr/>
          </a:p>
        </p:txBody>
      </p:sp>
      <p:sp>
        <p:nvSpPr>
          <p:cNvPr id="3673" name="Google Shape;3673;g3ec41b1eb9b_7_1474:notes"/>
          <p:cNvSpPr txBox="1"/>
          <p:nvPr>
            <p:ph idx="12" type="sldNum"/>
          </p:nvPr>
        </p:nvSpPr>
        <p:spPr>
          <a:xfrm>
            <a:off x="3884613" y="6514257"/>
            <a:ext cx="2971800" cy="34410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2" name="Shape 52"/>
        <p:cNvGrpSpPr/>
        <p:nvPr/>
      </p:nvGrpSpPr>
      <p:grpSpPr>
        <a:xfrm>
          <a:off x="0" y="0"/>
          <a:ext cx="0" cy="0"/>
          <a:chOff x="0" y="0"/>
          <a:chExt cx="0" cy="0"/>
        </a:xfrm>
      </p:grpSpPr>
      <p:sp>
        <p:nvSpPr>
          <p:cNvPr id="53" name="Google Shape;53;p14"/>
          <p:cNvSpPr txBox="1"/>
          <p:nvPr>
            <p:ph idx="12" type="sldNum"/>
          </p:nvPr>
        </p:nvSpPr>
        <p:spPr>
          <a:xfrm>
            <a:off x="8347216" y="4750189"/>
            <a:ext cx="548700" cy="393600"/>
          </a:xfrm>
          <a:prstGeom prst="rect">
            <a:avLst/>
          </a:prstGeom>
        </p:spPr>
        <p:txBody>
          <a:bodyPr anchorCtr="0" anchor="t" bIns="91425" lIns="91425" spcFirstLastPara="1" rIns="91425" wrap="square" tIns="91425">
            <a:noAutofit/>
          </a:bodyPr>
          <a:lstStyle>
            <a:lvl1pPr lvl="0">
              <a:buNone/>
              <a:defRPr sz="700">
                <a:solidFill>
                  <a:srgbClr val="92A6BE"/>
                </a:solidFill>
              </a:defRPr>
            </a:lvl1pPr>
            <a:lvl2pPr lvl="1">
              <a:buNone/>
              <a:defRPr sz="700">
                <a:solidFill>
                  <a:srgbClr val="92A6BE"/>
                </a:solidFill>
              </a:defRPr>
            </a:lvl2pPr>
            <a:lvl3pPr lvl="2">
              <a:buNone/>
              <a:defRPr sz="700">
                <a:solidFill>
                  <a:srgbClr val="92A6BE"/>
                </a:solidFill>
              </a:defRPr>
            </a:lvl3pPr>
            <a:lvl4pPr lvl="3">
              <a:buNone/>
              <a:defRPr sz="700">
                <a:solidFill>
                  <a:srgbClr val="92A6BE"/>
                </a:solidFill>
              </a:defRPr>
            </a:lvl4pPr>
            <a:lvl5pPr lvl="4">
              <a:buNone/>
              <a:defRPr sz="700">
                <a:solidFill>
                  <a:srgbClr val="92A6BE"/>
                </a:solidFill>
              </a:defRPr>
            </a:lvl5pPr>
            <a:lvl6pPr lvl="5">
              <a:buNone/>
              <a:defRPr sz="700">
                <a:solidFill>
                  <a:srgbClr val="92A6BE"/>
                </a:solidFill>
              </a:defRPr>
            </a:lvl6pPr>
            <a:lvl7pPr lvl="6">
              <a:buNone/>
              <a:defRPr sz="700">
                <a:solidFill>
                  <a:srgbClr val="92A6BE"/>
                </a:solidFill>
              </a:defRPr>
            </a:lvl7pPr>
            <a:lvl8pPr lvl="7">
              <a:buNone/>
              <a:defRPr sz="700">
                <a:solidFill>
                  <a:srgbClr val="92A6BE"/>
                </a:solidFill>
              </a:defRPr>
            </a:lvl8pPr>
            <a:lvl9pPr lvl="8">
              <a:buNone/>
              <a:defRPr sz="700">
                <a:solidFill>
                  <a:srgbClr val="92A6BE"/>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lgn="r">
              <a:buNone/>
              <a:defRPr sz="1300">
                <a:solidFill>
                  <a:schemeClr val="tx1"/>
                </a:solidFill>
              </a:defRPr>
            </a:lvl1pPr>
            <a:lvl2pPr lvl="1" algn="r">
              <a:buNone/>
              <a:defRPr sz="1300">
                <a:solidFill>
                  <a:schemeClr val="tx1"/>
                </a:solidFill>
              </a:defRPr>
            </a:lvl2pPr>
            <a:lvl3pPr lvl="2" algn="r">
              <a:buNone/>
              <a:defRPr sz="1300">
                <a:solidFill>
                  <a:schemeClr val="tx1"/>
                </a:solidFill>
              </a:defRPr>
            </a:lvl3pPr>
            <a:lvl4pPr lvl="3" algn="r">
              <a:buNone/>
              <a:defRPr sz="1300">
                <a:solidFill>
                  <a:schemeClr val="tx1"/>
                </a:solidFill>
              </a:defRPr>
            </a:lvl4pPr>
            <a:lvl5pPr lvl="4" algn="r">
              <a:buNone/>
              <a:defRPr sz="1300">
                <a:solidFill>
                  <a:schemeClr val="tx1"/>
                </a:solidFill>
              </a:defRPr>
            </a:lvl5pPr>
            <a:lvl6pPr lvl="5" algn="r">
              <a:buNone/>
              <a:defRPr sz="1300">
                <a:solidFill>
                  <a:schemeClr val="tx1"/>
                </a:solidFill>
              </a:defRPr>
            </a:lvl6pPr>
            <a:lvl7pPr lvl="6" algn="r">
              <a:buNone/>
              <a:defRPr sz="1300">
                <a:solidFill>
                  <a:schemeClr val="tx1"/>
                </a:solidFill>
              </a:defRPr>
            </a:lvl7pPr>
            <a:lvl8pPr lvl="7" algn="r">
              <a:buNone/>
              <a:defRPr sz="1300">
                <a:solidFill>
                  <a:schemeClr val="tx1"/>
                </a:solidFill>
              </a:defRPr>
            </a:lvl8pPr>
            <a:lvl9pPr lvl="8" algn="r">
              <a:buNone/>
              <a:defRPr sz="1300">
                <a:solidFill>
                  <a:schemeClr val="tx1"/>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59"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comments" Target="../comments/comment1.xml"/><Relationship Id="rId4" Type="http://schemas.openxmlformats.org/officeDocument/2006/relationships/image" Target="../media/image2.png"/><Relationship Id="rId9"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3.png"/><Relationship Id="rId7" Type="http://schemas.openxmlformats.org/officeDocument/2006/relationships/image" Target="../media/image8.png"/><Relationship Id="rId8" Type="http://schemas.openxmlformats.org/officeDocument/2006/relationships/image" Target="../media/image1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10.png"/><Relationship Id="rId4" Type="http://schemas.openxmlformats.org/officeDocument/2006/relationships/image" Target="../media/image13.png"/><Relationship Id="rId5"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1.png"/><Relationship Id="rId5" Type="http://schemas.openxmlformats.org/officeDocument/2006/relationships/image" Target="../media/image9.png"/><Relationship Id="rId6" Type="http://schemas.openxmlformats.org/officeDocument/2006/relationships/image" Target="../media/image1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1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21.png"/><Relationship Id="rId4" Type="http://schemas.openxmlformats.org/officeDocument/2006/relationships/image" Target="../media/image16.png"/><Relationship Id="rId5" Type="http://schemas.openxmlformats.org/officeDocument/2006/relationships/image" Target="../media/image2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14.png"/><Relationship Id="rId4" Type="http://schemas.openxmlformats.org/officeDocument/2006/relationships/image" Target="../media/image24.png"/><Relationship Id="rId5" Type="http://schemas.openxmlformats.org/officeDocument/2006/relationships/image" Target="../media/image20.png"/><Relationship Id="rId6" Type="http://schemas.openxmlformats.org/officeDocument/2006/relationships/image" Target="../media/image2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3.png"/><Relationship Id="rId4" Type="http://schemas.openxmlformats.org/officeDocument/2006/relationships/image" Target="../media/image14.png"/><Relationship Id="rId5"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20.png"/><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28.png"/><Relationship Id="rId4" Type="http://schemas.openxmlformats.org/officeDocument/2006/relationships/image" Target="../media/image25.png"/><Relationship Id="rId5" Type="http://schemas.openxmlformats.org/officeDocument/2006/relationships/image" Target="../media/image9.png"/><Relationship Id="rId6" Type="http://schemas.openxmlformats.org/officeDocument/2006/relationships/image" Target="../media/image27.png"/><Relationship Id="rId7" Type="http://schemas.openxmlformats.org/officeDocument/2006/relationships/image" Target="../media/image4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28.png"/><Relationship Id="rId4" Type="http://schemas.openxmlformats.org/officeDocument/2006/relationships/image" Target="../media/image25.png"/><Relationship Id="rId5" Type="http://schemas.openxmlformats.org/officeDocument/2006/relationships/image" Target="../media/image9.png"/><Relationship Id="rId6"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9.png"/><Relationship Id="rId4" Type="http://schemas.openxmlformats.org/officeDocument/2006/relationships/image" Target="../media/image42.png"/><Relationship Id="rId5" Type="http://schemas.openxmlformats.org/officeDocument/2006/relationships/image" Target="../media/image3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3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28.png"/><Relationship Id="rId4" Type="http://schemas.openxmlformats.org/officeDocument/2006/relationships/image" Target="../media/image25.png"/><Relationship Id="rId5" Type="http://schemas.openxmlformats.org/officeDocument/2006/relationships/image" Target="../media/image27.png"/><Relationship Id="rId6" Type="http://schemas.openxmlformats.org/officeDocument/2006/relationships/image" Target="../media/image45.png"/><Relationship Id="rId7" Type="http://schemas.openxmlformats.org/officeDocument/2006/relationships/image" Target="../media/image5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3.png"/><Relationship Id="rId4" Type="http://schemas.openxmlformats.org/officeDocument/2006/relationships/image" Target="../media/image46.png"/><Relationship Id="rId5" Type="http://schemas.openxmlformats.org/officeDocument/2006/relationships/image" Target="../media/image8.png"/><Relationship Id="rId6" Type="http://schemas.openxmlformats.org/officeDocument/2006/relationships/image" Target="../media/image19.png"/><Relationship Id="rId7" Type="http://schemas.openxmlformats.org/officeDocument/2006/relationships/image" Target="../media/image5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16.png"/><Relationship Id="rId4" Type="http://schemas.openxmlformats.org/officeDocument/2006/relationships/image" Target="../media/image9.png"/><Relationship Id="rId5" Type="http://schemas.openxmlformats.org/officeDocument/2006/relationships/image" Target="../media/image3.png"/><Relationship Id="rId6" Type="http://schemas.openxmlformats.org/officeDocument/2006/relationships/image" Target="../media/image2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 Id="rId3" Type="http://schemas.openxmlformats.org/officeDocument/2006/relationships/image" Target="../media/image5.png"/><Relationship Id="rId4" Type="http://schemas.openxmlformats.org/officeDocument/2006/relationships/image" Target="../media/image3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 Id="rId3" Type="http://schemas.openxmlformats.org/officeDocument/2006/relationships/hyperlink" Target="http://drive.google.com/file/d/11bIr_wHS49SUMA0EHR-_wF4JBwt7mYJv/view" TargetMode="External"/><Relationship Id="rId4" Type="http://schemas.openxmlformats.org/officeDocument/2006/relationships/image" Target="../media/image48.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 Id="rId3" Type="http://schemas.openxmlformats.org/officeDocument/2006/relationships/image" Target="../media/image2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 Id="rId3" Type="http://schemas.openxmlformats.org/officeDocument/2006/relationships/hyperlink" Target="http://drive.google.com/file/d/1-pIpnn8JGgUUUIsF1zhvu1gqMC4Is9K9/view" TargetMode="External"/><Relationship Id="rId4" Type="http://schemas.openxmlformats.org/officeDocument/2006/relationships/image" Target="../media/image52.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 Id="rId3" Type="http://schemas.openxmlformats.org/officeDocument/2006/relationships/image" Target="../media/image27.png"/><Relationship Id="rId4" Type="http://schemas.openxmlformats.org/officeDocument/2006/relationships/image" Target="../media/image45.png"/><Relationship Id="rId5" Type="http://schemas.openxmlformats.org/officeDocument/2006/relationships/image" Target="../media/image2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 Id="rId3" Type="http://schemas.openxmlformats.org/officeDocument/2006/relationships/image" Target="../media/image25.png"/><Relationship Id="rId4" Type="http://schemas.openxmlformats.org/officeDocument/2006/relationships/image" Target="../media/image27.png"/><Relationship Id="rId5" Type="http://schemas.openxmlformats.org/officeDocument/2006/relationships/image" Target="../media/image45.png"/><Relationship Id="rId6" Type="http://schemas.openxmlformats.org/officeDocument/2006/relationships/image" Target="../media/image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 Id="rId3" Type="http://schemas.openxmlformats.org/officeDocument/2006/relationships/image" Target="../media/image45.png"/><Relationship Id="rId4" Type="http://schemas.openxmlformats.org/officeDocument/2006/relationships/image" Target="../media/image28.png"/><Relationship Id="rId5" Type="http://schemas.openxmlformats.org/officeDocument/2006/relationships/image" Target="../media/image2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 Id="rId3" Type="http://schemas.openxmlformats.org/officeDocument/2006/relationships/hyperlink" Target="http://drive.google.com/file/d/1DdGkLD3wYkuPxCGpDcck72zhV09RxgYk/view" TargetMode="External"/><Relationship Id="rId4" Type="http://schemas.openxmlformats.org/officeDocument/2006/relationships/image" Target="../media/image3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 Id="rId3" Type="http://schemas.openxmlformats.org/officeDocument/2006/relationships/image" Target="../media/image5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 Id="rId3" Type="http://schemas.openxmlformats.org/officeDocument/2006/relationships/image" Target="../media/image5.png"/><Relationship Id="rId4" Type="http://schemas.openxmlformats.org/officeDocument/2006/relationships/image" Target="../media/image6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 Id="rId3" Type="http://schemas.openxmlformats.org/officeDocument/2006/relationships/image" Target="../media/image5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 Id="rId3" Type="http://schemas.openxmlformats.org/officeDocument/2006/relationships/image" Target="../media/image5.png"/><Relationship Id="rId4" Type="http://schemas.openxmlformats.org/officeDocument/2006/relationships/image" Target="../media/image6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 Id="rId3" Type="http://schemas.openxmlformats.org/officeDocument/2006/relationships/image" Target="../media/image5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 Id="rId3" Type="http://schemas.openxmlformats.org/officeDocument/2006/relationships/image" Target="../media/image4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 Id="rId3" Type="http://schemas.openxmlformats.org/officeDocument/2006/relationships/image" Target="../media/image51.png"/><Relationship Id="rId4" Type="http://schemas.openxmlformats.org/officeDocument/2006/relationships/image" Target="../media/image50.png"/><Relationship Id="rId5" Type="http://schemas.openxmlformats.org/officeDocument/2006/relationships/image" Target="../media/image6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0.xml"/><Relationship Id="rId3" Type="http://schemas.openxmlformats.org/officeDocument/2006/relationships/image" Target="../media/image49.png"/><Relationship Id="rId4" Type="http://schemas.openxmlformats.org/officeDocument/2006/relationships/image" Target="../media/image6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 Id="rId3" Type="http://schemas.openxmlformats.org/officeDocument/2006/relationships/image" Target="../media/image61.png"/><Relationship Id="rId4" Type="http://schemas.openxmlformats.org/officeDocument/2006/relationships/image" Target="../media/image68.png"/><Relationship Id="rId10" Type="http://schemas.openxmlformats.org/officeDocument/2006/relationships/image" Target="../media/image62.png"/><Relationship Id="rId9" Type="http://schemas.openxmlformats.org/officeDocument/2006/relationships/image" Target="../media/image60.png"/><Relationship Id="rId5" Type="http://schemas.openxmlformats.org/officeDocument/2006/relationships/image" Target="../media/image58.png"/><Relationship Id="rId6" Type="http://schemas.openxmlformats.org/officeDocument/2006/relationships/image" Target="../media/image66.png"/><Relationship Id="rId7" Type="http://schemas.openxmlformats.org/officeDocument/2006/relationships/image" Target="../media/image69.png"/><Relationship Id="rId8" Type="http://schemas.openxmlformats.org/officeDocument/2006/relationships/image" Target="../media/image1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 Id="rId3" Type="http://schemas.openxmlformats.org/officeDocument/2006/relationships/image" Target="../media/image5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3.xml"/><Relationship Id="rId3" Type="http://schemas.openxmlformats.org/officeDocument/2006/relationships/image" Target="../media/image73.png"/><Relationship Id="rId4" Type="http://schemas.openxmlformats.org/officeDocument/2006/relationships/image" Target="../media/image7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6.xml"/><Relationship Id="rId3" Type="http://schemas.openxmlformats.org/officeDocument/2006/relationships/image" Target="../media/image6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7.xml"/><Relationship Id="rId3" Type="http://schemas.openxmlformats.org/officeDocument/2006/relationships/image" Target="../media/image62.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8.xml"/><Relationship Id="rId3" Type="http://schemas.openxmlformats.org/officeDocument/2006/relationships/image" Target="../media/image63.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9.xml"/><Relationship Id="rId3" Type="http://schemas.openxmlformats.org/officeDocument/2006/relationships/image" Target="../media/image65.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0.xml"/><Relationship Id="rId3" Type="http://schemas.openxmlformats.org/officeDocument/2006/relationships/image" Target="../media/image3.png"/><Relationship Id="rId4" Type="http://schemas.openxmlformats.org/officeDocument/2006/relationships/image" Target="../media/image46.png"/><Relationship Id="rId5" Type="http://schemas.openxmlformats.org/officeDocument/2006/relationships/image" Target="../media/image8.png"/><Relationship Id="rId6" Type="http://schemas.openxmlformats.org/officeDocument/2006/relationships/image" Target="../media/image19.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1.xml"/><Relationship Id="rId3" Type="http://schemas.openxmlformats.org/officeDocument/2006/relationships/image" Target="../media/image78.png"/><Relationship Id="rId4" Type="http://schemas.openxmlformats.org/officeDocument/2006/relationships/image" Target="../media/image5.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2.xml"/><Relationship Id="rId3" Type="http://schemas.openxmlformats.org/officeDocument/2006/relationships/image" Target="../media/image62.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3.xml"/><Relationship Id="rId3" Type="http://schemas.openxmlformats.org/officeDocument/2006/relationships/image" Target="../media/image76.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4.xml"/><Relationship Id="rId3" Type="http://schemas.openxmlformats.org/officeDocument/2006/relationships/image" Target="../media/image6.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6.xml"/><Relationship Id="rId3" Type="http://schemas.openxmlformats.org/officeDocument/2006/relationships/image" Target="../media/image23.png"/><Relationship Id="rId4" Type="http://schemas.openxmlformats.org/officeDocument/2006/relationships/image" Target="../media/image67.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7.xml"/><Relationship Id="rId3" Type="http://schemas.openxmlformats.org/officeDocument/2006/relationships/image" Target="../media/image67.png"/><Relationship Id="rId4" Type="http://schemas.openxmlformats.org/officeDocument/2006/relationships/image" Target="../media/image23.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8.xml"/><Relationship Id="rId3" Type="http://schemas.openxmlformats.org/officeDocument/2006/relationships/image" Target="../media/image67.png"/><Relationship Id="rId4" Type="http://schemas.openxmlformats.org/officeDocument/2006/relationships/image" Target="../media/image23.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9.xml"/><Relationship Id="rId3" Type="http://schemas.openxmlformats.org/officeDocument/2006/relationships/image" Target="../media/image67.png"/><Relationship Id="rId4" Type="http://schemas.openxmlformats.org/officeDocument/2006/relationships/image" Target="../media/image23.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0.xml"/><Relationship Id="rId3" Type="http://schemas.openxmlformats.org/officeDocument/2006/relationships/image" Target="../media/image67.png"/><Relationship Id="rId4" Type="http://schemas.openxmlformats.org/officeDocument/2006/relationships/image" Target="../media/image23.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1.xml"/><Relationship Id="rId3" Type="http://schemas.openxmlformats.org/officeDocument/2006/relationships/image" Target="../media/image67.png"/><Relationship Id="rId4" Type="http://schemas.openxmlformats.org/officeDocument/2006/relationships/image" Target="../media/image23.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2.xml"/><Relationship Id="rId3" Type="http://schemas.openxmlformats.org/officeDocument/2006/relationships/image" Target="../media/image67.png"/><Relationship Id="rId4" Type="http://schemas.openxmlformats.org/officeDocument/2006/relationships/image" Target="../media/image23.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3.xml"/><Relationship Id="rId3" Type="http://schemas.openxmlformats.org/officeDocument/2006/relationships/image" Target="../media/image67.png"/><Relationship Id="rId4" Type="http://schemas.openxmlformats.org/officeDocument/2006/relationships/image" Target="../media/image23.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4.xml"/><Relationship Id="rId3" Type="http://schemas.openxmlformats.org/officeDocument/2006/relationships/image" Target="../media/image67.png"/><Relationship Id="rId4" Type="http://schemas.openxmlformats.org/officeDocument/2006/relationships/image" Target="../media/image23.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5.xml"/><Relationship Id="rId3" Type="http://schemas.openxmlformats.org/officeDocument/2006/relationships/image" Target="../media/image67.png"/><Relationship Id="rId4" Type="http://schemas.openxmlformats.org/officeDocument/2006/relationships/image" Target="../media/image23.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8.xml"/><Relationship Id="rId3" Type="http://schemas.openxmlformats.org/officeDocument/2006/relationships/image" Target="../media/image67.png"/><Relationship Id="rId4" Type="http://schemas.openxmlformats.org/officeDocument/2006/relationships/image" Target="../media/image23.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0.xml"/><Relationship Id="rId3" Type="http://schemas.openxmlformats.org/officeDocument/2006/relationships/image" Target="../media/image67.png"/><Relationship Id="rId4" Type="http://schemas.openxmlformats.org/officeDocument/2006/relationships/image" Target="../media/image23.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2.xml"/><Relationship Id="rId3" Type="http://schemas.openxmlformats.org/officeDocument/2006/relationships/image" Target="../media/image67.png"/><Relationship Id="rId4" Type="http://schemas.openxmlformats.org/officeDocument/2006/relationships/image" Target="../media/image23.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4.xml"/><Relationship Id="rId3" Type="http://schemas.openxmlformats.org/officeDocument/2006/relationships/image" Target="../media/image67.png"/><Relationship Id="rId4" Type="http://schemas.openxmlformats.org/officeDocument/2006/relationships/image" Target="../media/image23.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6.xml"/><Relationship Id="rId3" Type="http://schemas.openxmlformats.org/officeDocument/2006/relationships/image" Target="../media/image67.png"/><Relationship Id="rId4" Type="http://schemas.openxmlformats.org/officeDocument/2006/relationships/image" Target="../media/image23.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8.xml"/><Relationship Id="rId3" Type="http://schemas.openxmlformats.org/officeDocument/2006/relationships/image" Target="../media/image67.png"/><Relationship Id="rId4" Type="http://schemas.openxmlformats.org/officeDocument/2006/relationships/image" Target="../media/image23.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0.xml"/><Relationship Id="rId3" Type="http://schemas.openxmlformats.org/officeDocument/2006/relationships/image" Target="../media/image3.png"/><Relationship Id="rId4" Type="http://schemas.openxmlformats.org/officeDocument/2006/relationships/image" Target="../media/image82.png"/><Relationship Id="rId10" Type="http://schemas.openxmlformats.org/officeDocument/2006/relationships/image" Target="../media/image5.png"/><Relationship Id="rId9" Type="http://schemas.openxmlformats.org/officeDocument/2006/relationships/image" Target="../media/image62.png"/><Relationship Id="rId5" Type="http://schemas.openxmlformats.org/officeDocument/2006/relationships/image" Target="../media/image79.png"/><Relationship Id="rId6" Type="http://schemas.openxmlformats.org/officeDocument/2006/relationships/image" Target="../media/image53.png"/><Relationship Id="rId7" Type="http://schemas.openxmlformats.org/officeDocument/2006/relationships/image" Target="../media/image2.png"/><Relationship Id="rId8" Type="http://schemas.openxmlformats.org/officeDocument/2006/relationships/image" Target="../media/image80.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1.xml"/><Relationship Id="rId3" Type="http://schemas.openxmlformats.org/officeDocument/2006/relationships/image" Target="../media/image77.png"/><Relationship Id="rId4" Type="http://schemas.openxmlformats.org/officeDocument/2006/relationships/image" Target="../media/image64.png"/><Relationship Id="rId5" Type="http://schemas.openxmlformats.org/officeDocument/2006/relationships/image" Target="../media/image16.png"/><Relationship Id="rId6" Type="http://schemas.openxmlformats.org/officeDocument/2006/relationships/image" Target="../media/image83.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2.xml"/><Relationship Id="rId3" Type="http://schemas.openxmlformats.org/officeDocument/2006/relationships/image" Target="../media/image8.png"/><Relationship Id="rId4" Type="http://schemas.openxmlformats.org/officeDocument/2006/relationships/image" Target="../media/image2.png"/><Relationship Id="rId5" Type="http://schemas.openxmlformats.org/officeDocument/2006/relationships/image" Target="../media/image82.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3.xml"/><Relationship Id="rId3" Type="http://schemas.openxmlformats.org/officeDocument/2006/relationships/image" Target="../media/image46.png"/><Relationship Id="rId4" Type="http://schemas.openxmlformats.org/officeDocument/2006/relationships/image" Target="../media/image21.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8.xml"/><Relationship Id="rId3" Type="http://schemas.openxmlformats.org/officeDocument/2006/relationships/image" Target="../media/image64.png"/><Relationship Id="rId4" Type="http://schemas.openxmlformats.org/officeDocument/2006/relationships/image" Target="../media/image23.png"/><Relationship Id="rId5" Type="http://schemas.openxmlformats.org/officeDocument/2006/relationships/image" Target="../media/image16.png"/><Relationship Id="rId6" Type="http://schemas.openxmlformats.org/officeDocument/2006/relationships/image" Target="../media/image5.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9.xml"/><Relationship Id="rId3" Type="http://schemas.openxmlformats.org/officeDocument/2006/relationships/image" Target="../media/image64.png"/><Relationship Id="rId4" Type="http://schemas.openxmlformats.org/officeDocument/2006/relationships/image" Target="../media/image23.png"/><Relationship Id="rId5" Type="http://schemas.openxmlformats.org/officeDocument/2006/relationships/image" Target="../media/image16.png"/><Relationship Id="rId6" Type="http://schemas.openxmlformats.org/officeDocument/2006/relationships/image" Target="../media/image5.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0.xml"/><Relationship Id="rId3" Type="http://schemas.openxmlformats.org/officeDocument/2006/relationships/image" Target="../media/image64.png"/><Relationship Id="rId4" Type="http://schemas.openxmlformats.org/officeDocument/2006/relationships/image" Target="../media/image23.png"/><Relationship Id="rId5" Type="http://schemas.openxmlformats.org/officeDocument/2006/relationships/image" Target="../media/image16.png"/><Relationship Id="rId6" Type="http://schemas.openxmlformats.org/officeDocument/2006/relationships/image" Target="../media/image5.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1.xml"/><Relationship Id="rId3" Type="http://schemas.openxmlformats.org/officeDocument/2006/relationships/image" Target="../media/image30.png"/><Relationship Id="rId4" Type="http://schemas.openxmlformats.org/officeDocument/2006/relationships/image" Target="../media/image5.png"/><Relationship Id="rId5" Type="http://schemas.openxmlformats.org/officeDocument/2006/relationships/image" Target="../media/image1.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3.xml"/><Relationship Id="rId3" Type="http://schemas.openxmlformats.org/officeDocument/2006/relationships/image" Target="../media/image3.png"/><Relationship Id="rId4" Type="http://schemas.openxmlformats.org/officeDocument/2006/relationships/image" Target="../media/image14.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4.xml"/><Relationship Id="rId3" Type="http://schemas.openxmlformats.org/officeDocument/2006/relationships/image" Target="../media/image28.png"/><Relationship Id="rId4" Type="http://schemas.openxmlformats.org/officeDocument/2006/relationships/image" Target="../media/image25.png"/><Relationship Id="rId5" Type="http://schemas.openxmlformats.org/officeDocument/2006/relationships/image" Target="../media/image27.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5.xml"/><Relationship Id="rId3" Type="http://schemas.openxmlformats.org/officeDocument/2006/relationships/image" Target="../media/image28.png"/><Relationship Id="rId4" Type="http://schemas.openxmlformats.org/officeDocument/2006/relationships/image" Target="../media/image25.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6.xml"/><Relationship Id="rId3" Type="http://schemas.openxmlformats.org/officeDocument/2006/relationships/image" Target="../media/image28.png"/><Relationship Id="rId4" Type="http://schemas.openxmlformats.org/officeDocument/2006/relationships/image" Target="../media/image25.png"/><Relationship Id="rId5" Type="http://schemas.openxmlformats.org/officeDocument/2006/relationships/image" Target="../media/image27.png"/><Relationship Id="rId6" Type="http://schemas.openxmlformats.org/officeDocument/2006/relationships/image" Target="../media/image45.png"/><Relationship Id="rId7" Type="http://schemas.openxmlformats.org/officeDocument/2006/relationships/image" Target="../media/image59.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7.xml"/><Relationship Id="rId3" Type="http://schemas.openxmlformats.org/officeDocument/2006/relationships/image" Target="../media/image23.png"/><Relationship Id="rId4" Type="http://schemas.openxmlformats.org/officeDocument/2006/relationships/image" Target="../media/image39.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8.xml"/><Relationship Id="rId3" Type="http://schemas.openxmlformats.org/officeDocument/2006/relationships/image" Target="../media/image64.png"/><Relationship Id="rId4" Type="http://schemas.openxmlformats.org/officeDocument/2006/relationships/image" Target="../media/image23.png"/><Relationship Id="rId5" Type="http://schemas.openxmlformats.org/officeDocument/2006/relationships/image" Target="../media/image16.png"/><Relationship Id="rId6" Type="http://schemas.openxmlformats.org/officeDocument/2006/relationships/image" Target="../media/image5.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9.xml"/><Relationship Id="rId3" Type="http://schemas.openxmlformats.org/officeDocument/2006/relationships/image" Target="../media/image5.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0.xml"/><Relationship Id="rId3" Type="http://schemas.openxmlformats.org/officeDocument/2006/relationships/image" Target="../media/image25.png"/><Relationship Id="rId4" Type="http://schemas.openxmlformats.org/officeDocument/2006/relationships/image" Target="../media/image45.png"/><Relationship Id="rId5" Type="http://schemas.openxmlformats.org/officeDocument/2006/relationships/image" Target="../media/image28.png"/><Relationship Id="rId6" Type="http://schemas.openxmlformats.org/officeDocument/2006/relationships/image" Target="../media/image59.png"/><Relationship Id="rId7" Type="http://schemas.openxmlformats.org/officeDocument/2006/relationships/image" Target="../media/image5.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2.xml"/><Relationship Id="rId3" Type="http://schemas.openxmlformats.org/officeDocument/2006/relationships/image" Target="../media/image65.png"/><Relationship Id="rId4" Type="http://schemas.openxmlformats.org/officeDocument/2006/relationships/image" Target="../media/image84.png"/><Relationship Id="rId5" Type="http://schemas.openxmlformats.org/officeDocument/2006/relationships/image" Target="../media/image81.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4.xml"/><Relationship Id="rId3" Type="http://schemas.openxmlformats.org/officeDocument/2006/relationships/image" Target="../media/image3.png"/><Relationship Id="rId4" Type="http://schemas.openxmlformats.org/officeDocument/2006/relationships/image" Target="../media/image46.png"/><Relationship Id="rId5" Type="http://schemas.openxmlformats.org/officeDocument/2006/relationships/image" Target="../media/image8.png"/><Relationship Id="rId6" Type="http://schemas.openxmlformats.org/officeDocument/2006/relationships/image" Target="../media/image19.png"/><Relationship Id="rId7" Type="http://schemas.openxmlformats.org/officeDocument/2006/relationships/image" Target="../media/image54.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5.xml"/><Relationship Id="rId3" Type="http://schemas.openxmlformats.org/officeDocument/2006/relationships/image" Target="../media/image61.png"/><Relationship Id="rId4" Type="http://schemas.openxmlformats.org/officeDocument/2006/relationships/image" Target="../media/image68.png"/><Relationship Id="rId5" Type="http://schemas.openxmlformats.org/officeDocument/2006/relationships/image" Target="../media/image58.png"/><Relationship Id="rId6" Type="http://schemas.openxmlformats.org/officeDocument/2006/relationships/image" Target="../media/image66.png"/><Relationship Id="rId7" Type="http://schemas.openxmlformats.org/officeDocument/2006/relationships/image" Target="../media/image69.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6.xml"/><Relationship Id="rId3" Type="http://schemas.openxmlformats.org/officeDocument/2006/relationships/image" Target="../media/image16.png"/><Relationship Id="rId4" Type="http://schemas.openxmlformats.org/officeDocument/2006/relationships/image" Target="../media/image60.png"/><Relationship Id="rId5" Type="http://schemas.openxmlformats.org/officeDocument/2006/relationships/image" Target="../media/image6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C2B3E"/>
        </a:solidFill>
      </p:bgPr>
    </p:bg>
    <p:spTree>
      <p:nvGrpSpPr>
        <p:cNvPr id="58" name="Shape 58"/>
        <p:cNvGrpSpPr/>
        <p:nvPr/>
      </p:nvGrpSpPr>
      <p:grpSpPr>
        <a:xfrm>
          <a:off x="0" y="0"/>
          <a:ext cx="0" cy="0"/>
          <a:chOff x="0" y="0"/>
          <a:chExt cx="0" cy="0"/>
        </a:xfrm>
      </p:grpSpPr>
      <p:sp>
        <p:nvSpPr>
          <p:cNvPr id="59" name="Google Shape;59;p15"/>
          <p:cNvSpPr/>
          <p:nvPr/>
        </p:nvSpPr>
        <p:spPr>
          <a:xfrm>
            <a:off x="5178066" y="411480"/>
            <a:ext cx="3552633" cy="3909060"/>
          </a:xfrm>
          <a:prstGeom prst="roundRect">
            <a:avLst>
              <a:gd fmla="val 2703" name="adj"/>
            </a:avLst>
          </a:prstGeom>
          <a:solidFill>
            <a:srgbClr val="27394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0" name="Google Shape;60;p15"/>
          <p:cNvSpPr/>
          <p:nvPr/>
        </p:nvSpPr>
        <p:spPr>
          <a:xfrm>
            <a:off x="5370100" y="603504"/>
            <a:ext cx="315485" cy="315468"/>
          </a:xfrm>
          <a:prstGeom prst="roundRect">
            <a:avLst>
              <a:gd fmla="val 22000" name="adj"/>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Clipboard_white.png" id="61" name="Google Shape;61;p15"/>
          <p:cNvPicPr preferRelativeResize="0"/>
          <p:nvPr/>
        </p:nvPicPr>
        <p:blipFill rotWithShape="1">
          <a:blip r:embed="rId4">
            <a:alphaModFix/>
          </a:blip>
          <a:srcRect b="0" l="0" r="0" t="0"/>
          <a:stretch/>
        </p:blipFill>
        <p:spPr>
          <a:xfrm>
            <a:off x="5441084" y="674484"/>
            <a:ext cx="173507" cy="173507"/>
          </a:xfrm>
          <a:prstGeom prst="rect">
            <a:avLst/>
          </a:prstGeom>
          <a:noFill/>
          <a:ln>
            <a:noFill/>
          </a:ln>
        </p:spPr>
      </p:pic>
      <p:sp>
        <p:nvSpPr>
          <p:cNvPr id="62" name="Google Shape;62;p15"/>
          <p:cNvSpPr/>
          <p:nvPr/>
        </p:nvSpPr>
        <p:spPr>
          <a:xfrm>
            <a:off x="5767886" y="603504"/>
            <a:ext cx="2798213" cy="3154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Arial"/>
              <a:buNone/>
            </a:pPr>
            <a:r>
              <a:rPr b="1" lang="en-GB" sz="1100">
                <a:solidFill>
                  <a:srgbClr val="FFFFFF"/>
                </a:solidFill>
                <a:latin typeface="Arial"/>
                <a:ea typeface="Arial"/>
                <a:cs typeface="Arial"/>
                <a:sym typeface="Arial"/>
              </a:rPr>
              <a:t>Customer Purchase Orders</a:t>
            </a:r>
            <a:endParaRPr sz="1100">
              <a:solidFill>
                <a:schemeClr val="dk1"/>
              </a:solidFill>
              <a:latin typeface="Calibri"/>
              <a:ea typeface="Calibri"/>
              <a:cs typeface="Calibri"/>
              <a:sym typeface="Calibri"/>
            </a:endParaRPr>
          </a:p>
        </p:txBody>
      </p:sp>
      <p:sp>
        <p:nvSpPr>
          <p:cNvPr id="63" name="Google Shape;63;p15"/>
          <p:cNvSpPr/>
          <p:nvPr/>
        </p:nvSpPr>
        <p:spPr>
          <a:xfrm>
            <a:off x="5370100" y="973836"/>
            <a:ext cx="3168565"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2A6BE"/>
              </a:buClr>
              <a:buSzPts val="700"/>
              <a:buFont typeface="Arial"/>
              <a:buNone/>
            </a:pPr>
            <a:r>
              <a:rPr lang="en-GB" sz="700">
                <a:solidFill>
                  <a:srgbClr val="92A6BE"/>
                </a:solidFill>
                <a:latin typeface="Arial"/>
                <a:ea typeface="Arial"/>
                <a:cs typeface="Arial"/>
                <a:sym typeface="Arial"/>
              </a:rPr>
              <a:t>MAIA TRAINING SDN BHD  ·  MY CPOs</a:t>
            </a:r>
            <a:endParaRPr sz="700">
              <a:solidFill>
                <a:schemeClr val="dk1"/>
              </a:solidFill>
              <a:latin typeface="Calibri"/>
              <a:ea typeface="Calibri"/>
              <a:cs typeface="Calibri"/>
              <a:sym typeface="Calibri"/>
            </a:endParaRPr>
          </a:p>
        </p:txBody>
      </p:sp>
      <p:sp>
        <p:nvSpPr>
          <p:cNvPr id="64" name="Google Shape;64;p15"/>
          <p:cNvSpPr/>
          <p:nvPr/>
        </p:nvSpPr>
        <p:spPr>
          <a:xfrm>
            <a:off x="5301517" y="1289304"/>
            <a:ext cx="3305732" cy="384048"/>
          </a:xfrm>
          <a:prstGeom prst="roundRect">
            <a:avLst>
              <a:gd fmla="val 10714" name="adj"/>
            </a:avLst>
          </a:prstGeom>
          <a:solidFill>
            <a:srgbClr val="32495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5" name="Google Shape;65;p15"/>
          <p:cNvSpPr/>
          <p:nvPr/>
        </p:nvSpPr>
        <p:spPr>
          <a:xfrm>
            <a:off x="5424967" y="1289304"/>
            <a:ext cx="1371673"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CPO-2026-00037</a:t>
            </a:r>
            <a:endParaRPr sz="800">
              <a:solidFill>
                <a:schemeClr val="dk1"/>
              </a:solidFill>
              <a:latin typeface="Calibri"/>
              <a:ea typeface="Calibri"/>
              <a:cs typeface="Calibri"/>
              <a:sym typeface="Calibri"/>
            </a:endParaRPr>
          </a:p>
        </p:txBody>
      </p:sp>
      <p:sp>
        <p:nvSpPr>
          <p:cNvPr id="66" name="Google Shape;66;p15"/>
          <p:cNvSpPr/>
          <p:nvPr/>
        </p:nvSpPr>
        <p:spPr>
          <a:xfrm>
            <a:off x="6484982" y="1289304"/>
            <a:ext cx="13374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2A6BE"/>
              </a:buClr>
              <a:buSzPts val="800"/>
              <a:buFont typeface="Arial"/>
              <a:buNone/>
            </a:pPr>
            <a:r>
              <a:rPr lang="en-GB" sz="800">
                <a:solidFill>
                  <a:srgbClr val="92A6BE"/>
                </a:solidFill>
                <a:latin typeface="Arial"/>
                <a:ea typeface="Arial"/>
                <a:cs typeface="Arial"/>
                <a:sym typeface="Arial"/>
              </a:rPr>
              <a:t>Kenwingston Grocer</a:t>
            </a:r>
            <a:endParaRPr sz="800">
              <a:solidFill>
                <a:schemeClr val="dk1"/>
              </a:solidFill>
              <a:latin typeface="Calibri"/>
              <a:ea typeface="Calibri"/>
              <a:cs typeface="Calibri"/>
              <a:sym typeface="Calibri"/>
            </a:endParaRPr>
          </a:p>
        </p:txBody>
      </p:sp>
      <p:sp>
        <p:nvSpPr>
          <p:cNvPr id="67" name="Google Shape;67;p15"/>
          <p:cNvSpPr/>
          <p:nvPr/>
        </p:nvSpPr>
        <p:spPr>
          <a:xfrm>
            <a:off x="7667653" y="1371600"/>
            <a:ext cx="857296" cy="219456"/>
          </a:xfrm>
          <a:prstGeom prst="roundRect">
            <a:avLst>
              <a:gd fmla="val 50000" name="adj"/>
            </a:avLst>
          </a:prstGeom>
          <a:solidFill>
            <a:srgbClr val="1A9D5C"/>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8" name="Google Shape;68;p15"/>
          <p:cNvSpPr/>
          <p:nvPr/>
        </p:nvSpPr>
        <p:spPr>
          <a:xfrm>
            <a:off x="7667653" y="1371600"/>
            <a:ext cx="857296"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00"/>
              <a:buFont typeface="Arial"/>
              <a:buNone/>
            </a:pPr>
            <a:r>
              <a:rPr b="1" lang="en-GB" sz="700">
                <a:solidFill>
                  <a:srgbClr val="FFFFFF"/>
                </a:solidFill>
                <a:latin typeface="Arial"/>
                <a:ea typeface="Arial"/>
                <a:cs typeface="Arial"/>
                <a:sym typeface="Arial"/>
              </a:rPr>
              <a:t>Success</a:t>
            </a:r>
            <a:endParaRPr sz="700">
              <a:solidFill>
                <a:schemeClr val="dk1"/>
              </a:solidFill>
              <a:latin typeface="Calibri"/>
              <a:ea typeface="Calibri"/>
              <a:cs typeface="Calibri"/>
              <a:sym typeface="Calibri"/>
            </a:endParaRPr>
          </a:p>
        </p:txBody>
      </p:sp>
      <p:sp>
        <p:nvSpPr>
          <p:cNvPr id="69" name="Google Shape;69;p15"/>
          <p:cNvSpPr/>
          <p:nvPr/>
        </p:nvSpPr>
        <p:spPr>
          <a:xfrm>
            <a:off x="5424967" y="1673352"/>
            <a:ext cx="1371673"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CPO-2026-00036</a:t>
            </a:r>
            <a:endParaRPr sz="800">
              <a:solidFill>
                <a:schemeClr val="dk1"/>
              </a:solidFill>
              <a:latin typeface="Calibri"/>
              <a:ea typeface="Calibri"/>
              <a:cs typeface="Calibri"/>
              <a:sym typeface="Calibri"/>
            </a:endParaRPr>
          </a:p>
        </p:txBody>
      </p:sp>
      <p:sp>
        <p:nvSpPr>
          <p:cNvPr id="70" name="Google Shape;70;p15"/>
          <p:cNvSpPr/>
          <p:nvPr/>
        </p:nvSpPr>
        <p:spPr>
          <a:xfrm>
            <a:off x="6484982" y="1673352"/>
            <a:ext cx="13374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2A6BE"/>
              </a:buClr>
              <a:buSzPts val="800"/>
              <a:buFont typeface="Arial"/>
              <a:buNone/>
            </a:pPr>
            <a:r>
              <a:rPr lang="en-GB" sz="800">
                <a:solidFill>
                  <a:srgbClr val="92A6BE"/>
                </a:solidFill>
                <a:latin typeface="Arial"/>
                <a:ea typeface="Arial"/>
                <a:cs typeface="Arial"/>
                <a:sym typeface="Arial"/>
              </a:rPr>
              <a:t>KNL Market Sdn Bhd</a:t>
            </a:r>
            <a:endParaRPr sz="800">
              <a:solidFill>
                <a:schemeClr val="dk1"/>
              </a:solidFill>
              <a:latin typeface="Calibri"/>
              <a:ea typeface="Calibri"/>
              <a:cs typeface="Calibri"/>
              <a:sym typeface="Calibri"/>
            </a:endParaRPr>
          </a:p>
        </p:txBody>
      </p:sp>
      <p:sp>
        <p:nvSpPr>
          <p:cNvPr id="71" name="Google Shape;71;p15"/>
          <p:cNvSpPr/>
          <p:nvPr/>
        </p:nvSpPr>
        <p:spPr>
          <a:xfrm>
            <a:off x="7667653" y="1755648"/>
            <a:ext cx="857296" cy="219456"/>
          </a:xfrm>
          <a:prstGeom prst="roundRect">
            <a:avLst>
              <a:gd fmla="val 50000" name="adj"/>
            </a:avLst>
          </a:prstGeom>
          <a:solidFill>
            <a:srgbClr val="1A9D5C"/>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2" name="Google Shape;72;p15"/>
          <p:cNvSpPr/>
          <p:nvPr/>
        </p:nvSpPr>
        <p:spPr>
          <a:xfrm>
            <a:off x="7667653" y="1755648"/>
            <a:ext cx="857296"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00"/>
              <a:buFont typeface="Arial"/>
              <a:buNone/>
            </a:pPr>
            <a:r>
              <a:rPr b="1" lang="en-GB" sz="700">
                <a:solidFill>
                  <a:srgbClr val="FFFFFF"/>
                </a:solidFill>
                <a:latin typeface="Arial"/>
                <a:ea typeface="Arial"/>
                <a:cs typeface="Arial"/>
                <a:sym typeface="Arial"/>
              </a:rPr>
              <a:t>Success</a:t>
            </a:r>
            <a:endParaRPr sz="700">
              <a:solidFill>
                <a:schemeClr val="dk1"/>
              </a:solidFill>
              <a:latin typeface="Calibri"/>
              <a:ea typeface="Calibri"/>
              <a:cs typeface="Calibri"/>
              <a:sym typeface="Calibri"/>
            </a:endParaRPr>
          </a:p>
        </p:txBody>
      </p:sp>
      <p:sp>
        <p:nvSpPr>
          <p:cNvPr id="73" name="Google Shape;73;p15"/>
          <p:cNvSpPr/>
          <p:nvPr/>
        </p:nvSpPr>
        <p:spPr>
          <a:xfrm>
            <a:off x="5301517" y="2057400"/>
            <a:ext cx="3305732" cy="384048"/>
          </a:xfrm>
          <a:prstGeom prst="roundRect">
            <a:avLst>
              <a:gd fmla="val 10714" name="adj"/>
            </a:avLst>
          </a:prstGeom>
          <a:solidFill>
            <a:srgbClr val="32495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4" name="Google Shape;74;p15"/>
          <p:cNvSpPr/>
          <p:nvPr/>
        </p:nvSpPr>
        <p:spPr>
          <a:xfrm>
            <a:off x="5424967" y="2057400"/>
            <a:ext cx="1371673"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CPO-2026-00035</a:t>
            </a:r>
            <a:endParaRPr sz="800">
              <a:solidFill>
                <a:schemeClr val="dk1"/>
              </a:solidFill>
              <a:latin typeface="Calibri"/>
              <a:ea typeface="Calibri"/>
              <a:cs typeface="Calibri"/>
              <a:sym typeface="Calibri"/>
            </a:endParaRPr>
          </a:p>
        </p:txBody>
      </p:sp>
      <p:sp>
        <p:nvSpPr>
          <p:cNvPr id="75" name="Google Shape;75;p15"/>
          <p:cNvSpPr/>
          <p:nvPr/>
        </p:nvSpPr>
        <p:spPr>
          <a:xfrm>
            <a:off x="6484982" y="2057400"/>
            <a:ext cx="13374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2A6BE"/>
              </a:buClr>
              <a:buSzPts val="800"/>
              <a:buFont typeface="Arial"/>
              <a:buNone/>
            </a:pPr>
            <a:r>
              <a:rPr lang="en-GB" sz="800">
                <a:solidFill>
                  <a:srgbClr val="92A6BE"/>
                </a:solidFill>
                <a:latin typeface="Arial"/>
                <a:ea typeface="Arial"/>
                <a:cs typeface="Arial"/>
                <a:sym typeface="Arial"/>
              </a:rPr>
              <a:t>Real Food Sdn Bhd</a:t>
            </a:r>
            <a:endParaRPr sz="800">
              <a:solidFill>
                <a:schemeClr val="dk1"/>
              </a:solidFill>
              <a:latin typeface="Calibri"/>
              <a:ea typeface="Calibri"/>
              <a:cs typeface="Calibri"/>
              <a:sym typeface="Calibri"/>
            </a:endParaRPr>
          </a:p>
        </p:txBody>
      </p:sp>
      <p:sp>
        <p:nvSpPr>
          <p:cNvPr id="76" name="Google Shape;76;p15"/>
          <p:cNvSpPr/>
          <p:nvPr/>
        </p:nvSpPr>
        <p:spPr>
          <a:xfrm>
            <a:off x="7667653" y="2139696"/>
            <a:ext cx="857296" cy="219456"/>
          </a:xfrm>
          <a:prstGeom prst="roundRect">
            <a:avLst>
              <a:gd fmla="val 50000" name="adj"/>
            </a:avLst>
          </a:prstGeom>
          <a:solidFill>
            <a:srgbClr val="1A9D5C"/>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7" name="Google Shape;77;p15"/>
          <p:cNvSpPr/>
          <p:nvPr/>
        </p:nvSpPr>
        <p:spPr>
          <a:xfrm>
            <a:off x="7667653" y="2139696"/>
            <a:ext cx="857296"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00"/>
              <a:buFont typeface="Arial"/>
              <a:buNone/>
            </a:pPr>
            <a:r>
              <a:rPr b="1" lang="en-GB" sz="700">
                <a:solidFill>
                  <a:srgbClr val="FFFFFF"/>
                </a:solidFill>
                <a:latin typeface="Arial"/>
                <a:ea typeface="Arial"/>
                <a:cs typeface="Arial"/>
                <a:sym typeface="Arial"/>
              </a:rPr>
              <a:t>Success</a:t>
            </a:r>
            <a:endParaRPr sz="700">
              <a:solidFill>
                <a:schemeClr val="dk1"/>
              </a:solidFill>
              <a:latin typeface="Calibri"/>
              <a:ea typeface="Calibri"/>
              <a:cs typeface="Calibri"/>
              <a:sym typeface="Calibri"/>
            </a:endParaRPr>
          </a:p>
        </p:txBody>
      </p:sp>
      <p:sp>
        <p:nvSpPr>
          <p:cNvPr id="78" name="Google Shape;78;p15"/>
          <p:cNvSpPr/>
          <p:nvPr/>
        </p:nvSpPr>
        <p:spPr>
          <a:xfrm>
            <a:off x="5424967" y="2441448"/>
            <a:ext cx="1371673"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CPO-2026-00021</a:t>
            </a:r>
            <a:endParaRPr sz="800">
              <a:solidFill>
                <a:schemeClr val="dk1"/>
              </a:solidFill>
              <a:latin typeface="Calibri"/>
              <a:ea typeface="Calibri"/>
              <a:cs typeface="Calibri"/>
              <a:sym typeface="Calibri"/>
            </a:endParaRPr>
          </a:p>
        </p:txBody>
      </p:sp>
      <p:sp>
        <p:nvSpPr>
          <p:cNvPr id="79" name="Google Shape;79;p15"/>
          <p:cNvSpPr/>
          <p:nvPr/>
        </p:nvSpPr>
        <p:spPr>
          <a:xfrm>
            <a:off x="6484982" y="2441448"/>
            <a:ext cx="13374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2A6BE"/>
              </a:buClr>
              <a:buSzPts val="800"/>
              <a:buFont typeface="Arial"/>
              <a:buNone/>
            </a:pPr>
            <a:r>
              <a:rPr lang="en-GB" sz="800">
                <a:solidFill>
                  <a:srgbClr val="92A6BE"/>
                </a:solidFill>
                <a:latin typeface="Arial"/>
                <a:ea typeface="Arial"/>
                <a:cs typeface="Arial"/>
                <a:sym typeface="Arial"/>
              </a:rPr>
              <a:t>Bluefire Malaysia</a:t>
            </a:r>
            <a:endParaRPr sz="800">
              <a:solidFill>
                <a:schemeClr val="dk1"/>
              </a:solidFill>
              <a:latin typeface="Calibri"/>
              <a:ea typeface="Calibri"/>
              <a:cs typeface="Calibri"/>
              <a:sym typeface="Calibri"/>
            </a:endParaRPr>
          </a:p>
        </p:txBody>
      </p:sp>
      <p:sp>
        <p:nvSpPr>
          <p:cNvPr id="80" name="Google Shape;80;p15"/>
          <p:cNvSpPr/>
          <p:nvPr/>
        </p:nvSpPr>
        <p:spPr>
          <a:xfrm>
            <a:off x="7667653" y="2523744"/>
            <a:ext cx="857296" cy="219456"/>
          </a:xfrm>
          <a:prstGeom prst="roundRect">
            <a:avLst>
              <a:gd fmla="val 50000" name="adj"/>
            </a:avLst>
          </a:prstGeom>
          <a:solidFill>
            <a:srgbClr val="1A9D5C"/>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81" name="Google Shape;81;p15"/>
          <p:cNvSpPr/>
          <p:nvPr/>
        </p:nvSpPr>
        <p:spPr>
          <a:xfrm>
            <a:off x="7667653" y="2523744"/>
            <a:ext cx="857296"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00"/>
              <a:buFont typeface="Arial"/>
              <a:buNone/>
            </a:pPr>
            <a:r>
              <a:rPr b="1" lang="en-GB" sz="700">
                <a:solidFill>
                  <a:srgbClr val="FFFFFF"/>
                </a:solidFill>
                <a:latin typeface="Arial"/>
                <a:ea typeface="Arial"/>
                <a:cs typeface="Arial"/>
                <a:sym typeface="Arial"/>
              </a:rPr>
              <a:t>Success</a:t>
            </a:r>
            <a:endParaRPr sz="700">
              <a:solidFill>
                <a:schemeClr val="dk1"/>
              </a:solidFill>
              <a:latin typeface="Calibri"/>
              <a:ea typeface="Calibri"/>
              <a:cs typeface="Calibri"/>
              <a:sym typeface="Calibri"/>
            </a:endParaRPr>
          </a:p>
        </p:txBody>
      </p:sp>
      <p:sp>
        <p:nvSpPr>
          <p:cNvPr id="82" name="Google Shape;82;p15"/>
          <p:cNvSpPr/>
          <p:nvPr/>
        </p:nvSpPr>
        <p:spPr>
          <a:xfrm>
            <a:off x="5301517" y="2825496"/>
            <a:ext cx="3305732" cy="384048"/>
          </a:xfrm>
          <a:prstGeom prst="roundRect">
            <a:avLst>
              <a:gd fmla="val 10714" name="adj"/>
            </a:avLst>
          </a:prstGeom>
          <a:solidFill>
            <a:srgbClr val="32495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83" name="Google Shape;83;p15"/>
          <p:cNvSpPr/>
          <p:nvPr/>
        </p:nvSpPr>
        <p:spPr>
          <a:xfrm>
            <a:off x="5424967" y="2825496"/>
            <a:ext cx="1371673"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CPO-2026-00011</a:t>
            </a:r>
            <a:endParaRPr sz="800">
              <a:solidFill>
                <a:schemeClr val="dk1"/>
              </a:solidFill>
              <a:latin typeface="Calibri"/>
              <a:ea typeface="Calibri"/>
              <a:cs typeface="Calibri"/>
              <a:sym typeface="Calibri"/>
            </a:endParaRPr>
          </a:p>
        </p:txBody>
      </p:sp>
      <p:sp>
        <p:nvSpPr>
          <p:cNvPr id="84" name="Google Shape;84;p15"/>
          <p:cNvSpPr/>
          <p:nvPr/>
        </p:nvSpPr>
        <p:spPr>
          <a:xfrm>
            <a:off x="6484982" y="2825496"/>
            <a:ext cx="13374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2A6BE"/>
              </a:buClr>
              <a:buSzPts val="800"/>
              <a:buFont typeface="Arial"/>
              <a:buNone/>
            </a:pPr>
            <a:r>
              <a:rPr lang="en-GB" sz="800">
                <a:solidFill>
                  <a:srgbClr val="92A6BE"/>
                </a:solidFill>
                <a:latin typeface="Arial"/>
                <a:ea typeface="Arial"/>
                <a:cs typeface="Arial"/>
                <a:sym typeface="Arial"/>
              </a:rPr>
              <a:t>QRA Sdn Bhd</a:t>
            </a:r>
            <a:endParaRPr sz="800">
              <a:solidFill>
                <a:schemeClr val="dk1"/>
              </a:solidFill>
              <a:latin typeface="Calibri"/>
              <a:ea typeface="Calibri"/>
              <a:cs typeface="Calibri"/>
              <a:sym typeface="Calibri"/>
            </a:endParaRPr>
          </a:p>
        </p:txBody>
      </p:sp>
      <p:sp>
        <p:nvSpPr>
          <p:cNvPr id="85" name="Google Shape;85;p15"/>
          <p:cNvSpPr/>
          <p:nvPr/>
        </p:nvSpPr>
        <p:spPr>
          <a:xfrm>
            <a:off x="7667653" y="2907792"/>
            <a:ext cx="857296" cy="219456"/>
          </a:xfrm>
          <a:prstGeom prst="roundRect">
            <a:avLst>
              <a:gd fmla="val 50000" name="adj"/>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86" name="Google Shape;86;p15"/>
          <p:cNvSpPr/>
          <p:nvPr/>
        </p:nvSpPr>
        <p:spPr>
          <a:xfrm>
            <a:off x="7667653" y="2907792"/>
            <a:ext cx="857296"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00"/>
              <a:buFont typeface="Arial"/>
              <a:buNone/>
            </a:pPr>
            <a:r>
              <a:rPr b="1" lang="en-GB" sz="700">
                <a:solidFill>
                  <a:srgbClr val="FFFFFF"/>
                </a:solidFill>
                <a:latin typeface="Arial"/>
                <a:ea typeface="Arial"/>
                <a:cs typeface="Arial"/>
                <a:sym typeface="Arial"/>
              </a:rPr>
              <a:t>Processing</a:t>
            </a:r>
            <a:endParaRPr sz="700">
              <a:solidFill>
                <a:schemeClr val="dk1"/>
              </a:solidFill>
              <a:latin typeface="Calibri"/>
              <a:ea typeface="Calibri"/>
              <a:cs typeface="Calibri"/>
              <a:sym typeface="Calibri"/>
            </a:endParaRPr>
          </a:p>
        </p:txBody>
      </p:sp>
      <p:sp>
        <p:nvSpPr>
          <p:cNvPr id="87" name="Google Shape;87;p15"/>
          <p:cNvSpPr/>
          <p:nvPr/>
        </p:nvSpPr>
        <p:spPr>
          <a:xfrm>
            <a:off x="5424967" y="3209544"/>
            <a:ext cx="1371673"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CPO-2026-00009</a:t>
            </a:r>
            <a:endParaRPr sz="800">
              <a:solidFill>
                <a:schemeClr val="dk1"/>
              </a:solidFill>
              <a:latin typeface="Calibri"/>
              <a:ea typeface="Calibri"/>
              <a:cs typeface="Calibri"/>
              <a:sym typeface="Calibri"/>
            </a:endParaRPr>
          </a:p>
        </p:txBody>
      </p:sp>
      <p:sp>
        <p:nvSpPr>
          <p:cNvPr id="88" name="Google Shape;88;p15"/>
          <p:cNvSpPr/>
          <p:nvPr/>
        </p:nvSpPr>
        <p:spPr>
          <a:xfrm>
            <a:off x="6484982" y="3209544"/>
            <a:ext cx="13374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2A6BE"/>
              </a:buClr>
              <a:buSzPts val="800"/>
              <a:buFont typeface="Arial"/>
              <a:buNone/>
            </a:pPr>
            <a:r>
              <a:rPr lang="en-GB" sz="800">
                <a:solidFill>
                  <a:srgbClr val="92A6BE"/>
                </a:solidFill>
                <a:latin typeface="Arial"/>
                <a:ea typeface="Arial"/>
                <a:cs typeface="Arial"/>
                <a:sym typeface="Arial"/>
              </a:rPr>
              <a:t>TFP Retail Sdn Bhd</a:t>
            </a:r>
            <a:endParaRPr sz="800">
              <a:solidFill>
                <a:schemeClr val="dk1"/>
              </a:solidFill>
              <a:latin typeface="Calibri"/>
              <a:ea typeface="Calibri"/>
              <a:cs typeface="Calibri"/>
              <a:sym typeface="Calibri"/>
            </a:endParaRPr>
          </a:p>
        </p:txBody>
      </p:sp>
      <p:sp>
        <p:nvSpPr>
          <p:cNvPr id="89" name="Google Shape;89;p15"/>
          <p:cNvSpPr/>
          <p:nvPr/>
        </p:nvSpPr>
        <p:spPr>
          <a:xfrm>
            <a:off x="7667653" y="3291840"/>
            <a:ext cx="857296" cy="219456"/>
          </a:xfrm>
          <a:prstGeom prst="roundRect">
            <a:avLst>
              <a:gd fmla="val 50000" name="adj"/>
            </a:avLst>
          </a:prstGeom>
          <a:solidFill>
            <a:srgbClr val="1A9D5C"/>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90" name="Google Shape;90;p15"/>
          <p:cNvSpPr/>
          <p:nvPr/>
        </p:nvSpPr>
        <p:spPr>
          <a:xfrm>
            <a:off x="7667653" y="3291840"/>
            <a:ext cx="857296"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00"/>
              <a:buFont typeface="Arial"/>
              <a:buNone/>
            </a:pPr>
            <a:r>
              <a:rPr b="1" lang="en-GB" sz="700">
                <a:solidFill>
                  <a:srgbClr val="FFFFFF"/>
                </a:solidFill>
                <a:latin typeface="Arial"/>
                <a:ea typeface="Arial"/>
                <a:cs typeface="Arial"/>
                <a:sym typeface="Arial"/>
              </a:rPr>
              <a:t>Completed</a:t>
            </a:r>
            <a:endParaRPr sz="700">
              <a:solidFill>
                <a:schemeClr val="dk1"/>
              </a:solidFill>
              <a:latin typeface="Calibri"/>
              <a:ea typeface="Calibri"/>
              <a:cs typeface="Calibri"/>
              <a:sym typeface="Calibri"/>
            </a:endParaRPr>
          </a:p>
        </p:txBody>
      </p:sp>
      <p:sp>
        <p:nvSpPr>
          <p:cNvPr id="91" name="Google Shape;91;p15"/>
          <p:cNvSpPr/>
          <p:nvPr/>
        </p:nvSpPr>
        <p:spPr>
          <a:xfrm>
            <a:off x="5301517" y="3593592"/>
            <a:ext cx="3305732" cy="384048"/>
          </a:xfrm>
          <a:prstGeom prst="roundRect">
            <a:avLst>
              <a:gd fmla="val 10714" name="adj"/>
            </a:avLst>
          </a:prstGeom>
          <a:solidFill>
            <a:srgbClr val="32495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92" name="Google Shape;92;p15"/>
          <p:cNvSpPr/>
          <p:nvPr/>
        </p:nvSpPr>
        <p:spPr>
          <a:xfrm>
            <a:off x="5424967" y="3593592"/>
            <a:ext cx="1371673"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CPO-2026-00008</a:t>
            </a:r>
            <a:endParaRPr sz="800">
              <a:solidFill>
                <a:schemeClr val="dk1"/>
              </a:solidFill>
              <a:latin typeface="Calibri"/>
              <a:ea typeface="Calibri"/>
              <a:cs typeface="Calibri"/>
              <a:sym typeface="Calibri"/>
            </a:endParaRPr>
          </a:p>
        </p:txBody>
      </p:sp>
      <p:sp>
        <p:nvSpPr>
          <p:cNvPr id="93" name="Google Shape;93;p15"/>
          <p:cNvSpPr/>
          <p:nvPr/>
        </p:nvSpPr>
        <p:spPr>
          <a:xfrm>
            <a:off x="6484982" y="3593592"/>
            <a:ext cx="13374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2A6BE"/>
              </a:buClr>
              <a:buSzPts val="800"/>
              <a:buFont typeface="Arial"/>
              <a:buNone/>
            </a:pPr>
            <a:r>
              <a:rPr lang="en-GB" sz="800">
                <a:solidFill>
                  <a:srgbClr val="92A6BE"/>
                </a:solidFill>
                <a:latin typeface="Arial"/>
                <a:ea typeface="Arial"/>
                <a:cs typeface="Arial"/>
                <a:sym typeface="Arial"/>
              </a:rPr>
              <a:t>TFP Retail Sdn Bhd</a:t>
            </a:r>
            <a:endParaRPr sz="800">
              <a:solidFill>
                <a:schemeClr val="dk1"/>
              </a:solidFill>
              <a:latin typeface="Calibri"/>
              <a:ea typeface="Calibri"/>
              <a:cs typeface="Calibri"/>
              <a:sym typeface="Calibri"/>
            </a:endParaRPr>
          </a:p>
        </p:txBody>
      </p:sp>
      <p:sp>
        <p:nvSpPr>
          <p:cNvPr id="94" name="Google Shape;94;p15"/>
          <p:cNvSpPr/>
          <p:nvPr/>
        </p:nvSpPr>
        <p:spPr>
          <a:xfrm>
            <a:off x="7667653" y="3675888"/>
            <a:ext cx="857296" cy="219456"/>
          </a:xfrm>
          <a:prstGeom prst="roundRect">
            <a:avLst>
              <a:gd fmla="val 50000" name="adj"/>
            </a:avLst>
          </a:prstGeom>
          <a:solidFill>
            <a:srgbClr val="1A9D5C"/>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95" name="Google Shape;95;p15"/>
          <p:cNvSpPr/>
          <p:nvPr/>
        </p:nvSpPr>
        <p:spPr>
          <a:xfrm>
            <a:off x="7667653" y="3675888"/>
            <a:ext cx="857296"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00"/>
              <a:buFont typeface="Arial"/>
              <a:buNone/>
            </a:pPr>
            <a:r>
              <a:rPr b="1" lang="en-GB" sz="700">
                <a:solidFill>
                  <a:srgbClr val="FFFFFF"/>
                </a:solidFill>
                <a:latin typeface="Arial"/>
                <a:ea typeface="Arial"/>
                <a:cs typeface="Arial"/>
                <a:sym typeface="Arial"/>
              </a:rPr>
              <a:t>Completed</a:t>
            </a:r>
            <a:endParaRPr sz="700">
              <a:solidFill>
                <a:schemeClr val="dk1"/>
              </a:solidFill>
              <a:latin typeface="Calibri"/>
              <a:ea typeface="Calibri"/>
              <a:cs typeface="Calibri"/>
              <a:sym typeface="Calibri"/>
            </a:endParaRPr>
          </a:p>
        </p:txBody>
      </p:sp>
      <p:sp>
        <p:nvSpPr>
          <p:cNvPr id="96" name="Google Shape;96;p15"/>
          <p:cNvSpPr/>
          <p:nvPr/>
        </p:nvSpPr>
        <p:spPr>
          <a:xfrm>
            <a:off x="411502" y="4649724"/>
            <a:ext cx="274335" cy="274320"/>
          </a:xfrm>
          <a:prstGeom prst="ellipse">
            <a:avLst/>
          </a:prstGeom>
          <a:solidFill>
            <a:srgbClr val="27394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User_accent.png" id="97" name="Google Shape;97;p15"/>
          <p:cNvPicPr preferRelativeResize="0"/>
          <p:nvPr/>
        </p:nvPicPr>
        <p:blipFill rotWithShape="1">
          <a:blip r:embed="rId5">
            <a:alphaModFix/>
          </a:blip>
          <a:srcRect b="0" l="0" r="0" t="0"/>
          <a:stretch/>
        </p:blipFill>
        <p:spPr>
          <a:xfrm>
            <a:off x="473227" y="4711446"/>
            <a:ext cx="150876" cy="150876"/>
          </a:xfrm>
          <a:prstGeom prst="rect">
            <a:avLst/>
          </a:prstGeom>
          <a:noFill/>
          <a:ln>
            <a:noFill/>
          </a:ln>
        </p:spPr>
      </p:pic>
      <p:sp>
        <p:nvSpPr>
          <p:cNvPr id="98" name="Google Shape;98;p15"/>
          <p:cNvSpPr/>
          <p:nvPr/>
        </p:nvSpPr>
        <p:spPr>
          <a:xfrm>
            <a:off x="754420" y="4649724"/>
            <a:ext cx="3429183"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2A6BE"/>
              </a:buClr>
              <a:buSzPts val="800"/>
              <a:buFont typeface="Arial"/>
              <a:buNone/>
            </a:pPr>
            <a:r>
              <a:rPr lang="en-GB" sz="800">
                <a:solidFill>
                  <a:srgbClr val="92A6BE"/>
                </a:solidFill>
                <a:latin typeface="Arial"/>
                <a:ea typeface="Arial"/>
                <a:cs typeface="Arial"/>
                <a:sym typeface="Arial"/>
              </a:rPr>
              <a:t>TRAINER   </a:t>
            </a:r>
            <a:r>
              <a:rPr b="1" lang="en-GB" sz="800">
                <a:solidFill>
                  <a:srgbClr val="FFFFFF"/>
                </a:solidFill>
                <a:latin typeface="Arial"/>
                <a:ea typeface="Arial"/>
                <a:cs typeface="Arial"/>
                <a:sym typeface="Arial"/>
              </a:rPr>
              <a:t>[Trainer Name]</a:t>
            </a:r>
            <a:endParaRPr sz="800">
              <a:solidFill>
                <a:schemeClr val="dk1"/>
              </a:solidFill>
              <a:latin typeface="Calibri"/>
              <a:ea typeface="Calibri"/>
              <a:cs typeface="Calibri"/>
              <a:sym typeface="Calibri"/>
            </a:endParaRPr>
          </a:p>
        </p:txBody>
      </p:sp>
      <p:sp>
        <p:nvSpPr>
          <p:cNvPr id="99" name="Google Shape;99;p15"/>
          <p:cNvSpPr/>
          <p:nvPr/>
        </p:nvSpPr>
        <p:spPr>
          <a:xfrm>
            <a:off x="6675247" y="4649724"/>
            <a:ext cx="205751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2A6BE"/>
              </a:buClr>
              <a:buSzPts val="800"/>
              <a:buFont typeface="Arial"/>
              <a:buNone/>
            </a:pPr>
            <a:r>
              <a:rPr lang="en-GB" sz="800">
                <a:solidFill>
                  <a:srgbClr val="92A6BE"/>
                </a:solidFill>
              </a:rPr>
              <a:t>[</a:t>
            </a:r>
            <a:r>
              <a:rPr lang="en-GB" sz="800">
                <a:solidFill>
                  <a:srgbClr val="92A6BE"/>
                </a:solidFill>
                <a:latin typeface="Arial"/>
                <a:ea typeface="Arial"/>
                <a:cs typeface="Arial"/>
                <a:sym typeface="Arial"/>
              </a:rPr>
              <a:t>DATE]   </a:t>
            </a:r>
            <a:r>
              <a:rPr b="1" lang="en-GB" sz="800">
                <a:solidFill>
                  <a:srgbClr val="FFFFFF"/>
                </a:solidFill>
                <a:latin typeface="Arial"/>
                <a:ea typeface="Arial"/>
                <a:cs typeface="Arial"/>
                <a:sym typeface="Arial"/>
              </a:rPr>
              <a:t>2-Hour Session</a:t>
            </a:r>
            <a:endParaRPr sz="800">
              <a:solidFill>
                <a:schemeClr val="dk1"/>
              </a:solidFill>
              <a:latin typeface="Calibri"/>
              <a:ea typeface="Calibri"/>
              <a:cs typeface="Calibri"/>
              <a:sym typeface="Calibri"/>
            </a:endParaRPr>
          </a:p>
        </p:txBody>
      </p:sp>
      <p:sp>
        <p:nvSpPr>
          <p:cNvPr id="100" name="Google Shape;100;p15"/>
          <p:cNvSpPr/>
          <p:nvPr/>
        </p:nvSpPr>
        <p:spPr>
          <a:xfrm>
            <a:off x="393570" y="3427364"/>
            <a:ext cx="4046400" cy="24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2A6BE"/>
              </a:buClr>
              <a:buSzPts val="1000"/>
              <a:buFont typeface="Arial"/>
              <a:buNone/>
            </a:pPr>
            <a:r>
              <a:rPr lang="en-GB" sz="1000">
                <a:solidFill>
                  <a:srgbClr val="92A6BE"/>
                </a:solidFill>
              </a:rPr>
              <a:t>[Client Name]</a:t>
            </a:r>
            <a:endParaRPr sz="1000">
              <a:solidFill>
                <a:srgbClr val="1B2B3E"/>
              </a:solidFill>
            </a:endParaRPr>
          </a:p>
        </p:txBody>
      </p:sp>
      <p:sp>
        <p:nvSpPr>
          <p:cNvPr id="101" name="Google Shape;101;p15"/>
          <p:cNvSpPr/>
          <p:nvPr/>
        </p:nvSpPr>
        <p:spPr>
          <a:xfrm>
            <a:off x="411500" y="1980400"/>
            <a:ext cx="4347300" cy="1069800"/>
          </a:xfrm>
          <a:prstGeom prst="rect">
            <a:avLst/>
          </a:prstGeom>
          <a:noFill/>
          <a:ln>
            <a:noFill/>
          </a:ln>
          <a:effectLst>
            <a:outerShdw blurRad="57150" rotWithShape="0" algn="bl" dir="5400000" dist="19050">
              <a:srgbClr val="000000">
                <a:alpha val="50000"/>
              </a:srgbClr>
            </a:outerShdw>
          </a:effectLst>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Arial"/>
              <a:buNone/>
            </a:pPr>
            <a:r>
              <a:rPr b="1" lang="en-GB" sz="2000">
                <a:solidFill>
                  <a:srgbClr val="FFFFFF"/>
                </a:solidFill>
                <a:latin typeface="Poppins"/>
                <a:ea typeface="Poppins"/>
                <a:cs typeface="Poppins"/>
                <a:sym typeface="Poppins"/>
              </a:rPr>
              <a:t>How MAIA Helps You </a:t>
            </a:r>
            <a:endParaRPr b="1" sz="2000">
              <a:solidFill>
                <a:srgbClr val="FFFFFF"/>
              </a:solidFill>
              <a:latin typeface="Poppins"/>
              <a:ea typeface="Poppins"/>
              <a:cs typeface="Poppins"/>
              <a:sym typeface="Poppins"/>
            </a:endParaRPr>
          </a:p>
          <a:p>
            <a:pPr indent="0" lvl="0" marL="0" marR="0" rtl="0" algn="l">
              <a:spcBef>
                <a:spcPts val="0"/>
              </a:spcBef>
              <a:spcAft>
                <a:spcPts val="0"/>
              </a:spcAft>
              <a:buClr>
                <a:srgbClr val="FFFFFF"/>
              </a:buClr>
              <a:buSzPts val="1100"/>
              <a:buFont typeface="Arial"/>
              <a:buNone/>
            </a:pPr>
            <a:r>
              <a:rPr b="1" lang="en-GB" sz="2000">
                <a:solidFill>
                  <a:srgbClr val="FFFFFF"/>
                </a:solidFill>
                <a:latin typeface="Poppins"/>
                <a:ea typeface="Poppins"/>
                <a:cs typeface="Poppins"/>
                <a:sym typeface="Poppins"/>
              </a:rPr>
              <a:t>Process Orders Faster With </a:t>
            </a:r>
            <a:endParaRPr b="1" sz="2000">
              <a:solidFill>
                <a:srgbClr val="FFFFFF"/>
              </a:solidFill>
              <a:latin typeface="Poppins"/>
              <a:ea typeface="Poppins"/>
              <a:cs typeface="Poppins"/>
              <a:sym typeface="Poppins"/>
            </a:endParaRPr>
          </a:p>
          <a:p>
            <a:pPr indent="0" lvl="0" marL="0" marR="0" rtl="0" algn="l">
              <a:spcBef>
                <a:spcPts val="0"/>
              </a:spcBef>
              <a:spcAft>
                <a:spcPts val="0"/>
              </a:spcAft>
              <a:buClr>
                <a:srgbClr val="FFFFFF"/>
              </a:buClr>
              <a:buSzPts val="1100"/>
              <a:buFont typeface="Arial"/>
              <a:buNone/>
            </a:pPr>
            <a:r>
              <a:rPr b="1" lang="en-GB" sz="2000">
                <a:solidFill>
                  <a:srgbClr val="FFFFFF"/>
                </a:solidFill>
                <a:latin typeface="Poppins"/>
                <a:ea typeface="Poppins"/>
                <a:cs typeface="Poppins"/>
                <a:sym typeface="Poppins"/>
              </a:rPr>
              <a:t>Fewer Mistakes</a:t>
            </a:r>
            <a:endParaRPr b="1" sz="2000">
              <a:solidFill>
                <a:srgbClr val="FFFFFF"/>
              </a:solidFill>
              <a:latin typeface="Poppins"/>
              <a:ea typeface="Poppins"/>
              <a:cs typeface="Poppins"/>
              <a:sym typeface="Poppins"/>
            </a:endParaRPr>
          </a:p>
        </p:txBody>
      </p:sp>
      <p:sp>
        <p:nvSpPr>
          <p:cNvPr id="102" name="Google Shape;102;p15"/>
          <p:cNvSpPr/>
          <p:nvPr/>
        </p:nvSpPr>
        <p:spPr>
          <a:xfrm>
            <a:off x="393570" y="3852560"/>
            <a:ext cx="1165800" cy="315600"/>
          </a:xfrm>
          <a:prstGeom prst="roundRect">
            <a:avLst>
              <a:gd fmla="val 50000" name="adj"/>
            </a:avLst>
          </a:prstGeom>
          <a:solidFill>
            <a:srgbClr val="32495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rgbClr val="1B2B3E"/>
              </a:solidFill>
              <a:latin typeface="Calibri"/>
              <a:ea typeface="Calibri"/>
              <a:cs typeface="Calibri"/>
              <a:sym typeface="Calibri"/>
            </a:endParaRPr>
          </a:p>
        </p:txBody>
      </p:sp>
      <p:pic>
        <p:nvPicPr>
          <p:cNvPr descr="/home/claude/maia/icons/FiUser_white.png" id="103" name="Google Shape;103;p15"/>
          <p:cNvPicPr preferRelativeResize="0"/>
          <p:nvPr/>
        </p:nvPicPr>
        <p:blipFill rotWithShape="1">
          <a:blip r:embed="rId6">
            <a:alphaModFix/>
          </a:blip>
          <a:srcRect b="0" l="0" r="0" t="0"/>
          <a:stretch/>
        </p:blipFill>
        <p:spPr>
          <a:xfrm>
            <a:off x="540919" y="3931427"/>
            <a:ext cx="157734" cy="157734"/>
          </a:xfrm>
          <a:prstGeom prst="rect">
            <a:avLst/>
          </a:prstGeom>
          <a:noFill/>
          <a:ln>
            <a:noFill/>
          </a:ln>
        </p:spPr>
      </p:pic>
      <p:sp>
        <p:nvSpPr>
          <p:cNvPr id="104" name="Google Shape;104;p15"/>
          <p:cNvSpPr/>
          <p:nvPr/>
        </p:nvSpPr>
        <p:spPr>
          <a:xfrm>
            <a:off x="769548" y="3852560"/>
            <a:ext cx="843600" cy="315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SALES</a:t>
            </a:r>
            <a:endParaRPr sz="800">
              <a:solidFill>
                <a:srgbClr val="1B2B3E"/>
              </a:solidFill>
              <a:latin typeface="Calibri"/>
              <a:ea typeface="Calibri"/>
              <a:cs typeface="Calibri"/>
              <a:sym typeface="Calibri"/>
            </a:endParaRPr>
          </a:p>
        </p:txBody>
      </p:sp>
      <p:sp>
        <p:nvSpPr>
          <p:cNvPr id="105" name="Google Shape;105;p15"/>
          <p:cNvSpPr/>
          <p:nvPr/>
        </p:nvSpPr>
        <p:spPr>
          <a:xfrm>
            <a:off x="1662368" y="3852560"/>
            <a:ext cx="1165800" cy="315600"/>
          </a:xfrm>
          <a:prstGeom prst="roundRect">
            <a:avLst>
              <a:gd fmla="val 50000" name="adj"/>
            </a:avLst>
          </a:prstGeom>
          <a:solidFill>
            <a:srgbClr val="32495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rgbClr val="1B2B3E"/>
              </a:solidFill>
              <a:latin typeface="Calibri"/>
              <a:ea typeface="Calibri"/>
              <a:cs typeface="Calibri"/>
              <a:sym typeface="Calibri"/>
            </a:endParaRPr>
          </a:p>
        </p:txBody>
      </p:sp>
      <p:pic>
        <p:nvPicPr>
          <p:cNvPr descr="/home/claude/maia/icons/FiPackage_white.png" id="106" name="Google Shape;106;p15"/>
          <p:cNvPicPr preferRelativeResize="0"/>
          <p:nvPr/>
        </p:nvPicPr>
        <p:blipFill rotWithShape="1">
          <a:blip r:embed="rId7">
            <a:alphaModFix/>
          </a:blip>
          <a:srcRect b="0" l="0" r="0" t="0"/>
          <a:stretch/>
        </p:blipFill>
        <p:spPr>
          <a:xfrm>
            <a:off x="1809717" y="3931427"/>
            <a:ext cx="157734" cy="157734"/>
          </a:xfrm>
          <a:prstGeom prst="rect">
            <a:avLst/>
          </a:prstGeom>
          <a:noFill/>
          <a:ln>
            <a:noFill/>
          </a:ln>
        </p:spPr>
      </p:pic>
      <p:sp>
        <p:nvSpPr>
          <p:cNvPr id="107" name="Google Shape;107;p15"/>
          <p:cNvSpPr/>
          <p:nvPr/>
        </p:nvSpPr>
        <p:spPr>
          <a:xfrm>
            <a:off x="2038346" y="3852560"/>
            <a:ext cx="843600" cy="315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LOGISTICS</a:t>
            </a:r>
            <a:endParaRPr sz="800">
              <a:solidFill>
                <a:srgbClr val="1B2B3E"/>
              </a:solidFill>
              <a:latin typeface="Calibri"/>
              <a:ea typeface="Calibri"/>
              <a:cs typeface="Calibri"/>
              <a:sym typeface="Calibri"/>
            </a:endParaRPr>
          </a:p>
        </p:txBody>
      </p:sp>
      <p:sp>
        <p:nvSpPr>
          <p:cNvPr id="108" name="Google Shape;108;p15"/>
          <p:cNvSpPr/>
          <p:nvPr/>
        </p:nvSpPr>
        <p:spPr>
          <a:xfrm>
            <a:off x="2931165" y="3852560"/>
            <a:ext cx="1165800" cy="315600"/>
          </a:xfrm>
          <a:prstGeom prst="roundRect">
            <a:avLst>
              <a:gd fmla="val 50000" name="adj"/>
            </a:avLst>
          </a:prstGeom>
          <a:solidFill>
            <a:srgbClr val="32495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rgbClr val="1B2B3E"/>
              </a:solidFill>
              <a:latin typeface="Calibri"/>
              <a:ea typeface="Calibri"/>
              <a:cs typeface="Calibri"/>
              <a:sym typeface="Calibri"/>
            </a:endParaRPr>
          </a:p>
        </p:txBody>
      </p:sp>
      <p:pic>
        <p:nvPicPr>
          <p:cNvPr descr="/home/claude/maia/icons/FiTruck_white.png" id="109" name="Google Shape;109;p15"/>
          <p:cNvPicPr preferRelativeResize="0"/>
          <p:nvPr/>
        </p:nvPicPr>
        <p:blipFill rotWithShape="1">
          <a:blip r:embed="rId8">
            <a:alphaModFix/>
          </a:blip>
          <a:srcRect b="0" l="0" r="0" t="0"/>
          <a:stretch/>
        </p:blipFill>
        <p:spPr>
          <a:xfrm>
            <a:off x="3083161" y="3931427"/>
            <a:ext cx="157734" cy="157734"/>
          </a:xfrm>
          <a:prstGeom prst="rect">
            <a:avLst/>
          </a:prstGeom>
          <a:noFill/>
          <a:ln>
            <a:noFill/>
          </a:ln>
        </p:spPr>
      </p:pic>
      <p:sp>
        <p:nvSpPr>
          <p:cNvPr id="110" name="Google Shape;110;p15"/>
          <p:cNvSpPr/>
          <p:nvPr/>
        </p:nvSpPr>
        <p:spPr>
          <a:xfrm>
            <a:off x="3311790" y="3852560"/>
            <a:ext cx="843600" cy="315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DRIVER</a:t>
            </a:r>
            <a:endParaRPr sz="800">
              <a:solidFill>
                <a:srgbClr val="1B2B3E"/>
              </a:solidFill>
              <a:latin typeface="Calibri"/>
              <a:ea typeface="Calibri"/>
              <a:cs typeface="Calibri"/>
              <a:sym typeface="Calibri"/>
            </a:endParaRPr>
          </a:p>
        </p:txBody>
      </p:sp>
      <p:pic>
        <p:nvPicPr>
          <p:cNvPr id="111" name="Google Shape;111;p15" title="MAIA.png"/>
          <p:cNvPicPr preferRelativeResize="0"/>
          <p:nvPr/>
        </p:nvPicPr>
        <p:blipFill rotWithShape="1">
          <a:blip r:embed="rId9">
            <a:alphaModFix/>
          </a:blip>
          <a:srcRect b="0" l="0" r="0" t="0"/>
          <a:stretch/>
        </p:blipFill>
        <p:spPr>
          <a:xfrm>
            <a:off x="411500" y="1154350"/>
            <a:ext cx="1823040" cy="601300"/>
          </a:xfrm>
          <a:prstGeom prst="rect">
            <a:avLst/>
          </a:prstGeom>
          <a:noFill/>
          <a:ln>
            <a:noFill/>
          </a:ln>
        </p:spPr>
      </p:pic>
      <p:sp>
        <p:nvSpPr>
          <p:cNvPr id="112" name="Google Shape;112;p15"/>
          <p:cNvSpPr/>
          <p:nvPr/>
        </p:nvSpPr>
        <p:spPr>
          <a:xfrm>
            <a:off x="411500" y="411475"/>
            <a:ext cx="1959300" cy="274200"/>
          </a:xfrm>
          <a:prstGeom prst="roundRect">
            <a:avLst>
              <a:gd fmla="val 50000" name="adj"/>
            </a:avLst>
          </a:prstGeom>
          <a:noFill/>
          <a:ln cap="flat" cmpd="sng" w="9525">
            <a:solidFill>
              <a:srgbClr val="94A3B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000">
                <a:solidFill>
                  <a:srgbClr val="FFFFFF"/>
                </a:solidFill>
              </a:rPr>
              <a:t>USER TRAINING SESSION</a:t>
            </a:r>
            <a:endParaRPr b="1" sz="1000">
              <a:solidFill>
                <a:srgbClr val="FFFFFF"/>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C2B3E"/>
        </a:solidFill>
      </p:bgPr>
    </p:bg>
    <p:spTree>
      <p:nvGrpSpPr>
        <p:cNvPr id="117" name="Shape 117"/>
        <p:cNvGrpSpPr/>
        <p:nvPr/>
      </p:nvGrpSpPr>
      <p:grpSpPr>
        <a:xfrm>
          <a:off x="0" y="0"/>
          <a:ext cx="0" cy="0"/>
          <a:chOff x="0" y="0"/>
          <a:chExt cx="0" cy="0"/>
        </a:xfrm>
      </p:grpSpPr>
      <p:sp>
        <p:nvSpPr>
          <p:cNvPr id="118" name="Google Shape;118;p16"/>
          <p:cNvSpPr/>
          <p:nvPr/>
        </p:nvSpPr>
        <p:spPr>
          <a:xfrm rot="-359800">
            <a:off x="685854" y="480124"/>
            <a:ext cx="2331759" cy="1371617"/>
          </a:xfrm>
          <a:prstGeom prst="roundRect">
            <a:avLst>
              <a:gd fmla="val 6000" name="adj"/>
            </a:avLst>
          </a:prstGeom>
          <a:solidFill>
            <a:srgbClr val="27394F">
              <a:alpha val="6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19" name="Google Shape;119;p16"/>
          <p:cNvSpPr/>
          <p:nvPr/>
        </p:nvSpPr>
        <p:spPr>
          <a:xfrm rot="299867">
            <a:off x="5829667" y="342866"/>
            <a:ext cx="2469087" cy="1508733"/>
          </a:xfrm>
          <a:prstGeom prst="roundRect">
            <a:avLst>
              <a:gd fmla="val 5455" name="adj"/>
            </a:avLst>
          </a:prstGeom>
          <a:solidFill>
            <a:srgbClr val="32495F">
              <a:alpha val="6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0" name="Google Shape;120;p16"/>
          <p:cNvSpPr/>
          <p:nvPr/>
        </p:nvSpPr>
        <p:spPr>
          <a:xfrm rot="239780">
            <a:off x="411490" y="3154620"/>
            <a:ext cx="2057603" cy="1440211"/>
          </a:xfrm>
          <a:prstGeom prst="roundRect">
            <a:avLst>
              <a:gd fmla="val 5714" name="adj"/>
            </a:avLst>
          </a:prstGeom>
          <a:solidFill>
            <a:srgbClr val="32495F">
              <a:alpha val="6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1" name="Google Shape;121;p16"/>
          <p:cNvSpPr/>
          <p:nvPr/>
        </p:nvSpPr>
        <p:spPr>
          <a:xfrm rot="-239906">
            <a:off x="6309731" y="2948964"/>
            <a:ext cx="2331876" cy="1577347"/>
          </a:xfrm>
          <a:prstGeom prst="roundRect">
            <a:avLst>
              <a:gd fmla="val 5217" name="adj"/>
            </a:avLst>
          </a:prstGeom>
          <a:solidFill>
            <a:srgbClr val="27394F">
              <a:alpha val="6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2" name="Google Shape;122;p16"/>
          <p:cNvSpPr/>
          <p:nvPr/>
        </p:nvSpPr>
        <p:spPr>
          <a:xfrm rot="479872">
            <a:off x="3292003" y="274288"/>
            <a:ext cx="1783144" cy="1165753"/>
          </a:xfrm>
          <a:prstGeom prst="roundRect">
            <a:avLst>
              <a:gd fmla="val 7059" name="adj"/>
            </a:avLst>
          </a:prstGeom>
          <a:solidFill>
            <a:srgbClr val="27394F">
              <a:alpha val="6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3" name="Google Shape;123;p16"/>
          <p:cNvSpPr/>
          <p:nvPr/>
        </p:nvSpPr>
        <p:spPr>
          <a:xfrm rot="-419973">
            <a:off x="3017608" y="3566178"/>
            <a:ext cx="1920211" cy="1234385"/>
          </a:xfrm>
          <a:prstGeom prst="roundRect">
            <a:avLst>
              <a:gd fmla="val 6667" name="adj"/>
            </a:avLst>
          </a:prstGeom>
          <a:solidFill>
            <a:srgbClr val="32495F">
              <a:alpha val="6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4" name="Google Shape;124;p16"/>
          <p:cNvSpPr/>
          <p:nvPr/>
        </p:nvSpPr>
        <p:spPr>
          <a:xfrm>
            <a:off x="0" y="0"/>
            <a:ext cx="9144300" cy="5143500"/>
          </a:xfrm>
          <a:prstGeom prst="rect">
            <a:avLst/>
          </a:prstGeom>
          <a:solidFill>
            <a:srgbClr val="1C2B3E">
              <a:alpha val="72159"/>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5" name="Google Shape;125;p16"/>
          <p:cNvSpPr/>
          <p:nvPr/>
        </p:nvSpPr>
        <p:spPr>
          <a:xfrm>
            <a:off x="823054" y="1954510"/>
            <a:ext cx="7498200" cy="12345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Clr>
                <a:srgbClr val="FFFFFF"/>
              </a:buClr>
              <a:buSzPts val="2300"/>
              <a:buFont typeface="Arial"/>
              <a:buNone/>
            </a:pPr>
            <a:r>
              <a:rPr b="1" lang="en-GB" sz="2300">
                <a:solidFill>
                  <a:srgbClr val="FFFFFF"/>
                </a:solidFill>
                <a:latin typeface="Poppins"/>
                <a:ea typeface="Poppins"/>
                <a:cs typeface="Poppins"/>
                <a:sym typeface="Poppins"/>
              </a:rPr>
              <a:t>“In one sentence — the </a:t>
            </a:r>
            <a:r>
              <a:rPr b="1" lang="en-GB" sz="2300">
                <a:solidFill>
                  <a:schemeClr val="accent1"/>
                </a:solidFill>
                <a:latin typeface="Poppins"/>
                <a:ea typeface="Poppins"/>
                <a:cs typeface="Poppins"/>
                <a:sym typeface="Poppins"/>
              </a:rPr>
              <a:t>worst customer order</a:t>
            </a:r>
            <a:endParaRPr sz="2300">
              <a:solidFill>
                <a:schemeClr val="accent1"/>
              </a:solidFill>
              <a:latin typeface="Poppins"/>
              <a:ea typeface="Poppins"/>
              <a:cs typeface="Poppins"/>
              <a:sym typeface="Poppins"/>
            </a:endParaRPr>
          </a:p>
          <a:p>
            <a:pPr indent="0" lvl="0" marL="0" marR="0" rtl="0" algn="ctr">
              <a:lnSpc>
                <a:spcPct val="115000"/>
              </a:lnSpc>
              <a:spcBef>
                <a:spcPts val="0"/>
              </a:spcBef>
              <a:spcAft>
                <a:spcPts val="0"/>
              </a:spcAft>
              <a:buClr>
                <a:srgbClr val="FFFFFF"/>
              </a:buClr>
              <a:buSzPts val="2300"/>
              <a:buFont typeface="Arial"/>
              <a:buNone/>
            </a:pPr>
            <a:r>
              <a:rPr b="1" lang="en-GB" sz="2300">
                <a:solidFill>
                  <a:srgbClr val="FFFFFF"/>
                </a:solidFill>
                <a:latin typeface="Poppins"/>
                <a:ea typeface="Poppins"/>
                <a:cs typeface="Poppins"/>
                <a:sym typeface="Poppins"/>
              </a:rPr>
              <a:t>you’ve ever had to decode.”</a:t>
            </a:r>
            <a:endParaRPr sz="2300">
              <a:solidFill>
                <a:schemeClr val="dk1"/>
              </a:solidFill>
              <a:latin typeface="Poppins"/>
              <a:ea typeface="Poppins"/>
              <a:cs typeface="Poppins"/>
              <a:sym typeface="Poppins"/>
            </a:endParaRPr>
          </a:p>
        </p:txBody>
      </p:sp>
      <p:sp>
        <p:nvSpPr>
          <p:cNvPr id="126" name="Google Shape;126;p16"/>
          <p:cNvSpPr/>
          <p:nvPr/>
        </p:nvSpPr>
        <p:spPr>
          <a:xfrm>
            <a:off x="4617737" y="205740"/>
            <a:ext cx="4115100" cy="205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2A6BE"/>
              </a:buClr>
              <a:buSzPts val="700"/>
              <a:buFont typeface="Arial"/>
              <a:buNone/>
            </a:pPr>
            <a:r>
              <a:rPr b="1" lang="en-GB" sz="700">
                <a:solidFill>
                  <a:schemeClr val="accent4"/>
                </a:solidFill>
              </a:rPr>
              <a:t>[DELETE ME] </a:t>
            </a:r>
            <a:r>
              <a:rPr lang="en-GB" sz="700">
                <a:solidFill>
                  <a:srgbClr val="92A6BE"/>
                </a:solidFill>
                <a:latin typeface="Arial"/>
                <a:ea typeface="Arial"/>
                <a:cs typeface="Arial"/>
                <a:sym typeface="Arial"/>
              </a:rPr>
              <a:t>ICEBREAKER · VARIANT 1  —  delete this slide if using Variant 2 or 3</a:t>
            </a:r>
            <a:endParaRPr sz="700">
              <a:solidFill>
                <a:schemeClr val="dk1"/>
              </a:solidFill>
              <a:latin typeface="Calibri"/>
              <a:ea typeface="Calibri"/>
              <a:cs typeface="Calibri"/>
              <a:sym typeface="Calibri"/>
            </a:endParaRPr>
          </a:p>
        </p:txBody>
      </p:sp>
      <p:sp>
        <p:nvSpPr>
          <p:cNvPr id="127" name="Google Shape;127;p16"/>
          <p:cNvSpPr txBox="1"/>
          <p:nvPr>
            <p:ph idx="12" type="sldNum"/>
          </p:nvPr>
        </p:nvSpPr>
        <p:spPr>
          <a:xfrm>
            <a:off x="8347216" y="4750189"/>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C2B3E"/>
        </a:solidFill>
      </p:bgPr>
    </p:bg>
    <p:spTree>
      <p:nvGrpSpPr>
        <p:cNvPr id="132" name="Shape 132"/>
        <p:cNvGrpSpPr/>
        <p:nvPr/>
      </p:nvGrpSpPr>
      <p:grpSpPr>
        <a:xfrm>
          <a:off x="0" y="0"/>
          <a:ext cx="0" cy="0"/>
          <a:chOff x="0" y="0"/>
          <a:chExt cx="0" cy="0"/>
        </a:xfrm>
      </p:grpSpPr>
      <p:sp>
        <p:nvSpPr>
          <p:cNvPr id="133" name="Google Shape;133;p17"/>
          <p:cNvSpPr/>
          <p:nvPr/>
        </p:nvSpPr>
        <p:spPr>
          <a:xfrm>
            <a:off x="3097481" y="1474472"/>
            <a:ext cx="754500" cy="754500"/>
          </a:xfrm>
          <a:prstGeom prst="ellipse">
            <a:avLst/>
          </a:prstGeom>
          <a:solidFill>
            <a:srgbClr val="27394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34" name="Google Shape;134;p17"/>
          <p:cNvSpPr/>
          <p:nvPr/>
        </p:nvSpPr>
        <p:spPr>
          <a:xfrm>
            <a:off x="3097481" y="1474472"/>
            <a:ext cx="754500" cy="754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821E"/>
              </a:buClr>
              <a:buSzPts val="2400"/>
              <a:buFont typeface="Arial"/>
              <a:buNone/>
            </a:pPr>
            <a:r>
              <a:rPr b="1" lang="en-GB" sz="2400">
                <a:solidFill>
                  <a:srgbClr val="E8821E"/>
                </a:solidFill>
                <a:latin typeface="Arial"/>
                <a:ea typeface="Arial"/>
                <a:cs typeface="Arial"/>
                <a:sym typeface="Arial"/>
              </a:rPr>
              <a:t>1</a:t>
            </a:r>
            <a:endParaRPr sz="2400">
              <a:solidFill>
                <a:schemeClr val="dk1"/>
              </a:solidFill>
              <a:latin typeface="Calibri"/>
              <a:ea typeface="Calibri"/>
              <a:cs typeface="Calibri"/>
              <a:sym typeface="Calibri"/>
            </a:endParaRPr>
          </a:p>
        </p:txBody>
      </p:sp>
      <p:sp>
        <p:nvSpPr>
          <p:cNvPr id="135" name="Google Shape;135;p17"/>
          <p:cNvSpPr/>
          <p:nvPr/>
        </p:nvSpPr>
        <p:spPr>
          <a:xfrm>
            <a:off x="4194820" y="1474472"/>
            <a:ext cx="754500" cy="754500"/>
          </a:xfrm>
          <a:prstGeom prst="ellipse">
            <a:avLst/>
          </a:prstGeom>
          <a:solidFill>
            <a:srgbClr val="27394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36" name="Google Shape;136;p17"/>
          <p:cNvSpPr/>
          <p:nvPr/>
        </p:nvSpPr>
        <p:spPr>
          <a:xfrm>
            <a:off x="4194820" y="1474472"/>
            <a:ext cx="754500" cy="754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821E"/>
              </a:buClr>
              <a:buSzPts val="2400"/>
              <a:buFont typeface="Arial"/>
              <a:buNone/>
            </a:pPr>
            <a:r>
              <a:rPr b="1" lang="en-GB" sz="2400">
                <a:solidFill>
                  <a:srgbClr val="E8821E"/>
                </a:solidFill>
                <a:latin typeface="Arial"/>
                <a:ea typeface="Arial"/>
                <a:cs typeface="Arial"/>
                <a:sym typeface="Arial"/>
              </a:rPr>
              <a:t>2</a:t>
            </a:r>
            <a:endParaRPr sz="2400">
              <a:solidFill>
                <a:schemeClr val="dk1"/>
              </a:solidFill>
              <a:latin typeface="Calibri"/>
              <a:ea typeface="Calibri"/>
              <a:cs typeface="Calibri"/>
              <a:sym typeface="Calibri"/>
            </a:endParaRPr>
          </a:p>
        </p:txBody>
      </p:sp>
      <p:sp>
        <p:nvSpPr>
          <p:cNvPr id="137" name="Google Shape;137;p17"/>
          <p:cNvSpPr/>
          <p:nvPr/>
        </p:nvSpPr>
        <p:spPr>
          <a:xfrm>
            <a:off x="5292158" y="1474472"/>
            <a:ext cx="754500" cy="754500"/>
          </a:xfrm>
          <a:prstGeom prst="ellipse">
            <a:avLst/>
          </a:prstGeom>
          <a:solidFill>
            <a:srgbClr val="27394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38" name="Google Shape;138;p17"/>
          <p:cNvSpPr/>
          <p:nvPr/>
        </p:nvSpPr>
        <p:spPr>
          <a:xfrm>
            <a:off x="5292158" y="1474472"/>
            <a:ext cx="754500" cy="754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821E"/>
              </a:buClr>
              <a:buSzPts val="2400"/>
              <a:buFont typeface="Arial"/>
              <a:buNone/>
            </a:pPr>
            <a:r>
              <a:rPr b="1" lang="en-GB" sz="2400">
                <a:solidFill>
                  <a:srgbClr val="E8821E"/>
                </a:solidFill>
                <a:latin typeface="Arial"/>
                <a:ea typeface="Arial"/>
                <a:cs typeface="Arial"/>
                <a:sym typeface="Arial"/>
              </a:rPr>
              <a:t>3</a:t>
            </a:r>
            <a:endParaRPr sz="2400">
              <a:solidFill>
                <a:schemeClr val="dk1"/>
              </a:solidFill>
              <a:latin typeface="Calibri"/>
              <a:ea typeface="Calibri"/>
              <a:cs typeface="Calibri"/>
              <a:sym typeface="Calibri"/>
            </a:endParaRPr>
          </a:p>
        </p:txBody>
      </p:sp>
      <p:sp>
        <p:nvSpPr>
          <p:cNvPr id="139" name="Google Shape;139;p17"/>
          <p:cNvSpPr/>
          <p:nvPr/>
        </p:nvSpPr>
        <p:spPr>
          <a:xfrm>
            <a:off x="822904" y="2640333"/>
            <a:ext cx="7498200" cy="1028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Clr>
                <a:srgbClr val="FFFFFF"/>
              </a:buClr>
              <a:buSzPts val="2400"/>
              <a:buFont typeface="Arial"/>
              <a:buNone/>
            </a:pPr>
            <a:r>
              <a:rPr b="1" lang="en-GB" sz="2400">
                <a:solidFill>
                  <a:srgbClr val="FFFFFF"/>
                </a:solidFill>
                <a:latin typeface="Poppins"/>
                <a:ea typeface="Poppins"/>
                <a:cs typeface="Poppins"/>
                <a:sym typeface="Poppins"/>
              </a:rPr>
              <a:t>Two truths and a lie — about you.</a:t>
            </a:r>
            <a:endParaRPr sz="2400">
              <a:solidFill>
                <a:schemeClr val="dk1"/>
              </a:solidFill>
              <a:latin typeface="Poppins"/>
              <a:ea typeface="Poppins"/>
              <a:cs typeface="Poppins"/>
              <a:sym typeface="Poppins"/>
            </a:endParaRPr>
          </a:p>
          <a:p>
            <a:pPr indent="0" lvl="0" marL="0" marR="0" rtl="0" algn="ctr">
              <a:lnSpc>
                <a:spcPct val="115000"/>
              </a:lnSpc>
              <a:spcBef>
                <a:spcPts val="0"/>
              </a:spcBef>
              <a:spcAft>
                <a:spcPts val="0"/>
              </a:spcAft>
              <a:buClr>
                <a:srgbClr val="FFFFFF"/>
              </a:buClr>
              <a:buSzPts val="2400"/>
              <a:buFont typeface="Arial"/>
              <a:buNone/>
            </a:pPr>
            <a:r>
              <a:rPr b="1" lang="en-GB" sz="2400">
                <a:solidFill>
                  <a:srgbClr val="FFFFFF"/>
                </a:solidFill>
                <a:latin typeface="Poppins"/>
                <a:ea typeface="Poppins"/>
                <a:cs typeface="Poppins"/>
                <a:sym typeface="Poppins"/>
              </a:rPr>
              <a:t>We guess the lie.</a:t>
            </a:r>
            <a:endParaRPr sz="2400">
              <a:solidFill>
                <a:schemeClr val="dk1"/>
              </a:solidFill>
              <a:latin typeface="Poppins"/>
              <a:ea typeface="Poppins"/>
              <a:cs typeface="Poppins"/>
              <a:sym typeface="Poppins"/>
            </a:endParaRPr>
          </a:p>
        </p:txBody>
      </p:sp>
      <p:sp>
        <p:nvSpPr>
          <p:cNvPr id="140" name="Google Shape;140;p17"/>
          <p:cNvSpPr txBox="1"/>
          <p:nvPr>
            <p:ph idx="12" type="sldNum"/>
          </p:nvPr>
        </p:nvSpPr>
        <p:spPr>
          <a:xfrm>
            <a:off x="8347216" y="4750189"/>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41" name="Google Shape;141;p17"/>
          <p:cNvSpPr/>
          <p:nvPr/>
        </p:nvSpPr>
        <p:spPr>
          <a:xfrm>
            <a:off x="4617737" y="205740"/>
            <a:ext cx="4115100" cy="205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2A6BE"/>
              </a:buClr>
              <a:buSzPts val="700"/>
              <a:buFont typeface="Arial"/>
              <a:buNone/>
            </a:pPr>
            <a:r>
              <a:rPr b="1" lang="en-GB" sz="700">
                <a:solidFill>
                  <a:schemeClr val="accent4"/>
                </a:solidFill>
              </a:rPr>
              <a:t>[DELETE ME] </a:t>
            </a:r>
            <a:r>
              <a:rPr lang="en-GB" sz="700">
                <a:solidFill>
                  <a:srgbClr val="92A6BE"/>
                </a:solidFill>
                <a:latin typeface="Arial"/>
                <a:ea typeface="Arial"/>
                <a:cs typeface="Arial"/>
                <a:sym typeface="Arial"/>
              </a:rPr>
              <a:t>ICEBREAKER · VARIANT </a:t>
            </a:r>
            <a:r>
              <a:rPr lang="en-GB" sz="700">
                <a:solidFill>
                  <a:srgbClr val="92A6BE"/>
                </a:solidFill>
              </a:rPr>
              <a:t>2 </a:t>
            </a:r>
            <a:r>
              <a:rPr lang="en-GB" sz="700">
                <a:solidFill>
                  <a:srgbClr val="92A6BE"/>
                </a:solidFill>
                <a:latin typeface="Arial"/>
                <a:ea typeface="Arial"/>
                <a:cs typeface="Arial"/>
                <a:sym typeface="Arial"/>
              </a:rPr>
              <a:t> —  delete this slide if using Variant 1 or </a:t>
            </a:r>
            <a:r>
              <a:rPr lang="en-GB" sz="700">
                <a:solidFill>
                  <a:srgbClr val="92A6BE"/>
                </a:solidFill>
              </a:rPr>
              <a:t>3</a:t>
            </a:r>
            <a:endParaRPr sz="7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C2B3E"/>
        </a:solidFill>
      </p:bgPr>
    </p:bg>
    <p:spTree>
      <p:nvGrpSpPr>
        <p:cNvPr id="146" name="Shape 146"/>
        <p:cNvGrpSpPr/>
        <p:nvPr/>
      </p:nvGrpSpPr>
      <p:grpSpPr>
        <a:xfrm>
          <a:off x="0" y="0"/>
          <a:ext cx="0" cy="0"/>
          <a:chOff x="0" y="0"/>
          <a:chExt cx="0" cy="0"/>
        </a:xfrm>
      </p:grpSpPr>
      <p:sp>
        <p:nvSpPr>
          <p:cNvPr id="147" name="Google Shape;147;p18"/>
          <p:cNvSpPr/>
          <p:nvPr/>
        </p:nvSpPr>
        <p:spPr>
          <a:xfrm>
            <a:off x="822904" y="1947653"/>
            <a:ext cx="7498200" cy="96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4200"/>
              <a:buFont typeface="Arial"/>
              <a:buNone/>
            </a:pPr>
            <a:r>
              <a:rPr b="1" lang="en-GB" sz="4200">
                <a:solidFill>
                  <a:srgbClr val="FFFFFF"/>
                </a:solidFill>
                <a:latin typeface="Poppins"/>
                <a:ea typeface="Poppins"/>
                <a:cs typeface="Poppins"/>
                <a:sym typeface="Poppins"/>
              </a:rPr>
              <a:t>Hands up if…</a:t>
            </a:r>
            <a:endParaRPr sz="4200">
              <a:solidFill>
                <a:schemeClr val="dk1"/>
              </a:solidFill>
              <a:latin typeface="Poppins"/>
              <a:ea typeface="Poppins"/>
              <a:cs typeface="Poppins"/>
              <a:sym typeface="Poppins"/>
            </a:endParaRPr>
          </a:p>
        </p:txBody>
      </p:sp>
      <p:sp>
        <p:nvSpPr>
          <p:cNvPr id="148" name="Google Shape;148;p18"/>
          <p:cNvSpPr/>
          <p:nvPr/>
        </p:nvSpPr>
        <p:spPr>
          <a:xfrm>
            <a:off x="3783318" y="3044933"/>
            <a:ext cx="150900" cy="150900"/>
          </a:xfrm>
          <a:prstGeom prst="ellipse">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9" name="Google Shape;149;p18"/>
          <p:cNvSpPr/>
          <p:nvPr/>
        </p:nvSpPr>
        <p:spPr>
          <a:xfrm>
            <a:off x="4139953" y="3044933"/>
            <a:ext cx="150900" cy="150900"/>
          </a:xfrm>
          <a:prstGeom prst="ellipse">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0" name="Google Shape;150;p18"/>
          <p:cNvSpPr/>
          <p:nvPr/>
        </p:nvSpPr>
        <p:spPr>
          <a:xfrm>
            <a:off x="4496588" y="3044933"/>
            <a:ext cx="150900" cy="150900"/>
          </a:xfrm>
          <a:prstGeom prst="ellipse">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1" name="Google Shape;151;p18"/>
          <p:cNvSpPr/>
          <p:nvPr/>
        </p:nvSpPr>
        <p:spPr>
          <a:xfrm>
            <a:off x="4853223" y="3044933"/>
            <a:ext cx="150900" cy="150900"/>
          </a:xfrm>
          <a:prstGeom prst="ellipse">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2" name="Google Shape;152;p18"/>
          <p:cNvSpPr/>
          <p:nvPr/>
        </p:nvSpPr>
        <p:spPr>
          <a:xfrm>
            <a:off x="5209858" y="3044933"/>
            <a:ext cx="150900" cy="150900"/>
          </a:xfrm>
          <a:prstGeom prst="ellipse">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3" name="Google Shape;153;p18"/>
          <p:cNvSpPr/>
          <p:nvPr/>
        </p:nvSpPr>
        <p:spPr>
          <a:xfrm>
            <a:off x="4617737" y="205740"/>
            <a:ext cx="4115100" cy="205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2A6BE"/>
              </a:buClr>
              <a:buSzPts val="700"/>
              <a:buFont typeface="Arial"/>
              <a:buNone/>
            </a:pPr>
            <a:r>
              <a:rPr b="1" lang="en-GB" sz="700">
                <a:solidFill>
                  <a:schemeClr val="accent4"/>
                </a:solidFill>
              </a:rPr>
              <a:t>[DELETE ME] </a:t>
            </a:r>
            <a:r>
              <a:rPr lang="en-GB" sz="700">
                <a:solidFill>
                  <a:srgbClr val="92A6BE"/>
                </a:solidFill>
                <a:latin typeface="Arial"/>
                <a:ea typeface="Arial"/>
                <a:cs typeface="Arial"/>
                <a:sym typeface="Arial"/>
              </a:rPr>
              <a:t>ICEBREAKER · VARIANT 3  —  delete this slide if using Variant 1 or 2</a:t>
            </a:r>
            <a:endParaRPr sz="700">
              <a:solidFill>
                <a:schemeClr val="dk1"/>
              </a:solidFill>
              <a:latin typeface="Calibri"/>
              <a:ea typeface="Calibri"/>
              <a:cs typeface="Calibri"/>
              <a:sym typeface="Calibri"/>
            </a:endParaRPr>
          </a:p>
        </p:txBody>
      </p:sp>
      <p:sp>
        <p:nvSpPr>
          <p:cNvPr id="154" name="Google Shape;154;p18"/>
          <p:cNvSpPr txBox="1"/>
          <p:nvPr>
            <p:ph idx="12" type="sldNum"/>
          </p:nvPr>
        </p:nvSpPr>
        <p:spPr>
          <a:xfrm>
            <a:off x="8347216" y="4750189"/>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9" name="Shape 159"/>
        <p:cNvGrpSpPr/>
        <p:nvPr/>
      </p:nvGrpSpPr>
      <p:grpSpPr>
        <a:xfrm>
          <a:off x="0" y="0"/>
          <a:ext cx="0" cy="0"/>
          <a:chOff x="0" y="0"/>
          <a:chExt cx="0" cy="0"/>
        </a:xfrm>
      </p:grpSpPr>
      <p:sp>
        <p:nvSpPr>
          <p:cNvPr id="160" name="Google Shape;160;p19"/>
          <p:cNvSpPr/>
          <p:nvPr/>
        </p:nvSpPr>
        <p:spPr>
          <a:xfrm>
            <a:off x="411502" y="342900"/>
            <a:ext cx="8321400" cy="480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C2B3E"/>
              </a:buClr>
              <a:buSzPts val="2400"/>
              <a:buFont typeface="Arial"/>
              <a:buNone/>
            </a:pPr>
            <a:r>
              <a:rPr b="1" lang="en-GB" sz="2400">
                <a:solidFill>
                  <a:srgbClr val="1C2B3E"/>
                </a:solidFill>
                <a:latin typeface="Poppins"/>
                <a:ea typeface="Poppins"/>
                <a:cs typeface="Poppins"/>
                <a:sym typeface="Poppins"/>
              </a:rPr>
              <a:t>Why are we here today?</a:t>
            </a:r>
            <a:endParaRPr sz="2400">
              <a:solidFill>
                <a:schemeClr val="dk1"/>
              </a:solidFill>
              <a:latin typeface="Poppins"/>
              <a:ea typeface="Poppins"/>
              <a:cs typeface="Poppins"/>
              <a:sym typeface="Poppins"/>
            </a:endParaRPr>
          </a:p>
        </p:txBody>
      </p:sp>
      <p:sp>
        <p:nvSpPr>
          <p:cNvPr id="161" name="Google Shape;161;p19"/>
          <p:cNvSpPr/>
          <p:nvPr/>
        </p:nvSpPr>
        <p:spPr>
          <a:xfrm>
            <a:off x="5870108" y="1474470"/>
            <a:ext cx="2862600" cy="2846100"/>
          </a:xfrm>
          <a:prstGeom prst="roundRect">
            <a:avLst>
              <a:gd fmla="val 2892" name="adj"/>
            </a:avLst>
          </a:prstGeom>
          <a:solidFill>
            <a:srgbClr val="E8821E"/>
          </a:solidFill>
          <a:ln>
            <a:noFill/>
          </a:ln>
          <a:effectLst>
            <a:outerShdw blurRad="101600" rotWithShape="0" algn="bl" dir="5400000" dist="38100">
              <a:srgbClr val="1C2B3E">
                <a:alpha val="1019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2" name="Google Shape;162;p19"/>
          <p:cNvSpPr/>
          <p:nvPr/>
        </p:nvSpPr>
        <p:spPr>
          <a:xfrm>
            <a:off x="6117009" y="1721358"/>
            <a:ext cx="384000" cy="384000"/>
          </a:xfrm>
          <a:prstGeom prst="ellipse">
            <a:avLst/>
          </a:pr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3" name="Google Shape;163;p19"/>
          <p:cNvSpPr/>
          <p:nvPr/>
        </p:nvSpPr>
        <p:spPr>
          <a:xfrm>
            <a:off x="6117009" y="1721358"/>
            <a:ext cx="384000" cy="384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821E"/>
              </a:buClr>
              <a:buSzPts val="1400"/>
              <a:buFont typeface="Arial"/>
              <a:buNone/>
            </a:pPr>
            <a:r>
              <a:rPr b="1" lang="en-GB" sz="1400">
                <a:solidFill>
                  <a:srgbClr val="E8821E"/>
                </a:solidFill>
                <a:latin typeface="Arial"/>
                <a:ea typeface="Arial"/>
                <a:cs typeface="Arial"/>
                <a:sym typeface="Arial"/>
              </a:rPr>
              <a:t>3</a:t>
            </a:r>
            <a:endParaRPr sz="1400">
              <a:solidFill>
                <a:schemeClr val="dk1"/>
              </a:solidFill>
              <a:latin typeface="Calibri"/>
              <a:ea typeface="Calibri"/>
              <a:cs typeface="Calibri"/>
              <a:sym typeface="Calibri"/>
            </a:endParaRPr>
          </a:p>
        </p:txBody>
      </p:sp>
      <p:sp>
        <p:nvSpPr>
          <p:cNvPr id="164" name="Google Shape;164;p19"/>
          <p:cNvSpPr/>
          <p:nvPr/>
        </p:nvSpPr>
        <p:spPr>
          <a:xfrm>
            <a:off x="8101787" y="1707642"/>
            <a:ext cx="411600" cy="411600"/>
          </a:xfrm>
          <a:prstGeom prst="roundRect">
            <a:avLst>
              <a:gd fmla="val 22000" name="adj"/>
            </a:avLst>
          </a:pr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Target_accent.png" id="165" name="Google Shape;165;p19"/>
          <p:cNvPicPr preferRelativeResize="0"/>
          <p:nvPr/>
        </p:nvPicPr>
        <p:blipFill rotWithShape="1">
          <a:blip r:embed="rId3">
            <a:alphaModFix/>
          </a:blip>
          <a:srcRect b="0" l="0" r="0" t="0"/>
          <a:stretch/>
        </p:blipFill>
        <p:spPr>
          <a:xfrm>
            <a:off x="8194375" y="1800225"/>
            <a:ext cx="226314" cy="226314"/>
          </a:xfrm>
          <a:prstGeom prst="rect">
            <a:avLst/>
          </a:prstGeom>
          <a:noFill/>
          <a:ln>
            <a:noFill/>
          </a:ln>
        </p:spPr>
      </p:pic>
      <p:sp>
        <p:nvSpPr>
          <p:cNvPr id="166" name="Google Shape;166;p19"/>
          <p:cNvSpPr/>
          <p:nvPr/>
        </p:nvSpPr>
        <p:spPr>
          <a:xfrm>
            <a:off x="6117009" y="3326130"/>
            <a:ext cx="2368800" cy="48000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FFFFFF"/>
              </a:buClr>
              <a:buSzPts val="1700"/>
              <a:buFont typeface="Arial"/>
              <a:buNone/>
            </a:pPr>
            <a:r>
              <a:rPr b="1" lang="en-GB" sz="1700">
                <a:solidFill>
                  <a:srgbClr val="FFFFFF"/>
                </a:solidFill>
                <a:latin typeface="Arial"/>
                <a:ea typeface="Arial"/>
                <a:cs typeface="Arial"/>
                <a:sym typeface="Arial"/>
              </a:rPr>
              <a:t>Drive it yourself</a:t>
            </a:r>
            <a:endParaRPr sz="1700">
              <a:solidFill>
                <a:schemeClr val="dk1"/>
              </a:solidFill>
              <a:latin typeface="Calibri"/>
              <a:ea typeface="Calibri"/>
              <a:cs typeface="Calibri"/>
              <a:sym typeface="Calibri"/>
            </a:endParaRPr>
          </a:p>
        </p:txBody>
      </p:sp>
      <p:sp>
        <p:nvSpPr>
          <p:cNvPr id="167" name="Google Shape;167;p19"/>
          <p:cNvSpPr/>
          <p:nvPr/>
        </p:nvSpPr>
        <p:spPr>
          <a:xfrm>
            <a:off x="6117009" y="3895344"/>
            <a:ext cx="960300" cy="274200"/>
          </a:xfrm>
          <a:prstGeom prst="roundRect">
            <a:avLst>
              <a:gd fmla="val 50000" name="adj"/>
            </a:avLst>
          </a:pr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8" name="Google Shape;168;p19"/>
          <p:cNvSpPr/>
          <p:nvPr/>
        </p:nvSpPr>
        <p:spPr>
          <a:xfrm>
            <a:off x="6117009" y="3895344"/>
            <a:ext cx="9603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821E"/>
              </a:buClr>
              <a:buSzPts val="900"/>
              <a:buFont typeface="Arial"/>
              <a:buNone/>
            </a:pPr>
            <a:r>
              <a:rPr b="1" lang="en-GB" sz="900">
                <a:solidFill>
                  <a:srgbClr val="E8821E"/>
                </a:solidFill>
                <a:latin typeface="Arial"/>
                <a:ea typeface="Arial"/>
                <a:cs typeface="Arial"/>
                <a:sym typeface="Arial"/>
              </a:rPr>
              <a:t>47 min</a:t>
            </a:r>
            <a:endParaRPr sz="900">
              <a:solidFill>
                <a:schemeClr val="dk1"/>
              </a:solidFill>
              <a:latin typeface="Calibri"/>
              <a:ea typeface="Calibri"/>
              <a:cs typeface="Calibri"/>
              <a:sym typeface="Calibri"/>
            </a:endParaRPr>
          </a:p>
        </p:txBody>
      </p:sp>
      <p:sp>
        <p:nvSpPr>
          <p:cNvPr id="169" name="Google Shape;169;p19"/>
          <p:cNvSpPr/>
          <p:nvPr/>
        </p:nvSpPr>
        <p:spPr>
          <a:xfrm>
            <a:off x="5612919" y="2726055"/>
            <a:ext cx="2742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2300"/>
              <a:buFont typeface="Arial"/>
              <a:buNone/>
            </a:pPr>
            <a:r>
              <a:rPr b="1" lang="en-GB" sz="2300">
                <a:solidFill>
                  <a:srgbClr val="94A3B8"/>
                </a:solidFill>
                <a:latin typeface="Arial"/>
                <a:ea typeface="Arial"/>
                <a:cs typeface="Arial"/>
                <a:sym typeface="Arial"/>
              </a:rPr>
              <a:t>›</a:t>
            </a:r>
            <a:endParaRPr sz="2300">
              <a:solidFill>
                <a:schemeClr val="dk1"/>
              </a:solidFill>
              <a:latin typeface="Calibri"/>
              <a:ea typeface="Calibri"/>
              <a:cs typeface="Calibri"/>
              <a:sym typeface="Calibri"/>
            </a:endParaRPr>
          </a:p>
        </p:txBody>
      </p:sp>
      <p:sp>
        <p:nvSpPr>
          <p:cNvPr id="170" name="Google Shape;170;p19"/>
          <p:cNvSpPr txBox="1"/>
          <p:nvPr>
            <p:ph idx="12" type="sldNum"/>
          </p:nvPr>
        </p:nvSpPr>
        <p:spPr>
          <a:xfrm>
            <a:off x="8347216" y="4750189"/>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71" name="Google Shape;171;p19"/>
          <p:cNvSpPr/>
          <p:nvPr/>
        </p:nvSpPr>
        <p:spPr>
          <a:xfrm>
            <a:off x="411502" y="1474470"/>
            <a:ext cx="2489400" cy="2846100"/>
          </a:xfrm>
          <a:prstGeom prst="roundRect">
            <a:avLst>
              <a:gd fmla="val 3306" name="adj"/>
            </a:avLst>
          </a:prstGeom>
          <a:solidFill>
            <a:srgbClr val="F5F7FA"/>
          </a:solidFill>
          <a:ln>
            <a:noFill/>
          </a:ln>
          <a:effectLst>
            <a:outerShdw blurRad="101600" rotWithShape="0" algn="bl" dir="5400000" dist="38100">
              <a:srgbClr val="1C2B3E">
                <a:alpha val="1019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72" name="Google Shape;172;p19"/>
          <p:cNvSpPr/>
          <p:nvPr/>
        </p:nvSpPr>
        <p:spPr>
          <a:xfrm>
            <a:off x="658403" y="1721358"/>
            <a:ext cx="384000" cy="384000"/>
          </a:xfrm>
          <a:prstGeom prst="ellipse">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73" name="Google Shape;173;p19"/>
          <p:cNvSpPr/>
          <p:nvPr/>
        </p:nvSpPr>
        <p:spPr>
          <a:xfrm>
            <a:off x="658403" y="1721358"/>
            <a:ext cx="384000" cy="384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Arial"/>
              <a:buNone/>
            </a:pPr>
            <a:r>
              <a:rPr b="1" lang="en-GB" sz="1400">
                <a:solidFill>
                  <a:srgbClr val="FFFFFF"/>
                </a:solidFill>
                <a:latin typeface="Arial"/>
                <a:ea typeface="Arial"/>
                <a:cs typeface="Arial"/>
                <a:sym typeface="Arial"/>
              </a:rPr>
              <a:t>1</a:t>
            </a:r>
            <a:endParaRPr sz="1400">
              <a:solidFill>
                <a:schemeClr val="dk1"/>
              </a:solidFill>
              <a:latin typeface="Calibri"/>
              <a:ea typeface="Calibri"/>
              <a:cs typeface="Calibri"/>
              <a:sym typeface="Calibri"/>
            </a:endParaRPr>
          </a:p>
        </p:txBody>
      </p:sp>
      <p:sp>
        <p:nvSpPr>
          <p:cNvPr id="174" name="Google Shape;174;p19"/>
          <p:cNvSpPr/>
          <p:nvPr/>
        </p:nvSpPr>
        <p:spPr>
          <a:xfrm>
            <a:off x="2269793" y="1707642"/>
            <a:ext cx="411600" cy="411600"/>
          </a:xfrm>
          <a:prstGeom prst="roundRect">
            <a:avLst>
              <a:gd fmla="val 22000" name="adj"/>
            </a:avLst>
          </a:prstGeom>
          <a:solidFill>
            <a:srgbClr val="92A6B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75" name="Google Shape;175;p19"/>
          <p:cNvSpPr/>
          <p:nvPr/>
        </p:nvSpPr>
        <p:spPr>
          <a:xfrm>
            <a:off x="658403" y="3326130"/>
            <a:ext cx="1995600" cy="48000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1C2B3E"/>
              </a:buClr>
              <a:buSzPts val="1500"/>
              <a:buFont typeface="Arial"/>
              <a:buNone/>
            </a:pPr>
            <a:r>
              <a:rPr b="1" lang="en-GB" sz="1500">
                <a:solidFill>
                  <a:srgbClr val="1C2B3E"/>
                </a:solidFill>
                <a:latin typeface="Arial"/>
                <a:ea typeface="Arial"/>
                <a:cs typeface="Arial"/>
                <a:sym typeface="Arial"/>
              </a:rPr>
              <a:t>Get to know MAIA</a:t>
            </a:r>
            <a:endParaRPr sz="1500">
              <a:solidFill>
                <a:schemeClr val="dk1"/>
              </a:solidFill>
              <a:latin typeface="Calibri"/>
              <a:ea typeface="Calibri"/>
              <a:cs typeface="Calibri"/>
              <a:sym typeface="Calibri"/>
            </a:endParaRPr>
          </a:p>
        </p:txBody>
      </p:sp>
      <p:sp>
        <p:nvSpPr>
          <p:cNvPr id="176" name="Google Shape;176;p19"/>
          <p:cNvSpPr/>
          <p:nvPr/>
        </p:nvSpPr>
        <p:spPr>
          <a:xfrm>
            <a:off x="658403" y="3895344"/>
            <a:ext cx="960300" cy="274200"/>
          </a:xfrm>
          <a:prstGeom prst="roundRect">
            <a:avLst>
              <a:gd fmla="val 50000"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77" name="Google Shape;177;p19"/>
          <p:cNvSpPr/>
          <p:nvPr/>
        </p:nvSpPr>
        <p:spPr>
          <a:xfrm>
            <a:off x="658403" y="3895344"/>
            <a:ext cx="9603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Arial"/>
              <a:buNone/>
            </a:pPr>
            <a:r>
              <a:rPr b="1" lang="en-GB" sz="900">
                <a:solidFill>
                  <a:srgbClr val="FFFFFF"/>
                </a:solidFill>
                <a:latin typeface="Arial"/>
                <a:ea typeface="Arial"/>
                <a:cs typeface="Arial"/>
                <a:sym typeface="Arial"/>
              </a:rPr>
              <a:t>22 min</a:t>
            </a:r>
            <a:endParaRPr sz="900">
              <a:solidFill>
                <a:schemeClr val="dk1"/>
              </a:solidFill>
              <a:latin typeface="Calibri"/>
              <a:ea typeface="Calibri"/>
              <a:cs typeface="Calibri"/>
              <a:sym typeface="Calibri"/>
            </a:endParaRPr>
          </a:p>
        </p:txBody>
      </p:sp>
      <p:sp>
        <p:nvSpPr>
          <p:cNvPr id="178" name="Google Shape;178;p19"/>
          <p:cNvSpPr/>
          <p:nvPr/>
        </p:nvSpPr>
        <p:spPr>
          <a:xfrm>
            <a:off x="3140805" y="1474470"/>
            <a:ext cx="2489400" cy="2846100"/>
          </a:xfrm>
          <a:prstGeom prst="roundRect">
            <a:avLst>
              <a:gd fmla="val 3306" name="adj"/>
            </a:avLst>
          </a:prstGeom>
          <a:solidFill>
            <a:srgbClr val="F5F7FA"/>
          </a:solidFill>
          <a:ln>
            <a:noFill/>
          </a:ln>
          <a:effectLst>
            <a:outerShdw blurRad="101600" rotWithShape="0" algn="bl" dir="5400000" dist="38100">
              <a:srgbClr val="1C2B3E">
                <a:alpha val="1019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79" name="Google Shape;179;p19"/>
          <p:cNvSpPr/>
          <p:nvPr/>
        </p:nvSpPr>
        <p:spPr>
          <a:xfrm>
            <a:off x="3387706" y="1721358"/>
            <a:ext cx="384000" cy="384000"/>
          </a:xfrm>
          <a:prstGeom prst="ellipse">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80" name="Google Shape;180;p19"/>
          <p:cNvSpPr/>
          <p:nvPr/>
        </p:nvSpPr>
        <p:spPr>
          <a:xfrm>
            <a:off x="3387706" y="1721358"/>
            <a:ext cx="384000" cy="384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Arial"/>
              <a:buNone/>
            </a:pPr>
            <a:r>
              <a:rPr b="1" lang="en-GB" sz="1400">
                <a:solidFill>
                  <a:srgbClr val="FFFFFF"/>
                </a:solidFill>
                <a:latin typeface="Arial"/>
                <a:ea typeface="Arial"/>
                <a:cs typeface="Arial"/>
                <a:sym typeface="Arial"/>
              </a:rPr>
              <a:t>2</a:t>
            </a:r>
            <a:endParaRPr sz="1400">
              <a:solidFill>
                <a:schemeClr val="dk1"/>
              </a:solidFill>
              <a:latin typeface="Calibri"/>
              <a:ea typeface="Calibri"/>
              <a:cs typeface="Calibri"/>
              <a:sym typeface="Calibri"/>
            </a:endParaRPr>
          </a:p>
        </p:txBody>
      </p:sp>
      <p:sp>
        <p:nvSpPr>
          <p:cNvPr id="181" name="Google Shape;181;p19"/>
          <p:cNvSpPr/>
          <p:nvPr/>
        </p:nvSpPr>
        <p:spPr>
          <a:xfrm>
            <a:off x="4999095" y="1707642"/>
            <a:ext cx="411600" cy="411600"/>
          </a:xfrm>
          <a:prstGeom prst="roundRect">
            <a:avLst>
              <a:gd fmla="val 22000" name="adj"/>
            </a:avLst>
          </a:prstGeom>
          <a:solidFill>
            <a:srgbClr val="92A6B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82" name="Google Shape;182;p19"/>
          <p:cNvSpPr/>
          <p:nvPr/>
        </p:nvSpPr>
        <p:spPr>
          <a:xfrm>
            <a:off x="3387706" y="3326130"/>
            <a:ext cx="1995600" cy="48000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1C2B3E"/>
              </a:buClr>
              <a:buSzPts val="1500"/>
              <a:buFont typeface="Arial"/>
              <a:buNone/>
            </a:pPr>
            <a:r>
              <a:rPr b="1" lang="en-GB" sz="1500">
                <a:solidFill>
                  <a:srgbClr val="1C2B3E"/>
                </a:solidFill>
                <a:latin typeface="Arial"/>
                <a:ea typeface="Arial"/>
                <a:cs typeface="Arial"/>
                <a:sym typeface="Arial"/>
              </a:rPr>
              <a:t>Watch it work</a:t>
            </a:r>
            <a:endParaRPr sz="1500">
              <a:solidFill>
                <a:schemeClr val="dk1"/>
              </a:solidFill>
              <a:latin typeface="Calibri"/>
              <a:ea typeface="Calibri"/>
              <a:cs typeface="Calibri"/>
              <a:sym typeface="Calibri"/>
            </a:endParaRPr>
          </a:p>
        </p:txBody>
      </p:sp>
      <p:sp>
        <p:nvSpPr>
          <p:cNvPr id="183" name="Google Shape;183;p19"/>
          <p:cNvSpPr/>
          <p:nvPr/>
        </p:nvSpPr>
        <p:spPr>
          <a:xfrm>
            <a:off x="3387706" y="3895344"/>
            <a:ext cx="960300" cy="274200"/>
          </a:xfrm>
          <a:prstGeom prst="roundRect">
            <a:avLst>
              <a:gd fmla="val 50000"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84" name="Google Shape;184;p19"/>
          <p:cNvSpPr/>
          <p:nvPr/>
        </p:nvSpPr>
        <p:spPr>
          <a:xfrm>
            <a:off x="3387706" y="3895344"/>
            <a:ext cx="9603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Arial"/>
              <a:buNone/>
            </a:pPr>
            <a:r>
              <a:rPr b="1" lang="en-GB" sz="900">
                <a:solidFill>
                  <a:srgbClr val="FFFFFF"/>
                </a:solidFill>
                <a:latin typeface="Arial"/>
                <a:ea typeface="Arial"/>
                <a:cs typeface="Arial"/>
                <a:sym typeface="Arial"/>
              </a:rPr>
              <a:t>25 min</a:t>
            </a:r>
            <a:endParaRPr sz="900">
              <a:solidFill>
                <a:schemeClr val="dk1"/>
              </a:solidFill>
              <a:latin typeface="Calibri"/>
              <a:ea typeface="Calibri"/>
              <a:cs typeface="Calibri"/>
              <a:sym typeface="Calibri"/>
            </a:endParaRPr>
          </a:p>
        </p:txBody>
      </p:sp>
      <p:sp>
        <p:nvSpPr>
          <p:cNvPr id="185" name="Google Shape;185;p19"/>
          <p:cNvSpPr/>
          <p:nvPr/>
        </p:nvSpPr>
        <p:spPr>
          <a:xfrm>
            <a:off x="2883616" y="2726055"/>
            <a:ext cx="2742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2300"/>
              <a:buFont typeface="Arial"/>
              <a:buNone/>
            </a:pPr>
            <a:r>
              <a:rPr b="1" lang="en-GB" sz="2300">
                <a:solidFill>
                  <a:srgbClr val="94A3B8"/>
                </a:solidFill>
                <a:latin typeface="Arial"/>
                <a:ea typeface="Arial"/>
                <a:cs typeface="Arial"/>
                <a:sym typeface="Arial"/>
              </a:rPr>
              <a:t>›</a:t>
            </a:r>
            <a:endParaRPr sz="2300">
              <a:solidFill>
                <a:schemeClr val="dk1"/>
              </a:solidFill>
              <a:latin typeface="Calibri"/>
              <a:ea typeface="Calibri"/>
              <a:cs typeface="Calibri"/>
              <a:sym typeface="Calibri"/>
            </a:endParaRPr>
          </a:p>
        </p:txBody>
      </p:sp>
      <p:pic>
        <p:nvPicPr>
          <p:cNvPr descr="/home/claude/maia/icons/FiEye_navy.png" id="186" name="Google Shape;186;p19"/>
          <p:cNvPicPr preferRelativeResize="0"/>
          <p:nvPr/>
        </p:nvPicPr>
        <p:blipFill rotWithShape="1">
          <a:blip r:embed="rId4">
            <a:alphaModFix/>
          </a:blip>
          <a:srcRect b="0" l="0" r="0" t="0"/>
          <a:stretch/>
        </p:blipFill>
        <p:spPr>
          <a:xfrm>
            <a:off x="2362381" y="1800225"/>
            <a:ext cx="226314" cy="226314"/>
          </a:xfrm>
          <a:prstGeom prst="rect">
            <a:avLst/>
          </a:prstGeom>
          <a:noFill/>
          <a:ln>
            <a:noFill/>
          </a:ln>
        </p:spPr>
      </p:pic>
      <p:pic>
        <p:nvPicPr>
          <p:cNvPr descr="/home/claude/maia/icons/FiPlay_navy.png" id="187" name="Google Shape;187;p19"/>
          <p:cNvPicPr preferRelativeResize="0"/>
          <p:nvPr/>
        </p:nvPicPr>
        <p:blipFill rotWithShape="1">
          <a:blip r:embed="rId5">
            <a:alphaModFix/>
          </a:blip>
          <a:srcRect b="0" l="0" r="0" t="0"/>
          <a:stretch/>
        </p:blipFill>
        <p:spPr>
          <a:xfrm>
            <a:off x="5091683" y="1800225"/>
            <a:ext cx="226314" cy="22631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2" name="Shape 192"/>
        <p:cNvGrpSpPr/>
        <p:nvPr/>
      </p:nvGrpSpPr>
      <p:grpSpPr>
        <a:xfrm>
          <a:off x="0" y="0"/>
          <a:ext cx="0" cy="0"/>
          <a:chOff x="0" y="0"/>
          <a:chExt cx="0" cy="0"/>
        </a:xfrm>
      </p:grpSpPr>
      <p:sp>
        <p:nvSpPr>
          <p:cNvPr id="193" name="Google Shape;193;p20"/>
          <p:cNvSpPr/>
          <p:nvPr/>
        </p:nvSpPr>
        <p:spPr>
          <a:xfrm>
            <a:off x="411502" y="260604"/>
            <a:ext cx="68583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SECTION 1</a:t>
            </a:r>
            <a:endParaRPr sz="800">
              <a:solidFill>
                <a:schemeClr val="dk1"/>
              </a:solidFill>
              <a:latin typeface="Calibri"/>
              <a:ea typeface="Calibri"/>
              <a:cs typeface="Calibri"/>
              <a:sym typeface="Calibri"/>
            </a:endParaRPr>
          </a:p>
        </p:txBody>
      </p:sp>
      <p:sp>
        <p:nvSpPr>
          <p:cNvPr id="194" name="Google Shape;194;p20"/>
          <p:cNvSpPr/>
          <p:nvPr/>
        </p:nvSpPr>
        <p:spPr>
          <a:xfrm>
            <a:off x="411502" y="438912"/>
            <a:ext cx="8321400" cy="480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GB" sz="2200">
                <a:solidFill>
                  <a:srgbClr val="1C2B3E"/>
                </a:solidFill>
                <a:latin typeface="Poppins"/>
                <a:ea typeface="Poppins"/>
                <a:cs typeface="Poppins"/>
                <a:sym typeface="Poppins"/>
              </a:rPr>
              <a:t>Stop retyping orders from WhatsApp to your system.</a:t>
            </a:r>
            <a:endParaRPr b="1" sz="2200">
              <a:solidFill>
                <a:srgbClr val="1C2B3E"/>
              </a:solidFill>
              <a:latin typeface="Poppins"/>
              <a:ea typeface="Poppins"/>
              <a:cs typeface="Poppins"/>
              <a:sym typeface="Poppins"/>
            </a:endParaRPr>
          </a:p>
        </p:txBody>
      </p:sp>
      <p:sp>
        <p:nvSpPr>
          <p:cNvPr id="195" name="Google Shape;195;p20"/>
          <p:cNvSpPr/>
          <p:nvPr/>
        </p:nvSpPr>
        <p:spPr>
          <a:xfrm>
            <a:off x="411625" y="1345988"/>
            <a:ext cx="2529900" cy="1149900"/>
          </a:xfrm>
          <a:prstGeom prst="roundRect">
            <a:avLst>
              <a:gd fmla="val 6154" name="adj"/>
            </a:avLst>
          </a:prstGeom>
          <a:solidFill>
            <a:srgbClr val="F5F7FA"/>
          </a:solidFill>
          <a:ln cap="flat" cmpd="sng" w="9525">
            <a:solidFill>
              <a:srgbClr val="E3E8EF"/>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96" name="Google Shape;196;p20"/>
          <p:cNvSpPr/>
          <p:nvPr/>
        </p:nvSpPr>
        <p:spPr>
          <a:xfrm>
            <a:off x="415627" y="1351163"/>
            <a:ext cx="2520900" cy="338100"/>
          </a:xfrm>
          <a:prstGeom prst="roundRect">
            <a:avLst>
              <a:gd fmla="val 20667" name="adj"/>
            </a:avLst>
          </a:pr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97" name="Google Shape;197;p20"/>
          <p:cNvSpPr/>
          <p:nvPr/>
        </p:nvSpPr>
        <p:spPr>
          <a:xfrm>
            <a:off x="415627" y="1517288"/>
            <a:ext cx="2520900" cy="171600"/>
          </a:xfrm>
          <a:prstGeom prst="rect">
            <a:avLst/>
          </a:pr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98" name="Google Shape;198;p20"/>
          <p:cNvSpPr/>
          <p:nvPr/>
        </p:nvSpPr>
        <p:spPr>
          <a:xfrm>
            <a:off x="507632" y="1414578"/>
            <a:ext cx="205800" cy="205800"/>
          </a:xfrm>
          <a:prstGeom prst="ellipse">
            <a:avLst/>
          </a:prstGeom>
          <a:solidFill>
            <a:srgbClr val="1A9D5C"/>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MessageCircle_white.png" id="199" name="Google Shape;199;p20"/>
          <p:cNvPicPr preferRelativeResize="0"/>
          <p:nvPr/>
        </p:nvPicPr>
        <p:blipFill rotWithShape="1">
          <a:blip r:embed="rId3">
            <a:alphaModFix/>
          </a:blip>
          <a:srcRect b="0" l="0" r="0" t="0"/>
          <a:stretch/>
        </p:blipFill>
        <p:spPr>
          <a:xfrm>
            <a:off x="553926" y="1460869"/>
            <a:ext cx="113157" cy="113157"/>
          </a:xfrm>
          <a:prstGeom prst="rect">
            <a:avLst/>
          </a:prstGeom>
          <a:noFill/>
          <a:ln>
            <a:noFill/>
          </a:ln>
        </p:spPr>
      </p:pic>
      <p:sp>
        <p:nvSpPr>
          <p:cNvPr id="200" name="Google Shape;200;p20"/>
          <p:cNvSpPr/>
          <p:nvPr/>
        </p:nvSpPr>
        <p:spPr>
          <a:xfrm>
            <a:off x="781967" y="1345998"/>
            <a:ext cx="137160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900"/>
              <a:buFont typeface="Arial"/>
              <a:buNone/>
            </a:pPr>
            <a:r>
              <a:rPr b="1" lang="en-GB" sz="900">
                <a:solidFill>
                  <a:srgbClr val="1C2B3E"/>
                </a:solidFill>
              </a:rPr>
              <a:t>Customer</a:t>
            </a:r>
            <a:endParaRPr sz="900">
              <a:solidFill>
                <a:schemeClr val="dk1"/>
              </a:solidFill>
              <a:latin typeface="Calibri"/>
              <a:ea typeface="Calibri"/>
              <a:cs typeface="Calibri"/>
              <a:sym typeface="Calibri"/>
            </a:endParaRPr>
          </a:p>
        </p:txBody>
      </p:sp>
      <p:sp>
        <p:nvSpPr>
          <p:cNvPr id="201" name="Google Shape;201;p20"/>
          <p:cNvSpPr/>
          <p:nvPr/>
        </p:nvSpPr>
        <p:spPr>
          <a:xfrm>
            <a:off x="1986782" y="1345998"/>
            <a:ext cx="788700" cy="3429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A9D5C"/>
              </a:buClr>
              <a:buSzPts val="700"/>
              <a:buFont typeface="Arial"/>
              <a:buNone/>
            </a:pPr>
            <a:r>
              <a:rPr lang="en-GB" sz="700">
                <a:solidFill>
                  <a:srgbClr val="1A9D5C"/>
                </a:solidFill>
                <a:latin typeface="Arial"/>
                <a:ea typeface="Arial"/>
                <a:cs typeface="Arial"/>
                <a:sym typeface="Arial"/>
              </a:rPr>
              <a:t>online</a:t>
            </a:r>
            <a:endParaRPr sz="700">
              <a:solidFill>
                <a:schemeClr val="dk1"/>
              </a:solidFill>
              <a:latin typeface="Calibri"/>
              <a:ea typeface="Calibri"/>
              <a:cs typeface="Calibri"/>
              <a:sym typeface="Calibri"/>
            </a:endParaRPr>
          </a:p>
        </p:txBody>
      </p:sp>
      <p:sp>
        <p:nvSpPr>
          <p:cNvPr id="202" name="Google Shape;202;p20"/>
          <p:cNvSpPr/>
          <p:nvPr/>
        </p:nvSpPr>
        <p:spPr>
          <a:xfrm>
            <a:off x="525127" y="1798633"/>
            <a:ext cx="2210700" cy="517200"/>
          </a:xfrm>
          <a:prstGeom prst="roundRect">
            <a:avLst>
              <a:gd fmla="val 9434" name="adj"/>
            </a:avLst>
          </a:pr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03" name="Google Shape;203;p20"/>
          <p:cNvSpPr/>
          <p:nvPr/>
        </p:nvSpPr>
        <p:spPr>
          <a:xfrm>
            <a:off x="658498" y="1693788"/>
            <a:ext cx="2050200" cy="726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900"/>
              <a:buFont typeface="Arial"/>
              <a:buNone/>
            </a:pPr>
            <a:r>
              <a:rPr lang="en-GB" sz="900">
                <a:solidFill>
                  <a:srgbClr val="1C2B3E"/>
                </a:solidFill>
              </a:rPr>
              <a:t>“Same oil as last week, 20 cartons.”</a:t>
            </a:r>
            <a:endParaRPr sz="900">
              <a:solidFill>
                <a:schemeClr val="dk1"/>
              </a:solidFill>
              <a:latin typeface="Calibri"/>
              <a:ea typeface="Calibri"/>
              <a:cs typeface="Calibri"/>
              <a:sym typeface="Calibri"/>
            </a:endParaRPr>
          </a:p>
        </p:txBody>
      </p:sp>
      <p:sp>
        <p:nvSpPr>
          <p:cNvPr id="204" name="Google Shape;204;p20"/>
          <p:cNvSpPr/>
          <p:nvPr/>
        </p:nvSpPr>
        <p:spPr>
          <a:xfrm>
            <a:off x="2431840" y="5489483"/>
            <a:ext cx="3760500" cy="1577400"/>
          </a:xfrm>
          <a:prstGeom prst="roundRect">
            <a:avLst>
              <a:gd fmla="val 4348" name="adj"/>
            </a:avLst>
          </a:prstGeom>
          <a:solidFill>
            <a:srgbClr val="FBEBD9"/>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05" name="Google Shape;205;p20"/>
          <p:cNvSpPr/>
          <p:nvPr/>
        </p:nvSpPr>
        <p:spPr>
          <a:xfrm>
            <a:off x="2582724" y="5626644"/>
            <a:ext cx="315600" cy="315600"/>
          </a:xfrm>
          <a:prstGeom prst="roundRect">
            <a:avLst>
              <a:gd fmla="val 22000" name="adj"/>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Zap_white.png" id="206" name="Google Shape;206;p20"/>
          <p:cNvPicPr preferRelativeResize="0"/>
          <p:nvPr/>
        </p:nvPicPr>
        <p:blipFill rotWithShape="1">
          <a:blip r:embed="rId4">
            <a:alphaModFix/>
          </a:blip>
          <a:srcRect b="0" l="0" r="0" t="0"/>
          <a:stretch/>
        </p:blipFill>
        <p:spPr>
          <a:xfrm>
            <a:off x="2653708" y="5697624"/>
            <a:ext cx="173507" cy="173507"/>
          </a:xfrm>
          <a:prstGeom prst="rect">
            <a:avLst/>
          </a:prstGeom>
          <a:noFill/>
          <a:ln>
            <a:noFill/>
          </a:ln>
        </p:spPr>
      </p:pic>
      <p:sp>
        <p:nvSpPr>
          <p:cNvPr id="207" name="Google Shape;207;p20"/>
          <p:cNvSpPr/>
          <p:nvPr/>
        </p:nvSpPr>
        <p:spPr>
          <a:xfrm>
            <a:off x="3007943" y="5626644"/>
            <a:ext cx="3074700" cy="315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1000"/>
              <a:buFont typeface="Arial"/>
              <a:buNone/>
            </a:pPr>
            <a:r>
              <a:rPr b="1" lang="en-GB" sz="1000">
                <a:solidFill>
                  <a:srgbClr val="1C2B3E"/>
                </a:solidFill>
              </a:rPr>
              <a:t>MAIA is NOT</a:t>
            </a:r>
            <a:r>
              <a:rPr b="1" lang="en-GB" sz="1000">
                <a:solidFill>
                  <a:srgbClr val="1C2B3E"/>
                </a:solidFill>
                <a:latin typeface="Arial"/>
                <a:ea typeface="Arial"/>
                <a:cs typeface="Arial"/>
                <a:sym typeface="Arial"/>
              </a:rPr>
              <a:t> just a chatbot or an OCR tool</a:t>
            </a:r>
            <a:endParaRPr sz="1000">
              <a:solidFill>
                <a:schemeClr val="dk1"/>
              </a:solidFill>
              <a:latin typeface="Calibri"/>
              <a:ea typeface="Calibri"/>
              <a:cs typeface="Calibri"/>
              <a:sym typeface="Calibri"/>
            </a:endParaRPr>
          </a:p>
        </p:txBody>
      </p:sp>
      <p:sp>
        <p:nvSpPr>
          <p:cNvPr id="208" name="Google Shape;208;p20"/>
          <p:cNvSpPr txBox="1"/>
          <p:nvPr>
            <p:ph idx="12" type="sldNum"/>
          </p:nvPr>
        </p:nvSpPr>
        <p:spPr>
          <a:xfrm>
            <a:off x="8347216" y="4750189"/>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grpSp>
        <p:nvGrpSpPr>
          <p:cNvPr id="209" name="Google Shape;209;p20"/>
          <p:cNvGrpSpPr/>
          <p:nvPr/>
        </p:nvGrpSpPr>
        <p:grpSpPr>
          <a:xfrm>
            <a:off x="2671885" y="6052375"/>
            <a:ext cx="1629639" cy="323100"/>
            <a:chOff x="5212360" y="3366025"/>
            <a:chExt cx="1629639" cy="323100"/>
          </a:xfrm>
        </p:grpSpPr>
        <p:pic>
          <p:nvPicPr>
            <p:cNvPr descr="/home/claude/maia/icons/FiCheck_green.png" id="210" name="Google Shape;210;p20"/>
            <p:cNvPicPr preferRelativeResize="0"/>
            <p:nvPr/>
          </p:nvPicPr>
          <p:blipFill rotWithShape="1">
            <a:blip r:embed="rId5">
              <a:alphaModFix/>
            </a:blip>
            <a:srcRect b="0" l="0" r="0" t="0"/>
            <a:stretch/>
          </p:blipFill>
          <p:spPr>
            <a:xfrm>
              <a:off x="5212360" y="3458995"/>
              <a:ext cx="137160" cy="137160"/>
            </a:xfrm>
            <a:prstGeom prst="rect">
              <a:avLst/>
            </a:prstGeom>
            <a:noFill/>
            <a:ln>
              <a:noFill/>
            </a:ln>
          </p:spPr>
        </p:pic>
        <p:sp>
          <p:nvSpPr>
            <p:cNvPr id="211" name="Google Shape;211;p20"/>
            <p:cNvSpPr txBox="1"/>
            <p:nvPr/>
          </p:nvSpPr>
          <p:spPr>
            <a:xfrm>
              <a:off x="5349499" y="3366025"/>
              <a:ext cx="1492500" cy="323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900">
                  <a:solidFill>
                    <a:srgbClr val="5B6B7D"/>
                  </a:solidFill>
                </a:rPr>
                <a:t>Receive orders from chat</a:t>
              </a:r>
              <a:endParaRPr/>
            </a:p>
          </p:txBody>
        </p:sp>
      </p:grpSp>
      <p:grpSp>
        <p:nvGrpSpPr>
          <p:cNvPr id="212" name="Google Shape;212;p20"/>
          <p:cNvGrpSpPr/>
          <p:nvPr/>
        </p:nvGrpSpPr>
        <p:grpSpPr>
          <a:xfrm>
            <a:off x="2673222" y="6330925"/>
            <a:ext cx="1629639" cy="323100"/>
            <a:chOff x="5212360" y="3366025"/>
            <a:chExt cx="1629639" cy="323100"/>
          </a:xfrm>
        </p:grpSpPr>
        <p:pic>
          <p:nvPicPr>
            <p:cNvPr descr="/home/claude/maia/icons/FiCheck_green.png" id="213" name="Google Shape;213;p20"/>
            <p:cNvPicPr preferRelativeResize="0"/>
            <p:nvPr/>
          </p:nvPicPr>
          <p:blipFill rotWithShape="1">
            <a:blip r:embed="rId5">
              <a:alphaModFix/>
            </a:blip>
            <a:srcRect b="0" l="0" r="0" t="0"/>
            <a:stretch/>
          </p:blipFill>
          <p:spPr>
            <a:xfrm>
              <a:off x="5212360" y="3458995"/>
              <a:ext cx="137160" cy="137160"/>
            </a:xfrm>
            <a:prstGeom prst="rect">
              <a:avLst/>
            </a:prstGeom>
            <a:noFill/>
            <a:ln>
              <a:noFill/>
            </a:ln>
          </p:spPr>
        </p:pic>
        <p:sp>
          <p:nvSpPr>
            <p:cNvPr id="214" name="Google Shape;214;p20"/>
            <p:cNvSpPr txBox="1"/>
            <p:nvPr/>
          </p:nvSpPr>
          <p:spPr>
            <a:xfrm>
              <a:off x="5349499" y="3366025"/>
              <a:ext cx="1492500" cy="323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900">
                  <a:solidFill>
                    <a:srgbClr val="5B6B7D"/>
                  </a:solidFill>
                </a:rPr>
                <a:t>Translate the messy input</a:t>
              </a:r>
              <a:endParaRPr sz="900">
                <a:solidFill>
                  <a:srgbClr val="5B6B7D"/>
                </a:solidFill>
              </a:endParaRPr>
            </a:p>
          </p:txBody>
        </p:sp>
      </p:grpSp>
      <p:grpSp>
        <p:nvGrpSpPr>
          <p:cNvPr id="215" name="Google Shape;215;p20"/>
          <p:cNvGrpSpPr/>
          <p:nvPr/>
        </p:nvGrpSpPr>
        <p:grpSpPr>
          <a:xfrm>
            <a:off x="2673222" y="6609475"/>
            <a:ext cx="1629639" cy="323100"/>
            <a:chOff x="5212360" y="3366025"/>
            <a:chExt cx="1629639" cy="323100"/>
          </a:xfrm>
        </p:grpSpPr>
        <p:pic>
          <p:nvPicPr>
            <p:cNvPr descr="/home/claude/maia/icons/FiCheck_green.png" id="216" name="Google Shape;216;p20"/>
            <p:cNvPicPr preferRelativeResize="0"/>
            <p:nvPr/>
          </p:nvPicPr>
          <p:blipFill rotWithShape="1">
            <a:blip r:embed="rId5">
              <a:alphaModFix/>
            </a:blip>
            <a:srcRect b="0" l="0" r="0" t="0"/>
            <a:stretch/>
          </p:blipFill>
          <p:spPr>
            <a:xfrm>
              <a:off x="5212360" y="3458995"/>
              <a:ext cx="137160" cy="137160"/>
            </a:xfrm>
            <a:prstGeom prst="rect">
              <a:avLst/>
            </a:prstGeom>
            <a:noFill/>
            <a:ln>
              <a:noFill/>
            </a:ln>
          </p:spPr>
        </p:pic>
        <p:sp>
          <p:nvSpPr>
            <p:cNvPr id="217" name="Google Shape;217;p20"/>
            <p:cNvSpPr txBox="1"/>
            <p:nvPr/>
          </p:nvSpPr>
          <p:spPr>
            <a:xfrm>
              <a:off x="5349499" y="3366025"/>
              <a:ext cx="1492500" cy="323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900">
                  <a:solidFill>
                    <a:srgbClr val="5B6B7D"/>
                  </a:solidFill>
                </a:rPr>
                <a:t>Check business rules</a:t>
              </a:r>
              <a:endParaRPr sz="900">
                <a:solidFill>
                  <a:srgbClr val="5B6B7D"/>
                </a:solidFill>
              </a:endParaRPr>
            </a:p>
          </p:txBody>
        </p:sp>
      </p:grpSp>
      <p:grpSp>
        <p:nvGrpSpPr>
          <p:cNvPr id="218" name="Google Shape;218;p20"/>
          <p:cNvGrpSpPr/>
          <p:nvPr/>
        </p:nvGrpSpPr>
        <p:grpSpPr>
          <a:xfrm>
            <a:off x="4468521" y="6036975"/>
            <a:ext cx="1629639" cy="482400"/>
            <a:chOff x="5212360" y="3366025"/>
            <a:chExt cx="1629639" cy="482400"/>
          </a:xfrm>
        </p:grpSpPr>
        <p:pic>
          <p:nvPicPr>
            <p:cNvPr descr="/home/claude/maia/icons/FiCheck_green.png" id="219" name="Google Shape;219;p20"/>
            <p:cNvPicPr preferRelativeResize="0"/>
            <p:nvPr/>
          </p:nvPicPr>
          <p:blipFill rotWithShape="1">
            <a:blip r:embed="rId5">
              <a:alphaModFix/>
            </a:blip>
            <a:srcRect b="0" l="0" r="0" t="0"/>
            <a:stretch/>
          </p:blipFill>
          <p:spPr>
            <a:xfrm>
              <a:off x="5212360" y="3458995"/>
              <a:ext cx="137160" cy="137160"/>
            </a:xfrm>
            <a:prstGeom prst="rect">
              <a:avLst/>
            </a:prstGeom>
            <a:noFill/>
            <a:ln>
              <a:noFill/>
            </a:ln>
          </p:spPr>
        </p:pic>
        <p:sp>
          <p:nvSpPr>
            <p:cNvPr id="220" name="Google Shape;220;p20"/>
            <p:cNvSpPr txBox="1"/>
            <p:nvPr/>
          </p:nvSpPr>
          <p:spPr>
            <a:xfrm>
              <a:off x="5349499" y="3366025"/>
              <a:ext cx="1492500" cy="482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900">
                  <a:solidFill>
                    <a:srgbClr val="5B6B7D"/>
                  </a:solidFill>
                </a:rPr>
                <a:t>Pushes clean data to your system</a:t>
              </a:r>
              <a:endParaRPr sz="900">
                <a:solidFill>
                  <a:srgbClr val="5B6B7D"/>
                </a:solidFill>
              </a:endParaRPr>
            </a:p>
          </p:txBody>
        </p:sp>
      </p:grpSp>
      <p:grpSp>
        <p:nvGrpSpPr>
          <p:cNvPr id="221" name="Google Shape;221;p20"/>
          <p:cNvGrpSpPr/>
          <p:nvPr/>
        </p:nvGrpSpPr>
        <p:grpSpPr>
          <a:xfrm>
            <a:off x="4468521" y="6450182"/>
            <a:ext cx="1629639" cy="482400"/>
            <a:chOff x="5212360" y="3366025"/>
            <a:chExt cx="1629639" cy="482400"/>
          </a:xfrm>
        </p:grpSpPr>
        <p:pic>
          <p:nvPicPr>
            <p:cNvPr descr="/home/claude/maia/icons/FiCheck_green.png" id="222" name="Google Shape;222;p20"/>
            <p:cNvPicPr preferRelativeResize="0"/>
            <p:nvPr/>
          </p:nvPicPr>
          <p:blipFill rotWithShape="1">
            <a:blip r:embed="rId5">
              <a:alphaModFix/>
            </a:blip>
            <a:srcRect b="0" l="0" r="0" t="0"/>
            <a:stretch/>
          </p:blipFill>
          <p:spPr>
            <a:xfrm>
              <a:off x="5212360" y="3458995"/>
              <a:ext cx="137160" cy="137160"/>
            </a:xfrm>
            <a:prstGeom prst="rect">
              <a:avLst/>
            </a:prstGeom>
            <a:noFill/>
            <a:ln>
              <a:noFill/>
            </a:ln>
          </p:spPr>
        </p:pic>
        <p:sp>
          <p:nvSpPr>
            <p:cNvPr id="223" name="Google Shape;223;p20"/>
            <p:cNvSpPr txBox="1"/>
            <p:nvPr/>
          </p:nvSpPr>
          <p:spPr>
            <a:xfrm>
              <a:off x="5349499" y="3366025"/>
              <a:ext cx="1492500" cy="482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900">
                  <a:solidFill>
                    <a:srgbClr val="5B6B7D"/>
                  </a:solidFill>
                </a:rPr>
                <a:t>Keeps document trail visible</a:t>
              </a:r>
              <a:endParaRPr sz="900">
                <a:solidFill>
                  <a:srgbClr val="5B6B7D"/>
                </a:solidFill>
              </a:endParaRPr>
            </a:p>
          </p:txBody>
        </p:sp>
      </p:grpSp>
      <p:sp>
        <p:nvSpPr>
          <p:cNvPr id="224" name="Google Shape;224;p20"/>
          <p:cNvSpPr/>
          <p:nvPr/>
        </p:nvSpPr>
        <p:spPr>
          <a:xfrm>
            <a:off x="3307175" y="1345988"/>
            <a:ext cx="2529900" cy="1149900"/>
          </a:xfrm>
          <a:prstGeom prst="roundRect">
            <a:avLst>
              <a:gd fmla="val 6154" name="adj"/>
            </a:avLst>
          </a:prstGeom>
          <a:solidFill>
            <a:schemeClr val="accen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25" name="Google Shape;225;p20"/>
          <p:cNvSpPr/>
          <p:nvPr/>
        </p:nvSpPr>
        <p:spPr>
          <a:xfrm>
            <a:off x="6202725" y="1345988"/>
            <a:ext cx="2529900" cy="1149900"/>
          </a:xfrm>
          <a:prstGeom prst="roundRect">
            <a:avLst>
              <a:gd fmla="val 6154" name="adj"/>
            </a:avLst>
          </a:prstGeom>
          <a:solidFill>
            <a:schemeClr val="dk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26" name="Google Shape;226;p20"/>
          <p:cNvSpPr txBox="1"/>
          <p:nvPr/>
        </p:nvSpPr>
        <p:spPr>
          <a:xfrm>
            <a:off x="3428825" y="1433588"/>
            <a:ext cx="2286600" cy="974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100">
                <a:solidFill>
                  <a:schemeClr val="lt1"/>
                </a:solidFill>
              </a:rPr>
              <a:t>MAIA</a:t>
            </a:r>
            <a:endParaRPr sz="1100">
              <a:solidFill>
                <a:schemeClr val="lt1"/>
              </a:solidFill>
            </a:endParaRPr>
          </a:p>
          <a:p>
            <a:pPr indent="0" lvl="0" marL="0" rtl="0" algn="l">
              <a:spcBef>
                <a:spcPts val="1000"/>
              </a:spcBef>
              <a:spcAft>
                <a:spcPts val="0"/>
              </a:spcAft>
              <a:buNone/>
            </a:pPr>
            <a:r>
              <a:rPr b="1" lang="en-GB" sz="1600">
                <a:solidFill>
                  <a:schemeClr val="lt1"/>
                </a:solidFill>
              </a:rPr>
              <a:t>Extracts, Validates, Checks</a:t>
            </a:r>
            <a:endParaRPr b="1" sz="1600">
              <a:solidFill>
                <a:schemeClr val="lt1"/>
              </a:solidFill>
            </a:endParaRPr>
          </a:p>
        </p:txBody>
      </p:sp>
      <p:sp>
        <p:nvSpPr>
          <p:cNvPr id="227" name="Google Shape;227;p20"/>
          <p:cNvSpPr txBox="1"/>
          <p:nvPr/>
        </p:nvSpPr>
        <p:spPr>
          <a:xfrm>
            <a:off x="6324375" y="1434463"/>
            <a:ext cx="2286600" cy="974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100">
                <a:solidFill>
                  <a:schemeClr val="lt1"/>
                </a:solidFill>
              </a:rPr>
              <a:t>EPR</a:t>
            </a:r>
            <a:endParaRPr sz="1100">
              <a:solidFill>
                <a:schemeClr val="lt1"/>
              </a:solidFill>
            </a:endParaRPr>
          </a:p>
          <a:p>
            <a:pPr indent="0" lvl="0" marL="0" rtl="0" algn="l">
              <a:spcBef>
                <a:spcPts val="1000"/>
              </a:spcBef>
              <a:spcAft>
                <a:spcPts val="0"/>
              </a:spcAft>
              <a:buNone/>
            </a:pPr>
            <a:r>
              <a:rPr b="1" lang="en-GB" sz="1600">
                <a:solidFill>
                  <a:schemeClr val="lt1"/>
                </a:solidFill>
              </a:rPr>
              <a:t>Receive Clean Sales Order </a:t>
            </a:r>
            <a:endParaRPr b="1" sz="1600">
              <a:solidFill>
                <a:schemeClr val="lt1"/>
              </a:solidFill>
            </a:endParaRPr>
          </a:p>
        </p:txBody>
      </p:sp>
      <p:sp>
        <p:nvSpPr>
          <p:cNvPr id="228" name="Google Shape;228;p20"/>
          <p:cNvSpPr/>
          <p:nvPr/>
        </p:nvSpPr>
        <p:spPr>
          <a:xfrm>
            <a:off x="397950" y="2690763"/>
            <a:ext cx="2704800" cy="1129200"/>
          </a:xfrm>
          <a:prstGeom prst="roundRect">
            <a:avLst>
              <a:gd fmla="val 9279" name="adj"/>
            </a:avLst>
          </a:prstGeom>
          <a:noFill/>
          <a:ln cap="flat" cmpd="sng" w="9525">
            <a:solidFill>
              <a:srgbClr val="E3E8EF"/>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nvGrpSpPr>
          <p:cNvPr id="229" name="Google Shape;229;p20"/>
          <p:cNvGrpSpPr/>
          <p:nvPr/>
        </p:nvGrpSpPr>
        <p:grpSpPr>
          <a:xfrm>
            <a:off x="584949" y="2783262"/>
            <a:ext cx="2182995" cy="480062"/>
            <a:chOff x="5212360" y="3366022"/>
            <a:chExt cx="1469140" cy="323100"/>
          </a:xfrm>
        </p:grpSpPr>
        <p:pic>
          <p:nvPicPr>
            <p:cNvPr descr="/home/claude/maia/icons/FiCheck_green.png" id="230" name="Google Shape;230;p20"/>
            <p:cNvPicPr preferRelativeResize="0"/>
            <p:nvPr/>
          </p:nvPicPr>
          <p:blipFill rotWithShape="1">
            <a:blip r:embed="rId5">
              <a:alphaModFix/>
            </a:blip>
            <a:srcRect b="0" l="0" r="0" t="0"/>
            <a:stretch/>
          </p:blipFill>
          <p:spPr>
            <a:xfrm>
              <a:off x="5212360" y="3458995"/>
              <a:ext cx="137160" cy="137160"/>
            </a:xfrm>
            <a:prstGeom prst="rect">
              <a:avLst/>
            </a:prstGeom>
            <a:noFill/>
            <a:ln>
              <a:noFill/>
            </a:ln>
          </p:spPr>
        </p:pic>
        <p:sp>
          <p:nvSpPr>
            <p:cNvPr id="231" name="Google Shape;231;p20"/>
            <p:cNvSpPr txBox="1"/>
            <p:nvPr/>
          </p:nvSpPr>
          <p:spPr>
            <a:xfrm>
              <a:off x="5349500" y="3366022"/>
              <a:ext cx="1332000" cy="323100"/>
            </a:xfrm>
            <a:prstGeom prst="rect">
              <a:avLst/>
            </a:prstGeom>
            <a:noFill/>
            <a:ln>
              <a:noFill/>
            </a:ln>
          </p:spPr>
          <p:txBody>
            <a:bodyPr anchorCtr="0" anchor="t" bIns="135850" lIns="135850" spcFirstLastPara="1" rIns="135850" wrap="square" tIns="135850">
              <a:spAutoFit/>
            </a:bodyPr>
            <a:lstStyle/>
            <a:p>
              <a:pPr indent="0" lvl="0" marL="0" rtl="0" algn="l">
                <a:lnSpc>
                  <a:spcPct val="115000"/>
                </a:lnSpc>
                <a:spcBef>
                  <a:spcPts val="0"/>
                </a:spcBef>
                <a:spcAft>
                  <a:spcPts val="0"/>
                </a:spcAft>
                <a:buNone/>
              </a:pPr>
              <a:r>
                <a:rPr b="1" lang="en-GB" sz="1337">
                  <a:solidFill>
                    <a:schemeClr val="dk1"/>
                  </a:solidFill>
                </a:rPr>
                <a:t>No retyping</a:t>
              </a:r>
              <a:endParaRPr b="1" sz="2080">
                <a:solidFill>
                  <a:schemeClr val="dk1"/>
                </a:solidFill>
              </a:endParaRPr>
            </a:p>
          </p:txBody>
        </p:sp>
      </p:grpSp>
      <p:sp>
        <p:nvSpPr>
          <p:cNvPr id="232" name="Google Shape;232;p20"/>
          <p:cNvSpPr txBox="1"/>
          <p:nvPr/>
        </p:nvSpPr>
        <p:spPr>
          <a:xfrm>
            <a:off x="557050" y="3175713"/>
            <a:ext cx="2210700" cy="482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900">
                <a:solidFill>
                  <a:srgbClr val="5B6B7D"/>
                </a:solidFill>
              </a:rPr>
              <a:t>Orders are captured automatically from messages / image / PO document.</a:t>
            </a:r>
            <a:endParaRPr sz="900">
              <a:solidFill>
                <a:srgbClr val="5B6B7D"/>
              </a:solidFill>
            </a:endParaRPr>
          </a:p>
        </p:txBody>
      </p:sp>
      <p:sp>
        <p:nvSpPr>
          <p:cNvPr id="233" name="Google Shape;233;p20"/>
          <p:cNvSpPr/>
          <p:nvPr/>
        </p:nvSpPr>
        <p:spPr>
          <a:xfrm>
            <a:off x="3203150" y="2690763"/>
            <a:ext cx="2704800" cy="1129200"/>
          </a:xfrm>
          <a:prstGeom prst="roundRect">
            <a:avLst>
              <a:gd fmla="val 9279" name="adj"/>
            </a:avLst>
          </a:prstGeom>
          <a:noFill/>
          <a:ln cap="flat" cmpd="sng" w="9525">
            <a:solidFill>
              <a:srgbClr val="E3E8EF"/>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nvGrpSpPr>
          <p:cNvPr id="234" name="Google Shape;234;p20"/>
          <p:cNvGrpSpPr/>
          <p:nvPr/>
        </p:nvGrpSpPr>
        <p:grpSpPr>
          <a:xfrm>
            <a:off x="3390149" y="2783262"/>
            <a:ext cx="2182995" cy="480062"/>
            <a:chOff x="5212360" y="3366022"/>
            <a:chExt cx="1469140" cy="323100"/>
          </a:xfrm>
        </p:grpSpPr>
        <p:pic>
          <p:nvPicPr>
            <p:cNvPr descr="/home/claude/maia/icons/FiCheck_green.png" id="235" name="Google Shape;235;p20"/>
            <p:cNvPicPr preferRelativeResize="0"/>
            <p:nvPr/>
          </p:nvPicPr>
          <p:blipFill rotWithShape="1">
            <a:blip r:embed="rId5">
              <a:alphaModFix/>
            </a:blip>
            <a:srcRect b="0" l="0" r="0" t="0"/>
            <a:stretch/>
          </p:blipFill>
          <p:spPr>
            <a:xfrm>
              <a:off x="5212360" y="3458995"/>
              <a:ext cx="137160" cy="137160"/>
            </a:xfrm>
            <a:prstGeom prst="rect">
              <a:avLst/>
            </a:prstGeom>
            <a:noFill/>
            <a:ln>
              <a:noFill/>
            </a:ln>
          </p:spPr>
        </p:pic>
        <p:sp>
          <p:nvSpPr>
            <p:cNvPr id="236" name="Google Shape;236;p20"/>
            <p:cNvSpPr txBox="1"/>
            <p:nvPr/>
          </p:nvSpPr>
          <p:spPr>
            <a:xfrm>
              <a:off x="5349500" y="3366022"/>
              <a:ext cx="1332000" cy="323100"/>
            </a:xfrm>
            <a:prstGeom prst="rect">
              <a:avLst/>
            </a:prstGeom>
            <a:noFill/>
            <a:ln>
              <a:noFill/>
            </a:ln>
          </p:spPr>
          <p:txBody>
            <a:bodyPr anchorCtr="0" anchor="t" bIns="135850" lIns="135850" spcFirstLastPara="1" rIns="135850" wrap="square" tIns="135850">
              <a:spAutoFit/>
            </a:bodyPr>
            <a:lstStyle/>
            <a:p>
              <a:pPr indent="0" lvl="0" marL="0" rtl="0" algn="l">
                <a:lnSpc>
                  <a:spcPct val="115000"/>
                </a:lnSpc>
                <a:spcBef>
                  <a:spcPts val="0"/>
                </a:spcBef>
                <a:spcAft>
                  <a:spcPts val="0"/>
                </a:spcAft>
                <a:buNone/>
              </a:pPr>
              <a:r>
                <a:rPr b="1" lang="en-GB" sz="1337">
                  <a:solidFill>
                    <a:schemeClr val="dk1"/>
                  </a:solidFill>
                </a:rPr>
                <a:t>Fewer mistakes</a:t>
              </a:r>
              <a:endParaRPr b="1" sz="2080">
                <a:solidFill>
                  <a:schemeClr val="dk1"/>
                </a:solidFill>
              </a:endParaRPr>
            </a:p>
          </p:txBody>
        </p:sp>
      </p:grpSp>
      <p:sp>
        <p:nvSpPr>
          <p:cNvPr id="237" name="Google Shape;237;p20"/>
          <p:cNvSpPr txBox="1"/>
          <p:nvPr/>
        </p:nvSpPr>
        <p:spPr>
          <a:xfrm>
            <a:off x="3362250" y="3175713"/>
            <a:ext cx="2210700" cy="482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900">
                <a:solidFill>
                  <a:srgbClr val="5B6B7D"/>
                </a:solidFill>
              </a:rPr>
              <a:t>Customer, item, UOM, and price are checked before posting to ERP.</a:t>
            </a:r>
            <a:endParaRPr sz="900">
              <a:solidFill>
                <a:srgbClr val="5B6B7D"/>
              </a:solidFill>
            </a:endParaRPr>
          </a:p>
        </p:txBody>
      </p:sp>
      <p:sp>
        <p:nvSpPr>
          <p:cNvPr id="238" name="Google Shape;238;p20"/>
          <p:cNvSpPr/>
          <p:nvPr/>
        </p:nvSpPr>
        <p:spPr>
          <a:xfrm>
            <a:off x="6008350" y="2690763"/>
            <a:ext cx="2704800" cy="1129200"/>
          </a:xfrm>
          <a:prstGeom prst="roundRect">
            <a:avLst>
              <a:gd fmla="val 9279" name="adj"/>
            </a:avLst>
          </a:prstGeom>
          <a:noFill/>
          <a:ln cap="flat" cmpd="sng" w="9525">
            <a:solidFill>
              <a:srgbClr val="E3E8EF"/>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nvGrpSpPr>
          <p:cNvPr id="239" name="Google Shape;239;p20"/>
          <p:cNvGrpSpPr/>
          <p:nvPr/>
        </p:nvGrpSpPr>
        <p:grpSpPr>
          <a:xfrm>
            <a:off x="6195349" y="2783262"/>
            <a:ext cx="2182995" cy="480062"/>
            <a:chOff x="5212360" y="3366022"/>
            <a:chExt cx="1469140" cy="323100"/>
          </a:xfrm>
        </p:grpSpPr>
        <p:pic>
          <p:nvPicPr>
            <p:cNvPr descr="/home/claude/maia/icons/FiCheck_green.png" id="240" name="Google Shape;240;p20"/>
            <p:cNvPicPr preferRelativeResize="0"/>
            <p:nvPr/>
          </p:nvPicPr>
          <p:blipFill rotWithShape="1">
            <a:blip r:embed="rId5">
              <a:alphaModFix/>
            </a:blip>
            <a:srcRect b="0" l="0" r="0" t="0"/>
            <a:stretch/>
          </p:blipFill>
          <p:spPr>
            <a:xfrm>
              <a:off x="5212360" y="3458995"/>
              <a:ext cx="137160" cy="137160"/>
            </a:xfrm>
            <a:prstGeom prst="rect">
              <a:avLst/>
            </a:prstGeom>
            <a:noFill/>
            <a:ln>
              <a:noFill/>
            </a:ln>
          </p:spPr>
        </p:pic>
        <p:sp>
          <p:nvSpPr>
            <p:cNvPr id="241" name="Google Shape;241;p20"/>
            <p:cNvSpPr txBox="1"/>
            <p:nvPr/>
          </p:nvSpPr>
          <p:spPr>
            <a:xfrm>
              <a:off x="5349500" y="3366022"/>
              <a:ext cx="1332000" cy="323100"/>
            </a:xfrm>
            <a:prstGeom prst="rect">
              <a:avLst/>
            </a:prstGeom>
            <a:noFill/>
            <a:ln>
              <a:noFill/>
            </a:ln>
          </p:spPr>
          <p:txBody>
            <a:bodyPr anchorCtr="0" anchor="t" bIns="135850" lIns="135850" spcFirstLastPara="1" rIns="135850" wrap="square" tIns="135850">
              <a:spAutoFit/>
            </a:bodyPr>
            <a:lstStyle/>
            <a:p>
              <a:pPr indent="0" lvl="0" marL="0" rtl="0" algn="l">
                <a:lnSpc>
                  <a:spcPct val="115000"/>
                </a:lnSpc>
                <a:spcBef>
                  <a:spcPts val="0"/>
                </a:spcBef>
                <a:spcAft>
                  <a:spcPts val="0"/>
                </a:spcAft>
                <a:buNone/>
              </a:pPr>
              <a:r>
                <a:rPr b="1" lang="en-GB" sz="1337">
                  <a:solidFill>
                    <a:schemeClr val="dk1"/>
                  </a:solidFill>
                </a:rPr>
                <a:t>Ready for review</a:t>
              </a:r>
              <a:endParaRPr b="1" sz="2080">
                <a:solidFill>
                  <a:schemeClr val="dk1"/>
                </a:solidFill>
              </a:endParaRPr>
            </a:p>
          </p:txBody>
        </p:sp>
      </p:grpSp>
      <p:sp>
        <p:nvSpPr>
          <p:cNvPr id="242" name="Google Shape;242;p20"/>
          <p:cNvSpPr txBox="1"/>
          <p:nvPr/>
        </p:nvSpPr>
        <p:spPr>
          <a:xfrm>
            <a:off x="6167450" y="3175713"/>
            <a:ext cx="2210700" cy="482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900">
                <a:solidFill>
                  <a:srgbClr val="5B6B7D"/>
                </a:solidFill>
              </a:rPr>
              <a:t>The user confirms the order before it goes into ERP.</a:t>
            </a:r>
            <a:endParaRPr sz="900">
              <a:solidFill>
                <a:srgbClr val="5B6B7D"/>
              </a:solidFill>
            </a:endParaRPr>
          </a:p>
        </p:txBody>
      </p:sp>
      <p:sp>
        <p:nvSpPr>
          <p:cNvPr id="243" name="Google Shape;243;p20"/>
          <p:cNvSpPr/>
          <p:nvPr/>
        </p:nvSpPr>
        <p:spPr>
          <a:xfrm>
            <a:off x="2987250" y="1724165"/>
            <a:ext cx="2742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2100"/>
              <a:buFont typeface="Arial"/>
              <a:buNone/>
            </a:pPr>
            <a:r>
              <a:rPr b="1" lang="en-GB" sz="2100">
                <a:solidFill>
                  <a:srgbClr val="94A3B8"/>
                </a:solidFill>
                <a:latin typeface="Arial"/>
                <a:ea typeface="Arial"/>
                <a:cs typeface="Arial"/>
                <a:sym typeface="Arial"/>
              </a:rPr>
              <a:t>›</a:t>
            </a:r>
            <a:endParaRPr sz="2100">
              <a:solidFill>
                <a:schemeClr val="dk1"/>
              </a:solidFill>
              <a:latin typeface="Calibri"/>
              <a:ea typeface="Calibri"/>
              <a:cs typeface="Calibri"/>
              <a:sym typeface="Calibri"/>
            </a:endParaRPr>
          </a:p>
        </p:txBody>
      </p:sp>
      <p:sp>
        <p:nvSpPr>
          <p:cNvPr id="244" name="Google Shape;244;p20"/>
          <p:cNvSpPr/>
          <p:nvPr/>
        </p:nvSpPr>
        <p:spPr>
          <a:xfrm>
            <a:off x="5882800" y="1724165"/>
            <a:ext cx="2742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2100"/>
              <a:buFont typeface="Arial"/>
              <a:buNone/>
            </a:pPr>
            <a:r>
              <a:rPr b="1" lang="en-GB" sz="2100">
                <a:solidFill>
                  <a:srgbClr val="94A3B8"/>
                </a:solidFill>
                <a:latin typeface="Arial"/>
                <a:ea typeface="Arial"/>
                <a:cs typeface="Arial"/>
                <a:sym typeface="Arial"/>
              </a:rPr>
              <a:t>›</a:t>
            </a:r>
            <a:endParaRPr sz="2100">
              <a:solidFill>
                <a:schemeClr val="dk1"/>
              </a:solidFill>
              <a:latin typeface="Calibri"/>
              <a:ea typeface="Calibri"/>
              <a:cs typeface="Calibri"/>
              <a:sym typeface="Calibri"/>
            </a:endParaRPr>
          </a:p>
        </p:txBody>
      </p:sp>
      <p:sp>
        <p:nvSpPr>
          <p:cNvPr id="245" name="Google Shape;245;p20"/>
          <p:cNvSpPr/>
          <p:nvPr/>
        </p:nvSpPr>
        <p:spPr>
          <a:xfrm>
            <a:off x="394850" y="4015863"/>
            <a:ext cx="8321400" cy="615300"/>
          </a:xfrm>
          <a:prstGeom prst="roundRect">
            <a:avLst>
              <a:gd fmla="val 15834" name="adj"/>
            </a:avLst>
          </a:prstGeom>
          <a:solidFill>
            <a:schemeClr val="accent2"/>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46" name="Google Shape;246;p20"/>
          <p:cNvSpPr txBox="1"/>
          <p:nvPr/>
        </p:nvSpPr>
        <p:spPr>
          <a:xfrm>
            <a:off x="882958" y="4146925"/>
            <a:ext cx="68583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200">
                <a:solidFill>
                  <a:schemeClr val="dk2"/>
                </a:solidFill>
              </a:rPr>
              <a:t>MAIA removes the manual work between customer conversations and your business system.</a:t>
            </a:r>
            <a:endParaRPr sz="1200">
              <a:solidFill>
                <a:schemeClr val="dk2"/>
              </a:solidFill>
            </a:endParaRPr>
          </a:p>
        </p:txBody>
      </p:sp>
      <p:pic>
        <p:nvPicPr>
          <p:cNvPr id="247" name="Google Shape;247;p20" title="lightbulb-on (1).png"/>
          <p:cNvPicPr preferRelativeResize="0"/>
          <p:nvPr/>
        </p:nvPicPr>
        <p:blipFill rotWithShape="1">
          <a:blip r:embed="rId6">
            <a:alphaModFix/>
          </a:blip>
          <a:srcRect b="0" l="0" r="0" t="0"/>
          <a:stretch/>
        </p:blipFill>
        <p:spPr>
          <a:xfrm>
            <a:off x="631366" y="4220625"/>
            <a:ext cx="205800" cy="2058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2" name="Shape 252"/>
        <p:cNvGrpSpPr/>
        <p:nvPr/>
      </p:nvGrpSpPr>
      <p:grpSpPr>
        <a:xfrm>
          <a:off x="0" y="0"/>
          <a:ext cx="0" cy="0"/>
          <a:chOff x="0" y="0"/>
          <a:chExt cx="0" cy="0"/>
        </a:xfrm>
      </p:grpSpPr>
      <p:sp>
        <p:nvSpPr>
          <p:cNvPr id="253" name="Google Shape;253;p21"/>
          <p:cNvSpPr/>
          <p:nvPr/>
        </p:nvSpPr>
        <p:spPr>
          <a:xfrm>
            <a:off x="2438700" y="1832200"/>
            <a:ext cx="4266600" cy="1138800"/>
          </a:xfrm>
          <a:prstGeom prst="roundRect">
            <a:avLst>
              <a:gd fmla="val 10798"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4" name="Google Shape;254;p21"/>
          <p:cNvSpPr/>
          <p:nvPr/>
        </p:nvSpPr>
        <p:spPr>
          <a:xfrm>
            <a:off x="411502" y="260604"/>
            <a:ext cx="6858366"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SECTION 1</a:t>
            </a:r>
            <a:endParaRPr sz="800">
              <a:solidFill>
                <a:schemeClr val="dk1"/>
              </a:solidFill>
              <a:latin typeface="Calibri"/>
              <a:ea typeface="Calibri"/>
              <a:cs typeface="Calibri"/>
              <a:sym typeface="Calibri"/>
            </a:endParaRPr>
          </a:p>
        </p:txBody>
      </p:sp>
      <p:sp>
        <p:nvSpPr>
          <p:cNvPr id="255" name="Google Shape;255;p21"/>
          <p:cNvSpPr/>
          <p:nvPr/>
        </p:nvSpPr>
        <p:spPr>
          <a:xfrm>
            <a:off x="411502" y="438912"/>
            <a:ext cx="8321255" cy="48006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C2B3E"/>
              </a:buClr>
              <a:buSzPts val="2200"/>
              <a:buFont typeface="Arial"/>
              <a:buNone/>
            </a:pPr>
            <a:r>
              <a:rPr b="1" lang="en-GB" sz="2200">
                <a:solidFill>
                  <a:srgbClr val="1C2B3E"/>
                </a:solidFill>
                <a:latin typeface="Poppins"/>
                <a:ea typeface="Poppins"/>
                <a:cs typeface="Poppins"/>
                <a:sym typeface="Poppins"/>
              </a:rPr>
              <a:t>Know if you can sell — in 5 seconds.</a:t>
            </a:r>
            <a:endParaRPr sz="1500">
              <a:solidFill>
                <a:srgbClr val="1C2B3E"/>
              </a:solidFill>
              <a:latin typeface="Poppins Light"/>
              <a:ea typeface="Poppins Light"/>
              <a:cs typeface="Poppins Light"/>
              <a:sym typeface="Poppins Light"/>
            </a:endParaRPr>
          </a:p>
        </p:txBody>
      </p:sp>
      <p:sp>
        <p:nvSpPr>
          <p:cNvPr id="256" name="Google Shape;256;p21"/>
          <p:cNvSpPr txBox="1"/>
          <p:nvPr>
            <p:ph idx="12" type="sldNum"/>
          </p:nvPr>
        </p:nvSpPr>
        <p:spPr>
          <a:xfrm>
            <a:off x="8347216" y="4750189"/>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id="257" name="Google Shape;257;p21" title="phone-call.png"/>
          <p:cNvPicPr preferRelativeResize="0"/>
          <p:nvPr/>
        </p:nvPicPr>
        <p:blipFill>
          <a:blip r:embed="rId3">
            <a:alphaModFix/>
          </a:blip>
          <a:stretch>
            <a:fillRect/>
          </a:stretch>
        </p:blipFill>
        <p:spPr>
          <a:xfrm>
            <a:off x="2837408" y="2204800"/>
            <a:ext cx="393600" cy="393600"/>
          </a:xfrm>
          <a:prstGeom prst="rect">
            <a:avLst/>
          </a:prstGeom>
          <a:noFill/>
          <a:ln>
            <a:noFill/>
          </a:ln>
        </p:spPr>
      </p:pic>
      <p:sp>
        <p:nvSpPr>
          <p:cNvPr id="258" name="Google Shape;258;p21"/>
          <p:cNvSpPr txBox="1"/>
          <p:nvPr/>
        </p:nvSpPr>
        <p:spPr>
          <a:xfrm>
            <a:off x="3473150" y="2063050"/>
            <a:ext cx="28122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chemeClr val="accent1"/>
                </a:solidFill>
              </a:rPr>
              <a:t>"I need another 30 boxes, by tomorrow."</a:t>
            </a:r>
            <a:endParaRPr sz="1600">
              <a:solidFill>
                <a:schemeClr val="accent1"/>
              </a:solidFill>
            </a:endParaRPr>
          </a:p>
        </p:txBody>
      </p:sp>
      <p:sp>
        <p:nvSpPr>
          <p:cNvPr id="259" name="Google Shape;259;p21"/>
          <p:cNvSpPr txBox="1"/>
          <p:nvPr/>
        </p:nvSpPr>
        <p:spPr>
          <a:xfrm>
            <a:off x="3045900" y="3190638"/>
            <a:ext cx="3052200" cy="723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600">
                <a:solidFill>
                  <a:schemeClr val="dk2"/>
                </a:solidFill>
              </a:rPr>
              <a:t>Sales now needs an answer.</a:t>
            </a:r>
            <a:endParaRPr sz="1600">
              <a:solidFill>
                <a:schemeClr val="dk2"/>
              </a:solidFill>
            </a:endParaRPr>
          </a:p>
          <a:p>
            <a:pPr indent="0" lvl="0" marL="0" rtl="0" algn="ctr">
              <a:spcBef>
                <a:spcPts val="0"/>
              </a:spcBef>
              <a:spcAft>
                <a:spcPts val="0"/>
              </a:spcAft>
              <a:buNone/>
            </a:pPr>
            <a:r>
              <a:rPr b="1" lang="en-GB" sz="1900">
                <a:solidFill>
                  <a:schemeClr val="dk1"/>
                </a:solidFill>
              </a:rPr>
              <a:t>Can we proceed?</a:t>
            </a:r>
            <a:endParaRPr b="1" sz="190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4" name="Shape 264"/>
        <p:cNvGrpSpPr/>
        <p:nvPr/>
      </p:nvGrpSpPr>
      <p:grpSpPr>
        <a:xfrm>
          <a:off x="0" y="0"/>
          <a:ext cx="0" cy="0"/>
          <a:chOff x="0" y="0"/>
          <a:chExt cx="0" cy="0"/>
        </a:xfrm>
      </p:grpSpPr>
      <p:sp>
        <p:nvSpPr>
          <p:cNvPr id="265" name="Google Shape;265;p22"/>
          <p:cNvSpPr/>
          <p:nvPr/>
        </p:nvSpPr>
        <p:spPr>
          <a:xfrm>
            <a:off x="411502" y="260604"/>
            <a:ext cx="68583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SECTION 1</a:t>
            </a:r>
            <a:endParaRPr sz="800">
              <a:solidFill>
                <a:schemeClr val="dk1"/>
              </a:solidFill>
              <a:latin typeface="Calibri"/>
              <a:ea typeface="Calibri"/>
              <a:cs typeface="Calibri"/>
              <a:sym typeface="Calibri"/>
            </a:endParaRPr>
          </a:p>
        </p:txBody>
      </p:sp>
      <p:sp>
        <p:nvSpPr>
          <p:cNvPr id="266" name="Google Shape;266;p22"/>
          <p:cNvSpPr/>
          <p:nvPr/>
        </p:nvSpPr>
        <p:spPr>
          <a:xfrm>
            <a:off x="411500" y="438896"/>
            <a:ext cx="8321400" cy="646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C2B3E"/>
              </a:buClr>
              <a:buSzPts val="2200"/>
              <a:buFont typeface="Arial"/>
              <a:buNone/>
            </a:pPr>
            <a:r>
              <a:rPr b="1" lang="en-GB" sz="2200">
                <a:solidFill>
                  <a:srgbClr val="1C2B3E"/>
                </a:solidFill>
                <a:latin typeface="Poppins"/>
                <a:ea typeface="Poppins"/>
                <a:cs typeface="Poppins"/>
                <a:sym typeface="Poppins"/>
              </a:rPr>
              <a:t>Know if you can sell — in 5 seconds.</a:t>
            </a:r>
            <a:endParaRPr b="1" sz="2200">
              <a:solidFill>
                <a:srgbClr val="1C2B3E"/>
              </a:solidFill>
              <a:latin typeface="Poppins"/>
              <a:ea typeface="Poppins"/>
              <a:cs typeface="Poppins"/>
              <a:sym typeface="Poppins"/>
            </a:endParaRPr>
          </a:p>
          <a:p>
            <a:pPr indent="0" lvl="0" marL="0" marR="0" rtl="0" algn="l">
              <a:lnSpc>
                <a:spcPct val="100000"/>
              </a:lnSpc>
              <a:spcBef>
                <a:spcPts val="0"/>
              </a:spcBef>
              <a:spcAft>
                <a:spcPts val="0"/>
              </a:spcAft>
              <a:buClr>
                <a:srgbClr val="1C2B3E"/>
              </a:buClr>
              <a:buSzPts val="2200"/>
              <a:buFont typeface="Arial"/>
              <a:buNone/>
            </a:pPr>
            <a:r>
              <a:rPr lang="en-GB" sz="1800">
                <a:solidFill>
                  <a:srgbClr val="1C2B3E"/>
                </a:solidFill>
                <a:latin typeface="Poppins Light"/>
                <a:ea typeface="Poppins Light"/>
                <a:cs typeface="Poppins Light"/>
                <a:sym typeface="Poppins Light"/>
              </a:rPr>
              <a:t>see credit risk instantly before committing to a sale.</a:t>
            </a:r>
            <a:endParaRPr sz="1800">
              <a:solidFill>
                <a:srgbClr val="1C2B3E"/>
              </a:solidFill>
              <a:latin typeface="Poppins Light"/>
              <a:ea typeface="Poppins Light"/>
              <a:cs typeface="Poppins Light"/>
              <a:sym typeface="Poppins Light"/>
            </a:endParaRPr>
          </a:p>
        </p:txBody>
      </p:sp>
      <p:sp>
        <p:nvSpPr>
          <p:cNvPr id="267" name="Google Shape;267;p22"/>
          <p:cNvSpPr/>
          <p:nvPr/>
        </p:nvSpPr>
        <p:spPr>
          <a:xfrm>
            <a:off x="1485740" y="1771100"/>
            <a:ext cx="6172500" cy="2400300"/>
          </a:xfrm>
          <a:prstGeom prst="roundRect">
            <a:avLst>
              <a:gd fmla="val 4571" name="adj"/>
            </a:avLst>
          </a:prstGeom>
          <a:solidFill>
            <a:srgbClr val="F5F7FA"/>
          </a:solidFill>
          <a:ln>
            <a:noFill/>
          </a:ln>
          <a:effectLst>
            <a:outerShdw blurRad="127000" rotWithShape="0" algn="bl" dir="5400000" dist="50800">
              <a:srgbClr val="1C2B3E">
                <a:alpha val="1607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68" name="Google Shape;268;p22"/>
          <p:cNvSpPr/>
          <p:nvPr/>
        </p:nvSpPr>
        <p:spPr>
          <a:xfrm>
            <a:off x="1760075" y="2045420"/>
            <a:ext cx="411600" cy="411600"/>
          </a:xfrm>
          <a:prstGeom prst="roundRect">
            <a:avLst>
              <a:gd fmla="val 22000"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User_white.png" id="269" name="Google Shape;269;p22"/>
          <p:cNvPicPr preferRelativeResize="0"/>
          <p:nvPr/>
        </p:nvPicPr>
        <p:blipFill rotWithShape="1">
          <a:blip r:embed="rId3">
            <a:alphaModFix/>
          </a:blip>
          <a:srcRect b="0" l="0" r="0" t="0"/>
          <a:stretch/>
        </p:blipFill>
        <p:spPr>
          <a:xfrm>
            <a:off x="1852663" y="2138003"/>
            <a:ext cx="226314" cy="226314"/>
          </a:xfrm>
          <a:prstGeom prst="rect">
            <a:avLst/>
          </a:prstGeom>
          <a:noFill/>
          <a:ln>
            <a:noFill/>
          </a:ln>
        </p:spPr>
      </p:pic>
      <p:sp>
        <p:nvSpPr>
          <p:cNvPr id="270" name="Google Shape;270;p22"/>
          <p:cNvSpPr/>
          <p:nvPr/>
        </p:nvSpPr>
        <p:spPr>
          <a:xfrm>
            <a:off x="2308744" y="2045420"/>
            <a:ext cx="37722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1500"/>
              <a:buFont typeface="Arial"/>
              <a:buNone/>
            </a:pPr>
            <a:r>
              <a:rPr b="1" lang="en-GB" sz="1500">
                <a:solidFill>
                  <a:srgbClr val="1C2B3E"/>
                </a:solidFill>
                <a:latin typeface="Arial"/>
                <a:ea typeface="Arial"/>
                <a:cs typeface="Arial"/>
                <a:sym typeface="Arial"/>
              </a:rPr>
              <a:t>Kafe Santai Enterprise</a:t>
            </a:r>
            <a:endParaRPr sz="1500">
              <a:solidFill>
                <a:schemeClr val="dk1"/>
              </a:solidFill>
              <a:latin typeface="Calibri"/>
              <a:ea typeface="Calibri"/>
              <a:cs typeface="Calibri"/>
              <a:sym typeface="Calibri"/>
            </a:endParaRPr>
          </a:p>
        </p:txBody>
      </p:sp>
      <p:sp>
        <p:nvSpPr>
          <p:cNvPr id="271" name="Google Shape;271;p22"/>
          <p:cNvSpPr/>
          <p:nvPr/>
        </p:nvSpPr>
        <p:spPr>
          <a:xfrm>
            <a:off x="6012262" y="2079710"/>
            <a:ext cx="1371600" cy="384000"/>
          </a:xfrm>
          <a:prstGeom prst="roundRect">
            <a:avLst>
              <a:gd fmla="val 50000" name="adj"/>
            </a:avLst>
          </a:prstGeom>
          <a:solidFill>
            <a:srgbClr val="DC4C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72" name="Google Shape;272;p22"/>
          <p:cNvSpPr/>
          <p:nvPr/>
        </p:nvSpPr>
        <p:spPr>
          <a:xfrm>
            <a:off x="6012262" y="2079710"/>
            <a:ext cx="1371600" cy="384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lang="en-GB" sz="1100">
                <a:solidFill>
                  <a:srgbClr val="FFFFFF"/>
                </a:solidFill>
                <a:latin typeface="Arial"/>
                <a:ea typeface="Arial"/>
                <a:cs typeface="Arial"/>
                <a:sym typeface="Arial"/>
              </a:rPr>
              <a:t>⚠  Overdue</a:t>
            </a:r>
            <a:endParaRPr sz="1100">
              <a:solidFill>
                <a:schemeClr val="dk1"/>
              </a:solidFill>
              <a:latin typeface="Calibri"/>
              <a:ea typeface="Calibri"/>
              <a:cs typeface="Calibri"/>
              <a:sym typeface="Calibri"/>
            </a:endParaRPr>
          </a:p>
        </p:txBody>
      </p:sp>
      <p:sp>
        <p:nvSpPr>
          <p:cNvPr id="273" name="Google Shape;273;p22"/>
          <p:cNvSpPr/>
          <p:nvPr/>
        </p:nvSpPr>
        <p:spPr>
          <a:xfrm>
            <a:off x="1760075" y="2628350"/>
            <a:ext cx="5623800" cy="48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C4C3E"/>
              </a:buClr>
              <a:buSzPts val="2300"/>
              <a:buFont typeface="Arial"/>
              <a:buNone/>
            </a:pPr>
            <a:r>
              <a:rPr b="1" lang="en-GB" sz="2300">
                <a:solidFill>
                  <a:srgbClr val="DC4C3E"/>
                </a:solidFill>
                <a:latin typeface="Arial"/>
                <a:ea typeface="Arial"/>
                <a:cs typeface="Arial"/>
                <a:sym typeface="Arial"/>
              </a:rPr>
              <a:t>RM6,200 overdue  ·  45 days</a:t>
            </a:r>
            <a:endParaRPr sz="2300">
              <a:solidFill>
                <a:schemeClr val="dk1"/>
              </a:solidFill>
              <a:latin typeface="Calibri"/>
              <a:ea typeface="Calibri"/>
              <a:cs typeface="Calibri"/>
              <a:sym typeface="Calibri"/>
            </a:endParaRPr>
          </a:p>
        </p:txBody>
      </p:sp>
      <p:sp>
        <p:nvSpPr>
          <p:cNvPr id="274" name="Google Shape;274;p22"/>
          <p:cNvSpPr/>
          <p:nvPr/>
        </p:nvSpPr>
        <p:spPr>
          <a:xfrm>
            <a:off x="1760075" y="3142700"/>
            <a:ext cx="5623800" cy="24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900"/>
              <a:buFont typeface="Arial"/>
              <a:buNone/>
            </a:pPr>
            <a:r>
              <a:rPr lang="en-GB" sz="900">
                <a:solidFill>
                  <a:srgbClr val="94A3B8"/>
                </a:solidFill>
                <a:latin typeface="Arial"/>
                <a:ea typeface="Arial"/>
                <a:cs typeface="Arial"/>
                <a:sym typeface="Arial"/>
              </a:rPr>
              <a:t>Tap for full breakdown  ▸</a:t>
            </a:r>
            <a:endParaRPr sz="900">
              <a:solidFill>
                <a:schemeClr val="dk1"/>
              </a:solidFill>
              <a:latin typeface="Calibri"/>
              <a:ea typeface="Calibri"/>
              <a:cs typeface="Calibri"/>
              <a:sym typeface="Calibri"/>
            </a:endParaRPr>
          </a:p>
        </p:txBody>
      </p:sp>
      <p:sp>
        <p:nvSpPr>
          <p:cNvPr id="275" name="Google Shape;275;p22"/>
          <p:cNvSpPr/>
          <p:nvPr/>
        </p:nvSpPr>
        <p:spPr>
          <a:xfrm>
            <a:off x="1760075" y="3657050"/>
            <a:ext cx="1337400" cy="233100"/>
          </a:xfrm>
          <a:prstGeom prst="roundRect">
            <a:avLst>
              <a:gd fmla="val 14706" name="adj"/>
            </a:avLst>
          </a:prstGeom>
          <a:solidFill>
            <a:srgbClr val="DC4C3E">
              <a:alpha val="2196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76" name="Google Shape;276;p22"/>
          <p:cNvSpPr/>
          <p:nvPr/>
        </p:nvSpPr>
        <p:spPr>
          <a:xfrm>
            <a:off x="1814942" y="3657050"/>
            <a:ext cx="1268700" cy="233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700"/>
              <a:buFont typeface="Arial"/>
              <a:buNone/>
            </a:pPr>
            <a:r>
              <a:rPr lang="en-GB" sz="700">
                <a:solidFill>
                  <a:srgbClr val="94A3B8"/>
                </a:solidFill>
                <a:latin typeface="Arial"/>
                <a:ea typeface="Arial"/>
                <a:cs typeface="Arial"/>
                <a:sym typeface="Arial"/>
              </a:rPr>
              <a:t>Overdue</a:t>
            </a:r>
            <a:endParaRPr sz="700">
              <a:solidFill>
                <a:schemeClr val="dk1"/>
              </a:solidFill>
              <a:latin typeface="Calibri"/>
              <a:ea typeface="Calibri"/>
              <a:cs typeface="Calibri"/>
              <a:sym typeface="Calibri"/>
            </a:endParaRPr>
          </a:p>
        </p:txBody>
      </p:sp>
      <p:sp>
        <p:nvSpPr>
          <p:cNvPr id="277" name="Google Shape;277;p22"/>
          <p:cNvSpPr/>
          <p:nvPr/>
        </p:nvSpPr>
        <p:spPr>
          <a:xfrm>
            <a:off x="3166040" y="3657050"/>
            <a:ext cx="1337400" cy="233100"/>
          </a:xfrm>
          <a:prstGeom prst="roundRect">
            <a:avLst>
              <a:gd fmla="val 14706" name="adj"/>
            </a:avLst>
          </a:prstGeom>
          <a:solidFill>
            <a:srgbClr val="E8821E">
              <a:alpha val="2196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78" name="Google Shape;278;p22"/>
          <p:cNvSpPr/>
          <p:nvPr/>
        </p:nvSpPr>
        <p:spPr>
          <a:xfrm>
            <a:off x="3220907" y="3657050"/>
            <a:ext cx="1268700" cy="233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700"/>
              <a:buFont typeface="Arial"/>
              <a:buNone/>
            </a:pPr>
            <a:r>
              <a:rPr lang="en-GB" sz="700">
                <a:solidFill>
                  <a:srgbClr val="94A3B8"/>
                </a:solidFill>
              </a:rPr>
              <a:t>Exceed credit</a:t>
            </a:r>
            <a:r>
              <a:rPr lang="en-GB" sz="700">
                <a:solidFill>
                  <a:srgbClr val="94A3B8"/>
                </a:solidFill>
                <a:latin typeface="Arial"/>
                <a:ea typeface="Arial"/>
                <a:cs typeface="Arial"/>
                <a:sym typeface="Arial"/>
              </a:rPr>
              <a:t> limit</a:t>
            </a:r>
            <a:endParaRPr sz="700">
              <a:solidFill>
                <a:schemeClr val="dk1"/>
              </a:solidFill>
              <a:latin typeface="Calibri"/>
              <a:ea typeface="Calibri"/>
              <a:cs typeface="Calibri"/>
              <a:sym typeface="Calibri"/>
            </a:endParaRPr>
          </a:p>
        </p:txBody>
      </p:sp>
      <p:sp>
        <p:nvSpPr>
          <p:cNvPr id="279" name="Google Shape;279;p22"/>
          <p:cNvSpPr/>
          <p:nvPr/>
        </p:nvSpPr>
        <p:spPr>
          <a:xfrm>
            <a:off x="4572005" y="3657050"/>
            <a:ext cx="1337400" cy="233100"/>
          </a:xfrm>
          <a:prstGeom prst="roundRect">
            <a:avLst>
              <a:gd fmla="val 14706" name="adj"/>
            </a:avLst>
          </a:prstGeom>
          <a:solidFill>
            <a:srgbClr val="1C2B3E">
              <a:alpha val="2196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80" name="Google Shape;280;p22"/>
          <p:cNvSpPr/>
          <p:nvPr/>
        </p:nvSpPr>
        <p:spPr>
          <a:xfrm>
            <a:off x="4626872" y="3657050"/>
            <a:ext cx="1268700" cy="233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94A3B8"/>
              </a:buClr>
              <a:buSzPts val="700"/>
              <a:buFont typeface="Arial"/>
              <a:buNone/>
            </a:pPr>
            <a:r>
              <a:rPr lang="en-GB" sz="700">
                <a:solidFill>
                  <a:srgbClr val="94A3B8"/>
                </a:solidFill>
              </a:rPr>
              <a:t>Billed unpaid</a:t>
            </a:r>
            <a:endParaRPr sz="700">
              <a:solidFill>
                <a:schemeClr val="dk1"/>
              </a:solidFill>
              <a:latin typeface="Calibri"/>
              <a:ea typeface="Calibri"/>
              <a:cs typeface="Calibri"/>
              <a:sym typeface="Calibri"/>
            </a:endParaRPr>
          </a:p>
        </p:txBody>
      </p:sp>
      <p:sp>
        <p:nvSpPr>
          <p:cNvPr id="281" name="Google Shape;281;p22"/>
          <p:cNvSpPr/>
          <p:nvPr/>
        </p:nvSpPr>
        <p:spPr>
          <a:xfrm>
            <a:off x="5977970" y="3657050"/>
            <a:ext cx="1337400" cy="233100"/>
          </a:xfrm>
          <a:prstGeom prst="roundRect">
            <a:avLst>
              <a:gd fmla="val 14706" name="adj"/>
            </a:avLst>
          </a:prstGeom>
          <a:solidFill>
            <a:srgbClr val="94A3B8">
              <a:alpha val="2196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82" name="Google Shape;282;p22"/>
          <p:cNvSpPr/>
          <p:nvPr/>
        </p:nvSpPr>
        <p:spPr>
          <a:xfrm>
            <a:off x="6032837" y="3657050"/>
            <a:ext cx="1268700" cy="233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94A3B8"/>
              </a:buClr>
              <a:buSzPts val="700"/>
              <a:buFont typeface="Arial"/>
              <a:buNone/>
            </a:pPr>
            <a:r>
              <a:rPr lang="en-GB" sz="700">
                <a:solidFill>
                  <a:srgbClr val="94A3B8"/>
                </a:solidFill>
              </a:rPr>
              <a:t>Unbilled committed</a:t>
            </a:r>
            <a:endParaRPr sz="700">
              <a:solidFill>
                <a:srgbClr val="94A3B8"/>
              </a:solidFill>
            </a:endParaRPr>
          </a:p>
        </p:txBody>
      </p:sp>
      <p:sp>
        <p:nvSpPr>
          <p:cNvPr id="283" name="Google Shape;283;p22"/>
          <p:cNvSpPr txBox="1"/>
          <p:nvPr>
            <p:ph idx="12" type="sldNum"/>
          </p:nvPr>
        </p:nvSpPr>
        <p:spPr>
          <a:xfrm>
            <a:off x="8347216" y="4750189"/>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8" name="Shape 288"/>
        <p:cNvGrpSpPr/>
        <p:nvPr/>
      </p:nvGrpSpPr>
      <p:grpSpPr>
        <a:xfrm>
          <a:off x="0" y="0"/>
          <a:ext cx="0" cy="0"/>
          <a:chOff x="0" y="0"/>
          <a:chExt cx="0" cy="0"/>
        </a:xfrm>
      </p:grpSpPr>
      <p:sp>
        <p:nvSpPr>
          <p:cNvPr id="289" name="Google Shape;289;p23"/>
          <p:cNvSpPr/>
          <p:nvPr/>
        </p:nvSpPr>
        <p:spPr>
          <a:xfrm>
            <a:off x="411502" y="260604"/>
            <a:ext cx="6858366"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SECTION 1</a:t>
            </a:r>
            <a:endParaRPr sz="800">
              <a:solidFill>
                <a:schemeClr val="dk1"/>
              </a:solidFill>
              <a:latin typeface="Calibri"/>
              <a:ea typeface="Calibri"/>
              <a:cs typeface="Calibri"/>
              <a:sym typeface="Calibri"/>
            </a:endParaRPr>
          </a:p>
        </p:txBody>
      </p:sp>
      <p:sp>
        <p:nvSpPr>
          <p:cNvPr id="290" name="Google Shape;290;p23"/>
          <p:cNvSpPr/>
          <p:nvPr/>
        </p:nvSpPr>
        <p:spPr>
          <a:xfrm>
            <a:off x="411502" y="438912"/>
            <a:ext cx="8321255" cy="48006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1C2B3E"/>
              </a:buClr>
              <a:buSzPts val="2200"/>
              <a:buFont typeface="Arial"/>
              <a:buNone/>
            </a:pPr>
            <a:r>
              <a:rPr b="1" lang="en-GB" sz="2200">
                <a:solidFill>
                  <a:srgbClr val="1C2B3E"/>
                </a:solidFill>
                <a:latin typeface="Poppins"/>
                <a:ea typeface="Poppins"/>
                <a:cs typeface="Poppins"/>
                <a:sym typeface="Poppins"/>
              </a:rPr>
              <a:t>Know if you can sell — in 5 seconds.</a:t>
            </a:r>
            <a:endParaRPr b="1" sz="2200">
              <a:solidFill>
                <a:srgbClr val="1C2B3E"/>
              </a:solidFill>
              <a:latin typeface="Poppins"/>
              <a:ea typeface="Poppins"/>
              <a:cs typeface="Poppins"/>
              <a:sym typeface="Poppins"/>
            </a:endParaRPr>
          </a:p>
          <a:p>
            <a:pPr indent="0" lvl="0" marL="0" rtl="0" algn="l">
              <a:spcBef>
                <a:spcPts val="0"/>
              </a:spcBef>
              <a:spcAft>
                <a:spcPts val="0"/>
              </a:spcAft>
              <a:buClr>
                <a:srgbClr val="1C2B3E"/>
              </a:buClr>
              <a:buSzPts val="2200"/>
              <a:buFont typeface="Arial"/>
              <a:buNone/>
            </a:pPr>
            <a:r>
              <a:rPr lang="en-GB" sz="1800">
                <a:solidFill>
                  <a:srgbClr val="1C2B3E"/>
                </a:solidFill>
                <a:latin typeface="Poppins Light"/>
                <a:ea typeface="Poppins Light"/>
                <a:cs typeface="Poppins Light"/>
                <a:sym typeface="Poppins Light"/>
              </a:rPr>
              <a:t>see available stock, production capacity, incoming inventory in one view.</a:t>
            </a:r>
            <a:endParaRPr b="1" sz="1800">
              <a:solidFill>
                <a:srgbClr val="1C2B3E"/>
              </a:solidFill>
              <a:latin typeface="Poppins"/>
              <a:ea typeface="Poppins"/>
              <a:cs typeface="Poppins"/>
              <a:sym typeface="Poppins"/>
            </a:endParaRPr>
          </a:p>
          <a:p>
            <a:pPr indent="0" lvl="0" marL="0" marR="0" rtl="0" algn="l">
              <a:lnSpc>
                <a:spcPct val="100000"/>
              </a:lnSpc>
              <a:spcBef>
                <a:spcPts val="0"/>
              </a:spcBef>
              <a:spcAft>
                <a:spcPts val="0"/>
              </a:spcAft>
              <a:buClr>
                <a:srgbClr val="1C2B3E"/>
              </a:buClr>
              <a:buSzPts val="2200"/>
              <a:buFont typeface="Arial"/>
              <a:buNone/>
            </a:pPr>
            <a:r>
              <a:t/>
            </a:r>
            <a:endParaRPr b="1" sz="2200">
              <a:solidFill>
                <a:srgbClr val="1C2B3E"/>
              </a:solidFill>
              <a:latin typeface="Poppins"/>
              <a:ea typeface="Poppins"/>
              <a:cs typeface="Poppins"/>
              <a:sym typeface="Poppins"/>
            </a:endParaRPr>
          </a:p>
        </p:txBody>
      </p:sp>
      <p:sp>
        <p:nvSpPr>
          <p:cNvPr id="291" name="Google Shape;291;p23"/>
          <p:cNvSpPr/>
          <p:nvPr/>
        </p:nvSpPr>
        <p:spPr>
          <a:xfrm>
            <a:off x="411502" y="1337310"/>
            <a:ext cx="8321255" cy="20574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900">
                <a:solidFill>
                  <a:srgbClr val="94A3B8"/>
                </a:solidFill>
              </a:rPr>
              <a:t>KAFE SANTAI ENTERPRISE</a:t>
            </a:r>
            <a:endParaRPr b="1" sz="900">
              <a:solidFill>
                <a:srgbClr val="94A3B8"/>
              </a:solidFill>
            </a:endParaRPr>
          </a:p>
        </p:txBody>
      </p:sp>
      <p:sp>
        <p:nvSpPr>
          <p:cNvPr id="292" name="Google Shape;292;p23"/>
          <p:cNvSpPr/>
          <p:nvPr/>
        </p:nvSpPr>
        <p:spPr>
          <a:xfrm>
            <a:off x="411502" y="1645920"/>
            <a:ext cx="2636584" cy="1748790"/>
          </a:xfrm>
          <a:prstGeom prst="roundRect">
            <a:avLst>
              <a:gd fmla="val 4706" name="adj"/>
            </a:avLst>
          </a:prstGeom>
          <a:solidFill>
            <a:srgbClr val="E3F5EC"/>
          </a:solidFill>
          <a:ln>
            <a:noFill/>
          </a:ln>
          <a:effectLst>
            <a:outerShdw blurRad="101600" rotWithShape="0" algn="bl" dir="5400000" dist="38100">
              <a:srgbClr val="1C2B3E">
                <a:alpha val="10196"/>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93" name="Google Shape;293;p23"/>
          <p:cNvSpPr/>
          <p:nvPr/>
        </p:nvSpPr>
        <p:spPr>
          <a:xfrm>
            <a:off x="589819" y="1796796"/>
            <a:ext cx="2293666"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9D5C"/>
              </a:buClr>
              <a:buSzPts val="900"/>
              <a:buFont typeface="Arial"/>
              <a:buNone/>
            </a:pPr>
            <a:r>
              <a:rPr b="1" lang="en-GB" sz="900">
                <a:solidFill>
                  <a:srgbClr val="1A9D5C"/>
                </a:solidFill>
                <a:latin typeface="Arial"/>
                <a:ea typeface="Arial"/>
                <a:cs typeface="Arial"/>
                <a:sym typeface="Arial"/>
              </a:rPr>
              <a:t>AVAILABLE</a:t>
            </a:r>
            <a:endParaRPr sz="900">
              <a:solidFill>
                <a:schemeClr val="dk1"/>
              </a:solidFill>
              <a:latin typeface="Calibri"/>
              <a:ea typeface="Calibri"/>
              <a:cs typeface="Calibri"/>
              <a:sym typeface="Calibri"/>
            </a:endParaRPr>
          </a:p>
        </p:txBody>
      </p:sp>
      <p:sp>
        <p:nvSpPr>
          <p:cNvPr id="294" name="Google Shape;294;p23"/>
          <p:cNvSpPr/>
          <p:nvPr/>
        </p:nvSpPr>
        <p:spPr>
          <a:xfrm>
            <a:off x="589819" y="1988820"/>
            <a:ext cx="2293666"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4800"/>
              <a:buFont typeface="Arial"/>
              <a:buNone/>
            </a:pPr>
            <a:r>
              <a:rPr b="1" lang="en-GB" sz="4800">
                <a:solidFill>
                  <a:srgbClr val="1C2B3E"/>
                </a:solidFill>
                <a:latin typeface="Arial"/>
                <a:ea typeface="Arial"/>
                <a:cs typeface="Arial"/>
                <a:sym typeface="Arial"/>
              </a:rPr>
              <a:t>40</a:t>
            </a:r>
            <a:endParaRPr sz="4800">
              <a:solidFill>
                <a:schemeClr val="dk1"/>
              </a:solidFill>
              <a:latin typeface="Calibri"/>
              <a:ea typeface="Calibri"/>
              <a:cs typeface="Calibri"/>
              <a:sym typeface="Calibri"/>
            </a:endParaRPr>
          </a:p>
        </p:txBody>
      </p:sp>
      <p:sp>
        <p:nvSpPr>
          <p:cNvPr id="295" name="Google Shape;295;p23"/>
          <p:cNvSpPr/>
          <p:nvPr/>
        </p:nvSpPr>
        <p:spPr>
          <a:xfrm>
            <a:off x="589819" y="2983230"/>
            <a:ext cx="2293666"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D"/>
              </a:buClr>
              <a:buSzPts val="900"/>
              <a:buFont typeface="Arial"/>
              <a:buNone/>
            </a:pPr>
            <a:r>
              <a:rPr lang="en-GB" sz="900">
                <a:solidFill>
                  <a:srgbClr val="5B6B7D"/>
                </a:solidFill>
                <a:latin typeface="Arial"/>
                <a:ea typeface="Arial"/>
                <a:cs typeface="Arial"/>
                <a:sym typeface="Arial"/>
              </a:rPr>
              <a:t>in stock now</a:t>
            </a:r>
            <a:endParaRPr sz="900">
              <a:solidFill>
                <a:schemeClr val="dk1"/>
              </a:solidFill>
              <a:latin typeface="Calibri"/>
              <a:ea typeface="Calibri"/>
              <a:cs typeface="Calibri"/>
              <a:sym typeface="Calibri"/>
            </a:endParaRPr>
          </a:p>
        </p:txBody>
      </p:sp>
      <p:sp>
        <p:nvSpPr>
          <p:cNvPr id="296" name="Google Shape;296;p23"/>
          <p:cNvSpPr/>
          <p:nvPr/>
        </p:nvSpPr>
        <p:spPr>
          <a:xfrm>
            <a:off x="3253837" y="1645920"/>
            <a:ext cx="2636584" cy="1748790"/>
          </a:xfrm>
          <a:prstGeom prst="roundRect">
            <a:avLst>
              <a:gd fmla="val 4706" name="adj"/>
            </a:avLst>
          </a:prstGeom>
          <a:solidFill>
            <a:srgbClr val="FBEBD9"/>
          </a:solidFill>
          <a:ln>
            <a:noFill/>
          </a:ln>
          <a:effectLst>
            <a:outerShdw blurRad="101600" rotWithShape="0" algn="bl" dir="5400000" dist="38100">
              <a:srgbClr val="1C2B3E">
                <a:alpha val="10196"/>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97" name="Google Shape;297;p23"/>
          <p:cNvSpPr/>
          <p:nvPr/>
        </p:nvSpPr>
        <p:spPr>
          <a:xfrm>
            <a:off x="3432154" y="1796796"/>
            <a:ext cx="2293666"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21E"/>
              </a:buClr>
              <a:buSzPts val="900"/>
              <a:buFont typeface="Arial"/>
              <a:buNone/>
            </a:pPr>
            <a:r>
              <a:rPr b="1" lang="en-GB" sz="900">
                <a:solidFill>
                  <a:srgbClr val="E8821E"/>
                </a:solidFill>
                <a:latin typeface="Arial"/>
                <a:ea typeface="Arial"/>
                <a:cs typeface="Arial"/>
                <a:sym typeface="Arial"/>
              </a:rPr>
              <a:t>CAN MAKE</a:t>
            </a:r>
            <a:endParaRPr sz="900">
              <a:solidFill>
                <a:schemeClr val="dk1"/>
              </a:solidFill>
              <a:latin typeface="Calibri"/>
              <a:ea typeface="Calibri"/>
              <a:cs typeface="Calibri"/>
              <a:sym typeface="Calibri"/>
            </a:endParaRPr>
          </a:p>
        </p:txBody>
      </p:sp>
      <p:sp>
        <p:nvSpPr>
          <p:cNvPr id="298" name="Google Shape;298;p23"/>
          <p:cNvSpPr/>
          <p:nvPr/>
        </p:nvSpPr>
        <p:spPr>
          <a:xfrm>
            <a:off x="3432154" y="1988820"/>
            <a:ext cx="2293666"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4800"/>
              <a:buFont typeface="Arial"/>
              <a:buNone/>
            </a:pPr>
            <a:r>
              <a:rPr b="1" lang="en-GB" sz="4800">
                <a:solidFill>
                  <a:srgbClr val="1C2B3E"/>
                </a:solidFill>
                <a:latin typeface="Arial"/>
                <a:ea typeface="Arial"/>
                <a:cs typeface="Arial"/>
                <a:sym typeface="Arial"/>
              </a:rPr>
              <a:t>160</a:t>
            </a:r>
            <a:endParaRPr sz="4800">
              <a:solidFill>
                <a:schemeClr val="dk1"/>
              </a:solidFill>
              <a:latin typeface="Calibri"/>
              <a:ea typeface="Calibri"/>
              <a:cs typeface="Calibri"/>
              <a:sym typeface="Calibri"/>
            </a:endParaRPr>
          </a:p>
        </p:txBody>
      </p:sp>
      <p:sp>
        <p:nvSpPr>
          <p:cNvPr id="299" name="Google Shape;299;p23"/>
          <p:cNvSpPr/>
          <p:nvPr/>
        </p:nvSpPr>
        <p:spPr>
          <a:xfrm>
            <a:off x="3432154" y="2983230"/>
            <a:ext cx="2293666"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D"/>
              </a:buClr>
              <a:buSzPts val="900"/>
              <a:buFont typeface="Arial"/>
              <a:buNone/>
            </a:pPr>
            <a:r>
              <a:rPr lang="en-GB" sz="900">
                <a:solidFill>
                  <a:srgbClr val="5B6B7D"/>
                </a:solidFill>
              </a:rPr>
              <a:t>based on</a:t>
            </a:r>
            <a:r>
              <a:rPr lang="en-GB" sz="900">
                <a:solidFill>
                  <a:srgbClr val="5B6B7D"/>
                </a:solidFill>
                <a:latin typeface="Arial"/>
                <a:ea typeface="Arial"/>
                <a:cs typeface="Arial"/>
                <a:sym typeface="Arial"/>
              </a:rPr>
              <a:t> raw materials</a:t>
            </a:r>
            <a:r>
              <a:rPr lang="en-GB" sz="900">
                <a:solidFill>
                  <a:srgbClr val="5B6B7D"/>
                </a:solidFill>
              </a:rPr>
              <a:t>, production rules</a:t>
            </a:r>
            <a:endParaRPr sz="900">
              <a:solidFill>
                <a:schemeClr val="dk1"/>
              </a:solidFill>
              <a:latin typeface="Calibri"/>
              <a:ea typeface="Calibri"/>
              <a:cs typeface="Calibri"/>
              <a:sym typeface="Calibri"/>
            </a:endParaRPr>
          </a:p>
        </p:txBody>
      </p:sp>
      <p:sp>
        <p:nvSpPr>
          <p:cNvPr id="300" name="Google Shape;300;p23"/>
          <p:cNvSpPr/>
          <p:nvPr/>
        </p:nvSpPr>
        <p:spPr>
          <a:xfrm>
            <a:off x="6096173" y="1645920"/>
            <a:ext cx="2636584" cy="1748790"/>
          </a:xfrm>
          <a:prstGeom prst="roundRect">
            <a:avLst>
              <a:gd fmla="val 4706" name="adj"/>
            </a:avLst>
          </a:prstGeom>
          <a:solidFill>
            <a:srgbClr val="F5F7FA"/>
          </a:solidFill>
          <a:ln>
            <a:noFill/>
          </a:ln>
          <a:effectLst>
            <a:outerShdw blurRad="101600" rotWithShape="0" algn="bl" dir="5400000" dist="38100">
              <a:srgbClr val="1C2B3E">
                <a:alpha val="10196"/>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01" name="Google Shape;301;p23"/>
          <p:cNvSpPr/>
          <p:nvPr/>
        </p:nvSpPr>
        <p:spPr>
          <a:xfrm>
            <a:off x="6274490" y="1796796"/>
            <a:ext cx="2293666"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900"/>
              <a:buFont typeface="Arial"/>
              <a:buNone/>
            </a:pPr>
            <a:r>
              <a:rPr b="1" lang="en-GB" sz="900">
                <a:solidFill>
                  <a:srgbClr val="1C2B3E"/>
                </a:solidFill>
                <a:latin typeface="Arial"/>
                <a:ea typeface="Arial"/>
                <a:cs typeface="Arial"/>
                <a:sym typeface="Arial"/>
              </a:rPr>
              <a:t>INCOMING</a:t>
            </a:r>
            <a:endParaRPr sz="900">
              <a:solidFill>
                <a:schemeClr val="dk1"/>
              </a:solidFill>
              <a:latin typeface="Calibri"/>
              <a:ea typeface="Calibri"/>
              <a:cs typeface="Calibri"/>
              <a:sym typeface="Calibri"/>
            </a:endParaRPr>
          </a:p>
        </p:txBody>
      </p:sp>
      <p:sp>
        <p:nvSpPr>
          <p:cNvPr id="302" name="Google Shape;302;p23"/>
          <p:cNvSpPr/>
          <p:nvPr/>
        </p:nvSpPr>
        <p:spPr>
          <a:xfrm>
            <a:off x="6274490" y="1988820"/>
            <a:ext cx="2293666"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4800"/>
              <a:buFont typeface="Arial"/>
              <a:buNone/>
            </a:pPr>
            <a:r>
              <a:rPr b="1" lang="en-GB" sz="4800">
                <a:solidFill>
                  <a:srgbClr val="1C2B3E"/>
                </a:solidFill>
                <a:latin typeface="Arial"/>
                <a:ea typeface="Arial"/>
                <a:cs typeface="Arial"/>
                <a:sym typeface="Arial"/>
              </a:rPr>
              <a:t>200</a:t>
            </a:r>
            <a:endParaRPr sz="4800">
              <a:solidFill>
                <a:schemeClr val="dk1"/>
              </a:solidFill>
              <a:latin typeface="Calibri"/>
              <a:ea typeface="Calibri"/>
              <a:cs typeface="Calibri"/>
              <a:sym typeface="Calibri"/>
            </a:endParaRPr>
          </a:p>
        </p:txBody>
      </p:sp>
      <p:sp>
        <p:nvSpPr>
          <p:cNvPr id="303" name="Google Shape;303;p23"/>
          <p:cNvSpPr/>
          <p:nvPr/>
        </p:nvSpPr>
        <p:spPr>
          <a:xfrm>
            <a:off x="6274490" y="2983230"/>
            <a:ext cx="2293666"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D"/>
              </a:buClr>
              <a:buSzPts val="900"/>
              <a:buFont typeface="Arial"/>
              <a:buNone/>
            </a:pPr>
            <a:r>
              <a:rPr lang="en-GB" sz="900">
                <a:solidFill>
                  <a:srgbClr val="5B6B7D"/>
                </a:solidFill>
                <a:latin typeface="Arial"/>
                <a:ea typeface="Arial"/>
                <a:cs typeface="Arial"/>
                <a:sym typeface="Arial"/>
              </a:rPr>
              <a:t>Work Order · due Friday</a:t>
            </a:r>
            <a:endParaRPr sz="900">
              <a:solidFill>
                <a:schemeClr val="dk1"/>
              </a:solidFill>
              <a:latin typeface="Calibri"/>
              <a:ea typeface="Calibri"/>
              <a:cs typeface="Calibri"/>
              <a:sym typeface="Calibri"/>
            </a:endParaRPr>
          </a:p>
        </p:txBody>
      </p:sp>
      <p:sp>
        <p:nvSpPr>
          <p:cNvPr id="304" name="Google Shape;304;p23"/>
          <p:cNvSpPr/>
          <p:nvPr/>
        </p:nvSpPr>
        <p:spPr>
          <a:xfrm>
            <a:off x="411502" y="3703320"/>
            <a:ext cx="8321255" cy="377190"/>
          </a:xfrm>
          <a:prstGeom prst="roundRect">
            <a:avLst>
              <a:gd fmla="val 14545" name="adj"/>
            </a:avLst>
          </a:prstGeom>
          <a:solidFill>
            <a:srgbClr val="F5F7FA"/>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05" name="Google Shape;305;p23"/>
          <p:cNvSpPr/>
          <p:nvPr/>
        </p:nvSpPr>
        <p:spPr>
          <a:xfrm>
            <a:off x="411502" y="3703320"/>
            <a:ext cx="3200483" cy="377190"/>
          </a:xfrm>
          <a:prstGeom prst="roundRect">
            <a:avLst>
              <a:gd fmla="val 14545" name="adj"/>
            </a:avLst>
          </a:prstGeom>
          <a:solidFill>
            <a:srgbClr val="94A3B8"/>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06" name="Google Shape;306;p23"/>
          <p:cNvSpPr/>
          <p:nvPr/>
        </p:nvSpPr>
        <p:spPr>
          <a:xfrm>
            <a:off x="534953" y="3703320"/>
            <a:ext cx="3063316" cy="37719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Arial"/>
              <a:buNone/>
            </a:pPr>
            <a:r>
              <a:rPr b="1" lang="en-GB" sz="900">
                <a:solidFill>
                  <a:srgbClr val="FFFFFF"/>
                </a:solidFill>
                <a:latin typeface="Arial"/>
                <a:ea typeface="Arial"/>
                <a:cs typeface="Arial"/>
                <a:sym typeface="Arial"/>
              </a:rPr>
              <a:t>Reserved: 25</a:t>
            </a:r>
            <a:endParaRPr sz="900">
              <a:solidFill>
                <a:schemeClr val="dk1"/>
              </a:solidFill>
              <a:latin typeface="Calibri"/>
              <a:ea typeface="Calibri"/>
              <a:cs typeface="Calibri"/>
              <a:sym typeface="Calibri"/>
            </a:endParaRPr>
          </a:p>
        </p:txBody>
      </p:sp>
      <p:sp>
        <p:nvSpPr>
          <p:cNvPr id="307" name="Google Shape;307;p23"/>
          <p:cNvSpPr/>
          <p:nvPr/>
        </p:nvSpPr>
        <p:spPr>
          <a:xfrm>
            <a:off x="3735435" y="3703320"/>
            <a:ext cx="4915021" cy="37719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900"/>
              <a:buFont typeface="Arial"/>
              <a:buNone/>
            </a:pPr>
            <a:r>
              <a:rPr b="1" lang="en-GB" sz="900">
                <a:solidFill>
                  <a:srgbClr val="1C2B3E"/>
                </a:solidFill>
                <a:latin typeface="Arial"/>
                <a:ea typeface="Arial"/>
                <a:cs typeface="Arial"/>
                <a:sym typeface="Arial"/>
              </a:rPr>
              <a:t>Available to sell: 15</a:t>
            </a:r>
            <a:endParaRPr sz="900">
              <a:solidFill>
                <a:schemeClr val="dk1"/>
              </a:solidFill>
              <a:latin typeface="Calibri"/>
              <a:ea typeface="Calibri"/>
              <a:cs typeface="Calibri"/>
              <a:sym typeface="Calibri"/>
            </a:endParaRPr>
          </a:p>
        </p:txBody>
      </p:sp>
      <p:sp>
        <p:nvSpPr>
          <p:cNvPr id="308" name="Google Shape;308;p23"/>
          <p:cNvSpPr/>
          <p:nvPr/>
        </p:nvSpPr>
        <p:spPr>
          <a:xfrm>
            <a:off x="411502" y="4190238"/>
            <a:ext cx="8321255"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900"/>
              <a:buFont typeface="Arial"/>
              <a:buNone/>
            </a:pPr>
            <a:r>
              <a:rPr lang="en-GB" sz="900">
                <a:solidFill>
                  <a:srgbClr val="94A3B8"/>
                </a:solidFill>
                <a:latin typeface="Arial"/>
                <a:ea typeface="Arial"/>
                <a:cs typeface="Arial"/>
                <a:sym typeface="Arial"/>
              </a:rPr>
              <a:t>Reserved units are locked to confirmed orders — so two people can never sell the same stock.</a:t>
            </a:r>
            <a:endParaRPr sz="900">
              <a:solidFill>
                <a:schemeClr val="dk1"/>
              </a:solidFill>
              <a:latin typeface="Calibri"/>
              <a:ea typeface="Calibri"/>
              <a:cs typeface="Calibri"/>
              <a:sym typeface="Calibri"/>
            </a:endParaRPr>
          </a:p>
        </p:txBody>
      </p:sp>
      <p:sp>
        <p:nvSpPr>
          <p:cNvPr id="309" name="Google Shape;309;p23"/>
          <p:cNvSpPr txBox="1"/>
          <p:nvPr>
            <p:ph idx="12" type="sldNum"/>
          </p:nvPr>
        </p:nvSpPr>
        <p:spPr>
          <a:xfrm>
            <a:off x="8347216" y="4750189"/>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4" name="Shape 314"/>
        <p:cNvGrpSpPr/>
        <p:nvPr/>
      </p:nvGrpSpPr>
      <p:grpSpPr>
        <a:xfrm>
          <a:off x="0" y="0"/>
          <a:ext cx="0" cy="0"/>
          <a:chOff x="0" y="0"/>
          <a:chExt cx="0" cy="0"/>
        </a:xfrm>
      </p:grpSpPr>
      <p:sp>
        <p:nvSpPr>
          <p:cNvPr id="315" name="Google Shape;315;p24"/>
          <p:cNvSpPr/>
          <p:nvPr/>
        </p:nvSpPr>
        <p:spPr>
          <a:xfrm>
            <a:off x="411502" y="260604"/>
            <a:ext cx="6858366"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SECTION 1</a:t>
            </a:r>
            <a:endParaRPr sz="800">
              <a:solidFill>
                <a:schemeClr val="dk1"/>
              </a:solidFill>
              <a:latin typeface="Calibri"/>
              <a:ea typeface="Calibri"/>
              <a:cs typeface="Calibri"/>
              <a:sym typeface="Calibri"/>
            </a:endParaRPr>
          </a:p>
        </p:txBody>
      </p:sp>
      <p:sp>
        <p:nvSpPr>
          <p:cNvPr id="316" name="Google Shape;316;p24"/>
          <p:cNvSpPr/>
          <p:nvPr/>
        </p:nvSpPr>
        <p:spPr>
          <a:xfrm>
            <a:off x="411502" y="438912"/>
            <a:ext cx="8321255" cy="4800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C2B3E"/>
              </a:buClr>
              <a:buSzPts val="2200"/>
              <a:buFont typeface="Arial"/>
              <a:buNone/>
            </a:pPr>
            <a:r>
              <a:rPr b="1" lang="en-GB" sz="2200">
                <a:solidFill>
                  <a:srgbClr val="1C2B3E"/>
                </a:solidFill>
                <a:latin typeface="Poppins"/>
                <a:ea typeface="Poppins"/>
                <a:cs typeface="Poppins"/>
                <a:sym typeface="Poppins"/>
              </a:rPr>
              <a:t>Right price, every time.</a:t>
            </a:r>
            <a:endParaRPr sz="2200">
              <a:solidFill>
                <a:schemeClr val="dk1"/>
              </a:solidFill>
              <a:latin typeface="Poppins"/>
              <a:ea typeface="Poppins"/>
              <a:cs typeface="Poppins"/>
              <a:sym typeface="Poppins"/>
            </a:endParaRPr>
          </a:p>
        </p:txBody>
      </p:sp>
      <p:sp>
        <p:nvSpPr>
          <p:cNvPr id="317" name="Google Shape;317;p24"/>
          <p:cNvSpPr/>
          <p:nvPr/>
        </p:nvSpPr>
        <p:spPr>
          <a:xfrm>
            <a:off x="464872" y="1337300"/>
            <a:ext cx="32481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900"/>
              <a:buFont typeface="Arial"/>
              <a:buNone/>
            </a:pPr>
            <a:r>
              <a:rPr b="1" lang="en-GB" sz="900">
                <a:solidFill>
                  <a:srgbClr val="94A3B8"/>
                </a:solidFill>
                <a:latin typeface="Arial"/>
                <a:ea typeface="Arial"/>
                <a:cs typeface="Arial"/>
                <a:sym typeface="Arial"/>
              </a:rPr>
              <a:t>Premium Cooking Oil 17kg</a:t>
            </a:r>
            <a:endParaRPr sz="900">
              <a:solidFill>
                <a:schemeClr val="dk1"/>
              </a:solidFill>
              <a:latin typeface="Calibri"/>
              <a:ea typeface="Calibri"/>
              <a:cs typeface="Calibri"/>
              <a:sym typeface="Calibri"/>
            </a:endParaRPr>
          </a:p>
        </p:txBody>
      </p:sp>
      <p:sp>
        <p:nvSpPr>
          <p:cNvPr id="318" name="Google Shape;318;p24"/>
          <p:cNvSpPr/>
          <p:nvPr/>
        </p:nvSpPr>
        <p:spPr>
          <a:xfrm>
            <a:off x="464872" y="1625337"/>
            <a:ext cx="3248100" cy="425100"/>
          </a:xfrm>
          <a:prstGeom prst="roundRect">
            <a:avLst>
              <a:gd fmla="val 12903" name="adj"/>
            </a:avLst>
          </a:prstGeom>
          <a:solidFill>
            <a:srgbClr val="F5F7FA"/>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19" name="Google Shape;319;p24"/>
          <p:cNvSpPr/>
          <p:nvPr/>
        </p:nvSpPr>
        <p:spPr>
          <a:xfrm>
            <a:off x="652303" y="1625346"/>
            <a:ext cx="2057400" cy="425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1100"/>
              <a:buFont typeface="Arial"/>
              <a:buNone/>
            </a:pPr>
            <a:r>
              <a:rPr b="1" lang="en-GB" sz="1100">
                <a:solidFill>
                  <a:srgbClr val="1C2B3E"/>
                </a:solidFill>
                <a:latin typeface="Arial"/>
                <a:ea typeface="Arial"/>
                <a:cs typeface="Arial"/>
                <a:sym typeface="Arial"/>
              </a:rPr>
              <a:t>RRP</a:t>
            </a:r>
            <a:endParaRPr sz="1100">
              <a:solidFill>
                <a:schemeClr val="dk1"/>
              </a:solidFill>
              <a:latin typeface="Calibri"/>
              <a:ea typeface="Calibri"/>
              <a:cs typeface="Calibri"/>
              <a:sym typeface="Calibri"/>
            </a:endParaRPr>
          </a:p>
        </p:txBody>
      </p:sp>
      <p:sp>
        <p:nvSpPr>
          <p:cNvPr id="320" name="Google Shape;320;p24"/>
          <p:cNvSpPr/>
          <p:nvPr/>
        </p:nvSpPr>
        <p:spPr>
          <a:xfrm>
            <a:off x="487700" y="1625350"/>
            <a:ext cx="5280900" cy="425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2B3E"/>
              </a:buClr>
              <a:buSzPts val="1400"/>
              <a:buFont typeface="Arial"/>
              <a:buNone/>
            </a:pPr>
            <a:r>
              <a:rPr b="1" lang="en-GB" sz="1400">
                <a:solidFill>
                  <a:srgbClr val="1C2B3E"/>
                </a:solidFill>
                <a:latin typeface="Arial"/>
                <a:ea typeface="Arial"/>
                <a:cs typeface="Arial"/>
                <a:sym typeface="Arial"/>
              </a:rPr>
              <a:t>RM58.00</a:t>
            </a:r>
            <a:endParaRPr sz="1400">
              <a:solidFill>
                <a:schemeClr val="dk1"/>
              </a:solidFill>
              <a:latin typeface="Calibri"/>
              <a:ea typeface="Calibri"/>
              <a:cs typeface="Calibri"/>
              <a:sym typeface="Calibri"/>
            </a:endParaRPr>
          </a:p>
        </p:txBody>
      </p:sp>
      <p:sp>
        <p:nvSpPr>
          <p:cNvPr id="321" name="Google Shape;321;p24"/>
          <p:cNvSpPr/>
          <p:nvPr/>
        </p:nvSpPr>
        <p:spPr>
          <a:xfrm>
            <a:off x="464872" y="2139690"/>
            <a:ext cx="3248100" cy="425100"/>
          </a:xfrm>
          <a:prstGeom prst="roundRect">
            <a:avLst>
              <a:gd fmla="val 12903" name="adj"/>
            </a:avLst>
          </a:prstGeom>
          <a:solidFill>
            <a:srgbClr val="E3F5EC"/>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22" name="Google Shape;322;p24"/>
          <p:cNvSpPr/>
          <p:nvPr/>
        </p:nvSpPr>
        <p:spPr>
          <a:xfrm>
            <a:off x="652303" y="2139696"/>
            <a:ext cx="2057400" cy="425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1100"/>
              <a:buFont typeface="Arial"/>
              <a:buNone/>
            </a:pPr>
            <a:r>
              <a:rPr b="1" lang="en-GB" sz="1100">
                <a:solidFill>
                  <a:srgbClr val="1C2B3E"/>
                </a:solidFill>
                <a:latin typeface="Arial"/>
                <a:ea typeface="Arial"/>
                <a:cs typeface="Arial"/>
                <a:sym typeface="Arial"/>
              </a:rPr>
              <a:t>MSRP</a:t>
            </a:r>
            <a:endParaRPr sz="1100">
              <a:solidFill>
                <a:schemeClr val="dk1"/>
              </a:solidFill>
              <a:latin typeface="Calibri"/>
              <a:ea typeface="Calibri"/>
              <a:cs typeface="Calibri"/>
              <a:sym typeface="Calibri"/>
            </a:endParaRPr>
          </a:p>
        </p:txBody>
      </p:sp>
      <p:sp>
        <p:nvSpPr>
          <p:cNvPr id="323" name="Google Shape;323;p24"/>
          <p:cNvSpPr/>
          <p:nvPr/>
        </p:nvSpPr>
        <p:spPr>
          <a:xfrm>
            <a:off x="487700" y="2139700"/>
            <a:ext cx="5280900" cy="425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2B3E"/>
              </a:buClr>
              <a:buSzPts val="1400"/>
              <a:buFont typeface="Arial"/>
              <a:buNone/>
            </a:pPr>
            <a:r>
              <a:rPr b="1" lang="en-GB" sz="1400">
                <a:solidFill>
                  <a:srgbClr val="1C2B3E"/>
                </a:solidFill>
                <a:latin typeface="Arial"/>
                <a:ea typeface="Arial"/>
                <a:cs typeface="Arial"/>
                <a:sym typeface="Arial"/>
              </a:rPr>
              <a:t>RM52.00</a:t>
            </a:r>
            <a:endParaRPr sz="1400">
              <a:solidFill>
                <a:schemeClr val="dk1"/>
              </a:solidFill>
              <a:latin typeface="Calibri"/>
              <a:ea typeface="Calibri"/>
              <a:cs typeface="Calibri"/>
              <a:sym typeface="Calibri"/>
            </a:endParaRPr>
          </a:p>
        </p:txBody>
      </p:sp>
      <p:sp>
        <p:nvSpPr>
          <p:cNvPr id="324" name="Google Shape;324;p24"/>
          <p:cNvSpPr/>
          <p:nvPr/>
        </p:nvSpPr>
        <p:spPr>
          <a:xfrm>
            <a:off x="464872" y="2654043"/>
            <a:ext cx="3248100" cy="425100"/>
          </a:xfrm>
          <a:prstGeom prst="roundRect">
            <a:avLst>
              <a:gd fmla="val 12903" name="adj"/>
            </a:avLst>
          </a:prstGeom>
          <a:solidFill>
            <a:srgbClr val="E3F5EC"/>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25" name="Google Shape;325;p24"/>
          <p:cNvSpPr/>
          <p:nvPr/>
        </p:nvSpPr>
        <p:spPr>
          <a:xfrm>
            <a:off x="652303" y="2654046"/>
            <a:ext cx="2057400" cy="425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1100"/>
              <a:buFont typeface="Arial"/>
              <a:buNone/>
            </a:pPr>
            <a:r>
              <a:rPr b="1" lang="en-GB" sz="1100">
                <a:solidFill>
                  <a:srgbClr val="1C2B3E"/>
                </a:solidFill>
                <a:latin typeface="Arial"/>
                <a:ea typeface="Arial"/>
                <a:cs typeface="Arial"/>
                <a:sym typeface="Arial"/>
              </a:rPr>
              <a:t>Wholesale</a:t>
            </a:r>
            <a:endParaRPr sz="1100">
              <a:solidFill>
                <a:schemeClr val="dk1"/>
              </a:solidFill>
              <a:latin typeface="Calibri"/>
              <a:ea typeface="Calibri"/>
              <a:cs typeface="Calibri"/>
              <a:sym typeface="Calibri"/>
            </a:endParaRPr>
          </a:p>
        </p:txBody>
      </p:sp>
      <p:sp>
        <p:nvSpPr>
          <p:cNvPr id="326" name="Google Shape;326;p24"/>
          <p:cNvSpPr/>
          <p:nvPr/>
        </p:nvSpPr>
        <p:spPr>
          <a:xfrm>
            <a:off x="487700" y="2654050"/>
            <a:ext cx="5280900" cy="425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2B3E"/>
              </a:buClr>
              <a:buSzPts val="1400"/>
              <a:buFont typeface="Arial"/>
              <a:buNone/>
            </a:pPr>
            <a:r>
              <a:rPr b="1" lang="en-GB" sz="1400">
                <a:solidFill>
                  <a:srgbClr val="1C2B3E"/>
                </a:solidFill>
                <a:latin typeface="Arial"/>
                <a:ea typeface="Arial"/>
                <a:cs typeface="Arial"/>
                <a:sym typeface="Arial"/>
              </a:rPr>
              <a:t>RM46.00</a:t>
            </a:r>
            <a:endParaRPr sz="1400">
              <a:solidFill>
                <a:schemeClr val="dk1"/>
              </a:solidFill>
              <a:latin typeface="Calibri"/>
              <a:ea typeface="Calibri"/>
              <a:cs typeface="Calibri"/>
              <a:sym typeface="Calibri"/>
            </a:endParaRPr>
          </a:p>
        </p:txBody>
      </p:sp>
      <p:sp>
        <p:nvSpPr>
          <p:cNvPr id="327" name="Google Shape;327;p24"/>
          <p:cNvSpPr/>
          <p:nvPr/>
        </p:nvSpPr>
        <p:spPr>
          <a:xfrm>
            <a:off x="464872" y="3168395"/>
            <a:ext cx="3248100" cy="425100"/>
          </a:xfrm>
          <a:prstGeom prst="roundRect">
            <a:avLst>
              <a:gd fmla="val 12903" name="adj"/>
            </a:avLst>
          </a:prstGeom>
          <a:solidFill>
            <a:srgbClr val="E3F5EC"/>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28" name="Google Shape;328;p24"/>
          <p:cNvSpPr/>
          <p:nvPr/>
        </p:nvSpPr>
        <p:spPr>
          <a:xfrm>
            <a:off x="652303" y="3168396"/>
            <a:ext cx="2057400" cy="425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1100"/>
              <a:buFont typeface="Arial"/>
              <a:buNone/>
            </a:pPr>
            <a:r>
              <a:rPr b="1" lang="en-GB" sz="1100">
                <a:solidFill>
                  <a:srgbClr val="1C2B3E"/>
                </a:solidFill>
                <a:latin typeface="Arial"/>
                <a:ea typeface="Arial"/>
                <a:cs typeface="Arial"/>
                <a:sym typeface="Arial"/>
              </a:rPr>
              <a:t>Bulk</a:t>
            </a:r>
            <a:endParaRPr sz="1100">
              <a:solidFill>
                <a:schemeClr val="dk1"/>
              </a:solidFill>
              <a:latin typeface="Calibri"/>
              <a:ea typeface="Calibri"/>
              <a:cs typeface="Calibri"/>
              <a:sym typeface="Calibri"/>
            </a:endParaRPr>
          </a:p>
        </p:txBody>
      </p:sp>
      <p:sp>
        <p:nvSpPr>
          <p:cNvPr id="329" name="Google Shape;329;p24"/>
          <p:cNvSpPr/>
          <p:nvPr/>
        </p:nvSpPr>
        <p:spPr>
          <a:xfrm>
            <a:off x="487700" y="3168400"/>
            <a:ext cx="5280900" cy="425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2B3E"/>
              </a:buClr>
              <a:buSzPts val="1400"/>
              <a:buFont typeface="Arial"/>
              <a:buNone/>
            </a:pPr>
            <a:r>
              <a:rPr b="1" lang="en-GB" sz="1400">
                <a:solidFill>
                  <a:srgbClr val="1C2B3E"/>
                </a:solidFill>
                <a:latin typeface="Arial"/>
                <a:ea typeface="Arial"/>
                <a:cs typeface="Arial"/>
                <a:sym typeface="Arial"/>
              </a:rPr>
              <a:t>RM42.00</a:t>
            </a:r>
            <a:endParaRPr sz="1400">
              <a:solidFill>
                <a:schemeClr val="dk1"/>
              </a:solidFill>
              <a:latin typeface="Calibri"/>
              <a:ea typeface="Calibri"/>
              <a:cs typeface="Calibri"/>
              <a:sym typeface="Calibri"/>
            </a:endParaRPr>
          </a:p>
        </p:txBody>
      </p:sp>
      <p:sp>
        <p:nvSpPr>
          <p:cNvPr id="330" name="Google Shape;330;p24"/>
          <p:cNvSpPr/>
          <p:nvPr/>
        </p:nvSpPr>
        <p:spPr>
          <a:xfrm>
            <a:off x="464872" y="3682748"/>
            <a:ext cx="3248100" cy="425100"/>
          </a:xfrm>
          <a:prstGeom prst="roundRect">
            <a:avLst>
              <a:gd fmla="val 12903" name="adj"/>
            </a:avLst>
          </a:prstGeom>
          <a:solidFill>
            <a:srgbClr val="F5F7FA"/>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31" name="Google Shape;331;p24"/>
          <p:cNvSpPr/>
          <p:nvPr/>
        </p:nvSpPr>
        <p:spPr>
          <a:xfrm>
            <a:off x="652303" y="3682746"/>
            <a:ext cx="2057400" cy="425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1100"/>
              <a:buFont typeface="Arial"/>
              <a:buNone/>
            </a:pPr>
            <a:r>
              <a:rPr b="1" lang="en-GB" sz="1100">
                <a:solidFill>
                  <a:srgbClr val="1C2B3E"/>
                </a:solidFill>
                <a:latin typeface="Arial"/>
                <a:ea typeface="Arial"/>
                <a:cs typeface="Arial"/>
                <a:sym typeface="Arial"/>
              </a:rPr>
              <a:t>Cost</a:t>
            </a:r>
            <a:endParaRPr sz="1100">
              <a:solidFill>
                <a:schemeClr val="dk1"/>
              </a:solidFill>
              <a:latin typeface="Calibri"/>
              <a:ea typeface="Calibri"/>
              <a:cs typeface="Calibri"/>
              <a:sym typeface="Calibri"/>
            </a:endParaRPr>
          </a:p>
        </p:txBody>
      </p:sp>
      <p:sp>
        <p:nvSpPr>
          <p:cNvPr id="332" name="Google Shape;332;p24"/>
          <p:cNvSpPr/>
          <p:nvPr/>
        </p:nvSpPr>
        <p:spPr>
          <a:xfrm>
            <a:off x="487700" y="3682750"/>
            <a:ext cx="5280900" cy="425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2B3E"/>
              </a:buClr>
              <a:buSzPts val="1400"/>
              <a:buFont typeface="Arial"/>
              <a:buNone/>
            </a:pPr>
            <a:r>
              <a:rPr b="1" lang="en-GB" sz="1400">
                <a:solidFill>
                  <a:srgbClr val="1C2B3E"/>
                </a:solidFill>
                <a:latin typeface="Arial"/>
                <a:ea typeface="Arial"/>
                <a:cs typeface="Arial"/>
                <a:sym typeface="Arial"/>
              </a:rPr>
              <a:t>RM36.00</a:t>
            </a:r>
            <a:endParaRPr sz="1400">
              <a:solidFill>
                <a:schemeClr val="dk1"/>
              </a:solidFill>
              <a:latin typeface="Calibri"/>
              <a:ea typeface="Calibri"/>
              <a:cs typeface="Calibri"/>
              <a:sym typeface="Calibri"/>
            </a:endParaRPr>
          </a:p>
        </p:txBody>
      </p:sp>
      <p:cxnSp>
        <p:nvCxnSpPr>
          <p:cNvPr id="333" name="Google Shape;333;p24"/>
          <p:cNvCxnSpPr/>
          <p:nvPr/>
        </p:nvCxnSpPr>
        <p:spPr>
          <a:xfrm>
            <a:off x="419123" y="1580760"/>
            <a:ext cx="3339600" cy="0"/>
          </a:xfrm>
          <a:prstGeom prst="straightConnector1">
            <a:avLst/>
          </a:prstGeom>
          <a:noFill/>
          <a:ln cap="flat" cmpd="sng" w="22225">
            <a:solidFill>
              <a:srgbClr val="DC4C3E"/>
            </a:solidFill>
            <a:prstDash val="dash"/>
            <a:round/>
            <a:headEnd len="sm" w="sm" type="none"/>
            <a:tailEnd len="sm" w="sm" type="none"/>
          </a:ln>
        </p:spPr>
      </p:cxnSp>
      <p:cxnSp>
        <p:nvCxnSpPr>
          <p:cNvPr id="334" name="Google Shape;334;p24"/>
          <p:cNvCxnSpPr/>
          <p:nvPr/>
        </p:nvCxnSpPr>
        <p:spPr>
          <a:xfrm>
            <a:off x="419123" y="3638171"/>
            <a:ext cx="3339600" cy="0"/>
          </a:xfrm>
          <a:prstGeom prst="straightConnector1">
            <a:avLst/>
          </a:prstGeom>
          <a:noFill/>
          <a:ln cap="flat" cmpd="sng" w="22225">
            <a:solidFill>
              <a:srgbClr val="DC4C3E"/>
            </a:solidFill>
            <a:prstDash val="dash"/>
            <a:round/>
            <a:headEnd len="sm" w="sm" type="none"/>
            <a:tailEnd len="sm" w="sm" type="none"/>
          </a:ln>
        </p:spPr>
      </p:cxnSp>
      <p:grpSp>
        <p:nvGrpSpPr>
          <p:cNvPr id="335" name="Google Shape;335;p24"/>
          <p:cNvGrpSpPr/>
          <p:nvPr/>
        </p:nvGrpSpPr>
        <p:grpSpPr>
          <a:xfrm>
            <a:off x="3880392" y="1464183"/>
            <a:ext cx="659753" cy="233172"/>
            <a:chOff x="5404392" y="1464183"/>
            <a:chExt cx="659753" cy="233172"/>
          </a:xfrm>
        </p:grpSpPr>
        <p:sp>
          <p:nvSpPr>
            <p:cNvPr id="336" name="Google Shape;336;p24"/>
            <p:cNvSpPr/>
            <p:nvPr/>
          </p:nvSpPr>
          <p:spPr>
            <a:xfrm>
              <a:off x="5404392" y="1464183"/>
              <a:ext cx="233184" cy="233172"/>
            </a:xfrm>
            <a:prstGeom prst="roundRect">
              <a:avLst>
                <a:gd fmla="val 22000" name="adj"/>
              </a:avLst>
            </a:prstGeom>
            <a:solidFill>
              <a:srgbClr val="DC4C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Lock_white.png" id="337" name="Google Shape;337;p24"/>
            <p:cNvPicPr preferRelativeResize="0"/>
            <p:nvPr/>
          </p:nvPicPr>
          <p:blipFill rotWithShape="1">
            <a:blip r:embed="rId3">
              <a:alphaModFix/>
            </a:blip>
            <a:srcRect b="0" l="0" r="0" t="0"/>
            <a:stretch/>
          </p:blipFill>
          <p:spPr>
            <a:xfrm>
              <a:off x="5456859" y="1516647"/>
              <a:ext cx="128245" cy="128245"/>
            </a:xfrm>
            <a:prstGeom prst="rect">
              <a:avLst/>
            </a:prstGeom>
            <a:noFill/>
            <a:ln>
              <a:noFill/>
            </a:ln>
          </p:spPr>
        </p:pic>
        <p:sp>
          <p:nvSpPr>
            <p:cNvPr id="338" name="Google Shape;338;p24"/>
            <p:cNvSpPr/>
            <p:nvPr/>
          </p:nvSpPr>
          <p:spPr>
            <a:xfrm>
              <a:off x="5692445" y="1484750"/>
              <a:ext cx="3717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C4C3E"/>
                </a:buClr>
                <a:buSzPts val="800"/>
                <a:buFont typeface="Arial"/>
                <a:buNone/>
              </a:pPr>
              <a:r>
                <a:rPr b="1" lang="en-GB" sz="800">
                  <a:solidFill>
                    <a:srgbClr val="DC4C3E"/>
                  </a:solidFill>
                  <a:latin typeface="Arial"/>
                  <a:ea typeface="Arial"/>
                  <a:cs typeface="Arial"/>
                  <a:sym typeface="Arial"/>
                </a:rPr>
                <a:t>MAX</a:t>
              </a:r>
              <a:endParaRPr sz="800">
                <a:solidFill>
                  <a:schemeClr val="dk1"/>
                </a:solidFill>
                <a:latin typeface="Calibri"/>
                <a:ea typeface="Calibri"/>
                <a:cs typeface="Calibri"/>
                <a:sym typeface="Calibri"/>
              </a:endParaRPr>
            </a:p>
          </p:txBody>
        </p:sp>
      </p:grpSp>
      <p:grpSp>
        <p:nvGrpSpPr>
          <p:cNvPr id="339" name="Google Shape;339;p24"/>
          <p:cNvGrpSpPr/>
          <p:nvPr/>
        </p:nvGrpSpPr>
        <p:grpSpPr>
          <a:xfrm>
            <a:off x="3880392" y="3521583"/>
            <a:ext cx="659753" cy="233100"/>
            <a:chOff x="5404392" y="3521583"/>
            <a:chExt cx="659753" cy="233100"/>
          </a:xfrm>
        </p:grpSpPr>
        <p:sp>
          <p:nvSpPr>
            <p:cNvPr id="340" name="Google Shape;340;p24"/>
            <p:cNvSpPr/>
            <p:nvPr/>
          </p:nvSpPr>
          <p:spPr>
            <a:xfrm>
              <a:off x="5404392" y="3521583"/>
              <a:ext cx="233100" cy="233100"/>
            </a:xfrm>
            <a:prstGeom prst="roundRect">
              <a:avLst>
                <a:gd fmla="val 22000" name="adj"/>
              </a:avLst>
            </a:prstGeom>
            <a:solidFill>
              <a:srgbClr val="DC4C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Lock_white.png" id="341" name="Google Shape;341;p24"/>
            <p:cNvPicPr preferRelativeResize="0"/>
            <p:nvPr/>
          </p:nvPicPr>
          <p:blipFill rotWithShape="1">
            <a:blip r:embed="rId3">
              <a:alphaModFix/>
            </a:blip>
            <a:srcRect b="0" l="0" r="0" t="0"/>
            <a:stretch/>
          </p:blipFill>
          <p:spPr>
            <a:xfrm>
              <a:off x="5456859" y="3574047"/>
              <a:ext cx="128245" cy="128245"/>
            </a:xfrm>
            <a:prstGeom prst="rect">
              <a:avLst/>
            </a:prstGeom>
            <a:noFill/>
            <a:ln>
              <a:noFill/>
            </a:ln>
          </p:spPr>
        </p:pic>
        <p:sp>
          <p:nvSpPr>
            <p:cNvPr id="342" name="Google Shape;342;p24"/>
            <p:cNvSpPr/>
            <p:nvPr/>
          </p:nvSpPr>
          <p:spPr>
            <a:xfrm>
              <a:off x="5692445" y="3542150"/>
              <a:ext cx="3717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C4C3E"/>
                </a:buClr>
                <a:buSzPts val="800"/>
                <a:buFont typeface="Arial"/>
                <a:buNone/>
              </a:pPr>
              <a:r>
                <a:rPr b="1" lang="en-GB" sz="800">
                  <a:solidFill>
                    <a:srgbClr val="DC4C3E"/>
                  </a:solidFill>
                  <a:latin typeface="Arial"/>
                  <a:ea typeface="Arial"/>
                  <a:cs typeface="Arial"/>
                  <a:sym typeface="Arial"/>
                </a:rPr>
                <a:t>MIN</a:t>
              </a:r>
              <a:endParaRPr sz="800">
                <a:solidFill>
                  <a:schemeClr val="dk1"/>
                </a:solidFill>
                <a:latin typeface="Calibri"/>
                <a:ea typeface="Calibri"/>
                <a:cs typeface="Calibri"/>
                <a:sym typeface="Calibri"/>
              </a:endParaRPr>
            </a:p>
          </p:txBody>
        </p:sp>
      </p:grpSp>
      <p:sp>
        <p:nvSpPr>
          <p:cNvPr id="343" name="Google Shape;343;p24"/>
          <p:cNvSpPr/>
          <p:nvPr/>
        </p:nvSpPr>
        <p:spPr>
          <a:xfrm>
            <a:off x="4705675" y="1337300"/>
            <a:ext cx="4027200" cy="1052100"/>
          </a:xfrm>
          <a:prstGeom prst="roundRect">
            <a:avLst>
              <a:gd fmla="val 7500" name="adj"/>
            </a:avLst>
          </a:prstGeom>
          <a:solidFill>
            <a:srgbClr val="FBEBD9"/>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44" name="Google Shape;344;p24"/>
          <p:cNvSpPr/>
          <p:nvPr/>
        </p:nvSpPr>
        <p:spPr>
          <a:xfrm>
            <a:off x="4856554" y="1488186"/>
            <a:ext cx="315600" cy="315600"/>
          </a:xfrm>
          <a:prstGeom prst="roundRect">
            <a:avLst>
              <a:gd fmla="val 22000" name="adj"/>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CheckCircle_white.png" id="345" name="Google Shape;345;p24"/>
          <p:cNvPicPr preferRelativeResize="0"/>
          <p:nvPr/>
        </p:nvPicPr>
        <p:blipFill rotWithShape="1">
          <a:blip r:embed="rId4">
            <a:alphaModFix/>
          </a:blip>
          <a:srcRect b="0" l="0" r="0" t="0"/>
          <a:stretch/>
        </p:blipFill>
        <p:spPr>
          <a:xfrm>
            <a:off x="4927538" y="1559166"/>
            <a:ext cx="173507" cy="173507"/>
          </a:xfrm>
          <a:prstGeom prst="rect">
            <a:avLst/>
          </a:prstGeom>
          <a:noFill/>
          <a:ln>
            <a:noFill/>
          </a:ln>
        </p:spPr>
      </p:pic>
      <p:sp>
        <p:nvSpPr>
          <p:cNvPr id="346" name="Google Shape;346;p24"/>
          <p:cNvSpPr/>
          <p:nvPr/>
        </p:nvSpPr>
        <p:spPr>
          <a:xfrm>
            <a:off x="5281773" y="1474470"/>
            <a:ext cx="2046000" cy="233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1100"/>
              <a:buFont typeface="Arial"/>
              <a:buNone/>
            </a:pPr>
            <a:r>
              <a:rPr b="1" lang="en-GB" sz="1100">
                <a:solidFill>
                  <a:schemeClr val="dk1"/>
                </a:solidFill>
                <a:latin typeface="Arial"/>
                <a:ea typeface="Arial"/>
                <a:cs typeface="Arial"/>
                <a:sym typeface="Arial"/>
              </a:rPr>
              <a:t>Selera Catering</a:t>
            </a:r>
            <a:endParaRPr sz="1100">
              <a:solidFill>
                <a:schemeClr val="dk1"/>
              </a:solidFill>
              <a:latin typeface="Calibri"/>
              <a:ea typeface="Calibri"/>
              <a:cs typeface="Calibri"/>
              <a:sym typeface="Calibri"/>
            </a:endParaRPr>
          </a:p>
        </p:txBody>
      </p:sp>
      <p:sp>
        <p:nvSpPr>
          <p:cNvPr id="347" name="Google Shape;347;p24"/>
          <p:cNvSpPr/>
          <p:nvPr/>
        </p:nvSpPr>
        <p:spPr>
          <a:xfrm>
            <a:off x="5281773" y="1662696"/>
            <a:ext cx="2046000" cy="233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D"/>
              </a:buClr>
              <a:buSzPts val="900"/>
              <a:buFont typeface="Arial"/>
              <a:buNone/>
            </a:pPr>
            <a:r>
              <a:rPr lang="en-GB" sz="900">
                <a:solidFill>
                  <a:srgbClr val="5B6B7D"/>
                </a:solidFill>
                <a:latin typeface="Arial"/>
                <a:ea typeface="Arial"/>
                <a:cs typeface="Arial"/>
                <a:sym typeface="Arial"/>
              </a:rPr>
              <a:t>Contract price auto-applied ✓</a:t>
            </a:r>
            <a:endParaRPr sz="900">
              <a:solidFill>
                <a:schemeClr val="dk1"/>
              </a:solidFill>
              <a:latin typeface="Calibri"/>
              <a:ea typeface="Calibri"/>
              <a:cs typeface="Calibri"/>
              <a:sym typeface="Calibri"/>
            </a:endParaRPr>
          </a:p>
        </p:txBody>
      </p:sp>
      <p:sp>
        <p:nvSpPr>
          <p:cNvPr id="348" name="Google Shape;348;p24"/>
          <p:cNvSpPr/>
          <p:nvPr/>
        </p:nvSpPr>
        <p:spPr>
          <a:xfrm>
            <a:off x="4879972" y="1918563"/>
            <a:ext cx="37374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D"/>
              </a:buClr>
              <a:buSzPts val="800"/>
              <a:buFont typeface="Arial"/>
              <a:buNone/>
            </a:pPr>
            <a:r>
              <a:rPr lang="en-GB" sz="800">
                <a:solidFill>
                  <a:srgbClr val="5B6B7D"/>
                </a:solidFill>
                <a:latin typeface="Arial"/>
                <a:ea typeface="Arial"/>
                <a:cs typeface="Arial"/>
                <a:sym typeface="Arial"/>
              </a:rPr>
              <a:t>Customer Item Price applies the agreed preferential rate the moment you pick the customer — no lookup needed.</a:t>
            </a:r>
            <a:endParaRPr sz="800">
              <a:solidFill>
                <a:schemeClr val="dk1"/>
              </a:solidFill>
              <a:latin typeface="Calibri"/>
              <a:ea typeface="Calibri"/>
              <a:cs typeface="Calibri"/>
              <a:sym typeface="Calibri"/>
            </a:endParaRPr>
          </a:p>
        </p:txBody>
      </p:sp>
      <p:sp>
        <p:nvSpPr>
          <p:cNvPr id="349" name="Google Shape;349;p24"/>
          <p:cNvSpPr/>
          <p:nvPr/>
        </p:nvSpPr>
        <p:spPr>
          <a:xfrm>
            <a:off x="4705675" y="2654050"/>
            <a:ext cx="4027200" cy="1453800"/>
          </a:xfrm>
          <a:prstGeom prst="roundRect">
            <a:avLst>
              <a:gd fmla="val 7245" name="adj"/>
            </a:avLst>
          </a:prstGeom>
          <a:noFill/>
          <a:ln cap="flat" cmpd="sng" w="9525">
            <a:solidFill>
              <a:srgbClr val="E3E8EF"/>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50" name="Google Shape;350;p24"/>
          <p:cNvSpPr/>
          <p:nvPr/>
        </p:nvSpPr>
        <p:spPr>
          <a:xfrm>
            <a:off x="4903929" y="2823322"/>
            <a:ext cx="2430000" cy="233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21E"/>
              </a:buClr>
              <a:buSzPts val="1000"/>
              <a:buFont typeface="Arial"/>
              <a:buNone/>
            </a:pPr>
            <a:r>
              <a:rPr b="1" lang="en-GB" sz="1200">
                <a:solidFill>
                  <a:srgbClr val="E8821E"/>
                </a:solidFill>
              </a:rPr>
              <a:t>What this prevents?</a:t>
            </a:r>
            <a:endParaRPr b="1" sz="1200">
              <a:solidFill>
                <a:schemeClr val="dk1"/>
              </a:solidFill>
              <a:latin typeface="Calibri"/>
              <a:ea typeface="Calibri"/>
              <a:cs typeface="Calibri"/>
              <a:sym typeface="Calibri"/>
            </a:endParaRPr>
          </a:p>
        </p:txBody>
      </p:sp>
      <p:sp>
        <p:nvSpPr>
          <p:cNvPr id="351" name="Google Shape;351;p24"/>
          <p:cNvSpPr txBox="1"/>
          <p:nvPr>
            <p:ph idx="12" type="sldNum"/>
          </p:nvPr>
        </p:nvSpPr>
        <p:spPr>
          <a:xfrm>
            <a:off x="8347216" y="4750189"/>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grpSp>
        <p:nvGrpSpPr>
          <p:cNvPr id="352" name="Google Shape;352;p24"/>
          <p:cNvGrpSpPr/>
          <p:nvPr/>
        </p:nvGrpSpPr>
        <p:grpSpPr>
          <a:xfrm>
            <a:off x="4911376" y="3168403"/>
            <a:ext cx="2525979" cy="425103"/>
            <a:chOff x="5212360" y="3366031"/>
            <a:chExt cx="1919729" cy="323100"/>
          </a:xfrm>
        </p:grpSpPr>
        <p:pic>
          <p:nvPicPr>
            <p:cNvPr id="353" name="Google Shape;353;p24" title="close.png"/>
            <p:cNvPicPr preferRelativeResize="0"/>
            <p:nvPr/>
          </p:nvPicPr>
          <p:blipFill rotWithShape="1">
            <a:blip r:embed="rId5">
              <a:alphaModFix/>
            </a:blip>
            <a:srcRect b="10" l="0" r="0" t="0"/>
            <a:stretch/>
          </p:blipFill>
          <p:spPr>
            <a:xfrm>
              <a:off x="5212360" y="3458995"/>
              <a:ext cx="137161" cy="137161"/>
            </a:xfrm>
            <a:prstGeom prst="rect">
              <a:avLst/>
            </a:prstGeom>
            <a:noFill/>
            <a:ln>
              <a:noFill/>
            </a:ln>
          </p:spPr>
        </p:pic>
        <p:sp>
          <p:nvSpPr>
            <p:cNvPr id="354" name="Google Shape;354;p24"/>
            <p:cNvSpPr txBox="1"/>
            <p:nvPr/>
          </p:nvSpPr>
          <p:spPr>
            <a:xfrm>
              <a:off x="5349489" y="3366031"/>
              <a:ext cx="1782600" cy="323100"/>
            </a:xfrm>
            <a:prstGeom prst="rect">
              <a:avLst/>
            </a:prstGeom>
            <a:noFill/>
            <a:ln>
              <a:noFill/>
            </a:ln>
          </p:spPr>
          <p:txBody>
            <a:bodyPr anchorCtr="0" anchor="t" bIns="120300" lIns="120300" spcFirstLastPara="1" rIns="120300" wrap="square" tIns="120300">
              <a:spAutoFit/>
            </a:bodyPr>
            <a:lstStyle/>
            <a:p>
              <a:pPr indent="0" lvl="0" marL="0" rtl="0" algn="l">
                <a:lnSpc>
                  <a:spcPct val="115000"/>
                </a:lnSpc>
                <a:spcBef>
                  <a:spcPts val="0"/>
                </a:spcBef>
                <a:spcAft>
                  <a:spcPts val="0"/>
                </a:spcAft>
                <a:buNone/>
              </a:pPr>
              <a:r>
                <a:rPr lang="en-GB" sz="1184">
                  <a:solidFill>
                    <a:schemeClr val="dk1"/>
                  </a:solidFill>
                </a:rPr>
                <a:t>Wrong pricing</a:t>
              </a:r>
              <a:endParaRPr sz="1842">
                <a:solidFill>
                  <a:schemeClr val="dk1"/>
                </a:solidFill>
              </a:endParaRPr>
            </a:p>
          </p:txBody>
        </p:sp>
      </p:grpSp>
      <p:grpSp>
        <p:nvGrpSpPr>
          <p:cNvPr id="355" name="Google Shape;355;p24"/>
          <p:cNvGrpSpPr/>
          <p:nvPr/>
        </p:nvGrpSpPr>
        <p:grpSpPr>
          <a:xfrm>
            <a:off x="4911376" y="3505677"/>
            <a:ext cx="2525979" cy="425103"/>
            <a:chOff x="5212360" y="3366031"/>
            <a:chExt cx="1919729" cy="323100"/>
          </a:xfrm>
        </p:grpSpPr>
        <p:pic>
          <p:nvPicPr>
            <p:cNvPr id="356" name="Google Shape;356;p24" title="close.png"/>
            <p:cNvPicPr preferRelativeResize="0"/>
            <p:nvPr/>
          </p:nvPicPr>
          <p:blipFill rotWithShape="1">
            <a:blip r:embed="rId5">
              <a:alphaModFix/>
            </a:blip>
            <a:srcRect b="10" l="0" r="0" t="0"/>
            <a:stretch/>
          </p:blipFill>
          <p:spPr>
            <a:xfrm>
              <a:off x="5212360" y="3458995"/>
              <a:ext cx="137161" cy="137161"/>
            </a:xfrm>
            <a:prstGeom prst="rect">
              <a:avLst/>
            </a:prstGeom>
            <a:noFill/>
            <a:ln>
              <a:noFill/>
            </a:ln>
          </p:spPr>
        </p:pic>
        <p:sp>
          <p:nvSpPr>
            <p:cNvPr id="357" name="Google Shape;357;p24"/>
            <p:cNvSpPr txBox="1"/>
            <p:nvPr/>
          </p:nvSpPr>
          <p:spPr>
            <a:xfrm>
              <a:off x="5349489" y="3366031"/>
              <a:ext cx="1782600" cy="323100"/>
            </a:xfrm>
            <a:prstGeom prst="rect">
              <a:avLst/>
            </a:prstGeom>
            <a:noFill/>
            <a:ln>
              <a:noFill/>
            </a:ln>
          </p:spPr>
          <p:txBody>
            <a:bodyPr anchorCtr="0" anchor="t" bIns="120300" lIns="120300" spcFirstLastPara="1" rIns="120300" wrap="square" tIns="120300">
              <a:spAutoFit/>
            </a:bodyPr>
            <a:lstStyle/>
            <a:p>
              <a:pPr indent="0" lvl="0" marL="0" rtl="0" algn="l">
                <a:lnSpc>
                  <a:spcPct val="115000"/>
                </a:lnSpc>
                <a:spcBef>
                  <a:spcPts val="0"/>
                </a:spcBef>
                <a:spcAft>
                  <a:spcPts val="0"/>
                </a:spcAft>
                <a:buNone/>
              </a:pPr>
              <a:r>
                <a:rPr lang="en-GB" sz="1184">
                  <a:solidFill>
                    <a:schemeClr val="dk1"/>
                  </a:solidFill>
                </a:rPr>
                <a:t>Margin leakage</a:t>
              </a:r>
              <a:endParaRPr sz="1842">
                <a:solidFill>
                  <a:schemeClr val="dk1"/>
                </a:solidFill>
              </a:endParaRPr>
            </a:p>
          </p:txBody>
        </p:sp>
      </p:grpSp>
      <p:grpSp>
        <p:nvGrpSpPr>
          <p:cNvPr id="358" name="Google Shape;358;p24"/>
          <p:cNvGrpSpPr/>
          <p:nvPr/>
        </p:nvGrpSpPr>
        <p:grpSpPr>
          <a:xfrm>
            <a:off x="6722444" y="3168453"/>
            <a:ext cx="2525979" cy="425103"/>
            <a:chOff x="5212360" y="3366031"/>
            <a:chExt cx="1919729" cy="323100"/>
          </a:xfrm>
        </p:grpSpPr>
        <p:pic>
          <p:nvPicPr>
            <p:cNvPr id="359" name="Google Shape;359;p24" title="close.png"/>
            <p:cNvPicPr preferRelativeResize="0"/>
            <p:nvPr/>
          </p:nvPicPr>
          <p:blipFill rotWithShape="1">
            <a:blip r:embed="rId5">
              <a:alphaModFix/>
            </a:blip>
            <a:srcRect b="10" l="0" r="0" t="0"/>
            <a:stretch/>
          </p:blipFill>
          <p:spPr>
            <a:xfrm>
              <a:off x="5212360" y="3458995"/>
              <a:ext cx="137161" cy="137161"/>
            </a:xfrm>
            <a:prstGeom prst="rect">
              <a:avLst/>
            </a:prstGeom>
            <a:noFill/>
            <a:ln>
              <a:noFill/>
            </a:ln>
          </p:spPr>
        </p:pic>
        <p:sp>
          <p:nvSpPr>
            <p:cNvPr id="360" name="Google Shape;360;p24"/>
            <p:cNvSpPr txBox="1"/>
            <p:nvPr/>
          </p:nvSpPr>
          <p:spPr>
            <a:xfrm>
              <a:off x="5349489" y="3366031"/>
              <a:ext cx="1782600" cy="323100"/>
            </a:xfrm>
            <a:prstGeom prst="rect">
              <a:avLst/>
            </a:prstGeom>
            <a:noFill/>
            <a:ln>
              <a:noFill/>
            </a:ln>
          </p:spPr>
          <p:txBody>
            <a:bodyPr anchorCtr="0" anchor="t" bIns="120300" lIns="120300" spcFirstLastPara="1" rIns="120300" wrap="square" tIns="120300">
              <a:spAutoFit/>
            </a:bodyPr>
            <a:lstStyle/>
            <a:p>
              <a:pPr indent="0" lvl="0" marL="0" rtl="0" algn="l">
                <a:lnSpc>
                  <a:spcPct val="115000"/>
                </a:lnSpc>
                <a:spcBef>
                  <a:spcPts val="0"/>
                </a:spcBef>
                <a:spcAft>
                  <a:spcPts val="0"/>
                </a:spcAft>
                <a:buNone/>
              </a:pPr>
              <a:r>
                <a:rPr lang="en-GB" sz="1184">
                  <a:solidFill>
                    <a:schemeClr val="dk1"/>
                  </a:solidFill>
                </a:rPr>
                <a:t>Reliance on memory</a:t>
              </a:r>
              <a:endParaRPr sz="1184">
                <a:solidFill>
                  <a:schemeClr val="dk1"/>
                </a:solidFill>
              </a:endParaRPr>
            </a:p>
          </p:txBody>
        </p:sp>
      </p:grpSp>
      <p:grpSp>
        <p:nvGrpSpPr>
          <p:cNvPr id="361" name="Google Shape;361;p24"/>
          <p:cNvGrpSpPr/>
          <p:nvPr/>
        </p:nvGrpSpPr>
        <p:grpSpPr>
          <a:xfrm>
            <a:off x="6722444" y="3505749"/>
            <a:ext cx="2525834" cy="425400"/>
            <a:chOff x="6722444" y="3554595"/>
            <a:chExt cx="2525834" cy="425400"/>
          </a:xfrm>
        </p:grpSpPr>
        <p:pic>
          <p:nvPicPr>
            <p:cNvPr id="362" name="Google Shape;362;p24" title="close.png"/>
            <p:cNvPicPr preferRelativeResize="0"/>
            <p:nvPr/>
          </p:nvPicPr>
          <p:blipFill rotWithShape="1">
            <a:blip r:embed="rId5">
              <a:alphaModFix/>
            </a:blip>
            <a:srcRect b="10" l="0" r="0" t="0"/>
            <a:stretch/>
          </p:blipFill>
          <p:spPr>
            <a:xfrm>
              <a:off x="6722444" y="3677064"/>
              <a:ext cx="180476" cy="180462"/>
            </a:xfrm>
            <a:prstGeom prst="rect">
              <a:avLst/>
            </a:prstGeom>
            <a:noFill/>
            <a:ln>
              <a:noFill/>
            </a:ln>
          </p:spPr>
        </p:pic>
        <p:sp>
          <p:nvSpPr>
            <p:cNvPr id="363" name="Google Shape;363;p24"/>
            <p:cNvSpPr txBox="1"/>
            <p:nvPr/>
          </p:nvSpPr>
          <p:spPr>
            <a:xfrm>
              <a:off x="6902878" y="3554595"/>
              <a:ext cx="2345400" cy="425400"/>
            </a:xfrm>
            <a:prstGeom prst="rect">
              <a:avLst/>
            </a:prstGeom>
            <a:noFill/>
            <a:ln>
              <a:noFill/>
            </a:ln>
          </p:spPr>
          <p:txBody>
            <a:bodyPr anchorCtr="0" anchor="t" bIns="120300" lIns="120300" spcFirstLastPara="1" rIns="120300" wrap="square" tIns="120300">
              <a:spAutoFit/>
            </a:bodyPr>
            <a:lstStyle/>
            <a:p>
              <a:pPr indent="0" lvl="0" marL="0" rtl="0" algn="l">
                <a:lnSpc>
                  <a:spcPct val="115000"/>
                </a:lnSpc>
                <a:spcBef>
                  <a:spcPts val="0"/>
                </a:spcBef>
                <a:spcAft>
                  <a:spcPts val="0"/>
                </a:spcAft>
                <a:buNone/>
              </a:pPr>
              <a:r>
                <a:rPr lang="en-GB" sz="1184">
                  <a:solidFill>
                    <a:schemeClr val="dk1"/>
                  </a:solidFill>
                </a:rPr>
                <a:t>Looking up contracts</a:t>
              </a:r>
              <a:endParaRPr sz="1184">
                <a:solidFill>
                  <a:schemeClr val="dk1"/>
                </a:solidFill>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8" name="Shape 368"/>
        <p:cNvGrpSpPr/>
        <p:nvPr/>
      </p:nvGrpSpPr>
      <p:grpSpPr>
        <a:xfrm>
          <a:off x="0" y="0"/>
          <a:ext cx="0" cy="0"/>
          <a:chOff x="0" y="0"/>
          <a:chExt cx="0" cy="0"/>
        </a:xfrm>
      </p:grpSpPr>
      <p:sp>
        <p:nvSpPr>
          <p:cNvPr id="369" name="Google Shape;369;p25"/>
          <p:cNvSpPr/>
          <p:nvPr/>
        </p:nvSpPr>
        <p:spPr>
          <a:xfrm>
            <a:off x="411502" y="260604"/>
            <a:ext cx="6858366"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SECTION 1</a:t>
            </a:r>
            <a:endParaRPr sz="800">
              <a:solidFill>
                <a:schemeClr val="dk1"/>
              </a:solidFill>
              <a:latin typeface="Calibri"/>
              <a:ea typeface="Calibri"/>
              <a:cs typeface="Calibri"/>
              <a:sym typeface="Calibri"/>
            </a:endParaRPr>
          </a:p>
        </p:txBody>
      </p:sp>
      <p:sp>
        <p:nvSpPr>
          <p:cNvPr id="370" name="Google Shape;370;p25"/>
          <p:cNvSpPr/>
          <p:nvPr/>
        </p:nvSpPr>
        <p:spPr>
          <a:xfrm>
            <a:off x="411502" y="438912"/>
            <a:ext cx="8321255" cy="48006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C2B3E"/>
              </a:buClr>
              <a:buSzPts val="2200"/>
              <a:buFont typeface="Arial"/>
              <a:buNone/>
            </a:pPr>
            <a:r>
              <a:rPr b="1" lang="en-GB" sz="2200">
                <a:solidFill>
                  <a:srgbClr val="1C2B3E"/>
                </a:solidFill>
                <a:latin typeface="Poppins"/>
                <a:ea typeface="Poppins"/>
                <a:cs typeface="Poppins"/>
                <a:sym typeface="Poppins"/>
              </a:rPr>
              <a:t>Find products the way you think.</a:t>
            </a:r>
            <a:endParaRPr b="1" sz="2200">
              <a:solidFill>
                <a:srgbClr val="1C2B3E"/>
              </a:solidFill>
              <a:latin typeface="Poppins"/>
              <a:ea typeface="Poppins"/>
              <a:cs typeface="Poppins"/>
              <a:sym typeface="Poppins"/>
            </a:endParaRPr>
          </a:p>
          <a:p>
            <a:pPr indent="0" lvl="0" marL="0" marR="0" rtl="0" algn="l">
              <a:lnSpc>
                <a:spcPct val="100000"/>
              </a:lnSpc>
              <a:spcBef>
                <a:spcPts val="0"/>
              </a:spcBef>
              <a:spcAft>
                <a:spcPts val="0"/>
              </a:spcAft>
              <a:buClr>
                <a:srgbClr val="1C2B3E"/>
              </a:buClr>
              <a:buSzPts val="2200"/>
              <a:buFont typeface="Arial"/>
              <a:buNone/>
            </a:pPr>
            <a:r>
              <a:rPr lang="en-GB" sz="1800">
                <a:solidFill>
                  <a:srgbClr val="1C2B3E"/>
                </a:solidFill>
                <a:latin typeface="Poppins Light"/>
                <a:ea typeface="Poppins Light"/>
                <a:cs typeface="Poppins Light"/>
                <a:sym typeface="Poppins Light"/>
              </a:rPr>
              <a:t>no item codes, no memorisation, search using your language.</a:t>
            </a:r>
            <a:endParaRPr sz="1800">
              <a:solidFill>
                <a:srgbClr val="1C2B3E"/>
              </a:solidFill>
              <a:latin typeface="Poppins Light"/>
              <a:ea typeface="Poppins Light"/>
              <a:cs typeface="Poppins Light"/>
              <a:sym typeface="Poppins Light"/>
            </a:endParaRPr>
          </a:p>
        </p:txBody>
      </p:sp>
      <p:sp>
        <p:nvSpPr>
          <p:cNvPr id="371" name="Google Shape;371;p25"/>
          <p:cNvSpPr/>
          <p:nvPr/>
        </p:nvSpPr>
        <p:spPr>
          <a:xfrm>
            <a:off x="411502" y="1495153"/>
            <a:ext cx="4023600" cy="1851600"/>
          </a:xfrm>
          <a:prstGeom prst="roundRect">
            <a:avLst>
              <a:gd fmla="val 4444" name="adj"/>
            </a:avLst>
          </a:prstGeom>
          <a:solidFill>
            <a:srgbClr val="F5F7FA"/>
          </a:solidFill>
          <a:ln>
            <a:noFill/>
          </a:ln>
          <a:effectLst>
            <a:outerShdw blurRad="101600" rotWithShape="0" algn="bl" dir="5400000" dist="38100">
              <a:srgbClr val="1C2B3E">
                <a:alpha val="10196"/>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72" name="Google Shape;372;p25"/>
          <p:cNvSpPr/>
          <p:nvPr/>
        </p:nvSpPr>
        <p:spPr>
          <a:xfrm>
            <a:off x="562386" y="1591165"/>
            <a:ext cx="37218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900"/>
              <a:buFont typeface="Arial"/>
              <a:buNone/>
            </a:pPr>
            <a:r>
              <a:rPr b="1" lang="en-GB" sz="900">
                <a:solidFill>
                  <a:srgbClr val="1C2B3E"/>
                </a:solidFill>
                <a:latin typeface="Arial"/>
                <a:ea typeface="Arial"/>
                <a:cs typeface="Arial"/>
                <a:sym typeface="Arial"/>
              </a:rPr>
              <a:t>No item codes needed</a:t>
            </a:r>
            <a:endParaRPr sz="900">
              <a:solidFill>
                <a:schemeClr val="dk1"/>
              </a:solidFill>
              <a:latin typeface="Calibri"/>
              <a:ea typeface="Calibri"/>
              <a:cs typeface="Calibri"/>
              <a:sym typeface="Calibri"/>
            </a:endParaRPr>
          </a:p>
        </p:txBody>
      </p:sp>
      <p:sp>
        <p:nvSpPr>
          <p:cNvPr id="373" name="Google Shape;373;p25"/>
          <p:cNvSpPr/>
          <p:nvPr/>
        </p:nvSpPr>
        <p:spPr>
          <a:xfrm>
            <a:off x="3982310" y="1591165"/>
            <a:ext cx="288000" cy="288000"/>
          </a:xfrm>
          <a:prstGeom prst="roundRect">
            <a:avLst>
              <a:gd fmla="val 22000"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Search_white.png" id="374" name="Google Shape;374;p25"/>
          <p:cNvPicPr preferRelativeResize="0"/>
          <p:nvPr/>
        </p:nvPicPr>
        <p:blipFill rotWithShape="1">
          <a:blip r:embed="rId3">
            <a:alphaModFix/>
          </a:blip>
          <a:srcRect b="0" l="0" r="0" t="0"/>
          <a:stretch/>
        </p:blipFill>
        <p:spPr>
          <a:xfrm>
            <a:off x="4047121" y="1655973"/>
            <a:ext cx="158419" cy="158419"/>
          </a:xfrm>
          <a:prstGeom prst="rect">
            <a:avLst/>
          </a:prstGeom>
          <a:noFill/>
          <a:ln>
            <a:noFill/>
          </a:ln>
        </p:spPr>
      </p:pic>
      <p:sp>
        <p:nvSpPr>
          <p:cNvPr id="375" name="Google Shape;375;p25"/>
          <p:cNvSpPr/>
          <p:nvPr/>
        </p:nvSpPr>
        <p:spPr>
          <a:xfrm>
            <a:off x="576103" y="1934065"/>
            <a:ext cx="3694200" cy="397800"/>
          </a:xfrm>
          <a:prstGeom prst="roundRect">
            <a:avLst>
              <a:gd fmla="val 13793"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76" name="Google Shape;376;p25"/>
          <p:cNvSpPr/>
          <p:nvPr/>
        </p:nvSpPr>
        <p:spPr>
          <a:xfrm>
            <a:off x="685837" y="1934065"/>
            <a:ext cx="3474900" cy="397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Arial"/>
              <a:buNone/>
            </a:pPr>
            <a:r>
              <a:rPr i="1" lang="en-GB" sz="1000">
                <a:solidFill>
                  <a:srgbClr val="FFFFFF"/>
                </a:solidFill>
                <a:latin typeface="Arial"/>
                <a:ea typeface="Arial"/>
                <a:cs typeface="Arial"/>
                <a:sym typeface="Arial"/>
              </a:rPr>
              <a:t>“frozen chicken</a:t>
            </a:r>
            <a:r>
              <a:rPr i="1" lang="en-GB" sz="1000">
                <a:solidFill>
                  <a:srgbClr val="FFFFFF"/>
                </a:solidFill>
              </a:rPr>
              <a:t>, the halal one</a:t>
            </a:r>
            <a:r>
              <a:rPr i="1" lang="en-GB" sz="1000">
                <a:solidFill>
                  <a:srgbClr val="FFFFFF"/>
                </a:solidFill>
                <a:latin typeface="Arial"/>
                <a:ea typeface="Arial"/>
                <a:cs typeface="Arial"/>
                <a:sym typeface="Arial"/>
              </a:rPr>
              <a:t>”</a:t>
            </a:r>
            <a:endParaRPr sz="1000">
              <a:solidFill>
                <a:schemeClr val="dk1"/>
              </a:solidFill>
              <a:latin typeface="Calibri"/>
              <a:ea typeface="Calibri"/>
              <a:cs typeface="Calibri"/>
              <a:sym typeface="Calibri"/>
            </a:endParaRPr>
          </a:p>
        </p:txBody>
      </p:sp>
      <p:sp>
        <p:nvSpPr>
          <p:cNvPr id="377" name="Google Shape;377;p25"/>
          <p:cNvSpPr/>
          <p:nvPr/>
        </p:nvSpPr>
        <p:spPr>
          <a:xfrm>
            <a:off x="576103" y="2468989"/>
            <a:ext cx="3694200" cy="754500"/>
          </a:xfrm>
          <a:prstGeom prst="roundRect">
            <a:avLst>
              <a:gd fmla="val 7273" name="adj"/>
            </a:avLst>
          </a:prstGeom>
          <a:solidFill>
            <a:srgbClr val="FFFFFF"/>
          </a:solidFill>
          <a:ln cap="flat" cmpd="sng" w="12700">
            <a:solidFill>
              <a:srgbClr val="E3E8EF"/>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78" name="Google Shape;378;p25"/>
          <p:cNvSpPr/>
          <p:nvPr/>
        </p:nvSpPr>
        <p:spPr>
          <a:xfrm>
            <a:off x="685837" y="2558143"/>
            <a:ext cx="34749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1100"/>
              <a:buFont typeface="Arial"/>
              <a:buNone/>
            </a:pPr>
            <a:r>
              <a:rPr b="1" lang="en-GB" sz="1100">
                <a:solidFill>
                  <a:srgbClr val="1C2B3E"/>
                </a:solidFill>
                <a:latin typeface="Arial"/>
                <a:ea typeface="Arial"/>
                <a:cs typeface="Arial"/>
                <a:sym typeface="Arial"/>
              </a:rPr>
              <a:t>Frozen Chicken</a:t>
            </a:r>
            <a:endParaRPr sz="1100">
              <a:solidFill>
                <a:schemeClr val="dk1"/>
              </a:solidFill>
              <a:latin typeface="Calibri"/>
              <a:ea typeface="Calibri"/>
              <a:cs typeface="Calibri"/>
              <a:sym typeface="Calibri"/>
            </a:endParaRPr>
          </a:p>
        </p:txBody>
      </p:sp>
      <p:sp>
        <p:nvSpPr>
          <p:cNvPr id="379" name="Google Shape;379;p25"/>
          <p:cNvSpPr/>
          <p:nvPr/>
        </p:nvSpPr>
        <p:spPr>
          <a:xfrm>
            <a:off x="685837" y="2846179"/>
            <a:ext cx="3474900" cy="30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D"/>
              </a:buClr>
              <a:buSzPts val="900"/>
              <a:buFont typeface="Arial"/>
              <a:buNone/>
            </a:pPr>
            <a:r>
              <a:rPr lang="en-GB" sz="900">
                <a:solidFill>
                  <a:srgbClr val="5B6B7D"/>
                </a:solidFill>
                <a:latin typeface="Arial"/>
                <a:ea typeface="Arial"/>
                <a:cs typeface="Arial"/>
                <a:sym typeface="Arial"/>
              </a:rPr>
              <a:t>SKU: FC-001  ·  per kg  ·  Grade A  ·  Halal</a:t>
            </a:r>
            <a:endParaRPr sz="900">
              <a:solidFill>
                <a:schemeClr val="dk1"/>
              </a:solidFill>
              <a:latin typeface="Calibri"/>
              <a:ea typeface="Calibri"/>
              <a:cs typeface="Calibri"/>
              <a:sym typeface="Calibri"/>
            </a:endParaRPr>
          </a:p>
        </p:txBody>
      </p:sp>
      <p:sp>
        <p:nvSpPr>
          <p:cNvPr id="380" name="Google Shape;380;p25"/>
          <p:cNvSpPr/>
          <p:nvPr/>
        </p:nvSpPr>
        <p:spPr>
          <a:xfrm>
            <a:off x="4709297" y="1495153"/>
            <a:ext cx="4023600" cy="1851600"/>
          </a:xfrm>
          <a:prstGeom prst="roundRect">
            <a:avLst>
              <a:gd fmla="val 4444" name="adj"/>
            </a:avLst>
          </a:prstGeom>
          <a:solidFill>
            <a:srgbClr val="F5F7FA"/>
          </a:solidFill>
          <a:ln>
            <a:noFill/>
          </a:ln>
          <a:effectLst>
            <a:outerShdw blurRad="101600" rotWithShape="0" algn="bl" dir="5400000" dist="38100">
              <a:srgbClr val="1C2B3E">
                <a:alpha val="10196"/>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81" name="Google Shape;381;p25"/>
          <p:cNvSpPr/>
          <p:nvPr/>
        </p:nvSpPr>
        <p:spPr>
          <a:xfrm>
            <a:off x="4860181" y="1591165"/>
            <a:ext cx="37218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900"/>
              <a:buFont typeface="Arial"/>
              <a:buNone/>
            </a:pPr>
            <a:r>
              <a:rPr b="1" lang="en-GB" sz="900">
                <a:solidFill>
                  <a:srgbClr val="1C2B3E"/>
                </a:solidFill>
              </a:rPr>
              <a:t>Automatic unit conversion</a:t>
            </a:r>
            <a:endParaRPr sz="900">
              <a:solidFill>
                <a:schemeClr val="dk1"/>
              </a:solidFill>
              <a:latin typeface="Calibri"/>
              <a:ea typeface="Calibri"/>
              <a:cs typeface="Calibri"/>
              <a:sym typeface="Calibri"/>
            </a:endParaRPr>
          </a:p>
        </p:txBody>
      </p:sp>
      <p:sp>
        <p:nvSpPr>
          <p:cNvPr id="382" name="Google Shape;382;p25"/>
          <p:cNvSpPr/>
          <p:nvPr/>
        </p:nvSpPr>
        <p:spPr>
          <a:xfrm>
            <a:off x="8280105" y="1591165"/>
            <a:ext cx="288000" cy="288000"/>
          </a:xfrm>
          <a:prstGeom prst="roundRect">
            <a:avLst>
              <a:gd fmla="val 22000"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RefreshCw_white.png" id="383" name="Google Shape;383;p25"/>
          <p:cNvPicPr preferRelativeResize="0"/>
          <p:nvPr/>
        </p:nvPicPr>
        <p:blipFill rotWithShape="1">
          <a:blip r:embed="rId4">
            <a:alphaModFix/>
          </a:blip>
          <a:srcRect b="0" l="0" r="0" t="0"/>
          <a:stretch/>
        </p:blipFill>
        <p:spPr>
          <a:xfrm>
            <a:off x="8344916" y="1655973"/>
            <a:ext cx="158419" cy="158419"/>
          </a:xfrm>
          <a:prstGeom prst="rect">
            <a:avLst/>
          </a:prstGeom>
          <a:noFill/>
          <a:ln>
            <a:noFill/>
          </a:ln>
        </p:spPr>
      </p:pic>
      <p:sp>
        <p:nvSpPr>
          <p:cNvPr id="384" name="Google Shape;384;p25"/>
          <p:cNvSpPr/>
          <p:nvPr/>
        </p:nvSpPr>
        <p:spPr>
          <a:xfrm>
            <a:off x="4873898" y="1961061"/>
            <a:ext cx="1783200" cy="19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800"/>
              <a:buFont typeface="Arial"/>
              <a:buNone/>
            </a:pPr>
            <a:r>
              <a:rPr lang="en-GB" sz="800">
                <a:solidFill>
                  <a:srgbClr val="94A3B8"/>
                </a:solidFill>
                <a:latin typeface="Arial"/>
                <a:ea typeface="Arial"/>
                <a:cs typeface="Arial"/>
                <a:sym typeface="Arial"/>
              </a:rPr>
              <a:t>Customer says</a:t>
            </a:r>
            <a:endParaRPr sz="800">
              <a:solidFill>
                <a:schemeClr val="dk1"/>
              </a:solidFill>
              <a:latin typeface="Calibri"/>
              <a:ea typeface="Calibri"/>
              <a:cs typeface="Calibri"/>
              <a:sym typeface="Calibri"/>
            </a:endParaRPr>
          </a:p>
        </p:txBody>
      </p:sp>
      <p:sp>
        <p:nvSpPr>
          <p:cNvPr id="385" name="Google Shape;385;p25"/>
          <p:cNvSpPr/>
          <p:nvPr/>
        </p:nvSpPr>
        <p:spPr>
          <a:xfrm>
            <a:off x="4873898" y="2139369"/>
            <a:ext cx="2057400" cy="288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1600"/>
              <a:buFont typeface="Arial"/>
              <a:buNone/>
            </a:pPr>
            <a:r>
              <a:rPr b="1" lang="en-GB" sz="1600">
                <a:solidFill>
                  <a:srgbClr val="1C2B3E"/>
                </a:solidFill>
                <a:latin typeface="Arial"/>
                <a:ea typeface="Arial"/>
                <a:cs typeface="Arial"/>
                <a:sym typeface="Arial"/>
              </a:rPr>
              <a:t>10 cartons</a:t>
            </a:r>
            <a:endParaRPr sz="1600">
              <a:solidFill>
                <a:schemeClr val="dk1"/>
              </a:solidFill>
              <a:latin typeface="Calibri"/>
              <a:ea typeface="Calibri"/>
              <a:cs typeface="Calibri"/>
              <a:sym typeface="Calibri"/>
            </a:endParaRPr>
          </a:p>
        </p:txBody>
      </p:sp>
      <p:pic>
        <p:nvPicPr>
          <p:cNvPr descr="/home/claude/maia/icons/FiArrowRight_accent.png" id="386" name="Google Shape;386;p25"/>
          <p:cNvPicPr preferRelativeResize="0"/>
          <p:nvPr/>
        </p:nvPicPr>
        <p:blipFill rotWithShape="1">
          <a:blip r:embed="rId5">
            <a:alphaModFix/>
          </a:blip>
          <a:srcRect b="0" l="0" r="0" t="0"/>
          <a:stretch/>
        </p:blipFill>
        <p:spPr>
          <a:xfrm>
            <a:off x="7252963" y="2166801"/>
            <a:ext cx="205740" cy="205740"/>
          </a:xfrm>
          <a:prstGeom prst="rect">
            <a:avLst/>
          </a:prstGeom>
          <a:noFill/>
          <a:ln>
            <a:noFill/>
          </a:ln>
        </p:spPr>
      </p:pic>
      <p:sp>
        <p:nvSpPr>
          <p:cNvPr id="387" name="Google Shape;387;p25"/>
          <p:cNvSpPr/>
          <p:nvPr/>
        </p:nvSpPr>
        <p:spPr>
          <a:xfrm>
            <a:off x="7493006" y="1961061"/>
            <a:ext cx="1097400" cy="192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800"/>
              <a:buFont typeface="Arial"/>
              <a:buNone/>
            </a:pPr>
            <a:r>
              <a:rPr lang="en-GB" sz="800">
                <a:solidFill>
                  <a:srgbClr val="94A3B8"/>
                </a:solidFill>
                <a:latin typeface="Arial"/>
                <a:ea typeface="Arial"/>
                <a:cs typeface="Arial"/>
                <a:sym typeface="Arial"/>
              </a:rPr>
              <a:t>MAIA converts</a:t>
            </a:r>
            <a:endParaRPr sz="800">
              <a:solidFill>
                <a:schemeClr val="dk1"/>
              </a:solidFill>
              <a:latin typeface="Calibri"/>
              <a:ea typeface="Calibri"/>
              <a:cs typeface="Calibri"/>
              <a:sym typeface="Calibri"/>
            </a:endParaRPr>
          </a:p>
        </p:txBody>
      </p:sp>
      <p:sp>
        <p:nvSpPr>
          <p:cNvPr id="388" name="Google Shape;388;p25"/>
          <p:cNvSpPr/>
          <p:nvPr/>
        </p:nvSpPr>
        <p:spPr>
          <a:xfrm>
            <a:off x="7252963" y="2139369"/>
            <a:ext cx="1337400" cy="288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8821E"/>
              </a:buClr>
              <a:buSzPts val="1600"/>
              <a:buFont typeface="Arial"/>
              <a:buNone/>
            </a:pPr>
            <a:r>
              <a:rPr b="1" lang="en-GB" sz="1600">
                <a:solidFill>
                  <a:srgbClr val="E8821E"/>
                </a:solidFill>
                <a:latin typeface="Arial"/>
                <a:ea typeface="Arial"/>
                <a:cs typeface="Arial"/>
                <a:sym typeface="Arial"/>
              </a:rPr>
              <a:t>120 bottles</a:t>
            </a:r>
            <a:endParaRPr sz="1600">
              <a:solidFill>
                <a:schemeClr val="dk1"/>
              </a:solidFill>
              <a:latin typeface="Calibri"/>
              <a:ea typeface="Calibri"/>
              <a:cs typeface="Calibri"/>
              <a:sym typeface="Calibri"/>
            </a:endParaRPr>
          </a:p>
        </p:txBody>
      </p:sp>
      <p:sp>
        <p:nvSpPr>
          <p:cNvPr id="389" name="Google Shape;389;p25"/>
          <p:cNvSpPr/>
          <p:nvPr/>
        </p:nvSpPr>
        <p:spPr>
          <a:xfrm>
            <a:off x="7252963" y="2386475"/>
            <a:ext cx="1337400" cy="178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800"/>
              <a:buFont typeface="Arial"/>
              <a:buNone/>
            </a:pPr>
            <a:r>
              <a:rPr lang="en-GB" sz="800">
                <a:solidFill>
                  <a:srgbClr val="94A3B8"/>
                </a:solidFill>
                <a:latin typeface="Arial"/>
                <a:ea typeface="Arial"/>
                <a:cs typeface="Arial"/>
                <a:sym typeface="Arial"/>
              </a:rPr>
              <a:t>(12 / carton)</a:t>
            </a:r>
            <a:endParaRPr sz="800">
              <a:solidFill>
                <a:schemeClr val="dk1"/>
              </a:solidFill>
              <a:latin typeface="Calibri"/>
              <a:ea typeface="Calibri"/>
              <a:cs typeface="Calibri"/>
              <a:sym typeface="Calibri"/>
            </a:endParaRPr>
          </a:p>
        </p:txBody>
      </p:sp>
      <p:sp>
        <p:nvSpPr>
          <p:cNvPr id="390" name="Google Shape;390;p25"/>
          <p:cNvSpPr/>
          <p:nvPr/>
        </p:nvSpPr>
        <p:spPr>
          <a:xfrm>
            <a:off x="4873898" y="2674729"/>
            <a:ext cx="3694200" cy="534900"/>
          </a:xfrm>
          <a:prstGeom prst="roundRect">
            <a:avLst>
              <a:gd fmla="val 10256" name="adj"/>
            </a:avLst>
          </a:prstGeom>
          <a:solidFill>
            <a:srgbClr val="FBEBD9"/>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91" name="Google Shape;391;p25"/>
          <p:cNvSpPr/>
          <p:nvPr/>
        </p:nvSpPr>
        <p:spPr>
          <a:xfrm>
            <a:off x="5024771" y="2805083"/>
            <a:ext cx="274200" cy="274200"/>
          </a:xfrm>
          <a:prstGeom prst="roundRect">
            <a:avLst>
              <a:gd fmla="val 22000" name="adj"/>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AlertTriangle_white.png" id="392" name="Google Shape;392;p25"/>
          <p:cNvPicPr preferRelativeResize="0"/>
          <p:nvPr/>
        </p:nvPicPr>
        <p:blipFill rotWithShape="1">
          <a:blip r:embed="rId6">
            <a:alphaModFix/>
          </a:blip>
          <a:srcRect b="0" l="0" r="0" t="0"/>
          <a:stretch/>
        </p:blipFill>
        <p:spPr>
          <a:xfrm>
            <a:off x="5086496" y="2866805"/>
            <a:ext cx="150876" cy="150876"/>
          </a:xfrm>
          <a:prstGeom prst="rect">
            <a:avLst/>
          </a:prstGeom>
          <a:noFill/>
          <a:ln>
            <a:noFill/>
          </a:ln>
        </p:spPr>
      </p:pic>
      <p:sp>
        <p:nvSpPr>
          <p:cNvPr id="393" name="Google Shape;393;p25"/>
          <p:cNvSpPr/>
          <p:nvPr/>
        </p:nvSpPr>
        <p:spPr>
          <a:xfrm>
            <a:off x="5415237" y="2712402"/>
            <a:ext cx="3269100" cy="452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900"/>
              <a:buFont typeface="Arial"/>
              <a:buNone/>
            </a:pPr>
            <a:r>
              <a:rPr lang="en-GB" sz="800">
                <a:solidFill>
                  <a:schemeClr val="dk1"/>
                </a:solidFill>
                <a:latin typeface="Arial"/>
                <a:ea typeface="Arial"/>
                <a:cs typeface="Arial"/>
                <a:sym typeface="Arial"/>
              </a:rPr>
              <a:t>Their carton = 24, ours = 12 </a:t>
            </a:r>
            <a:endParaRPr sz="800">
              <a:solidFill>
                <a:schemeClr val="dk1"/>
              </a:solidFill>
              <a:latin typeface="Arial"/>
              <a:ea typeface="Arial"/>
              <a:cs typeface="Arial"/>
              <a:sym typeface="Arial"/>
            </a:endParaRPr>
          </a:p>
          <a:p>
            <a:pPr indent="0" lvl="0" marL="0" marR="0" rtl="0" algn="l">
              <a:spcBef>
                <a:spcPts val="0"/>
              </a:spcBef>
              <a:spcAft>
                <a:spcPts val="0"/>
              </a:spcAft>
              <a:buClr>
                <a:srgbClr val="1C2B3E"/>
              </a:buClr>
              <a:buSzPts val="900"/>
              <a:buFont typeface="Arial"/>
              <a:buNone/>
            </a:pPr>
            <a:r>
              <a:rPr b="1" lang="en-GB" sz="900">
                <a:solidFill>
                  <a:srgbClr val="1C2B3E"/>
                </a:solidFill>
              </a:rPr>
              <a:t>MAIA flags the mismatch before you confirm.</a:t>
            </a:r>
            <a:endParaRPr b="1" sz="900">
              <a:solidFill>
                <a:schemeClr val="dk1"/>
              </a:solidFill>
              <a:latin typeface="Calibri"/>
              <a:ea typeface="Calibri"/>
              <a:cs typeface="Calibri"/>
              <a:sym typeface="Calibri"/>
            </a:endParaRPr>
          </a:p>
        </p:txBody>
      </p:sp>
      <p:sp>
        <p:nvSpPr>
          <p:cNvPr id="394" name="Google Shape;394;p25"/>
          <p:cNvSpPr/>
          <p:nvPr/>
        </p:nvSpPr>
        <p:spPr>
          <a:xfrm>
            <a:off x="411502" y="3586843"/>
            <a:ext cx="8321400" cy="788700"/>
          </a:xfrm>
          <a:prstGeom prst="roundRect">
            <a:avLst>
              <a:gd fmla="val 10435" name="adj"/>
            </a:avLst>
          </a:prstGeom>
          <a:solidFill>
            <a:srgbClr val="F5F7FA"/>
          </a:solidFill>
          <a:ln>
            <a:noFill/>
          </a:ln>
          <a:effectLst>
            <a:outerShdw blurRad="101600" rotWithShape="0" algn="bl" dir="5400000" dist="38100">
              <a:srgbClr val="1C2B3E">
                <a:alpha val="10196"/>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95" name="Google Shape;395;p25"/>
          <p:cNvSpPr/>
          <p:nvPr/>
        </p:nvSpPr>
        <p:spPr>
          <a:xfrm>
            <a:off x="576103" y="3682855"/>
            <a:ext cx="79920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1000"/>
              <a:buFont typeface="Arial"/>
              <a:buNone/>
            </a:pPr>
            <a:r>
              <a:rPr b="1" lang="en-GB" sz="1000">
                <a:solidFill>
                  <a:srgbClr val="1C2B3E"/>
                </a:solidFill>
                <a:latin typeface="Arial"/>
                <a:ea typeface="Arial"/>
                <a:cs typeface="Arial"/>
                <a:sym typeface="Arial"/>
              </a:rPr>
              <a:t>Custom attributes hold what standard ERP can't:</a:t>
            </a:r>
            <a:endParaRPr sz="1000">
              <a:solidFill>
                <a:schemeClr val="dk1"/>
              </a:solidFill>
              <a:latin typeface="Calibri"/>
              <a:ea typeface="Calibri"/>
              <a:cs typeface="Calibri"/>
              <a:sym typeface="Calibri"/>
            </a:endParaRPr>
          </a:p>
        </p:txBody>
      </p:sp>
      <p:sp>
        <p:nvSpPr>
          <p:cNvPr id="396" name="Google Shape;396;p25"/>
          <p:cNvSpPr/>
          <p:nvPr/>
        </p:nvSpPr>
        <p:spPr>
          <a:xfrm>
            <a:off x="576103" y="3998323"/>
            <a:ext cx="1843800" cy="288000"/>
          </a:xfrm>
          <a:prstGeom prst="roundRect">
            <a:avLst>
              <a:gd fmla="val 50000" name="adj"/>
            </a:avLst>
          </a:prstGeom>
          <a:solidFill>
            <a:srgbClr val="E3F5EC"/>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97" name="Google Shape;397;p25"/>
          <p:cNvSpPr/>
          <p:nvPr/>
        </p:nvSpPr>
        <p:spPr>
          <a:xfrm>
            <a:off x="576103" y="3998323"/>
            <a:ext cx="1843800" cy="288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9D5C"/>
              </a:buClr>
              <a:buSzPts val="900"/>
              <a:buFont typeface="Arial"/>
              <a:buNone/>
            </a:pPr>
            <a:r>
              <a:rPr b="1" lang="en-GB" sz="900">
                <a:solidFill>
                  <a:srgbClr val="1A9D5C"/>
                </a:solidFill>
                <a:latin typeface="Arial"/>
                <a:ea typeface="Arial"/>
                <a:cs typeface="Arial"/>
                <a:sym typeface="Arial"/>
              </a:rPr>
              <a:t>Grade</a:t>
            </a:r>
            <a:endParaRPr sz="900">
              <a:solidFill>
                <a:schemeClr val="dk1"/>
              </a:solidFill>
              <a:latin typeface="Calibri"/>
              <a:ea typeface="Calibri"/>
              <a:cs typeface="Calibri"/>
              <a:sym typeface="Calibri"/>
            </a:endParaRPr>
          </a:p>
        </p:txBody>
      </p:sp>
      <p:sp>
        <p:nvSpPr>
          <p:cNvPr id="398" name="Google Shape;398;p25"/>
          <p:cNvSpPr/>
          <p:nvPr/>
        </p:nvSpPr>
        <p:spPr>
          <a:xfrm>
            <a:off x="2625554" y="3998323"/>
            <a:ext cx="1843800" cy="288000"/>
          </a:xfrm>
          <a:prstGeom prst="roundRect">
            <a:avLst>
              <a:gd fmla="val 50000" name="adj"/>
            </a:avLst>
          </a:prstGeom>
          <a:solidFill>
            <a:srgbClr val="E3F5EC"/>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99" name="Google Shape;399;p25"/>
          <p:cNvSpPr/>
          <p:nvPr/>
        </p:nvSpPr>
        <p:spPr>
          <a:xfrm>
            <a:off x="2625554" y="3998323"/>
            <a:ext cx="1843800" cy="288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9D5C"/>
              </a:buClr>
              <a:buSzPts val="900"/>
              <a:buFont typeface="Arial"/>
              <a:buNone/>
            </a:pPr>
            <a:r>
              <a:rPr b="1" lang="en-GB" sz="900">
                <a:solidFill>
                  <a:srgbClr val="1A9D5C"/>
                </a:solidFill>
              </a:rPr>
              <a:t>Certification</a:t>
            </a:r>
            <a:endParaRPr sz="900">
              <a:solidFill>
                <a:schemeClr val="dk1"/>
              </a:solidFill>
              <a:latin typeface="Calibri"/>
              <a:ea typeface="Calibri"/>
              <a:cs typeface="Calibri"/>
              <a:sym typeface="Calibri"/>
            </a:endParaRPr>
          </a:p>
        </p:txBody>
      </p:sp>
      <p:sp>
        <p:nvSpPr>
          <p:cNvPr id="400" name="Google Shape;400;p25"/>
          <p:cNvSpPr/>
          <p:nvPr/>
        </p:nvSpPr>
        <p:spPr>
          <a:xfrm>
            <a:off x="4675005" y="3998323"/>
            <a:ext cx="1843800" cy="288000"/>
          </a:xfrm>
          <a:prstGeom prst="roundRect">
            <a:avLst>
              <a:gd fmla="val 50000" name="adj"/>
            </a:avLst>
          </a:prstGeom>
          <a:solidFill>
            <a:srgbClr val="E3F5EC"/>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01" name="Google Shape;401;p25"/>
          <p:cNvSpPr/>
          <p:nvPr/>
        </p:nvSpPr>
        <p:spPr>
          <a:xfrm>
            <a:off x="4675005" y="3998323"/>
            <a:ext cx="1843800" cy="288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9D5C"/>
              </a:buClr>
              <a:buSzPts val="900"/>
              <a:buFont typeface="Arial"/>
              <a:buNone/>
            </a:pPr>
            <a:r>
              <a:rPr b="1" lang="en-GB" sz="900">
                <a:solidFill>
                  <a:srgbClr val="1A9D5C"/>
                </a:solidFill>
              </a:rPr>
              <a:t>Packaging / Size</a:t>
            </a:r>
            <a:endParaRPr sz="900">
              <a:solidFill>
                <a:schemeClr val="dk1"/>
              </a:solidFill>
              <a:latin typeface="Calibri"/>
              <a:ea typeface="Calibri"/>
              <a:cs typeface="Calibri"/>
              <a:sym typeface="Calibri"/>
            </a:endParaRPr>
          </a:p>
        </p:txBody>
      </p:sp>
      <p:sp>
        <p:nvSpPr>
          <p:cNvPr id="402" name="Google Shape;402;p25"/>
          <p:cNvSpPr/>
          <p:nvPr/>
        </p:nvSpPr>
        <p:spPr>
          <a:xfrm>
            <a:off x="6724456" y="3998323"/>
            <a:ext cx="1843800" cy="288000"/>
          </a:xfrm>
          <a:prstGeom prst="roundRect">
            <a:avLst>
              <a:gd fmla="val 50000" name="adj"/>
            </a:avLst>
          </a:prstGeom>
          <a:solidFill>
            <a:srgbClr val="E3F5EC"/>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03" name="Google Shape;403;p25"/>
          <p:cNvSpPr/>
          <p:nvPr/>
        </p:nvSpPr>
        <p:spPr>
          <a:xfrm>
            <a:off x="6724456" y="3998323"/>
            <a:ext cx="1843800" cy="288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9D5C"/>
              </a:buClr>
              <a:buSzPts val="900"/>
              <a:buFont typeface="Arial"/>
              <a:buNone/>
            </a:pPr>
            <a:r>
              <a:rPr b="1" lang="en-GB" sz="900">
                <a:solidFill>
                  <a:srgbClr val="1A9D5C"/>
                </a:solidFill>
              </a:rPr>
              <a:t>Customer-specific spec</a:t>
            </a:r>
            <a:endParaRPr sz="900">
              <a:solidFill>
                <a:schemeClr val="dk1"/>
              </a:solidFill>
              <a:latin typeface="Calibri"/>
              <a:ea typeface="Calibri"/>
              <a:cs typeface="Calibri"/>
              <a:sym typeface="Calibri"/>
            </a:endParaRPr>
          </a:p>
        </p:txBody>
      </p:sp>
      <p:sp>
        <p:nvSpPr>
          <p:cNvPr id="404" name="Google Shape;404;p25"/>
          <p:cNvSpPr txBox="1"/>
          <p:nvPr>
            <p:ph idx="12" type="sldNum"/>
          </p:nvPr>
        </p:nvSpPr>
        <p:spPr>
          <a:xfrm>
            <a:off x="8347216" y="4750189"/>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9" name="Shape 409"/>
        <p:cNvGrpSpPr/>
        <p:nvPr/>
      </p:nvGrpSpPr>
      <p:grpSpPr>
        <a:xfrm>
          <a:off x="0" y="0"/>
          <a:ext cx="0" cy="0"/>
          <a:chOff x="0" y="0"/>
          <a:chExt cx="0" cy="0"/>
        </a:xfrm>
      </p:grpSpPr>
      <p:sp>
        <p:nvSpPr>
          <p:cNvPr id="410" name="Google Shape;410;p26"/>
          <p:cNvSpPr/>
          <p:nvPr/>
        </p:nvSpPr>
        <p:spPr>
          <a:xfrm>
            <a:off x="411502" y="260604"/>
            <a:ext cx="68583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SECTION 1</a:t>
            </a:r>
            <a:endParaRPr sz="800">
              <a:solidFill>
                <a:schemeClr val="dk1"/>
              </a:solidFill>
              <a:latin typeface="Calibri"/>
              <a:ea typeface="Calibri"/>
              <a:cs typeface="Calibri"/>
              <a:sym typeface="Calibri"/>
            </a:endParaRPr>
          </a:p>
        </p:txBody>
      </p:sp>
      <p:sp>
        <p:nvSpPr>
          <p:cNvPr id="411" name="Google Shape;411;p26"/>
          <p:cNvSpPr/>
          <p:nvPr/>
        </p:nvSpPr>
        <p:spPr>
          <a:xfrm>
            <a:off x="411502" y="438912"/>
            <a:ext cx="8321400" cy="4800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C2B3E"/>
              </a:buClr>
              <a:buSzPts val="2200"/>
              <a:buFont typeface="Arial"/>
              <a:buNone/>
            </a:pPr>
            <a:r>
              <a:rPr b="1" lang="en-GB" sz="2200">
                <a:solidFill>
                  <a:srgbClr val="1C2B3E"/>
                </a:solidFill>
                <a:latin typeface="Poppins"/>
                <a:ea typeface="Poppins"/>
                <a:cs typeface="Poppins"/>
                <a:sym typeface="Poppins"/>
              </a:rPr>
              <a:t>Find customers in your language.</a:t>
            </a:r>
            <a:endParaRPr b="1" sz="2200">
              <a:solidFill>
                <a:srgbClr val="1C2B3E"/>
              </a:solidFill>
              <a:latin typeface="Poppins"/>
              <a:ea typeface="Poppins"/>
              <a:cs typeface="Poppins"/>
              <a:sym typeface="Poppins"/>
            </a:endParaRPr>
          </a:p>
          <a:p>
            <a:pPr indent="0" lvl="0" marL="0" marR="0" rtl="0" algn="l">
              <a:lnSpc>
                <a:spcPct val="115000"/>
              </a:lnSpc>
              <a:spcBef>
                <a:spcPts val="0"/>
              </a:spcBef>
              <a:spcAft>
                <a:spcPts val="0"/>
              </a:spcAft>
              <a:buClr>
                <a:srgbClr val="1C2B3E"/>
              </a:buClr>
              <a:buSzPts val="2200"/>
              <a:buFont typeface="Arial"/>
              <a:buNone/>
            </a:pPr>
            <a:r>
              <a:rPr lang="en-GB" sz="1800">
                <a:solidFill>
                  <a:srgbClr val="1C2B3E"/>
                </a:solidFill>
                <a:latin typeface="Poppins Light"/>
                <a:ea typeface="Poppins Light"/>
                <a:cs typeface="Poppins Light"/>
                <a:sym typeface="Poppins Light"/>
              </a:rPr>
              <a:t>even if you only remember “area”, “nickname”, “what they buy”.</a:t>
            </a:r>
            <a:endParaRPr sz="1800">
              <a:solidFill>
                <a:srgbClr val="1C2B3E"/>
              </a:solidFill>
              <a:latin typeface="Poppins Light"/>
              <a:ea typeface="Poppins Light"/>
              <a:cs typeface="Poppins Light"/>
              <a:sym typeface="Poppins Light"/>
            </a:endParaRPr>
          </a:p>
        </p:txBody>
      </p:sp>
      <p:sp>
        <p:nvSpPr>
          <p:cNvPr id="412" name="Google Shape;412;p26"/>
          <p:cNvSpPr/>
          <p:nvPr/>
        </p:nvSpPr>
        <p:spPr>
          <a:xfrm>
            <a:off x="411313" y="1259683"/>
            <a:ext cx="4080600" cy="2422800"/>
          </a:xfrm>
          <a:prstGeom prst="roundRect">
            <a:avLst>
              <a:gd fmla="val 3380" name="adj"/>
            </a:avLst>
          </a:prstGeom>
          <a:solidFill>
            <a:srgbClr val="F5F7FA"/>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13" name="Google Shape;413;p26"/>
          <p:cNvSpPr/>
          <p:nvPr/>
        </p:nvSpPr>
        <p:spPr>
          <a:xfrm>
            <a:off x="562198" y="1361585"/>
            <a:ext cx="37791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900"/>
              <a:buFont typeface="Arial"/>
              <a:buNone/>
            </a:pPr>
            <a:r>
              <a:rPr b="1" lang="en-GB" sz="900">
                <a:solidFill>
                  <a:srgbClr val="1C2B3E"/>
                </a:solidFill>
                <a:latin typeface="Arial"/>
                <a:ea typeface="Arial"/>
                <a:cs typeface="Arial"/>
                <a:sym typeface="Arial"/>
              </a:rPr>
              <a:t>Warung Pak Din Sdn Bhd</a:t>
            </a:r>
            <a:endParaRPr sz="900">
              <a:solidFill>
                <a:schemeClr val="dk1"/>
              </a:solidFill>
              <a:latin typeface="Calibri"/>
              <a:ea typeface="Calibri"/>
              <a:cs typeface="Calibri"/>
              <a:sym typeface="Calibri"/>
            </a:endParaRPr>
          </a:p>
        </p:txBody>
      </p:sp>
      <p:sp>
        <p:nvSpPr>
          <p:cNvPr id="414" name="Google Shape;414;p26"/>
          <p:cNvSpPr/>
          <p:nvPr/>
        </p:nvSpPr>
        <p:spPr>
          <a:xfrm>
            <a:off x="4039390" y="1361585"/>
            <a:ext cx="288000" cy="288000"/>
          </a:xfrm>
          <a:prstGeom prst="roundRect">
            <a:avLst>
              <a:gd fmla="val 22000"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User_white.png" id="415" name="Google Shape;415;p26"/>
          <p:cNvPicPr preferRelativeResize="0"/>
          <p:nvPr/>
        </p:nvPicPr>
        <p:blipFill rotWithShape="1">
          <a:blip r:embed="rId3">
            <a:alphaModFix/>
          </a:blip>
          <a:srcRect b="0" l="0" r="0" t="0"/>
          <a:stretch/>
        </p:blipFill>
        <p:spPr>
          <a:xfrm>
            <a:off x="4104202" y="1426393"/>
            <a:ext cx="158419" cy="158419"/>
          </a:xfrm>
          <a:prstGeom prst="rect">
            <a:avLst/>
          </a:prstGeom>
          <a:noFill/>
          <a:ln>
            <a:noFill/>
          </a:ln>
        </p:spPr>
      </p:pic>
      <p:sp>
        <p:nvSpPr>
          <p:cNvPr id="416" name="Google Shape;416;p26"/>
          <p:cNvSpPr/>
          <p:nvPr/>
        </p:nvSpPr>
        <p:spPr>
          <a:xfrm>
            <a:off x="534765" y="1752322"/>
            <a:ext cx="3833700" cy="274200"/>
          </a:xfrm>
          <a:prstGeom prst="roundRect">
            <a:avLst>
              <a:gd fmla="val 15000" name="adj"/>
            </a:avLst>
          </a:prstGeom>
          <a:solidFill>
            <a:srgbClr val="FBEBD9"/>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17" name="Google Shape;417;p26"/>
          <p:cNvSpPr/>
          <p:nvPr/>
        </p:nvSpPr>
        <p:spPr>
          <a:xfrm>
            <a:off x="630782" y="1793470"/>
            <a:ext cx="15297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900"/>
              <a:buFont typeface="Arial"/>
              <a:buNone/>
            </a:pPr>
            <a:r>
              <a:rPr lang="en-GB" sz="900">
                <a:solidFill>
                  <a:srgbClr val="94A3B8"/>
                </a:solidFill>
                <a:latin typeface="Arial"/>
                <a:ea typeface="Arial"/>
                <a:cs typeface="Arial"/>
                <a:sym typeface="Arial"/>
              </a:rPr>
              <a:t>Customer Group</a:t>
            </a:r>
            <a:endParaRPr sz="900">
              <a:solidFill>
                <a:schemeClr val="dk1"/>
              </a:solidFill>
              <a:latin typeface="Calibri"/>
              <a:ea typeface="Calibri"/>
              <a:cs typeface="Calibri"/>
              <a:sym typeface="Calibri"/>
            </a:endParaRPr>
          </a:p>
        </p:txBody>
      </p:sp>
      <p:sp>
        <p:nvSpPr>
          <p:cNvPr id="418" name="Google Shape;418;p26"/>
          <p:cNvSpPr/>
          <p:nvPr/>
        </p:nvSpPr>
        <p:spPr>
          <a:xfrm>
            <a:off x="2160335" y="1793470"/>
            <a:ext cx="2112300" cy="205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C2B3E"/>
              </a:buClr>
              <a:buSzPts val="900"/>
              <a:buFont typeface="Arial"/>
              <a:buNone/>
            </a:pPr>
            <a:r>
              <a:rPr b="1" lang="en-GB" sz="900">
                <a:solidFill>
                  <a:srgbClr val="1C2B3E"/>
                </a:solidFill>
                <a:latin typeface="Arial"/>
                <a:ea typeface="Arial"/>
                <a:cs typeface="Arial"/>
                <a:sym typeface="Arial"/>
              </a:rPr>
              <a:t>Trade — F&amp;B</a:t>
            </a:r>
            <a:endParaRPr sz="900">
              <a:solidFill>
                <a:schemeClr val="dk1"/>
              </a:solidFill>
              <a:latin typeface="Calibri"/>
              <a:ea typeface="Calibri"/>
              <a:cs typeface="Calibri"/>
              <a:sym typeface="Calibri"/>
            </a:endParaRPr>
          </a:p>
        </p:txBody>
      </p:sp>
      <p:sp>
        <p:nvSpPr>
          <p:cNvPr id="419" name="Google Shape;419;p26"/>
          <p:cNvSpPr/>
          <p:nvPr/>
        </p:nvSpPr>
        <p:spPr>
          <a:xfrm>
            <a:off x="534765" y="2060932"/>
            <a:ext cx="3833700" cy="274200"/>
          </a:xfrm>
          <a:prstGeom prst="roundRect">
            <a:avLst>
              <a:gd fmla="val 15000" name="adj"/>
            </a:avLst>
          </a:prstGeom>
          <a:solidFill>
            <a:srgbClr val="FBEBD9"/>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20" name="Google Shape;420;p26"/>
          <p:cNvSpPr/>
          <p:nvPr/>
        </p:nvSpPr>
        <p:spPr>
          <a:xfrm>
            <a:off x="630782" y="2102080"/>
            <a:ext cx="15297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900"/>
              <a:buFont typeface="Arial"/>
              <a:buNone/>
            </a:pPr>
            <a:r>
              <a:rPr lang="en-GB" sz="900">
                <a:solidFill>
                  <a:srgbClr val="94A3B8"/>
                </a:solidFill>
                <a:latin typeface="Arial"/>
                <a:ea typeface="Arial"/>
                <a:cs typeface="Arial"/>
                <a:sym typeface="Arial"/>
              </a:rPr>
              <a:t>Territory</a:t>
            </a:r>
            <a:endParaRPr sz="900">
              <a:solidFill>
                <a:schemeClr val="dk1"/>
              </a:solidFill>
              <a:latin typeface="Calibri"/>
              <a:ea typeface="Calibri"/>
              <a:cs typeface="Calibri"/>
              <a:sym typeface="Calibri"/>
            </a:endParaRPr>
          </a:p>
        </p:txBody>
      </p:sp>
      <p:sp>
        <p:nvSpPr>
          <p:cNvPr id="421" name="Google Shape;421;p26"/>
          <p:cNvSpPr/>
          <p:nvPr/>
        </p:nvSpPr>
        <p:spPr>
          <a:xfrm>
            <a:off x="2160335" y="2102080"/>
            <a:ext cx="2112300" cy="205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C2B3E"/>
              </a:buClr>
              <a:buSzPts val="900"/>
              <a:buFont typeface="Arial"/>
              <a:buNone/>
            </a:pPr>
            <a:r>
              <a:rPr b="1" lang="en-GB" sz="900">
                <a:solidFill>
                  <a:srgbClr val="1C2B3E"/>
                </a:solidFill>
                <a:latin typeface="Arial"/>
                <a:ea typeface="Arial"/>
                <a:cs typeface="Arial"/>
                <a:sym typeface="Arial"/>
              </a:rPr>
              <a:t>Petaling Jaya</a:t>
            </a:r>
            <a:endParaRPr sz="900">
              <a:solidFill>
                <a:schemeClr val="dk1"/>
              </a:solidFill>
              <a:latin typeface="Calibri"/>
              <a:ea typeface="Calibri"/>
              <a:cs typeface="Calibri"/>
              <a:sym typeface="Calibri"/>
            </a:endParaRPr>
          </a:p>
        </p:txBody>
      </p:sp>
      <p:sp>
        <p:nvSpPr>
          <p:cNvPr id="422" name="Google Shape;422;p26"/>
          <p:cNvSpPr/>
          <p:nvPr/>
        </p:nvSpPr>
        <p:spPr>
          <a:xfrm>
            <a:off x="630782" y="2410690"/>
            <a:ext cx="15297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900"/>
              <a:buFont typeface="Arial"/>
              <a:buNone/>
            </a:pPr>
            <a:r>
              <a:rPr lang="en-GB" sz="900">
                <a:solidFill>
                  <a:srgbClr val="94A3B8"/>
                </a:solidFill>
                <a:latin typeface="Arial"/>
                <a:ea typeface="Arial"/>
                <a:cs typeface="Arial"/>
                <a:sym typeface="Arial"/>
              </a:rPr>
              <a:t>Payment Terms</a:t>
            </a:r>
            <a:endParaRPr sz="900">
              <a:solidFill>
                <a:schemeClr val="dk1"/>
              </a:solidFill>
              <a:latin typeface="Calibri"/>
              <a:ea typeface="Calibri"/>
              <a:cs typeface="Calibri"/>
              <a:sym typeface="Calibri"/>
            </a:endParaRPr>
          </a:p>
        </p:txBody>
      </p:sp>
      <p:sp>
        <p:nvSpPr>
          <p:cNvPr id="423" name="Google Shape;423;p26"/>
          <p:cNvSpPr/>
          <p:nvPr/>
        </p:nvSpPr>
        <p:spPr>
          <a:xfrm>
            <a:off x="2160335" y="2410690"/>
            <a:ext cx="2112300" cy="205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C2B3E"/>
              </a:buClr>
              <a:buSzPts val="900"/>
              <a:buFont typeface="Arial"/>
              <a:buNone/>
            </a:pPr>
            <a:r>
              <a:rPr b="1" lang="en-GB" sz="900">
                <a:solidFill>
                  <a:srgbClr val="1C2B3E"/>
                </a:solidFill>
                <a:latin typeface="Arial"/>
                <a:ea typeface="Arial"/>
                <a:cs typeface="Arial"/>
                <a:sym typeface="Arial"/>
              </a:rPr>
              <a:t>Net 30</a:t>
            </a:r>
            <a:endParaRPr sz="900">
              <a:solidFill>
                <a:schemeClr val="dk1"/>
              </a:solidFill>
              <a:latin typeface="Calibri"/>
              <a:ea typeface="Calibri"/>
              <a:cs typeface="Calibri"/>
              <a:sym typeface="Calibri"/>
            </a:endParaRPr>
          </a:p>
        </p:txBody>
      </p:sp>
      <p:sp>
        <p:nvSpPr>
          <p:cNvPr id="424" name="Google Shape;424;p26"/>
          <p:cNvSpPr/>
          <p:nvPr/>
        </p:nvSpPr>
        <p:spPr>
          <a:xfrm>
            <a:off x="630782" y="2719300"/>
            <a:ext cx="15297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900"/>
              <a:buFont typeface="Arial"/>
              <a:buNone/>
            </a:pPr>
            <a:r>
              <a:rPr lang="en-GB" sz="900">
                <a:solidFill>
                  <a:srgbClr val="94A3B8"/>
                </a:solidFill>
                <a:latin typeface="Arial"/>
                <a:ea typeface="Arial"/>
                <a:cs typeface="Arial"/>
                <a:sym typeface="Arial"/>
              </a:rPr>
              <a:t>Sales Person</a:t>
            </a:r>
            <a:endParaRPr sz="900">
              <a:solidFill>
                <a:schemeClr val="dk1"/>
              </a:solidFill>
              <a:latin typeface="Calibri"/>
              <a:ea typeface="Calibri"/>
              <a:cs typeface="Calibri"/>
              <a:sym typeface="Calibri"/>
            </a:endParaRPr>
          </a:p>
        </p:txBody>
      </p:sp>
      <p:sp>
        <p:nvSpPr>
          <p:cNvPr id="425" name="Google Shape;425;p26"/>
          <p:cNvSpPr/>
          <p:nvPr/>
        </p:nvSpPr>
        <p:spPr>
          <a:xfrm>
            <a:off x="2160335" y="2719300"/>
            <a:ext cx="2112300" cy="205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C2B3E"/>
              </a:buClr>
              <a:buSzPts val="900"/>
              <a:buFont typeface="Arial"/>
              <a:buNone/>
            </a:pPr>
            <a:r>
              <a:rPr b="1" lang="en-GB" sz="900">
                <a:solidFill>
                  <a:srgbClr val="1C2B3E"/>
                </a:solidFill>
                <a:latin typeface="Arial"/>
                <a:ea typeface="Arial"/>
                <a:cs typeface="Arial"/>
                <a:sym typeface="Arial"/>
              </a:rPr>
              <a:t>Aiman Yusof</a:t>
            </a:r>
            <a:endParaRPr sz="900">
              <a:solidFill>
                <a:schemeClr val="dk1"/>
              </a:solidFill>
              <a:latin typeface="Calibri"/>
              <a:ea typeface="Calibri"/>
              <a:cs typeface="Calibri"/>
              <a:sym typeface="Calibri"/>
            </a:endParaRPr>
          </a:p>
        </p:txBody>
      </p:sp>
      <p:sp>
        <p:nvSpPr>
          <p:cNvPr id="426" name="Google Shape;426;p26"/>
          <p:cNvSpPr/>
          <p:nvPr/>
        </p:nvSpPr>
        <p:spPr>
          <a:xfrm>
            <a:off x="534765" y="2986762"/>
            <a:ext cx="3833700" cy="274200"/>
          </a:xfrm>
          <a:prstGeom prst="roundRect">
            <a:avLst>
              <a:gd fmla="val 15000" name="adj"/>
            </a:avLst>
          </a:prstGeom>
          <a:solidFill>
            <a:srgbClr val="FBEBD9"/>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27" name="Google Shape;427;p26"/>
          <p:cNvSpPr/>
          <p:nvPr/>
        </p:nvSpPr>
        <p:spPr>
          <a:xfrm>
            <a:off x="630782" y="3027910"/>
            <a:ext cx="15297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900"/>
              <a:buFont typeface="Arial"/>
              <a:buNone/>
            </a:pPr>
            <a:r>
              <a:rPr lang="en-GB" sz="900">
                <a:solidFill>
                  <a:srgbClr val="94A3B8"/>
                </a:solidFill>
                <a:latin typeface="Arial"/>
                <a:ea typeface="Arial"/>
                <a:cs typeface="Arial"/>
                <a:sym typeface="Arial"/>
              </a:rPr>
              <a:t>Default Price List</a:t>
            </a:r>
            <a:endParaRPr sz="900">
              <a:solidFill>
                <a:schemeClr val="dk1"/>
              </a:solidFill>
              <a:latin typeface="Calibri"/>
              <a:ea typeface="Calibri"/>
              <a:cs typeface="Calibri"/>
              <a:sym typeface="Calibri"/>
            </a:endParaRPr>
          </a:p>
        </p:txBody>
      </p:sp>
      <p:sp>
        <p:nvSpPr>
          <p:cNvPr id="428" name="Google Shape;428;p26"/>
          <p:cNvSpPr/>
          <p:nvPr/>
        </p:nvSpPr>
        <p:spPr>
          <a:xfrm>
            <a:off x="2160335" y="3027910"/>
            <a:ext cx="2112300" cy="205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C2B3E"/>
              </a:buClr>
              <a:buSzPts val="900"/>
              <a:buFont typeface="Arial"/>
              <a:buNone/>
            </a:pPr>
            <a:r>
              <a:rPr b="1" lang="en-GB" sz="900">
                <a:solidFill>
                  <a:srgbClr val="1C2B3E"/>
                </a:solidFill>
                <a:latin typeface="Arial"/>
                <a:ea typeface="Arial"/>
                <a:cs typeface="Arial"/>
                <a:sym typeface="Arial"/>
              </a:rPr>
              <a:t>Wholesale</a:t>
            </a:r>
            <a:endParaRPr sz="900">
              <a:solidFill>
                <a:schemeClr val="dk1"/>
              </a:solidFill>
              <a:latin typeface="Calibri"/>
              <a:ea typeface="Calibri"/>
              <a:cs typeface="Calibri"/>
              <a:sym typeface="Calibri"/>
            </a:endParaRPr>
          </a:p>
        </p:txBody>
      </p:sp>
      <p:sp>
        <p:nvSpPr>
          <p:cNvPr id="429" name="Google Shape;429;p26"/>
          <p:cNvSpPr/>
          <p:nvPr/>
        </p:nvSpPr>
        <p:spPr>
          <a:xfrm>
            <a:off x="901674" y="3355679"/>
            <a:ext cx="973800" cy="246900"/>
          </a:xfrm>
          <a:prstGeom prst="roundRect">
            <a:avLst>
              <a:gd fmla="val 50000"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30" name="Google Shape;430;p26"/>
          <p:cNvSpPr/>
          <p:nvPr/>
        </p:nvSpPr>
        <p:spPr>
          <a:xfrm>
            <a:off x="901674" y="3355679"/>
            <a:ext cx="973800" cy="246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Notes (12)</a:t>
            </a:r>
            <a:endParaRPr sz="800">
              <a:solidFill>
                <a:schemeClr val="dk1"/>
              </a:solidFill>
              <a:latin typeface="Calibri"/>
              <a:ea typeface="Calibri"/>
              <a:cs typeface="Calibri"/>
              <a:sym typeface="Calibri"/>
            </a:endParaRPr>
          </a:p>
        </p:txBody>
      </p:sp>
      <p:sp>
        <p:nvSpPr>
          <p:cNvPr id="431" name="Google Shape;431;p26"/>
          <p:cNvSpPr/>
          <p:nvPr/>
        </p:nvSpPr>
        <p:spPr>
          <a:xfrm>
            <a:off x="1964720" y="3355679"/>
            <a:ext cx="973800" cy="246900"/>
          </a:xfrm>
          <a:prstGeom prst="roundRect">
            <a:avLst>
              <a:gd fmla="val 50000"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32" name="Google Shape;432;p26"/>
          <p:cNvSpPr/>
          <p:nvPr/>
        </p:nvSpPr>
        <p:spPr>
          <a:xfrm>
            <a:off x="1964720" y="3355679"/>
            <a:ext cx="973800" cy="246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Tasks</a:t>
            </a:r>
            <a:endParaRPr sz="800">
              <a:solidFill>
                <a:schemeClr val="dk1"/>
              </a:solidFill>
              <a:latin typeface="Calibri"/>
              <a:ea typeface="Calibri"/>
              <a:cs typeface="Calibri"/>
              <a:sym typeface="Calibri"/>
            </a:endParaRPr>
          </a:p>
        </p:txBody>
      </p:sp>
      <p:sp>
        <p:nvSpPr>
          <p:cNvPr id="433" name="Google Shape;433;p26"/>
          <p:cNvSpPr/>
          <p:nvPr/>
        </p:nvSpPr>
        <p:spPr>
          <a:xfrm>
            <a:off x="3027767" y="3355679"/>
            <a:ext cx="973800" cy="246900"/>
          </a:xfrm>
          <a:prstGeom prst="roundRect">
            <a:avLst>
              <a:gd fmla="val 50000"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34" name="Google Shape;434;p26"/>
          <p:cNvSpPr/>
          <p:nvPr/>
        </p:nvSpPr>
        <p:spPr>
          <a:xfrm>
            <a:off x="3027767" y="3355679"/>
            <a:ext cx="973800" cy="246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Events</a:t>
            </a:r>
            <a:endParaRPr sz="800">
              <a:solidFill>
                <a:schemeClr val="dk1"/>
              </a:solidFill>
              <a:latin typeface="Calibri"/>
              <a:ea typeface="Calibri"/>
              <a:cs typeface="Calibri"/>
              <a:sym typeface="Calibri"/>
            </a:endParaRPr>
          </a:p>
        </p:txBody>
      </p:sp>
      <p:sp>
        <p:nvSpPr>
          <p:cNvPr id="435" name="Google Shape;435;p26"/>
          <p:cNvSpPr/>
          <p:nvPr/>
        </p:nvSpPr>
        <p:spPr>
          <a:xfrm>
            <a:off x="4766388" y="1259687"/>
            <a:ext cx="3966300" cy="2422800"/>
          </a:xfrm>
          <a:prstGeom prst="roundRect">
            <a:avLst>
              <a:gd fmla="val 3380" name="adj"/>
            </a:avLst>
          </a:prstGeom>
          <a:solidFill>
            <a:srgbClr val="F5F7FA"/>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36" name="Google Shape;436;p26"/>
          <p:cNvSpPr/>
          <p:nvPr/>
        </p:nvSpPr>
        <p:spPr>
          <a:xfrm>
            <a:off x="4917261" y="1360111"/>
            <a:ext cx="36645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900"/>
              <a:buFont typeface="Arial"/>
              <a:buNone/>
            </a:pPr>
            <a:r>
              <a:rPr b="1" lang="en-GB" sz="900">
                <a:solidFill>
                  <a:srgbClr val="1C2B3E"/>
                </a:solidFill>
                <a:latin typeface="Arial"/>
                <a:ea typeface="Arial"/>
                <a:cs typeface="Arial"/>
                <a:sym typeface="Arial"/>
              </a:rPr>
              <a:t>Plain-language search</a:t>
            </a:r>
            <a:endParaRPr sz="900">
              <a:solidFill>
                <a:schemeClr val="dk1"/>
              </a:solidFill>
              <a:latin typeface="Calibri"/>
              <a:ea typeface="Calibri"/>
              <a:cs typeface="Calibri"/>
              <a:sym typeface="Calibri"/>
            </a:endParaRPr>
          </a:p>
        </p:txBody>
      </p:sp>
      <p:sp>
        <p:nvSpPr>
          <p:cNvPr id="437" name="Google Shape;437;p26"/>
          <p:cNvSpPr/>
          <p:nvPr/>
        </p:nvSpPr>
        <p:spPr>
          <a:xfrm>
            <a:off x="8279917" y="1360111"/>
            <a:ext cx="288000" cy="288000"/>
          </a:xfrm>
          <a:prstGeom prst="roundRect">
            <a:avLst>
              <a:gd fmla="val 22000"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Search_white.png" id="438" name="Google Shape;438;p26"/>
          <p:cNvPicPr preferRelativeResize="0"/>
          <p:nvPr/>
        </p:nvPicPr>
        <p:blipFill rotWithShape="1">
          <a:blip r:embed="rId4">
            <a:alphaModFix/>
          </a:blip>
          <a:srcRect b="0" l="0" r="0" t="0"/>
          <a:stretch/>
        </p:blipFill>
        <p:spPr>
          <a:xfrm>
            <a:off x="8344729" y="1424920"/>
            <a:ext cx="158419" cy="158419"/>
          </a:xfrm>
          <a:prstGeom prst="rect">
            <a:avLst/>
          </a:prstGeom>
          <a:noFill/>
          <a:ln>
            <a:noFill/>
          </a:ln>
        </p:spPr>
      </p:pic>
      <p:sp>
        <p:nvSpPr>
          <p:cNvPr id="439" name="Google Shape;439;p26"/>
          <p:cNvSpPr/>
          <p:nvPr/>
        </p:nvSpPr>
        <p:spPr>
          <a:xfrm>
            <a:off x="4930977" y="1762273"/>
            <a:ext cx="3636900" cy="411600"/>
          </a:xfrm>
          <a:prstGeom prst="roundRect">
            <a:avLst>
              <a:gd fmla="val 13333"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40" name="Google Shape;440;p26"/>
          <p:cNvSpPr/>
          <p:nvPr/>
        </p:nvSpPr>
        <p:spPr>
          <a:xfrm>
            <a:off x="5040711" y="1762273"/>
            <a:ext cx="34176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Arial"/>
              <a:buNone/>
            </a:pPr>
            <a:r>
              <a:rPr i="1" lang="en-GB" sz="1000">
                <a:solidFill>
                  <a:srgbClr val="FFFFFF"/>
                </a:solidFill>
                <a:latin typeface="Arial"/>
                <a:ea typeface="Arial"/>
                <a:cs typeface="Arial"/>
                <a:sym typeface="Arial"/>
              </a:rPr>
              <a:t>“the mamak in PJ that buys oil every week”</a:t>
            </a:r>
            <a:endParaRPr sz="1000">
              <a:solidFill>
                <a:schemeClr val="dk1"/>
              </a:solidFill>
              <a:latin typeface="Calibri"/>
              <a:ea typeface="Calibri"/>
              <a:cs typeface="Calibri"/>
              <a:sym typeface="Calibri"/>
            </a:endParaRPr>
          </a:p>
        </p:txBody>
      </p:sp>
      <p:sp>
        <p:nvSpPr>
          <p:cNvPr id="441" name="Google Shape;441;p26"/>
          <p:cNvSpPr/>
          <p:nvPr/>
        </p:nvSpPr>
        <p:spPr>
          <a:xfrm>
            <a:off x="4930977" y="2338345"/>
            <a:ext cx="3636900" cy="1028700"/>
          </a:xfrm>
          <a:prstGeom prst="roundRect">
            <a:avLst>
              <a:gd fmla="val 5333" name="adj"/>
            </a:avLst>
          </a:prstGeom>
          <a:solidFill>
            <a:srgbClr val="FFFFFF"/>
          </a:solidFill>
          <a:ln cap="flat" cmpd="sng" w="12700">
            <a:solidFill>
              <a:srgbClr val="E3E8EF"/>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42" name="Google Shape;442;p26"/>
          <p:cNvSpPr/>
          <p:nvPr/>
        </p:nvSpPr>
        <p:spPr>
          <a:xfrm>
            <a:off x="5040711" y="2448073"/>
            <a:ext cx="3417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1100"/>
              <a:buFont typeface="Arial"/>
              <a:buNone/>
            </a:pPr>
            <a:r>
              <a:rPr b="1" lang="en-GB" sz="1100">
                <a:solidFill>
                  <a:srgbClr val="1C2B3E"/>
                </a:solidFill>
                <a:latin typeface="Arial"/>
                <a:ea typeface="Arial"/>
                <a:cs typeface="Arial"/>
                <a:sym typeface="Arial"/>
              </a:rPr>
              <a:t>Warung Pak Din Sdn Bhd</a:t>
            </a:r>
            <a:endParaRPr sz="1100">
              <a:solidFill>
                <a:schemeClr val="dk1"/>
              </a:solidFill>
              <a:latin typeface="Calibri"/>
              <a:ea typeface="Calibri"/>
              <a:cs typeface="Calibri"/>
              <a:sym typeface="Calibri"/>
            </a:endParaRPr>
          </a:p>
        </p:txBody>
      </p:sp>
      <p:sp>
        <p:nvSpPr>
          <p:cNvPr id="443" name="Google Shape;443;p26"/>
          <p:cNvSpPr/>
          <p:nvPr/>
        </p:nvSpPr>
        <p:spPr>
          <a:xfrm>
            <a:off x="5040711" y="2749825"/>
            <a:ext cx="34176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D"/>
              </a:buClr>
              <a:buSzPts val="900"/>
              <a:buFont typeface="Arial"/>
              <a:buNone/>
            </a:pPr>
            <a:r>
              <a:rPr lang="en-GB" sz="900">
                <a:solidFill>
                  <a:srgbClr val="5B6B7D"/>
                </a:solidFill>
                <a:latin typeface="Arial"/>
                <a:ea typeface="Arial"/>
                <a:cs typeface="Arial"/>
                <a:sym typeface="Arial"/>
              </a:rPr>
              <a:t>Petaling Jaya  ·  Cooking Oil (weekly)  ·  Contact: Pak Din</a:t>
            </a:r>
            <a:endParaRPr sz="900">
              <a:solidFill>
                <a:schemeClr val="dk1"/>
              </a:solidFill>
              <a:latin typeface="Calibri"/>
              <a:ea typeface="Calibri"/>
              <a:cs typeface="Calibri"/>
              <a:sym typeface="Calibri"/>
            </a:endParaRPr>
          </a:p>
        </p:txBody>
      </p:sp>
      <p:sp>
        <p:nvSpPr>
          <p:cNvPr id="444" name="Google Shape;444;p26"/>
          <p:cNvSpPr/>
          <p:nvPr/>
        </p:nvSpPr>
        <p:spPr>
          <a:xfrm>
            <a:off x="411313" y="3835394"/>
            <a:ext cx="2704800" cy="871500"/>
          </a:xfrm>
          <a:prstGeom prst="roundRect">
            <a:avLst>
              <a:gd fmla="val 9279" name="adj"/>
            </a:avLst>
          </a:prstGeom>
          <a:noFill/>
          <a:ln cap="flat" cmpd="sng" w="9525">
            <a:solidFill>
              <a:srgbClr val="E3E8EF"/>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nvGrpSpPr>
          <p:cNvPr id="445" name="Google Shape;445;p26"/>
          <p:cNvGrpSpPr/>
          <p:nvPr/>
        </p:nvGrpSpPr>
        <p:grpSpPr>
          <a:xfrm>
            <a:off x="611997" y="3902842"/>
            <a:ext cx="1777659" cy="390951"/>
            <a:chOff x="5212360" y="3366022"/>
            <a:chExt cx="1469140" cy="323100"/>
          </a:xfrm>
        </p:grpSpPr>
        <p:pic>
          <p:nvPicPr>
            <p:cNvPr descr="/home/claude/maia/icons/FiCheck_green.png" id="446" name="Google Shape;446;p26"/>
            <p:cNvPicPr preferRelativeResize="0"/>
            <p:nvPr/>
          </p:nvPicPr>
          <p:blipFill rotWithShape="1">
            <a:blip r:embed="rId5">
              <a:alphaModFix/>
            </a:blip>
            <a:srcRect b="0" l="0" r="0" t="0"/>
            <a:stretch/>
          </p:blipFill>
          <p:spPr>
            <a:xfrm>
              <a:off x="5212360" y="3458995"/>
              <a:ext cx="137160" cy="137160"/>
            </a:xfrm>
            <a:prstGeom prst="rect">
              <a:avLst/>
            </a:prstGeom>
            <a:noFill/>
            <a:ln>
              <a:noFill/>
            </a:ln>
          </p:spPr>
        </p:pic>
        <p:sp>
          <p:nvSpPr>
            <p:cNvPr id="447" name="Google Shape;447;p26"/>
            <p:cNvSpPr txBox="1"/>
            <p:nvPr/>
          </p:nvSpPr>
          <p:spPr>
            <a:xfrm>
              <a:off x="5349500" y="3366022"/>
              <a:ext cx="1332000" cy="323100"/>
            </a:xfrm>
            <a:prstGeom prst="rect">
              <a:avLst/>
            </a:prstGeom>
            <a:noFill/>
            <a:ln>
              <a:noFill/>
            </a:ln>
          </p:spPr>
          <p:txBody>
            <a:bodyPr anchorCtr="0" anchor="t" bIns="110625" lIns="110625" spcFirstLastPara="1" rIns="110625" wrap="square" tIns="110625">
              <a:spAutoFit/>
            </a:bodyPr>
            <a:lstStyle/>
            <a:p>
              <a:pPr indent="0" lvl="0" marL="0" rtl="0" algn="l">
                <a:lnSpc>
                  <a:spcPct val="115000"/>
                </a:lnSpc>
                <a:spcBef>
                  <a:spcPts val="0"/>
                </a:spcBef>
                <a:spcAft>
                  <a:spcPts val="0"/>
                </a:spcAft>
                <a:buNone/>
              </a:pPr>
              <a:r>
                <a:rPr b="1" lang="en-GB" sz="1089">
                  <a:solidFill>
                    <a:schemeClr val="dk1"/>
                  </a:solidFill>
                </a:rPr>
                <a:t>Richer </a:t>
              </a:r>
              <a:r>
                <a:rPr b="1" lang="en-GB" sz="1089">
                  <a:solidFill>
                    <a:schemeClr val="dk1"/>
                  </a:solidFill>
                </a:rPr>
                <a:t>profile</a:t>
              </a:r>
              <a:endParaRPr b="1" sz="1694">
                <a:solidFill>
                  <a:schemeClr val="dk1"/>
                </a:solidFill>
              </a:endParaRPr>
            </a:p>
          </p:txBody>
        </p:sp>
      </p:grpSp>
      <p:sp>
        <p:nvSpPr>
          <p:cNvPr id="448" name="Google Shape;448;p26"/>
          <p:cNvSpPr txBox="1"/>
          <p:nvPr/>
        </p:nvSpPr>
        <p:spPr>
          <a:xfrm>
            <a:off x="582538" y="4157066"/>
            <a:ext cx="2362200" cy="482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900">
                <a:solidFill>
                  <a:srgbClr val="5B6B7D"/>
                </a:solidFill>
              </a:rPr>
              <a:t>More context than a standard ERP customer card.</a:t>
            </a:r>
            <a:endParaRPr sz="900">
              <a:solidFill>
                <a:srgbClr val="5B6B7D"/>
              </a:solidFill>
            </a:endParaRPr>
          </a:p>
        </p:txBody>
      </p:sp>
      <p:sp>
        <p:nvSpPr>
          <p:cNvPr id="449" name="Google Shape;449;p26"/>
          <p:cNvSpPr/>
          <p:nvPr/>
        </p:nvSpPr>
        <p:spPr>
          <a:xfrm>
            <a:off x="3219413" y="3835394"/>
            <a:ext cx="2704800" cy="871500"/>
          </a:xfrm>
          <a:prstGeom prst="roundRect">
            <a:avLst>
              <a:gd fmla="val 9279" name="adj"/>
            </a:avLst>
          </a:prstGeom>
          <a:noFill/>
          <a:ln cap="flat" cmpd="sng" w="9525">
            <a:solidFill>
              <a:srgbClr val="E3E8EF"/>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nvGrpSpPr>
          <p:cNvPr id="450" name="Google Shape;450;p26"/>
          <p:cNvGrpSpPr/>
          <p:nvPr/>
        </p:nvGrpSpPr>
        <p:grpSpPr>
          <a:xfrm>
            <a:off x="3420097" y="3902842"/>
            <a:ext cx="1777659" cy="390951"/>
            <a:chOff x="5212360" y="3366022"/>
            <a:chExt cx="1469140" cy="323100"/>
          </a:xfrm>
        </p:grpSpPr>
        <p:pic>
          <p:nvPicPr>
            <p:cNvPr descr="/home/claude/maia/icons/FiCheck_green.png" id="451" name="Google Shape;451;p26"/>
            <p:cNvPicPr preferRelativeResize="0"/>
            <p:nvPr/>
          </p:nvPicPr>
          <p:blipFill rotWithShape="1">
            <a:blip r:embed="rId5">
              <a:alphaModFix/>
            </a:blip>
            <a:srcRect b="0" l="0" r="0" t="0"/>
            <a:stretch/>
          </p:blipFill>
          <p:spPr>
            <a:xfrm>
              <a:off x="5212360" y="3458995"/>
              <a:ext cx="137160" cy="137160"/>
            </a:xfrm>
            <a:prstGeom prst="rect">
              <a:avLst/>
            </a:prstGeom>
            <a:noFill/>
            <a:ln>
              <a:noFill/>
            </a:ln>
          </p:spPr>
        </p:pic>
        <p:sp>
          <p:nvSpPr>
            <p:cNvPr id="452" name="Google Shape;452;p26"/>
            <p:cNvSpPr txBox="1"/>
            <p:nvPr/>
          </p:nvSpPr>
          <p:spPr>
            <a:xfrm>
              <a:off x="5349500" y="3366022"/>
              <a:ext cx="1332000" cy="323100"/>
            </a:xfrm>
            <a:prstGeom prst="rect">
              <a:avLst/>
            </a:prstGeom>
            <a:noFill/>
            <a:ln>
              <a:noFill/>
            </a:ln>
          </p:spPr>
          <p:txBody>
            <a:bodyPr anchorCtr="0" anchor="t" bIns="110625" lIns="110625" spcFirstLastPara="1" rIns="110625" wrap="square" tIns="110625">
              <a:spAutoFit/>
            </a:bodyPr>
            <a:lstStyle/>
            <a:p>
              <a:pPr indent="0" lvl="0" marL="0" rtl="0" algn="l">
                <a:lnSpc>
                  <a:spcPct val="115000"/>
                </a:lnSpc>
                <a:spcBef>
                  <a:spcPts val="0"/>
                </a:spcBef>
                <a:spcAft>
                  <a:spcPts val="0"/>
                </a:spcAft>
                <a:buNone/>
              </a:pPr>
              <a:r>
                <a:rPr b="1" lang="en-GB" sz="1089">
                  <a:solidFill>
                    <a:schemeClr val="dk1"/>
                  </a:solidFill>
                </a:rPr>
                <a:t>Customer history</a:t>
              </a:r>
              <a:endParaRPr b="1" sz="1694">
                <a:solidFill>
                  <a:schemeClr val="dk1"/>
                </a:solidFill>
              </a:endParaRPr>
            </a:p>
          </p:txBody>
        </p:sp>
      </p:grpSp>
      <p:sp>
        <p:nvSpPr>
          <p:cNvPr id="453" name="Google Shape;453;p26"/>
          <p:cNvSpPr txBox="1"/>
          <p:nvPr/>
        </p:nvSpPr>
        <p:spPr>
          <a:xfrm>
            <a:off x="3390638" y="4157066"/>
            <a:ext cx="2362200" cy="482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900">
                <a:solidFill>
                  <a:srgbClr val="5B6B7D"/>
                </a:solidFill>
              </a:rPr>
              <a:t>Notes, tasks &amp; events — </a:t>
            </a:r>
            <a:r>
              <a:rPr lang="en-GB" sz="900">
                <a:solidFill>
                  <a:srgbClr val="5B6B7D"/>
                </a:solidFill>
              </a:rPr>
              <a:t>No more hunting through WhatsApp chats.</a:t>
            </a:r>
            <a:endParaRPr sz="900">
              <a:solidFill>
                <a:srgbClr val="5B6B7D"/>
              </a:solidFill>
            </a:endParaRPr>
          </a:p>
        </p:txBody>
      </p:sp>
      <p:sp>
        <p:nvSpPr>
          <p:cNvPr id="454" name="Google Shape;454;p26"/>
          <p:cNvSpPr/>
          <p:nvPr/>
        </p:nvSpPr>
        <p:spPr>
          <a:xfrm>
            <a:off x="6027513" y="3835394"/>
            <a:ext cx="2704800" cy="871500"/>
          </a:xfrm>
          <a:prstGeom prst="roundRect">
            <a:avLst>
              <a:gd fmla="val 9279" name="adj"/>
            </a:avLst>
          </a:prstGeom>
          <a:noFill/>
          <a:ln cap="flat" cmpd="sng" w="9525">
            <a:solidFill>
              <a:srgbClr val="E3E8EF"/>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nvGrpSpPr>
          <p:cNvPr id="455" name="Google Shape;455;p26"/>
          <p:cNvGrpSpPr/>
          <p:nvPr/>
        </p:nvGrpSpPr>
        <p:grpSpPr>
          <a:xfrm>
            <a:off x="6228197" y="3902842"/>
            <a:ext cx="1777659" cy="390951"/>
            <a:chOff x="5212360" y="3366022"/>
            <a:chExt cx="1469140" cy="323100"/>
          </a:xfrm>
        </p:grpSpPr>
        <p:pic>
          <p:nvPicPr>
            <p:cNvPr descr="/home/claude/maia/icons/FiCheck_green.png" id="456" name="Google Shape;456;p26"/>
            <p:cNvPicPr preferRelativeResize="0"/>
            <p:nvPr/>
          </p:nvPicPr>
          <p:blipFill rotWithShape="1">
            <a:blip r:embed="rId5">
              <a:alphaModFix/>
            </a:blip>
            <a:srcRect b="0" l="0" r="0" t="0"/>
            <a:stretch/>
          </p:blipFill>
          <p:spPr>
            <a:xfrm>
              <a:off x="5212360" y="3458995"/>
              <a:ext cx="137160" cy="137160"/>
            </a:xfrm>
            <a:prstGeom prst="rect">
              <a:avLst/>
            </a:prstGeom>
            <a:noFill/>
            <a:ln>
              <a:noFill/>
            </a:ln>
          </p:spPr>
        </p:pic>
        <p:sp>
          <p:nvSpPr>
            <p:cNvPr id="457" name="Google Shape;457;p26"/>
            <p:cNvSpPr txBox="1"/>
            <p:nvPr/>
          </p:nvSpPr>
          <p:spPr>
            <a:xfrm>
              <a:off x="5349500" y="3366022"/>
              <a:ext cx="1332000" cy="323100"/>
            </a:xfrm>
            <a:prstGeom prst="rect">
              <a:avLst/>
            </a:prstGeom>
            <a:noFill/>
            <a:ln>
              <a:noFill/>
            </a:ln>
          </p:spPr>
          <p:txBody>
            <a:bodyPr anchorCtr="0" anchor="t" bIns="110625" lIns="110625" spcFirstLastPara="1" rIns="110625" wrap="square" tIns="110625">
              <a:spAutoFit/>
            </a:bodyPr>
            <a:lstStyle/>
            <a:p>
              <a:pPr indent="0" lvl="0" marL="0" rtl="0" algn="l">
                <a:lnSpc>
                  <a:spcPct val="115000"/>
                </a:lnSpc>
                <a:spcBef>
                  <a:spcPts val="0"/>
                </a:spcBef>
                <a:spcAft>
                  <a:spcPts val="0"/>
                </a:spcAft>
                <a:buNone/>
              </a:pPr>
              <a:r>
                <a:rPr b="1" lang="en-GB" sz="1089">
                  <a:solidFill>
                    <a:schemeClr val="dk1"/>
                  </a:solidFill>
                </a:rPr>
                <a:t>One source of truth</a:t>
              </a:r>
              <a:endParaRPr b="1" sz="1694">
                <a:solidFill>
                  <a:schemeClr val="dk1"/>
                </a:solidFill>
              </a:endParaRPr>
            </a:p>
          </p:txBody>
        </p:sp>
      </p:grpSp>
      <p:sp>
        <p:nvSpPr>
          <p:cNvPr id="458" name="Google Shape;458;p26"/>
          <p:cNvSpPr txBox="1"/>
          <p:nvPr/>
        </p:nvSpPr>
        <p:spPr>
          <a:xfrm>
            <a:off x="6198738" y="4157066"/>
            <a:ext cx="2362200" cy="482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900">
                <a:solidFill>
                  <a:srgbClr val="5B6B7D"/>
                </a:solidFill>
              </a:rPr>
              <a:t>Everyone sees the same information — No more chasing.</a:t>
            </a:r>
            <a:endParaRPr sz="900">
              <a:solidFill>
                <a:srgbClr val="5B6B7D"/>
              </a:solidFill>
            </a:endParaRPr>
          </a:p>
        </p:txBody>
      </p:sp>
      <p:sp>
        <p:nvSpPr>
          <p:cNvPr id="459" name="Google Shape;459;p26"/>
          <p:cNvSpPr txBox="1"/>
          <p:nvPr>
            <p:ph idx="12" type="sldNum"/>
          </p:nvPr>
        </p:nvSpPr>
        <p:spPr>
          <a:xfrm>
            <a:off x="8347216" y="4750189"/>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4" name="Shape 464"/>
        <p:cNvGrpSpPr/>
        <p:nvPr/>
      </p:nvGrpSpPr>
      <p:grpSpPr>
        <a:xfrm>
          <a:off x="0" y="0"/>
          <a:ext cx="0" cy="0"/>
          <a:chOff x="0" y="0"/>
          <a:chExt cx="0" cy="0"/>
        </a:xfrm>
      </p:grpSpPr>
      <p:sp>
        <p:nvSpPr>
          <p:cNvPr id="465" name="Google Shape;465;p27"/>
          <p:cNvSpPr/>
          <p:nvPr/>
        </p:nvSpPr>
        <p:spPr>
          <a:xfrm>
            <a:off x="411502" y="260604"/>
            <a:ext cx="6858366"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SECTION 1</a:t>
            </a:r>
            <a:endParaRPr sz="800">
              <a:solidFill>
                <a:schemeClr val="dk1"/>
              </a:solidFill>
              <a:latin typeface="Calibri"/>
              <a:ea typeface="Calibri"/>
              <a:cs typeface="Calibri"/>
              <a:sym typeface="Calibri"/>
            </a:endParaRPr>
          </a:p>
        </p:txBody>
      </p:sp>
      <p:sp>
        <p:nvSpPr>
          <p:cNvPr id="466" name="Google Shape;466;p27"/>
          <p:cNvSpPr/>
          <p:nvPr/>
        </p:nvSpPr>
        <p:spPr>
          <a:xfrm>
            <a:off x="411502" y="438912"/>
            <a:ext cx="8321255" cy="48006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C2B3E"/>
              </a:buClr>
              <a:buSzPts val="2200"/>
              <a:buFont typeface="Arial"/>
              <a:buNone/>
            </a:pPr>
            <a:r>
              <a:rPr b="1" lang="en-GB" sz="2200">
                <a:solidFill>
                  <a:srgbClr val="1C2B3E"/>
                </a:solidFill>
                <a:latin typeface="Poppins"/>
                <a:ea typeface="Poppins"/>
                <a:cs typeface="Poppins"/>
                <a:sym typeface="Poppins"/>
              </a:rPr>
              <a:t>Statement of Account, self-service.</a:t>
            </a:r>
            <a:endParaRPr b="1" sz="2200">
              <a:solidFill>
                <a:srgbClr val="1C2B3E"/>
              </a:solidFill>
              <a:latin typeface="Poppins"/>
              <a:ea typeface="Poppins"/>
              <a:cs typeface="Poppins"/>
              <a:sym typeface="Poppins"/>
            </a:endParaRPr>
          </a:p>
          <a:p>
            <a:pPr indent="0" lvl="0" marL="0" rtl="0" algn="l">
              <a:spcBef>
                <a:spcPts val="0"/>
              </a:spcBef>
              <a:spcAft>
                <a:spcPts val="0"/>
              </a:spcAft>
              <a:buNone/>
            </a:pPr>
            <a:r>
              <a:rPr lang="en-GB" sz="1800">
                <a:solidFill>
                  <a:srgbClr val="1C2B3E"/>
                </a:solidFill>
                <a:latin typeface="Poppins Light"/>
                <a:ea typeface="Poppins Light"/>
                <a:cs typeface="Poppins Light"/>
                <a:sym typeface="Poppins Light"/>
              </a:rPr>
              <a:t>o</a:t>
            </a:r>
            <a:r>
              <a:rPr lang="en-GB" sz="1800">
                <a:solidFill>
                  <a:srgbClr val="1C2B3E"/>
                </a:solidFill>
                <a:latin typeface="Poppins Light"/>
                <a:ea typeface="Poppins Light"/>
                <a:cs typeface="Poppins Light"/>
                <a:sym typeface="Poppins Light"/>
              </a:rPr>
              <a:t>ne link, customer downloads everything themselves.</a:t>
            </a:r>
            <a:endParaRPr sz="1800">
              <a:solidFill>
                <a:srgbClr val="1C2B3E"/>
              </a:solidFill>
              <a:latin typeface="Poppins Light"/>
              <a:ea typeface="Poppins Light"/>
              <a:cs typeface="Poppins Light"/>
              <a:sym typeface="Poppins Light"/>
            </a:endParaRPr>
          </a:p>
          <a:p>
            <a:pPr indent="0" lvl="0" marL="0" marR="0" rtl="0" algn="l">
              <a:lnSpc>
                <a:spcPct val="100000"/>
              </a:lnSpc>
              <a:spcBef>
                <a:spcPts val="0"/>
              </a:spcBef>
              <a:spcAft>
                <a:spcPts val="0"/>
              </a:spcAft>
              <a:buClr>
                <a:srgbClr val="1C2B3E"/>
              </a:buClr>
              <a:buSzPts val="2200"/>
              <a:buFont typeface="Arial"/>
              <a:buNone/>
            </a:pPr>
            <a:r>
              <a:t/>
            </a:r>
            <a:endParaRPr b="1" sz="2200">
              <a:solidFill>
                <a:srgbClr val="1C2B3E"/>
              </a:solidFill>
              <a:latin typeface="Poppins"/>
              <a:ea typeface="Poppins"/>
              <a:cs typeface="Poppins"/>
              <a:sym typeface="Poppins"/>
            </a:endParaRPr>
          </a:p>
        </p:txBody>
      </p:sp>
      <p:sp>
        <p:nvSpPr>
          <p:cNvPr id="467" name="Google Shape;467;p27"/>
          <p:cNvSpPr/>
          <p:nvPr/>
        </p:nvSpPr>
        <p:spPr>
          <a:xfrm>
            <a:off x="411502" y="1851672"/>
            <a:ext cx="3223500" cy="651600"/>
          </a:xfrm>
          <a:prstGeom prst="roundRect">
            <a:avLst>
              <a:gd fmla="val 10526" name="adj"/>
            </a:avLst>
          </a:prstGeom>
          <a:solidFill>
            <a:srgbClr val="F5F7FA"/>
          </a:solidFill>
          <a:ln cap="flat" cmpd="sng" w="12700">
            <a:solidFill>
              <a:srgbClr val="E3E8EF"/>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68" name="Google Shape;468;p27"/>
          <p:cNvSpPr/>
          <p:nvPr/>
        </p:nvSpPr>
        <p:spPr>
          <a:xfrm>
            <a:off x="562386" y="1851672"/>
            <a:ext cx="2949000" cy="65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900"/>
              <a:buFont typeface="Arial"/>
              <a:buNone/>
            </a:pPr>
            <a:r>
              <a:rPr i="1" lang="en-GB" sz="900" strike="sngStrike">
                <a:solidFill>
                  <a:srgbClr val="94A3B8"/>
                </a:solidFill>
                <a:latin typeface="Arial"/>
                <a:ea typeface="Arial"/>
                <a:cs typeface="Arial"/>
                <a:sym typeface="Arial"/>
              </a:rPr>
              <a:t>“how much do I still owe ah?”</a:t>
            </a:r>
            <a:endParaRPr sz="900">
              <a:solidFill>
                <a:schemeClr val="dk1"/>
              </a:solidFill>
              <a:latin typeface="Calibri"/>
              <a:ea typeface="Calibri"/>
              <a:cs typeface="Calibri"/>
              <a:sym typeface="Calibri"/>
            </a:endParaRPr>
          </a:p>
        </p:txBody>
      </p:sp>
      <p:pic>
        <p:nvPicPr>
          <p:cNvPr descr="/home/claude/maia/icons/FiArrowRight_accent.png" id="469" name="Google Shape;469;p27"/>
          <p:cNvPicPr preferRelativeResize="0"/>
          <p:nvPr/>
        </p:nvPicPr>
        <p:blipFill rotWithShape="1">
          <a:blip r:embed="rId3">
            <a:alphaModFix/>
          </a:blip>
          <a:srcRect b="0" l="0" r="0" t="0"/>
          <a:stretch/>
        </p:blipFill>
        <p:spPr>
          <a:xfrm>
            <a:off x="3758384" y="2091703"/>
            <a:ext cx="178308" cy="178308"/>
          </a:xfrm>
          <a:prstGeom prst="rect">
            <a:avLst/>
          </a:prstGeom>
          <a:noFill/>
          <a:ln>
            <a:noFill/>
          </a:ln>
        </p:spPr>
      </p:pic>
      <p:sp>
        <p:nvSpPr>
          <p:cNvPr id="470" name="Google Shape;470;p27"/>
          <p:cNvSpPr/>
          <p:nvPr/>
        </p:nvSpPr>
        <p:spPr>
          <a:xfrm>
            <a:off x="411502" y="2708923"/>
            <a:ext cx="3223500" cy="651600"/>
          </a:xfrm>
          <a:prstGeom prst="roundRect">
            <a:avLst>
              <a:gd fmla="val 10526" name="adj"/>
            </a:avLst>
          </a:prstGeom>
          <a:solidFill>
            <a:srgbClr val="F5F7FA"/>
          </a:solidFill>
          <a:ln cap="flat" cmpd="sng" w="12700">
            <a:solidFill>
              <a:srgbClr val="E3E8EF"/>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71" name="Google Shape;471;p27"/>
          <p:cNvSpPr/>
          <p:nvPr/>
        </p:nvSpPr>
        <p:spPr>
          <a:xfrm>
            <a:off x="562386" y="2708923"/>
            <a:ext cx="2949000" cy="65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900"/>
              <a:buFont typeface="Arial"/>
              <a:buNone/>
            </a:pPr>
            <a:r>
              <a:rPr i="1" lang="en-GB" sz="900" strike="sngStrike">
                <a:solidFill>
                  <a:srgbClr val="94A3B8"/>
                </a:solidFill>
                <a:latin typeface="Arial"/>
                <a:ea typeface="Arial"/>
                <a:cs typeface="Arial"/>
                <a:sym typeface="Arial"/>
              </a:rPr>
              <a:t>“can you resend that invoice from 6 months ago?”</a:t>
            </a:r>
            <a:endParaRPr sz="900">
              <a:solidFill>
                <a:schemeClr val="dk1"/>
              </a:solidFill>
              <a:latin typeface="Calibri"/>
              <a:ea typeface="Calibri"/>
              <a:cs typeface="Calibri"/>
              <a:sym typeface="Calibri"/>
            </a:endParaRPr>
          </a:p>
        </p:txBody>
      </p:sp>
      <p:pic>
        <p:nvPicPr>
          <p:cNvPr descr="/home/claude/maia/icons/FiArrowRight_accent.png" id="472" name="Google Shape;472;p27"/>
          <p:cNvPicPr preferRelativeResize="0"/>
          <p:nvPr/>
        </p:nvPicPr>
        <p:blipFill rotWithShape="1">
          <a:blip r:embed="rId3">
            <a:alphaModFix/>
          </a:blip>
          <a:srcRect b="0" l="0" r="0" t="0"/>
          <a:stretch/>
        </p:blipFill>
        <p:spPr>
          <a:xfrm>
            <a:off x="3758384" y="2948953"/>
            <a:ext cx="178308" cy="178308"/>
          </a:xfrm>
          <a:prstGeom prst="rect">
            <a:avLst/>
          </a:prstGeom>
          <a:noFill/>
          <a:ln>
            <a:noFill/>
          </a:ln>
        </p:spPr>
      </p:pic>
      <p:sp>
        <p:nvSpPr>
          <p:cNvPr id="473" name="Google Shape;473;p27"/>
          <p:cNvSpPr/>
          <p:nvPr/>
        </p:nvSpPr>
        <p:spPr>
          <a:xfrm>
            <a:off x="411502" y="3566173"/>
            <a:ext cx="3223500" cy="651600"/>
          </a:xfrm>
          <a:prstGeom prst="roundRect">
            <a:avLst>
              <a:gd fmla="val 10526" name="adj"/>
            </a:avLst>
          </a:prstGeom>
          <a:solidFill>
            <a:srgbClr val="F5F7FA"/>
          </a:solidFill>
          <a:ln cap="flat" cmpd="sng" w="12700">
            <a:solidFill>
              <a:srgbClr val="E3E8EF"/>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74" name="Google Shape;474;p27"/>
          <p:cNvSpPr/>
          <p:nvPr/>
        </p:nvSpPr>
        <p:spPr>
          <a:xfrm>
            <a:off x="562386" y="3566173"/>
            <a:ext cx="2949000" cy="65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900"/>
              <a:buFont typeface="Arial"/>
              <a:buNone/>
            </a:pPr>
            <a:r>
              <a:rPr i="1" lang="en-GB" sz="900" strike="sngStrike">
                <a:solidFill>
                  <a:srgbClr val="94A3B8"/>
                </a:solidFill>
                <a:latin typeface="Arial"/>
                <a:ea typeface="Arial"/>
                <a:cs typeface="Arial"/>
                <a:sym typeface="Arial"/>
              </a:rPr>
              <a:t>“all my payments this year lah, need for accounts”</a:t>
            </a:r>
            <a:endParaRPr sz="900">
              <a:solidFill>
                <a:schemeClr val="dk1"/>
              </a:solidFill>
              <a:latin typeface="Calibri"/>
              <a:ea typeface="Calibri"/>
              <a:cs typeface="Calibri"/>
              <a:sym typeface="Calibri"/>
            </a:endParaRPr>
          </a:p>
        </p:txBody>
      </p:sp>
      <p:pic>
        <p:nvPicPr>
          <p:cNvPr descr="/home/claude/maia/icons/FiArrowRight_accent.png" id="475" name="Google Shape;475;p27"/>
          <p:cNvPicPr preferRelativeResize="0"/>
          <p:nvPr/>
        </p:nvPicPr>
        <p:blipFill rotWithShape="1">
          <a:blip r:embed="rId3">
            <a:alphaModFix/>
          </a:blip>
          <a:srcRect b="0" l="0" r="0" t="0"/>
          <a:stretch/>
        </p:blipFill>
        <p:spPr>
          <a:xfrm>
            <a:off x="3758384" y="3806203"/>
            <a:ext cx="178308" cy="178308"/>
          </a:xfrm>
          <a:prstGeom prst="rect">
            <a:avLst/>
          </a:prstGeom>
          <a:noFill/>
          <a:ln>
            <a:noFill/>
          </a:ln>
        </p:spPr>
      </p:pic>
      <p:sp>
        <p:nvSpPr>
          <p:cNvPr id="476" name="Google Shape;476;p27"/>
          <p:cNvSpPr/>
          <p:nvPr/>
        </p:nvSpPr>
        <p:spPr>
          <a:xfrm>
            <a:off x="4286450" y="1435575"/>
            <a:ext cx="4446300" cy="3198300"/>
          </a:xfrm>
          <a:prstGeom prst="roundRect">
            <a:avLst>
              <a:gd fmla="val 2637" name="adj"/>
            </a:avLst>
          </a:prstGeom>
          <a:solidFill>
            <a:srgbClr val="27394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77" name="Google Shape;477;p27"/>
          <p:cNvSpPr/>
          <p:nvPr/>
        </p:nvSpPr>
        <p:spPr>
          <a:xfrm>
            <a:off x="4464771" y="1535833"/>
            <a:ext cx="4103400" cy="246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Arial"/>
              <a:buNone/>
            </a:pPr>
            <a:r>
              <a:rPr b="1" lang="en-GB" sz="1100">
                <a:solidFill>
                  <a:srgbClr val="FFFFFF"/>
                </a:solidFill>
                <a:latin typeface="Arial"/>
                <a:ea typeface="Arial"/>
                <a:cs typeface="Arial"/>
                <a:sym typeface="Arial"/>
              </a:rPr>
              <a:t>Restoran Maju Jaya — Statement</a:t>
            </a:r>
            <a:endParaRPr sz="1100">
              <a:solidFill>
                <a:schemeClr val="dk1"/>
              </a:solidFill>
              <a:latin typeface="Calibri"/>
              <a:ea typeface="Calibri"/>
              <a:cs typeface="Calibri"/>
              <a:sym typeface="Calibri"/>
            </a:endParaRPr>
          </a:p>
        </p:txBody>
      </p:sp>
      <p:sp>
        <p:nvSpPr>
          <p:cNvPr id="478" name="Google Shape;478;p27"/>
          <p:cNvSpPr/>
          <p:nvPr/>
        </p:nvSpPr>
        <p:spPr>
          <a:xfrm>
            <a:off x="4464771" y="1847065"/>
            <a:ext cx="2057400" cy="19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2A6BE"/>
              </a:buClr>
              <a:buSzPts val="800"/>
              <a:buFont typeface="Arial"/>
              <a:buNone/>
            </a:pPr>
            <a:r>
              <a:rPr lang="en-GB" sz="800">
                <a:solidFill>
                  <a:srgbClr val="92A6BE"/>
                </a:solidFill>
                <a:latin typeface="Arial"/>
                <a:ea typeface="Arial"/>
                <a:cs typeface="Arial"/>
                <a:sym typeface="Arial"/>
              </a:rPr>
              <a:t>Outstanding balance</a:t>
            </a:r>
            <a:endParaRPr sz="800">
              <a:solidFill>
                <a:schemeClr val="dk1"/>
              </a:solidFill>
              <a:latin typeface="Calibri"/>
              <a:ea typeface="Calibri"/>
              <a:cs typeface="Calibri"/>
              <a:sym typeface="Calibri"/>
            </a:endParaRPr>
          </a:p>
        </p:txBody>
      </p:sp>
      <p:sp>
        <p:nvSpPr>
          <p:cNvPr id="479" name="Google Shape;479;p27"/>
          <p:cNvSpPr/>
          <p:nvPr/>
        </p:nvSpPr>
        <p:spPr>
          <a:xfrm>
            <a:off x="4464771" y="2025373"/>
            <a:ext cx="2743200" cy="315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800"/>
              <a:buFont typeface="Arial"/>
              <a:buNone/>
            </a:pPr>
            <a:r>
              <a:rPr b="1" lang="en-GB" sz="1800">
                <a:solidFill>
                  <a:srgbClr val="FFFFFF"/>
                </a:solidFill>
                <a:latin typeface="Arial"/>
                <a:ea typeface="Arial"/>
                <a:cs typeface="Arial"/>
                <a:sym typeface="Arial"/>
              </a:rPr>
              <a:t>RM8,150.00</a:t>
            </a:r>
            <a:endParaRPr sz="1800">
              <a:solidFill>
                <a:schemeClr val="dk1"/>
              </a:solidFill>
              <a:latin typeface="Calibri"/>
              <a:ea typeface="Calibri"/>
              <a:cs typeface="Calibri"/>
              <a:sym typeface="Calibri"/>
            </a:endParaRPr>
          </a:p>
        </p:txBody>
      </p:sp>
      <p:sp>
        <p:nvSpPr>
          <p:cNvPr id="480" name="Google Shape;480;p27"/>
          <p:cNvSpPr/>
          <p:nvPr/>
        </p:nvSpPr>
        <p:spPr>
          <a:xfrm>
            <a:off x="4464771" y="2436853"/>
            <a:ext cx="4089600" cy="301800"/>
          </a:xfrm>
          <a:prstGeom prst="roundRect">
            <a:avLst>
              <a:gd fmla="val 13636" name="adj"/>
            </a:avLst>
          </a:prstGeom>
          <a:solidFill>
            <a:srgbClr val="32495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81" name="Google Shape;481;p27"/>
          <p:cNvSpPr/>
          <p:nvPr/>
        </p:nvSpPr>
        <p:spPr>
          <a:xfrm>
            <a:off x="4574505" y="2436853"/>
            <a:ext cx="3623400" cy="301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Arial"/>
              <a:buNone/>
            </a:pPr>
            <a:r>
              <a:rPr lang="en-GB" sz="900">
                <a:solidFill>
                  <a:srgbClr val="FFFFFF"/>
                </a:solidFill>
                <a:latin typeface="Arial"/>
                <a:ea typeface="Arial"/>
                <a:cs typeface="Arial"/>
                <a:sym typeface="Arial"/>
              </a:rPr>
              <a:t>Sales Order</a:t>
            </a:r>
            <a:endParaRPr sz="900">
              <a:solidFill>
                <a:schemeClr val="dk1"/>
              </a:solidFill>
              <a:latin typeface="Calibri"/>
              <a:ea typeface="Calibri"/>
              <a:cs typeface="Calibri"/>
              <a:sym typeface="Calibri"/>
            </a:endParaRPr>
          </a:p>
        </p:txBody>
      </p:sp>
      <p:pic>
        <p:nvPicPr>
          <p:cNvPr descr="/home/claude/maia/icons/FiDownload_accent.png" id="482" name="Google Shape;482;p27"/>
          <p:cNvPicPr preferRelativeResize="0"/>
          <p:nvPr/>
        </p:nvPicPr>
        <p:blipFill rotWithShape="1">
          <a:blip r:embed="rId4">
            <a:alphaModFix/>
          </a:blip>
          <a:srcRect b="0" l="0" r="0" t="0"/>
          <a:stretch/>
        </p:blipFill>
        <p:spPr>
          <a:xfrm>
            <a:off x="8334947" y="2519149"/>
            <a:ext cx="137160" cy="137160"/>
          </a:xfrm>
          <a:prstGeom prst="rect">
            <a:avLst/>
          </a:prstGeom>
          <a:noFill/>
          <a:ln>
            <a:noFill/>
          </a:ln>
        </p:spPr>
      </p:pic>
      <p:sp>
        <p:nvSpPr>
          <p:cNvPr id="483" name="Google Shape;483;p27"/>
          <p:cNvSpPr/>
          <p:nvPr/>
        </p:nvSpPr>
        <p:spPr>
          <a:xfrm>
            <a:off x="4464771" y="2779753"/>
            <a:ext cx="4089600" cy="301800"/>
          </a:xfrm>
          <a:prstGeom prst="roundRect">
            <a:avLst>
              <a:gd fmla="val 13636" name="adj"/>
            </a:avLst>
          </a:prstGeom>
          <a:solidFill>
            <a:srgbClr val="32495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84" name="Google Shape;484;p27"/>
          <p:cNvSpPr/>
          <p:nvPr/>
        </p:nvSpPr>
        <p:spPr>
          <a:xfrm>
            <a:off x="4574505" y="2779753"/>
            <a:ext cx="3623400" cy="301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Arial"/>
              <a:buNone/>
            </a:pPr>
            <a:r>
              <a:rPr lang="en-GB" sz="900">
                <a:solidFill>
                  <a:srgbClr val="FFFFFF"/>
                </a:solidFill>
                <a:latin typeface="Arial"/>
                <a:ea typeface="Arial"/>
                <a:cs typeface="Arial"/>
                <a:sym typeface="Arial"/>
              </a:rPr>
              <a:t>Sales Invoice</a:t>
            </a:r>
            <a:endParaRPr sz="900">
              <a:solidFill>
                <a:schemeClr val="dk1"/>
              </a:solidFill>
              <a:latin typeface="Calibri"/>
              <a:ea typeface="Calibri"/>
              <a:cs typeface="Calibri"/>
              <a:sym typeface="Calibri"/>
            </a:endParaRPr>
          </a:p>
        </p:txBody>
      </p:sp>
      <p:pic>
        <p:nvPicPr>
          <p:cNvPr descr="/home/claude/maia/icons/FiDownload_accent.png" id="485" name="Google Shape;485;p27"/>
          <p:cNvPicPr preferRelativeResize="0"/>
          <p:nvPr/>
        </p:nvPicPr>
        <p:blipFill rotWithShape="1">
          <a:blip r:embed="rId4">
            <a:alphaModFix/>
          </a:blip>
          <a:srcRect b="0" l="0" r="0" t="0"/>
          <a:stretch/>
        </p:blipFill>
        <p:spPr>
          <a:xfrm>
            <a:off x="8334947" y="2862049"/>
            <a:ext cx="137160" cy="137160"/>
          </a:xfrm>
          <a:prstGeom prst="rect">
            <a:avLst/>
          </a:prstGeom>
          <a:noFill/>
          <a:ln>
            <a:noFill/>
          </a:ln>
        </p:spPr>
      </p:pic>
      <p:sp>
        <p:nvSpPr>
          <p:cNvPr id="486" name="Google Shape;486;p27"/>
          <p:cNvSpPr/>
          <p:nvPr/>
        </p:nvSpPr>
        <p:spPr>
          <a:xfrm>
            <a:off x="4464771" y="3122653"/>
            <a:ext cx="4089600" cy="301800"/>
          </a:xfrm>
          <a:prstGeom prst="roundRect">
            <a:avLst>
              <a:gd fmla="val 13636" name="adj"/>
            </a:avLst>
          </a:prstGeom>
          <a:solidFill>
            <a:srgbClr val="32495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87" name="Google Shape;487;p27"/>
          <p:cNvSpPr/>
          <p:nvPr/>
        </p:nvSpPr>
        <p:spPr>
          <a:xfrm>
            <a:off x="4574505" y="3122653"/>
            <a:ext cx="3623400" cy="301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Arial"/>
              <a:buNone/>
            </a:pPr>
            <a:r>
              <a:rPr lang="en-GB" sz="900">
                <a:solidFill>
                  <a:srgbClr val="FFFFFF"/>
                </a:solidFill>
                <a:latin typeface="Arial"/>
                <a:ea typeface="Arial"/>
                <a:cs typeface="Arial"/>
                <a:sym typeface="Arial"/>
              </a:rPr>
              <a:t>Delivery Note</a:t>
            </a:r>
            <a:endParaRPr sz="900">
              <a:solidFill>
                <a:schemeClr val="dk1"/>
              </a:solidFill>
              <a:latin typeface="Calibri"/>
              <a:ea typeface="Calibri"/>
              <a:cs typeface="Calibri"/>
              <a:sym typeface="Calibri"/>
            </a:endParaRPr>
          </a:p>
        </p:txBody>
      </p:sp>
      <p:pic>
        <p:nvPicPr>
          <p:cNvPr descr="/home/claude/maia/icons/FiDownload_accent.png" id="488" name="Google Shape;488;p27"/>
          <p:cNvPicPr preferRelativeResize="0"/>
          <p:nvPr/>
        </p:nvPicPr>
        <p:blipFill rotWithShape="1">
          <a:blip r:embed="rId4">
            <a:alphaModFix/>
          </a:blip>
          <a:srcRect b="0" l="0" r="0" t="0"/>
          <a:stretch/>
        </p:blipFill>
        <p:spPr>
          <a:xfrm>
            <a:off x="8334947" y="3204949"/>
            <a:ext cx="137160" cy="137160"/>
          </a:xfrm>
          <a:prstGeom prst="rect">
            <a:avLst/>
          </a:prstGeom>
          <a:noFill/>
          <a:ln>
            <a:noFill/>
          </a:ln>
        </p:spPr>
      </p:pic>
      <p:sp>
        <p:nvSpPr>
          <p:cNvPr id="489" name="Google Shape;489;p27"/>
          <p:cNvSpPr/>
          <p:nvPr/>
        </p:nvSpPr>
        <p:spPr>
          <a:xfrm>
            <a:off x="4464771" y="3465553"/>
            <a:ext cx="4089600" cy="301800"/>
          </a:xfrm>
          <a:prstGeom prst="roundRect">
            <a:avLst>
              <a:gd fmla="val 13636" name="adj"/>
            </a:avLst>
          </a:prstGeom>
          <a:solidFill>
            <a:srgbClr val="32495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90" name="Google Shape;490;p27"/>
          <p:cNvSpPr/>
          <p:nvPr/>
        </p:nvSpPr>
        <p:spPr>
          <a:xfrm>
            <a:off x="4574505" y="3465553"/>
            <a:ext cx="3623400" cy="301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Arial"/>
              <a:buNone/>
            </a:pPr>
            <a:r>
              <a:rPr lang="en-GB" sz="900">
                <a:solidFill>
                  <a:srgbClr val="FFFFFF"/>
                </a:solidFill>
                <a:latin typeface="Arial"/>
                <a:ea typeface="Arial"/>
                <a:cs typeface="Arial"/>
                <a:sym typeface="Arial"/>
              </a:rPr>
              <a:t>Receipt</a:t>
            </a:r>
            <a:endParaRPr sz="900">
              <a:solidFill>
                <a:schemeClr val="dk1"/>
              </a:solidFill>
              <a:latin typeface="Calibri"/>
              <a:ea typeface="Calibri"/>
              <a:cs typeface="Calibri"/>
              <a:sym typeface="Calibri"/>
            </a:endParaRPr>
          </a:p>
        </p:txBody>
      </p:sp>
      <p:pic>
        <p:nvPicPr>
          <p:cNvPr descr="/home/claude/maia/icons/FiDownload_accent.png" id="491" name="Google Shape;491;p27"/>
          <p:cNvPicPr preferRelativeResize="0"/>
          <p:nvPr/>
        </p:nvPicPr>
        <p:blipFill rotWithShape="1">
          <a:blip r:embed="rId4">
            <a:alphaModFix/>
          </a:blip>
          <a:srcRect b="0" l="0" r="0" t="0"/>
          <a:stretch/>
        </p:blipFill>
        <p:spPr>
          <a:xfrm>
            <a:off x="8334947" y="3547849"/>
            <a:ext cx="137160" cy="137160"/>
          </a:xfrm>
          <a:prstGeom prst="rect">
            <a:avLst/>
          </a:prstGeom>
          <a:noFill/>
          <a:ln>
            <a:noFill/>
          </a:ln>
        </p:spPr>
      </p:pic>
      <p:sp>
        <p:nvSpPr>
          <p:cNvPr id="492" name="Google Shape;492;p27"/>
          <p:cNvSpPr/>
          <p:nvPr/>
        </p:nvSpPr>
        <p:spPr>
          <a:xfrm>
            <a:off x="4464771" y="3808453"/>
            <a:ext cx="4089600" cy="301800"/>
          </a:xfrm>
          <a:prstGeom prst="roundRect">
            <a:avLst>
              <a:gd fmla="val 13636" name="adj"/>
            </a:avLst>
          </a:prstGeom>
          <a:solidFill>
            <a:srgbClr val="32495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93" name="Google Shape;493;p27"/>
          <p:cNvSpPr/>
          <p:nvPr/>
        </p:nvSpPr>
        <p:spPr>
          <a:xfrm>
            <a:off x="4574505" y="3808453"/>
            <a:ext cx="3623400" cy="301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Arial"/>
              <a:buNone/>
            </a:pPr>
            <a:r>
              <a:rPr lang="en-GB" sz="900">
                <a:solidFill>
                  <a:srgbClr val="FFFFFF"/>
                </a:solidFill>
                <a:latin typeface="Arial"/>
                <a:ea typeface="Arial"/>
                <a:cs typeface="Arial"/>
                <a:sym typeface="Arial"/>
              </a:rPr>
              <a:t>Credit Note</a:t>
            </a:r>
            <a:endParaRPr sz="900">
              <a:solidFill>
                <a:schemeClr val="dk1"/>
              </a:solidFill>
              <a:latin typeface="Calibri"/>
              <a:ea typeface="Calibri"/>
              <a:cs typeface="Calibri"/>
              <a:sym typeface="Calibri"/>
            </a:endParaRPr>
          </a:p>
        </p:txBody>
      </p:sp>
      <p:pic>
        <p:nvPicPr>
          <p:cNvPr descr="/home/claude/maia/icons/FiDownload_accent.png" id="494" name="Google Shape;494;p27"/>
          <p:cNvPicPr preferRelativeResize="0"/>
          <p:nvPr/>
        </p:nvPicPr>
        <p:blipFill rotWithShape="1">
          <a:blip r:embed="rId4">
            <a:alphaModFix/>
          </a:blip>
          <a:srcRect b="0" l="0" r="0" t="0"/>
          <a:stretch/>
        </p:blipFill>
        <p:spPr>
          <a:xfrm>
            <a:off x="8334947" y="3890749"/>
            <a:ext cx="137160" cy="137160"/>
          </a:xfrm>
          <a:prstGeom prst="rect">
            <a:avLst/>
          </a:prstGeom>
          <a:noFill/>
          <a:ln>
            <a:noFill/>
          </a:ln>
        </p:spPr>
      </p:pic>
      <p:sp>
        <p:nvSpPr>
          <p:cNvPr id="495" name="Google Shape;495;p27"/>
          <p:cNvSpPr/>
          <p:nvPr/>
        </p:nvSpPr>
        <p:spPr>
          <a:xfrm>
            <a:off x="4464771" y="4151353"/>
            <a:ext cx="4089600" cy="301800"/>
          </a:xfrm>
          <a:prstGeom prst="roundRect">
            <a:avLst>
              <a:gd fmla="val 13636" name="adj"/>
            </a:avLst>
          </a:prstGeom>
          <a:solidFill>
            <a:srgbClr val="32495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96" name="Google Shape;496;p27"/>
          <p:cNvSpPr/>
          <p:nvPr/>
        </p:nvSpPr>
        <p:spPr>
          <a:xfrm>
            <a:off x="4574505" y="4151353"/>
            <a:ext cx="3623400" cy="301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Arial"/>
              <a:buNone/>
            </a:pPr>
            <a:r>
              <a:rPr lang="en-GB" sz="900">
                <a:solidFill>
                  <a:srgbClr val="FFFFFF"/>
                </a:solidFill>
                <a:latin typeface="Arial"/>
                <a:ea typeface="Arial"/>
                <a:cs typeface="Arial"/>
                <a:sym typeface="Arial"/>
              </a:rPr>
              <a:t>Payment Voucher</a:t>
            </a:r>
            <a:endParaRPr sz="900">
              <a:solidFill>
                <a:schemeClr val="dk1"/>
              </a:solidFill>
              <a:latin typeface="Calibri"/>
              <a:ea typeface="Calibri"/>
              <a:cs typeface="Calibri"/>
              <a:sym typeface="Calibri"/>
            </a:endParaRPr>
          </a:p>
        </p:txBody>
      </p:sp>
      <p:pic>
        <p:nvPicPr>
          <p:cNvPr descr="/home/claude/maia/icons/FiDownload_accent.png" id="497" name="Google Shape;497;p27"/>
          <p:cNvPicPr preferRelativeResize="0"/>
          <p:nvPr/>
        </p:nvPicPr>
        <p:blipFill rotWithShape="1">
          <a:blip r:embed="rId4">
            <a:alphaModFix/>
          </a:blip>
          <a:srcRect b="0" l="0" r="0" t="0"/>
          <a:stretch/>
        </p:blipFill>
        <p:spPr>
          <a:xfrm>
            <a:off x="8334947" y="4233649"/>
            <a:ext cx="137160" cy="137160"/>
          </a:xfrm>
          <a:prstGeom prst="rect">
            <a:avLst/>
          </a:prstGeom>
          <a:noFill/>
          <a:ln>
            <a:noFill/>
          </a:ln>
        </p:spPr>
      </p:pic>
      <p:sp>
        <p:nvSpPr>
          <p:cNvPr id="498" name="Google Shape;498;p27"/>
          <p:cNvSpPr txBox="1"/>
          <p:nvPr>
            <p:ph idx="12" type="sldNum"/>
          </p:nvPr>
        </p:nvSpPr>
        <p:spPr>
          <a:xfrm>
            <a:off x="8347216" y="4750189"/>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03" name="Shape 503"/>
        <p:cNvGrpSpPr/>
        <p:nvPr/>
      </p:nvGrpSpPr>
      <p:grpSpPr>
        <a:xfrm>
          <a:off x="0" y="0"/>
          <a:ext cx="0" cy="0"/>
          <a:chOff x="0" y="0"/>
          <a:chExt cx="0" cy="0"/>
        </a:xfrm>
      </p:grpSpPr>
      <p:sp>
        <p:nvSpPr>
          <p:cNvPr id="504" name="Google Shape;504;p28"/>
          <p:cNvSpPr/>
          <p:nvPr/>
        </p:nvSpPr>
        <p:spPr>
          <a:xfrm>
            <a:off x="3817576" y="1680200"/>
            <a:ext cx="1510500" cy="2430900"/>
          </a:xfrm>
          <a:prstGeom prst="roundRect">
            <a:avLst>
              <a:gd fmla="val 5882" name="adj"/>
            </a:avLst>
          </a:prstGeom>
          <a:solidFill>
            <a:srgbClr val="F5F7FA"/>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05" name="Google Shape;505;p28"/>
          <p:cNvSpPr/>
          <p:nvPr/>
        </p:nvSpPr>
        <p:spPr>
          <a:xfrm>
            <a:off x="4014199" y="1857115"/>
            <a:ext cx="342900" cy="342900"/>
          </a:xfrm>
          <a:prstGeom prst="ellipse">
            <a:avLst/>
          </a:pr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06" name="Google Shape;506;p28"/>
          <p:cNvSpPr/>
          <p:nvPr/>
        </p:nvSpPr>
        <p:spPr>
          <a:xfrm>
            <a:off x="2114164" y="1680200"/>
            <a:ext cx="1510500" cy="2430900"/>
          </a:xfrm>
          <a:prstGeom prst="roundRect">
            <a:avLst>
              <a:gd fmla="val 5882" name="adj"/>
            </a:avLst>
          </a:prstGeom>
          <a:solidFill>
            <a:srgbClr val="F5F7FA"/>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07" name="Google Shape;507;p28"/>
          <p:cNvSpPr/>
          <p:nvPr/>
        </p:nvSpPr>
        <p:spPr>
          <a:xfrm>
            <a:off x="2310786" y="1857115"/>
            <a:ext cx="342900" cy="342900"/>
          </a:xfrm>
          <a:prstGeom prst="ellipse">
            <a:avLst/>
          </a:pr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08" name="Google Shape;508;p28"/>
          <p:cNvSpPr/>
          <p:nvPr/>
        </p:nvSpPr>
        <p:spPr>
          <a:xfrm>
            <a:off x="411502" y="260604"/>
            <a:ext cx="68583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SECTION 1</a:t>
            </a:r>
            <a:endParaRPr sz="800">
              <a:solidFill>
                <a:schemeClr val="dk1"/>
              </a:solidFill>
              <a:latin typeface="Calibri"/>
              <a:ea typeface="Calibri"/>
              <a:cs typeface="Calibri"/>
              <a:sym typeface="Calibri"/>
            </a:endParaRPr>
          </a:p>
        </p:txBody>
      </p:sp>
      <p:sp>
        <p:nvSpPr>
          <p:cNvPr id="509" name="Google Shape;509;p28"/>
          <p:cNvSpPr/>
          <p:nvPr/>
        </p:nvSpPr>
        <p:spPr>
          <a:xfrm>
            <a:off x="411502" y="438912"/>
            <a:ext cx="8321400" cy="4800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C2B3E"/>
              </a:buClr>
              <a:buSzPts val="2200"/>
              <a:buFont typeface="Arial"/>
              <a:buNone/>
            </a:pPr>
            <a:r>
              <a:rPr b="1" lang="en-GB" sz="2200">
                <a:solidFill>
                  <a:srgbClr val="1C2B3E"/>
                </a:solidFill>
                <a:latin typeface="Poppins"/>
                <a:ea typeface="Poppins"/>
                <a:cs typeface="Poppins"/>
                <a:sym typeface="Poppins"/>
              </a:rPr>
              <a:t>Accounts Receivable: match money to invoices.</a:t>
            </a:r>
            <a:endParaRPr b="1" sz="2200">
              <a:solidFill>
                <a:srgbClr val="1C2B3E"/>
              </a:solidFill>
              <a:latin typeface="Poppins"/>
              <a:ea typeface="Poppins"/>
              <a:cs typeface="Poppins"/>
              <a:sym typeface="Poppins"/>
            </a:endParaRPr>
          </a:p>
          <a:p>
            <a:pPr indent="0" lvl="0" marL="0" marR="0" rtl="0" algn="l">
              <a:lnSpc>
                <a:spcPct val="100000"/>
              </a:lnSpc>
              <a:spcBef>
                <a:spcPts val="0"/>
              </a:spcBef>
              <a:spcAft>
                <a:spcPts val="0"/>
              </a:spcAft>
              <a:buClr>
                <a:srgbClr val="1C2B3E"/>
              </a:buClr>
              <a:buSzPts val="2200"/>
              <a:buFont typeface="Arial"/>
              <a:buNone/>
            </a:pPr>
            <a:r>
              <a:rPr lang="en-GB" sz="1800">
                <a:solidFill>
                  <a:srgbClr val="1C2B3E"/>
                </a:solidFill>
                <a:latin typeface="Poppins Light"/>
                <a:ea typeface="Poppins Light"/>
                <a:cs typeface="Poppins Light"/>
                <a:sym typeface="Poppins Light"/>
              </a:rPr>
              <a:t>MAIA suggests, finance reviews and confirms.</a:t>
            </a:r>
            <a:endParaRPr sz="1800">
              <a:solidFill>
                <a:srgbClr val="1C2B3E"/>
              </a:solidFill>
              <a:latin typeface="Poppins Light"/>
              <a:ea typeface="Poppins Light"/>
              <a:cs typeface="Poppins Light"/>
              <a:sym typeface="Poppins Light"/>
            </a:endParaRPr>
          </a:p>
        </p:txBody>
      </p:sp>
      <p:sp>
        <p:nvSpPr>
          <p:cNvPr id="510" name="Google Shape;510;p28"/>
          <p:cNvSpPr/>
          <p:nvPr/>
        </p:nvSpPr>
        <p:spPr>
          <a:xfrm>
            <a:off x="411500" y="1680200"/>
            <a:ext cx="1510500" cy="2430900"/>
          </a:xfrm>
          <a:prstGeom prst="roundRect">
            <a:avLst>
              <a:gd fmla="val 5882" name="adj"/>
            </a:avLst>
          </a:prstGeom>
          <a:solidFill>
            <a:srgbClr val="F5F7FA"/>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11" name="Google Shape;511;p28"/>
          <p:cNvSpPr/>
          <p:nvPr/>
        </p:nvSpPr>
        <p:spPr>
          <a:xfrm>
            <a:off x="608124" y="1857115"/>
            <a:ext cx="342900" cy="342900"/>
          </a:xfrm>
          <a:prstGeom prst="ellipse">
            <a:avLst/>
          </a:pr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FileText_accent.png" id="512" name="Google Shape;512;p28"/>
          <p:cNvPicPr preferRelativeResize="0"/>
          <p:nvPr/>
        </p:nvPicPr>
        <p:blipFill rotWithShape="1">
          <a:blip r:embed="rId3">
            <a:alphaModFix/>
          </a:blip>
          <a:srcRect b="0" l="0" r="0" t="0"/>
          <a:stretch/>
        </p:blipFill>
        <p:spPr>
          <a:xfrm>
            <a:off x="693853" y="1942840"/>
            <a:ext cx="171450" cy="171450"/>
          </a:xfrm>
          <a:prstGeom prst="rect">
            <a:avLst/>
          </a:prstGeom>
          <a:noFill/>
          <a:ln>
            <a:noFill/>
          </a:ln>
        </p:spPr>
      </p:pic>
      <p:sp>
        <p:nvSpPr>
          <p:cNvPr id="513" name="Google Shape;513;p28"/>
          <p:cNvSpPr/>
          <p:nvPr/>
        </p:nvSpPr>
        <p:spPr>
          <a:xfrm>
            <a:off x="1880975" y="2724200"/>
            <a:ext cx="2742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2100"/>
              <a:buFont typeface="Arial"/>
              <a:buNone/>
            </a:pPr>
            <a:r>
              <a:rPr b="1" lang="en-GB" sz="2100">
                <a:solidFill>
                  <a:srgbClr val="94A3B8"/>
                </a:solidFill>
                <a:latin typeface="Arial"/>
                <a:ea typeface="Arial"/>
                <a:cs typeface="Arial"/>
                <a:sym typeface="Arial"/>
              </a:rPr>
              <a:t>›</a:t>
            </a:r>
            <a:endParaRPr sz="2100">
              <a:solidFill>
                <a:schemeClr val="dk1"/>
              </a:solidFill>
              <a:latin typeface="Calibri"/>
              <a:ea typeface="Calibri"/>
              <a:cs typeface="Calibri"/>
              <a:sym typeface="Calibri"/>
            </a:endParaRPr>
          </a:p>
        </p:txBody>
      </p:sp>
      <p:pic>
        <p:nvPicPr>
          <p:cNvPr descr="/home/claude/maia/icons/FiShoppingCart_accent.png" id="514" name="Google Shape;514;p28"/>
          <p:cNvPicPr preferRelativeResize="0"/>
          <p:nvPr/>
        </p:nvPicPr>
        <p:blipFill rotWithShape="1">
          <a:blip r:embed="rId4">
            <a:alphaModFix/>
          </a:blip>
          <a:srcRect b="0" l="0" r="0" t="0"/>
          <a:stretch/>
        </p:blipFill>
        <p:spPr>
          <a:xfrm>
            <a:off x="2396509" y="1932465"/>
            <a:ext cx="171450" cy="171450"/>
          </a:xfrm>
          <a:prstGeom prst="rect">
            <a:avLst/>
          </a:prstGeom>
          <a:noFill/>
          <a:ln>
            <a:noFill/>
          </a:ln>
        </p:spPr>
      </p:pic>
      <p:sp>
        <p:nvSpPr>
          <p:cNvPr id="515" name="Google Shape;515;p28"/>
          <p:cNvSpPr/>
          <p:nvPr/>
        </p:nvSpPr>
        <p:spPr>
          <a:xfrm>
            <a:off x="3583633" y="2724200"/>
            <a:ext cx="2742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2100"/>
              <a:buFont typeface="Arial"/>
              <a:buNone/>
            </a:pPr>
            <a:r>
              <a:rPr b="1" lang="en-GB" sz="2100">
                <a:solidFill>
                  <a:srgbClr val="94A3B8"/>
                </a:solidFill>
                <a:latin typeface="Arial"/>
                <a:ea typeface="Arial"/>
                <a:cs typeface="Arial"/>
                <a:sym typeface="Arial"/>
              </a:rPr>
              <a:t>›</a:t>
            </a:r>
            <a:endParaRPr sz="2100">
              <a:solidFill>
                <a:schemeClr val="dk1"/>
              </a:solidFill>
              <a:latin typeface="Calibri"/>
              <a:ea typeface="Calibri"/>
              <a:cs typeface="Calibri"/>
              <a:sym typeface="Calibri"/>
            </a:endParaRPr>
          </a:p>
        </p:txBody>
      </p:sp>
      <p:sp>
        <p:nvSpPr>
          <p:cNvPr id="516" name="Google Shape;516;p28"/>
          <p:cNvSpPr/>
          <p:nvPr/>
        </p:nvSpPr>
        <p:spPr>
          <a:xfrm>
            <a:off x="5520975" y="1680200"/>
            <a:ext cx="3209700" cy="2430900"/>
          </a:xfrm>
          <a:prstGeom prst="roundRect">
            <a:avLst>
              <a:gd fmla="val 5882" name="adj"/>
            </a:avLst>
          </a:prstGeom>
          <a:solidFill>
            <a:srgbClr val="FBEBD9"/>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17" name="Google Shape;517;p28"/>
          <p:cNvSpPr/>
          <p:nvPr/>
        </p:nvSpPr>
        <p:spPr>
          <a:xfrm>
            <a:off x="5803356" y="1893615"/>
            <a:ext cx="1076700" cy="24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2640A"/>
              </a:buClr>
              <a:buSzPts val="1000"/>
              <a:buFont typeface="Arial"/>
              <a:buNone/>
            </a:pPr>
            <a:r>
              <a:rPr b="1" lang="en-GB">
                <a:solidFill>
                  <a:schemeClr val="dk2"/>
                </a:solidFill>
              </a:rPr>
              <a:t>Exceptions</a:t>
            </a:r>
            <a:endParaRPr>
              <a:solidFill>
                <a:schemeClr val="dk2"/>
              </a:solidFill>
              <a:latin typeface="Calibri"/>
              <a:ea typeface="Calibri"/>
              <a:cs typeface="Calibri"/>
              <a:sym typeface="Calibri"/>
            </a:endParaRPr>
          </a:p>
        </p:txBody>
      </p:sp>
      <p:sp>
        <p:nvSpPr>
          <p:cNvPr id="518" name="Google Shape;518;p28"/>
          <p:cNvSpPr txBox="1"/>
          <p:nvPr>
            <p:ph idx="12" type="sldNum"/>
          </p:nvPr>
        </p:nvSpPr>
        <p:spPr>
          <a:xfrm>
            <a:off x="8347216" y="4750189"/>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519" name="Google Shape;519;p28"/>
          <p:cNvSpPr txBox="1"/>
          <p:nvPr/>
        </p:nvSpPr>
        <p:spPr>
          <a:xfrm>
            <a:off x="545750" y="2280476"/>
            <a:ext cx="1242000" cy="161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rgbClr val="1C2B3E"/>
              </a:buClr>
              <a:buSzPts val="900"/>
              <a:buFont typeface="Arial"/>
              <a:buNone/>
            </a:pPr>
            <a:r>
              <a:rPr b="1" lang="en-GB" sz="900">
                <a:solidFill>
                  <a:schemeClr val="accent1"/>
                </a:solidFill>
              </a:rPr>
              <a:t>BANK STATEMENT</a:t>
            </a:r>
            <a:endParaRPr b="1" sz="900">
              <a:solidFill>
                <a:schemeClr val="accent1"/>
              </a:solidFill>
            </a:endParaRPr>
          </a:p>
          <a:p>
            <a:pPr indent="0" lvl="0" marL="0" rtl="0" algn="l">
              <a:spcBef>
                <a:spcPts val="0"/>
              </a:spcBef>
              <a:spcAft>
                <a:spcPts val="0"/>
              </a:spcAft>
              <a:buClr>
                <a:srgbClr val="1C2B3E"/>
              </a:buClr>
              <a:buSzPts val="900"/>
              <a:buFont typeface="Arial"/>
              <a:buNone/>
            </a:pPr>
            <a:r>
              <a:t/>
            </a:r>
            <a:endParaRPr b="1" sz="500">
              <a:solidFill>
                <a:schemeClr val="dk2"/>
              </a:solidFill>
            </a:endParaRPr>
          </a:p>
          <a:p>
            <a:pPr indent="0" lvl="0" marL="0" rtl="0" algn="l">
              <a:spcBef>
                <a:spcPts val="0"/>
              </a:spcBef>
              <a:spcAft>
                <a:spcPts val="0"/>
              </a:spcAft>
              <a:buNone/>
            </a:pPr>
            <a:r>
              <a:rPr b="1" lang="en-GB" sz="1600"/>
              <a:t>RM </a:t>
            </a:r>
            <a:endParaRPr b="1" sz="1600"/>
          </a:p>
          <a:p>
            <a:pPr indent="0" lvl="0" marL="0" rtl="0" algn="l">
              <a:spcBef>
                <a:spcPts val="0"/>
              </a:spcBef>
              <a:spcAft>
                <a:spcPts val="0"/>
              </a:spcAft>
              <a:buNone/>
            </a:pPr>
            <a:r>
              <a:rPr b="1" lang="en-GB" sz="1600"/>
              <a:t>11,500</a:t>
            </a:r>
            <a:endParaRPr b="1" sz="1600"/>
          </a:p>
          <a:p>
            <a:pPr indent="0" lvl="0" marL="0" rtl="0" algn="l">
              <a:spcBef>
                <a:spcPts val="0"/>
              </a:spcBef>
              <a:spcAft>
                <a:spcPts val="0"/>
              </a:spcAft>
              <a:buNone/>
            </a:pPr>
            <a:r>
              <a:t/>
            </a:r>
            <a:endParaRPr b="1" sz="500"/>
          </a:p>
          <a:p>
            <a:pPr indent="0" lvl="0" marL="0" rtl="0" algn="l">
              <a:spcBef>
                <a:spcPts val="0"/>
              </a:spcBef>
              <a:spcAft>
                <a:spcPts val="0"/>
              </a:spcAft>
              <a:buNone/>
            </a:pPr>
            <a:r>
              <a:rPr lang="en-GB" sz="800">
                <a:solidFill>
                  <a:schemeClr val="dk2"/>
                </a:solidFill>
              </a:rPr>
              <a:t>From: </a:t>
            </a:r>
            <a:endParaRPr sz="800">
              <a:solidFill>
                <a:schemeClr val="dk2"/>
              </a:solidFill>
            </a:endParaRPr>
          </a:p>
          <a:p>
            <a:pPr indent="0" lvl="0" marL="0" rtl="0" algn="l">
              <a:spcBef>
                <a:spcPts val="0"/>
              </a:spcBef>
              <a:spcAft>
                <a:spcPts val="0"/>
              </a:spcAft>
              <a:buNone/>
            </a:pPr>
            <a:r>
              <a:rPr lang="en-GB" sz="1000"/>
              <a:t>Mayu Trading</a:t>
            </a:r>
            <a:endParaRPr sz="1000"/>
          </a:p>
          <a:p>
            <a:pPr indent="0" lvl="0" marL="0" rtl="0" algn="l">
              <a:spcBef>
                <a:spcPts val="0"/>
              </a:spcBef>
              <a:spcAft>
                <a:spcPts val="0"/>
              </a:spcAft>
              <a:buNone/>
            </a:pPr>
            <a:r>
              <a:t/>
            </a:r>
            <a:endParaRPr b="1" sz="500"/>
          </a:p>
          <a:p>
            <a:pPr indent="0" lvl="0" marL="0" rtl="0" algn="l">
              <a:lnSpc>
                <a:spcPct val="115000"/>
              </a:lnSpc>
              <a:spcBef>
                <a:spcPts val="0"/>
              </a:spcBef>
              <a:spcAft>
                <a:spcPts val="0"/>
              </a:spcAft>
              <a:buNone/>
            </a:pPr>
            <a:r>
              <a:rPr lang="en-GB" sz="800">
                <a:solidFill>
                  <a:schemeClr val="dk2"/>
                </a:solidFill>
              </a:rPr>
              <a:t>Reference: </a:t>
            </a:r>
            <a:endParaRPr sz="800">
              <a:solidFill>
                <a:schemeClr val="dk2"/>
              </a:solidFill>
            </a:endParaRPr>
          </a:p>
          <a:p>
            <a:pPr indent="0" lvl="0" marL="0" rtl="0" algn="l">
              <a:spcBef>
                <a:spcPts val="0"/>
              </a:spcBef>
              <a:spcAft>
                <a:spcPts val="0"/>
              </a:spcAft>
              <a:buNone/>
            </a:pPr>
            <a:r>
              <a:rPr lang="en-GB" sz="1000"/>
              <a:t>INV-2026-00421</a:t>
            </a:r>
            <a:endParaRPr/>
          </a:p>
        </p:txBody>
      </p:sp>
      <p:sp>
        <p:nvSpPr>
          <p:cNvPr id="520" name="Google Shape;520;p28"/>
          <p:cNvSpPr txBox="1"/>
          <p:nvPr/>
        </p:nvSpPr>
        <p:spPr>
          <a:xfrm>
            <a:off x="2248391" y="2279913"/>
            <a:ext cx="1242000" cy="89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900">
                <a:solidFill>
                  <a:schemeClr val="accent1"/>
                </a:solidFill>
              </a:rPr>
              <a:t>SALES INVOICE</a:t>
            </a:r>
            <a:endParaRPr b="1" sz="900">
              <a:solidFill>
                <a:schemeClr val="accent1"/>
              </a:solidFill>
            </a:endParaRPr>
          </a:p>
          <a:p>
            <a:pPr indent="0" lvl="0" marL="0" rtl="0" algn="l">
              <a:spcBef>
                <a:spcPts val="0"/>
              </a:spcBef>
              <a:spcAft>
                <a:spcPts val="0"/>
              </a:spcAft>
              <a:buNone/>
            </a:pPr>
            <a:r>
              <a:t/>
            </a:r>
            <a:endParaRPr b="1" sz="500">
              <a:solidFill>
                <a:schemeClr val="dk2"/>
              </a:solidFill>
            </a:endParaRPr>
          </a:p>
          <a:p>
            <a:pPr indent="0" lvl="0" marL="0" rtl="0" algn="l">
              <a:spcBef>
                <a:spcPts val="0"/>
              </a:spcBef>
              <a:spcAft>
                <a:spcPts val="0"/>
              </a:spcAft>
              <a:buNone/>
            </a:pPr>
            <a:r>
              <a:rPr b="1" lang="en-GB" sz="1600"/>
              <a:t>Invoice Match</a:t>
            </a:r>
            <a:endParaRPr sz="1300"/>
          </a:p>
        </p:txBody>
      </p:sp>
      <p:grpSp>
        <p:nvGrpSpPr>
          <p:cNvPr id="521" name="Google Shape;521;p28"/>
          <p:cNvGrpSpPr/>
          <p:nvPr/>
        </p:nvGrpSpPr>
        <p:grpSpPr>
          <a:xfrm>
            <a:off x="2338931" y="3544739"/>
            <a:ext cx="1306225" cy="323100"/>
            <a:chOff x="2248400" y="3149000"/>
            <a:chExt cx="1306225" cy="323100"/>
          </a:xfrm>
        </p:grpSpPr>
        <p:pic>
          <p:nvPicPr>
            <p:cNvPr descr="/home/claude/maia/icons/FiCheck_green.png" id="522" name="Google Shape;522;p28"/>
            <p:cNvPicPr preferRelativeResize="0"/>
            <p:nvPr/>
          </p:nvPicPr>
          <p:blipFill rotWithShape="1">
            <a:blip r:embed="rId5">
              <a:alphaModFix/>
            </a:blip>
            <a:srcRect b="0" l="0" r="0" t="0"/>
            <a:stretch/>
          </p:blipFill>
          <p:spPr>
            <a:xfrm>
              <a:off x="2248400" y="3240750"/>
              <a:ext cx="139600" cy="139600"/>
            </a:xfrm>
            <a:prstGeom prst="rect">
              <a:avLst/>
            </a:prstGeom>
            <a:noFill/>
            <a:ln>
              <a:noFill/>
            </a:ln>
          </p:spPr>
        </p:pic>
        <p:sp>
          <p:nvSpPr>
            <p:cNvPr id="523" name="Google Shape;523;p28"/>
            <p:cNvSpPr txBox="1"/>
            <p:nvPr/>
          </p:nvSpPr>
          <p:spPr>
            <a:xfrm>
              <a:off x="2356125" y="3149000"/>
              <a:ext cx="1198500" cy="323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900"/>
                <a:t>Customer </a:t>
              </a:r>
              <a:endParaRPr sz="900"/>
            </a:p>
          </p:txBody>
        </p:sp>
      </p:grpSp>
      <p:grpSp>
        <p:nvGrpSpPr>
          <p:cNvPr id="524" name="Google Shape;524;p28"/>
          <p:cNvGrpSpPr/>
          <p:nvPr/>
        </p:nvGrpSpPr>
        <p:grpSpPr>
          <a:xfrm>
            <a:off x="2338931" y="3101977"/>
            <a:ext cx="1306225" cy="323100"/>
            <a:chOff x="2248400" y="3149000"/>
            <a:chExt cx="1306225" cy="323100"/>
          </a:xfrm>
        </p:grpSpPr>
        <p:pic>
          <p:nvPicPr>
            <p:cNvPr descr="/home/claude/maia/icons/FiCheck_green.png" id="525" name="Google Shape;525;p28"/>
            <p:cNvPicPr preferRelativeResize="0"/>
            <p:nvPr/>
          </p:nvPicPr>
          <p:blipFill rotWithShape="1">
            <a:blip r:embed="rId5">
              <a:alphaModFix/>
            </a:blip>
            <a:srcRect b="0" l="0" r="0" t="0"/>
            <a:stretch/>
          </p:blipFill>
          <p:spPr>
            <a:xfrm>
              <a:off x="2248400" y="3240750"/>
              <a:ext cx="139600" cy="139600"/>
            </a:xfrm>
            <a:prstGeom prst="rect">
              <a:avLst/>
            </a:prstGeom>
            <a:noFill/>
            <a:ln>
              <a:noFill/>
            </a:ln>
          </p:spPr>
        </p:pic>
        <p:sp>
          <p:nvSpPr>
            <p:cNvPr id="526" name="Google Shape;526;p28"/>
            <p:cNvSpPr txBox="1"/>
            <p:nvPr/>
          </p:nvSpPr>
          <p:spPr>
            <a:xfrm>
              <a:off x="2356125" y="3149000"/>
              <a:ext cx="1198500" cy="323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900"/>
                <a:t>Invoice number</a:t>
              </a:r>
              <a:endParaRPr sz="900"/>
            </a:p>
          </p:txBody>
        </p:sp>
      </p:grpSp>
      <p:grpSp>
        <p:nvGrpSpPr>
          <p:cNvPr id="527" name="Google Shape;527;p28"/>
          <p:cNvGrpSpPr/>
          <p:nvPr/>
        </p:nvGrpSpPr>
        <p:grpSpPr>
          <a:xfrm>
            <a:off x="2338931" y="3323358"/>
            <a:ext cx="1306225" cy="323100"/>
            <a:chOff x="2248400" y="3149000"/>
            <a:chExt cx="1306225" cy="323100"/>
          </a:xfrm>
        </p:grpSpPr>
        <p:pic>
          <p:nvPicPr>
            <p:cNvPr descr="/home/claude/maia/icons/FiCheck_green.png" id="528" name="Google Shape;528;p28"/>
            <p:cNvPicPr preferRelativeResize="0"/>
            <p:nvPr/>
          </p:nvPicPr>
          <p:blipFill rotWithShape="1">
            <a:blip r:embed="rId5">
              <a:alphaModFix/>
            </a:blip>
            <a:srcRect b="0" l="0" r="0" t="0"/>
            <a:stretch/>
          </p:blipFill>
          <p:spPr>
            <a:xfrm>
              <a:off x="2248400" y="3240750"/>
              <a:ext cx="139600" cy="139600"/>
            </a:xfrm>
            <a:prstGeom prst="rect">
              <a:avLst/>
            </a:prstGeom>
            <a:noFill/>
            <a:ln>
              <a:noFill/>
            </a:ln>
          </p:spPr>
        </p:pic>
        <p:sp>
          <p:nvSpPr>
            <p:cNvPr id="529" name="Google Shape;529;p28"/>
            <p:cNvSpPr txBox="1"/>
            <p:nvPr/>
          </p:nvSpPr>
          <p:spPr>
            <a:xfrm>
              <a:off x="2356125" y="3149000"/>
              <a:ext cx="1198500" cy="323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900"/>
                <a:t>Amount </a:t>
              </a:r>
              <a:endParaRPr sz="900"/>
            </a:p>
          </p:txBody>
        </p:sp>
      </p:grpSp>
      <p:sp>
        <p:nvSpPr>
          <p:cNvPr id="530" name="Google Shape;530;p28"/>
          <p:cNvSpPr txBox="1"/>
          <p:nvPr/>
        </p:nvSpPr>
        <p:spPr>
          <a:xfrm>
            <a:off x="3951075" y="2279913"/>
            <a:ext cx="1242000" cy="1654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900">
                <a:solidFill>
                  <a:schemeClr val="accent1"/>
                </a:solidFill>
              </a:rPr>
              <a:t>PAYMENT ENTRY</a:t>
            </a:r>
            <a:endParaRPr b="1" sz="900">
              <a:solidFill>
                <a:schemeClr val="accent1"/>
              </a:solidFill>
            </a:endParaRPr>
          </a:p>
          <a:p>
            <a:pPr indent="0" lvl="0" marL="0" rtl="0" algn="l">
              <a:spcBef>
                <a:spcPts val="0"/>
              </a:spcBef>
              <a:spcAft>
                <a:spcPts val="0"/>
              </a:spcAft>
              <a:buNone/>
            </a:pPr>
            <a:r>
              <a:t/>
            </a:r>
            <a:endParaRPr b="1" sz="500">
              <a:solidFill>
                <a:schemeClr val="dk2"/>
              </a:solidFill>
            </a:endParaRPr>
          </a:p>
          <a:p>
            <a:pPr indent="0" lvl="0" marL="0" rtl="0" algn="l">
              <a:spcBef>
                <a:spcPts val="0"/>
              </a:spcBef>
              <a:spcAft>
                <a:spcPts val="0"/>
              </a:spcAft>
              <a:buNone/>
            </a:pPr>
            <a:r>
              <a:rPr b="1" lang="en-GB" sz="1600"/>
              <a:t>Allocation Prepared</a:t>
            </a:r>
            <a:endParaRPr b="1" sz="1600"/>
          </a:p>
          <a:p>
            <a:pPr indent="0" lvl="0" marL="0" rtl="0" algn="l">
              <a:spcBef>
                <a:spcPts val="0"/>
              </a:spcBef>
              <a:spcAft>
                <a:spcPts val="0"/>
              </a:spcAft>
              <a:buNone/>
            </a:pPr>
            <a:r>
              <a:t/>
            </a:r>
            <a:endParaRPr b="1" sz="500"/>
          </a:p>
          <a:p>
            <a:pPr indent="0" lvl="0" marL="0" rtl="0" algn="l">
              <a:lnSpc>
                <a:spcPct val="115000"/>
              </a:lnSpc>
              <a:spcBef>
                <a:spcPts val="0"/>
              </a:spcBef>
              <a:spcAft>
                <a:spcPts val="0"/>
              </a:spcAft>
              <a:buNone/>
            </a:pPr>
            <a:r>
              <a:rPr lang="en-GB" sz="1000"/>
              <a:t>Finance verifies money then confirms allocation.</a:t>
            </a:r>
            <a:endParaRPr b="1" sz="1600"/>
          </a:p>
        </p:txBody>
      </p:sp>
      <p:pic>
        <p:nvPicPr>
          <p:cNvPr descr="/home/claude/maia/icons/FiClipboard_accent.png" id="531" name="Google Shape;531;p28"/>
          <p:cNvPicPr preferRelativeResize="0"/>
          <p:nvPr/>
        </p:nvPicPr>
        <p:blipFill rotWithShape="1">
          <a:blip r:embed="rId6">
            <a:alphaModFix/>
          </a:blip>
          <a:srcRect b="0" l="0" r="0" t="0"/>
          <a:stretch/>
        </p:blipFill>
        <p:spPr>
          <a:xfrm>
            <a:off x="4099923" y="1942840"/>
            <a:ext cx="171450" cy="171450"/>
          </a:xfrm>
          <a:prstGeom prst="rect">
            <a:avLst/>
          </a:prstGeom>
          <a:noFill/>
          <a:ln>
            <a:noFill/>
          </a:ln>
        </p:spPr>
      </p:pic>
      <p:grpSp>
        <p:nvGrpSpPr>
          <p:cNvPr id="532" name="Google Shape;532;p28"/>
          <p:cNvGrpSpPr/>
          <p:nvPr/>
        </p:nvGrpSpPr>
        <p:grpSpPr>
          <a:xfrm>
            <a:off x="5803350" y="2280463"/>
            <a:ext cx="2212440" cy="369300"/>
            <a:chOff x="5803350" y="2140813"/>
            <a:chExt cx="2212440" cy="369300"/>
          </a:xfrm>
        </p:grpSpPr>
        <p:pic>
          <p:nvPicPr>
            <p:cNvPr id="533" name="Google Shape;533;p28" title="danger.png"/>
            <p:cNvPicPr preferRelativeResize="0"/>
            <p:nvPr/>
          </p:nvPicPr>
          <p:blipFill rotWithShape="1">
            <a:blip r:embed="rId7">
              <a:alphaModFix/>
            </a:blip>
            <a:srcRect b="0" l="0" r="0" t="10"/>
            <a:stretch/>
          </p:blipFill>
          <p:spPr>
            <a:xfrm>
              <a:off x="5803350" y="2239748"/>
              <a:ext cx="171450" cy="171429"/>
            </a:xfrm>
            <a:prstGeom prst="rect">
              <a:avLst/>
            </a:prstGeom>
            <a:noFill/>
            <a:ln>
              <a:noFill/>
            </a:ln>
          </p:spPr>
        </p:pic>
        <p:sp>
          <p:nvSpPr>
            <p:cNvPr id="534" name="Google Shape;534;p28"/>
            <p:cNvSpPr txBox="1"/>
            <p:nvPr/>
          </p:nvSpPr>
          <p:spPr>
            <a:xfrm>
              <a:off x="6011790" y="2140813"/>
              <a:ext cx="2004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200">
                  <a:solidFill>
                    <a:schemeClr val="dk2"/>
                  </a:solidFill>
                </a:rPr>
                <a:t>Short payment</a:t>
              </a:r>
              <a:endParaRPr sz="1200">
                <a:solidFill>
                  <a:schemeClr val="dk2"/>
                </a:solidFill>
              </a:endParaRPr>
            </a:p>
          </p:txBody>
        </p:sp>
      </p:grpSp>
      <p:grpSp>
        <p:nvGrpSpPr>
          <p:cNvPr id="535" name="Google Shape;535;p28"/>
          <p:cNvGrpSpPr/>
          <p:nvPr/>
        </p:nvGrpSpPr>
        <p:grpSpPr>
          <a:xfrm>
            <a:off x="5803350" y="2666942"/>
            <a:ext cx="2212440" cy="369300"/>
            <a:chOff x="5803350" y="2140813"/>
            <a:chExt cx="2212440" cy="369300"/>
          </a:xfrm>
        </p:grpSpPr>
        <p:pic>
          <p:nvPicPr>
            <p:cNvPr id="536" name="Google Shape;536;p28" title="danger.png"/>
            <p:cNvPicPr preferRelativeResize="0"/>
            <p:nvPr/>
          </p:nvPicPr>
          <p:blipFill rotWithShape="1">
            <a:blip r:embed="rId7">
              <a:alphaModFix/>
            </a:blip>
            <a:srcRect b="0" l="0" r="0" t="10"/>
            <a:stretch/>
          </p:blipFill>
          <p:spPr>
            <a:xfrm>
              <a:off x="5803350" y="2239748"/>
              <a:ext cx="171450" cy="171429"/>
            </a:xfrm>
            <a:prstGeom prst="rect">
              <a:avLst/>
            </a:prstGeom>
            <a:noFill/>
            <a:ln>
              <a:noFill/>
            </a:ln>
          </p:spPr>
        </p:pic>
        <p:sp>
          <p:nvSpPr>
            <p:cNvPr id="537" name="Google Shape;537;p28"/>
            <p:cNvSpPr txBox="1"/>
            <p:nvPr/>
          </p:nvSpPr>
          <p:spPr>
            <a:xfrm>
              <a:off x="6011790" y="2140813"/>
              <a:ext cx="2004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200">
                  <a:solidFill>
                    <a:schemeClr val="dk2"/>
                  </a:solidFill>
                </a:rPr>
                <a:t>Overpayment</a:t>
              </a:r>
              <a:endParaRPr sz="1200">
                <a:solidFill>
                  <a:schemeClr val="dk2"/>
                </a:solidFill>
              </a:endParaRPr>
            </a:p>
          </p:txBody>
        </p:sp>
      </p:grpSp>
      <p:grpSp>
        <p:nvGrpSpPr>
          <p:cNvPr id="538" name="Google Shape;538;p28"/>
          <p:cNvGrpSpPr/>
          <p:nvPr/>
        </p:nvGrpSpPr>
        <p:grpSpPr>
          <a:xfrm>
            <a:off x="5803350" y="3053421"/>
            <a:ext cx="2543951" cy="369300"/>
            <a:chOff x="5803350" y="2140825"/>
            <a:chExt cx="2543951" cy="369300"/>
          </a:xfrm>
        </p:grpSpPr>
        <p:pic>
          <p:nvPicPr>
            <p:cNvPr id="539" name="Google Shape;539;p28" title="danger.png"/>
            <p:cNvPicPr preferRelativeResize="0"/>
            <p:nvPr/>
          </p:nvPicPr>
          <p:blipFill rotWithShape="1">
            <a:blip r:embed="rId7">
              <a:alphaModFix/>
            </a:blip>
            <a:srcRect b="0" l="0" r="0" t="10"/>
            <a:stretch/>
          </p:blipFill>
          <p:spPr>
            <a:xfrm>
              <a:off x="5803350" y="2239748"/>
              <a:ext cx="171450" cy="171429"/>
            </a:xfrm>
            <a:prstGeom prst="rect">
              <a:avLst/>
            </a:prstGeom>
            <a:noFill/>
            <a:ln>
              <a:noFill/>
            </a:ln>
          </p:spPr>
        </p:pic>
        <p:sp>
          <p:nvSpPr>
            <p:cNvPr id="540" name="Google Shape;540;p28"/>
            <p:cNvSpPr txBox="1"/>
            <p:nvPr/>
          </p:nvSpPr>
          <p:spPr>
            <a:xfrm>
              <a:off x="6011801" y="2140825"/>
              <a:ext cx="23355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200">
                  <a:solidFill>
                    <a:schemeClr val="dk2"/>
                  </a:solidFill>
                </a:rPr>
                <a:t>Multiple invoices paid together</a:t>
              </a:r>
              <a:endParaRPr sz="1200">
                <a:solidFill>
                  <a:schemeClr val="dk2"/>
                </a:solidFill>
              </a:endParaRPr>
            </a:p>
          </p:txBody>
        </p:sp>
      </p:grpSp>
      <p:grpSp>
        <p:nvGrpSpPr>
          <p:cNvPr id="541" name="Google Shape;541;p28"/>
          <p:cNvGrpSpPr/>
          <p:nvPr/>
        </p:nvGrpSpPr>
        <p:grpSpPr>
          <a:xfrm>
            <a:off x="5803350" y="3439900"/>
            <a:ext cx="2543951" cy="369300"/>
            <a:chOff x="5803350" y="2140825"/>
            <a:chExt cx="2543951" cy="369300"/>
          </a:xfrm>
        </p:grpSpPr>
        <p:pic>
          <p:nvPicPr>
            <p:cNvPr id="542" name="Google Shape;542;p28" title="danger.png"/>
            <p:cNvPicPr preferRelativeResize="0"/>
            <p:nvPr/>
          </p:nvPicPr>
          <p:blipFill rotWithShape="1">
            <a:blip r:embed="rId7">
              <a:alphaModFix/>
            </a:blip>
            <a:srcRect b="0" l="0" r="0" t="10"/>
            <a:stretch/>
          </p:blipFill>
          <p:spPr>
            <a:xfrm>
              <a:off x="5803350" y="2239748"/>
              <a:ext cx="171450" cy="171429"/>
            </a:xfrm>
            <a:prstGeom prst="rect">
              <a:avLst/>
            </a:prstGeom>
            <a:noFill/>
            <a:ln>
              <a:noFill/>
            </a:ln>
          </p:spPr>
        </p:pic>
        <p:sp>
          <p:nvSpPr>
            <p:cNvPr id="543" name="Google Shape;543;p28"/>
            <p:cNvSpPr txBox="1"/>
            <p:nvPr/>
          </p:nvSpPr>
          <p:spPr>
            <a:xfrm>
              <a:off x="6011801" y="2140825"/>
              <a:ext cx="23355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200">
                  <a:solidFill>
                    <a:schemeClr val="dk2"/>
                  </a:solidFill>
                </a:rPr>
                <a:t>Unclear payer</a:t>
              </a:r>
              <a:endParaRPr sz="1200">
                <a:solidFill>
                  <a:schemeClr val="dk2"/>
                </a:solidFill>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48" name="Shape 548"/>
        <p:cNvGrpSpPr/>
        <p:nvPr/>
      </p:nvGrpSpPr>
      <p:grpSpPr>
        <a:xfrm>
          <a:off x="0" y="0"/>
          <a:ext cx="0" cy="0"/>
          <a:chOff x="0" y="0"/>
          <a:chExt cx="0" cy="0"/>
        </a:xfrm>
      </p:grpSpPr>
      <p:sp>
        <p:nvSpPr>
          <p:cNvPr id="549" name="Google Shape;549;p29"/>
          <p:cNvSpPr/>
          <p:nvPr/>
        </p:nvSpPr>
        <p:spPr>
          <a:xfrm>
            <a:off x="2434720" y="1706404"/>
            <a:ext cx="3566400" cy="1714500"/>
          </a:xfrm>
          <a:prstGeom prst="roundRect">
            <a:avLst>
              <a:gd fmla="val 5882" name="adj"/>
            </a:avLst>
          </a:prstGeom>
          <a:solidFill>
            <a:srgbClr val="F5F7FA"/>
          </a:solidFill>
          <a:ln>
            <a:noFill/>
          </a:ln>
          <a:effectLst>
            <a:outerShdw blurRad="101600" rotWithShape="0" algn="bl" dir="5400000" dist="38100">
              <a:srgbClr val="1C2B3E">
                <a:alpha val="1019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50" name="Google Shape;550;p29"/>
          <p:cNvSpPr/>
          <p:nvPr/>
        </p:nvSpPr>
        <p:spPr>
          <a:xfrm>
            <a:off x="411502" y="260604"/>
            <a:ext cx="68583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SECTION 1</a:t>
            </a:r>
            <a:endParaRPr sz="800">
              <a:solidFill>
                <a:schemeClr val="dk1"/>
              </a:solidFill>
              <a:latin typeface="Calibri"/>
              <a:ea typeface="Calibri"/>
              <a:cs typeface="Calibri"/>
              <a:sym typeface="Calibri"/>
            </a:endParaRPr>
          </a:p>
        </p:txBody>
      </p:sp>
      <p:sp>
        <p:nvSpPr>
          <p:cNvPr id="551" name="Google Shape;551;p29"/>
          <p:cNvSpPr/>
          <p:nvPr/>
        </p:nvSpPr>
        <p:spPr>
          <a:xfrm>
            <a:off x="411502" y="438912"/>
            <a:ext cx="8321400" cy="4800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C2B3E"/>
              </a:buClr>
              <a:buSzPts val="2200"/>
              <a:buFont typeface="Arial"/>
              <a:buNone/>
            </a:pPr>
            <a:r>
              <a:rPr b="1" lang="en-GB" sz="2200">
                <a:solidFill>
                  <a:srgbClr val="1C2B3E"/>
                </a:solidFill>
                <a:latin typeface="Poppins"/>
                <a:ea typeface="Poppins"/>
                <a:cs typeface="Poppins"/>
                <a:sym typeface="Poppins"/>
              </a:rPr>
              <a:t>Accounts Payable: pay only what matches.</a:t>
            </a:r>
            <a:endParaRPr b="1" sz="2200">
              <a:solidFill>
                <a:srgbClr val="1C2B3E"/>
              </a:solidFill>
              <a:latin typeface="Poppins"/>
              <a:ea typeface="Poppins"/>
              <a:cs typeface="Poppins"/>
              <a:sym typeface="Poppins"/>
            </a:endParaRPr>
          </a:p>
          <a:p>
            <a:pPr indent="0" lvl="0" marL="0" marR="0" rtl="0" algn="l">
              <a:lnSpc>
                <a:spcPct val="100000"/>
              </a:lnSpc>
              <a:spcBef>
                <a:spcPts val="0"/>
              </a:spcBef>
              <a:spcAft>
                <a:spcPts val="0"/>
              </a:spcAft>
              <a:buClr>
                <a:srgbClr val="1C2B3E"/>
              </a:buClr>
              <a:buSzPts val="2200"/>
              <a:buFont typeface="Arial"/>
              <a:buNone/>
            </a:pPr>
            <a:r>
              <a:rPr lang="en-GB" sz="1800">
                <a:solidFill>
                  <a:srgbClr val="1C2B3E"/>
                </a:solidFill>
                <a:latin typeface="Poppins Light"/>
                <a:ea typeface="Poppins Light"/>
                <a:cs typeface="Poppins Light"/>
                <a:sym typeface="Poppins Light"/>
              </a:rPr>
              <a:t>catch supplier mistakes before you pay.</a:t>
            </a:r>
            <a:endParaRPr sz="1800">
              <a:solidFill>
                <a:srgbClr val="1C2B3E"/>
              </a:solidFill>
              <a:latin typeface="Poppins Light"/>
              <a:ea typeface="Poppins Light"/>
              <a:cs typeface="Poppins Light"/>
              <a:sym typeface="Poppins Light"/>
            </a:endParaRPr>
          </a:p>
        </p:txBody>
      </p:sp>
      <p:sp>
        <p:nvSpPr>
          <p:cNvPr id="552" name="Google Shape;552;p29"/>
          <p:cNvSpPr/>
          <p:nvPr/>
        </p:nvSpPr>
        <p:spPr>
          <a:xfrm>
            <a:off x="411500" y="1706394"/>
            <a:ext cx="1511100" cy="693900"/>
          </a:xfrm>
          <a:prstGeom prst="roundRect">
            <a:avLst>
              <a:gd fmla="val 5882" name="adj"/>
            </a:avLst>
          </a:prstGeom>
          <a:solidFill>
            <a:srgbClr val="F5F7FA"/>
          </a:solidFill>
          <a:ln>
            <a:noFill/>
          </a:ln>
          <a:effectLst>
            <a:outerShdw blurRad="101600" rotWithShape="0" algn="bl" dir="5400000" dist="38100">
              <a:srgbClr val="1C2B3E">
                <a:alpha val="1019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53" name="Google Shape;553;p29"/>
          <p:cNvSpPr/>
          <p:nvPr/>
        </p:nvSpPr>
        <p:spPr>
          <a:xfrm>
            <a:off x="534953" y="1814305"/>
            <a:ext cx="240000" cy="240000"/>
          </a:xfrm>
          <a:prstGeom prst="ellipse">
            <a:avLst/>
          </a:pr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FileText_accent.png" id="554" name="Google Shape;554;p29"/>
          <p:cNvPicPr preferRelativeResize="0"/>
          <p:nvPr/>
        </p:nvPicPr>
        <p:blipFill rotWithShape="1">
          <a:blip r:embed="rId3">
            <a:alphaModFix/>
          </a:blip>
          <a:srcRect b="0" l="0" r="0" t="0"/>
          <a:stretch/>
        </p:blipFill>
        <p:spPr>
          <a:xfrm>
            <a:off x="593249" y="1872583"/>
            <a:ext cx="123444" cy="123444"/>
          </a:xfrm>
          <a:prstGeom prst="rect">
            <a:avLst/>
          </a:prstGeom>
          <a:noFill/>
          <a:ln>
            <a:noFill/>
          </a:ln>
        </p:spPr>
      </p:pic>
      <p:sp>
        <p:nvSpPr>
          <p:cNvPr id="555" name="Google Shape;555;p29"/>
          <p:cNvSpPr/>
          <p:nvPr/>
        </p:nvSpPr>
        <p:spPr>
          <a:xfrm>
            <a:off x="551001" y="2080019"/>
            <a:ext cx="11703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1000"/>
              <a:buFont typeface="Arial"/>
              <a:buNone/>
            </a:pPr>
            <a:r>
              <a:rPr b="1" lang="en-GB" sz="1000">
                <a:solidFill>
                  <a:srgbClr val="1C2B3E"/>
                </a:solidFill>
                <a:latin typeface="Arial"/>
                <a:ea typeface="Arial"/>
                <a:cs typeface="Arial"/>
                <a:sym typeface="Arial"/>
              </a:rPr>
              <a:t>Supplier Invoice</a:t>
            </a:r>
            <a:endParaRPr sz="900">
              <a:solidFill>
                <a:schemeClr val="dk1"/>
              </a:solidFill>
              <a:latin typeface="Calibri"/>
              <a:ea typeface="Calibri"/>
              <a:cs typeface="Calibri"/>
              <a:sym typeface="Calibri"/>
            </a:endParaRPr>
          </a:p>
        </p:txBody>
      </p:sp>
      <p:sp>
        <p:nvSpPr>
          <p:cNvPr id="556" name="Google Shape;556;p29"/>
          <p:cNvSpPr/>
          <p:nvPr/>
        </p:nvSpPr>
        <p:spPr>
          <a:xfrm>
            <a:off x="2057510" y="2306479"/>
            <a:ext cx="2742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2100"/>
              <a:buFont typeface="Arial"/>
              <a:buNone/>
            </a:pPr>
            <a:r>
              <a:rPr b="1" lang="en-GB" sz="2100">
                <a:solidFill>
                  <a:srgbClr val="94A3B8"/>
                </a:solidFill>
                <a:latin typeface="Arial"/>
                <a:ea typeface="Arial"/>
                <a:cs typeface="Arial"/>
                <a:sym typeface="Arial"/>
              </a:rPr>
              <a:t>›</a:t>
            </a:r>
            <a:endParaRPr sz="2100">
              <a:solidFill>
                <a:schemeClr val="dk1"/>
              </a:solidFill>
              <a:latin typeface="Calibri"/>
              <a:ea typeface="Calibri"/>
              <a:cs typeface="Calibri"/>
              <a:sym typeface="Calibri"/>
            </a:endParaRPr>
          </a:p>
        </p:txBody>
      </p:sp>
      <p:sp>
        <p:nvSpPr>
          <p:cNvPr id="557" name="Google Shape;557;p29"/>
          <p:cNvSpPr/>
          <p:nvPr/>
        </p:nvSpPr>
        <p:spPr>
          <a:xfrm>
            <a:off x="411500" y="2726994"/>
            <a:ext cx="1511100" cy="693900"/>
          </a:xfrm>
          <a:prstGeom prst="roundRect">
            <a:avLst>
              <a:gd fmla="val 5882" name="adj"/>
            </a:avLst>
          </a:prstGeom>
          <a:solidFill>
            <a:srgbClr val="F5F7FA"/>
          </a:solidFill>
          <a:ln>
            <a:noFill/>
          </a:ln>
          <a:effectLst>
            <a:outerShdw blurRad="101600" rotWithShape="0" algn="bl" dir="5400000" dist="38100">
              <a:srgbClr val="1C2B3E">
                <a:alpha val="1019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58" name="Google Shape;558;p29"/>
          <p:cNvSpPr/>
          <p:nvPr/>
        </p:nvSpPr>
        <p:spPr>
          <a:xfrm>
            <a:off x="534953" y="2834890"/>
            <a:ext cx="240000" cy="240000"/>
          </a:xfrm>
          <a:prstGeom prst="ellipse">
            <a:avLst/>
          </a:pr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ShoppingCart_accent.png" id="559" name="Google Shape;559;p29"/>
          <p:cNvPicPr preferRelativeResize="0"/>
          <p:nvPr/>
        </p:nvPicPr>
        <p:blipFill rotWithShape="1">
          <a:blip r:embed="rId4">
            <a:alphaModFix/>
          </a:blip>
          <a:srcRect b="0" l="0" r="0" t="0"/>
          <a:stretch/>
        </p:blipFill>
        <p:spPr>
          <a:xfrm>
            <a:off x="593249" y="2893183"/>
            <a:ext cx="123444" cy="123444"/>
          </a:xfrm>
          <a:prstGeom prst="rect">
            <a:avLst/>
          </a:prstGeom>
          <a:noFill/>
          <a:ln>
            <a:noFill/>
          </a:ln>
        </p:spPr>
      </p:pic>
      <p:sp>
        <p:nvSpPr>
          <p:cNvPr id="560" name="Google Shape;560;p29"/>
          <p:cNvSpPr/>
          <p:nvPr/>
        </p:nvSpPr>
        <p:spPr>
          <a:xfrm>
            <a:off x="551001" y="3100619"/>
            <a:ext cx="12042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1000"/>
              <a:buFont typeface="Arial"/>
              <a:buNone/>
            </a:pPr>
            <a:r>
              <a:rPr b="1" lang="en-GB" sz="1000">
                <a:solidFill>
                  <a:srgbClr val="1C2B3E"/>
                </a:solidFill>
                <a:latin typeface="Arial"/>
                <a:ea typeface="Arial"/>
                <a:cs typeface="Arial"/>
                <a:sym typeface="Arial"/>
              </a:rPr>
              <a:t>Supplier DO / GRN</a:t>
            </a:r>
            <a:endParaRPr sz="900">
              <a:solidFill>
                <a:schemeClr val="dk1"/>
              </a:solidFill>
              <a:latin typeface="Calibri"/>
              <a:ea typeface="Calibri"/>
              <a:cs typeface="Calibri"/>
              <a:sym typeface="Calibri"/>
            </a:endParaRPr>
          </a:p>
        </p:txBody>
      </p:sp>
      <p:sp>
        <p:nvSpPr>
          <p:cNvPr id="561" name="Google Shape;561;p29"/>
          <p:cNvSpPr/>
          <p:nvPr/>
        </p:nvSpPr>
        <p:spPr>
          <a:xfrm>
            <a:off x="2555937" y="1848644"/>
            <a:ext cx="3291900" cy="24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2B3E"/>
              </a:buClr>
              <a:buSzPts val="1100"/>
              <a:buFont typeface="Arial"/>
              <a:buNone/>
            </a:pPr>
            <a:r>
              <a:rPr b="1" lang="en-GB" sz="1200">
                <a:solidFill>
                  <a:srgbClr val="1C2B3E"/>
                </a:solidFill>
              </a:rPr>
              <a:t>Match Check</a:t>
            </a:r>
            <a:endParaRPr sz="1200">
              <a:solidFill>
                <a:schemeClr val="dk1"/>
              </a:solidFill>
              <a:latin typeface="Calibri"/>
              <a:ea typeface="Calibri"/>
              <a:cs typeface="Calibri"/>
              <a:sym typeface="Calibri"/>
            </a:endParaRPr>
          </a:p>
        </p:txBody>
      </p:sp>
      <p:sp>
        <p:nvSpPr>
          <p:cNvPr id="562" name="Google Shape;562;p29"/>
          <p:cNvSpPr/>
          <p:nvPr/>
        </p:nvSpPr>
        <p:spPr>
          <a:xfrm>
            <a:off x="6103945" y="2306479"/>
            <a:ext cx="2742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2100"/>
              <a:buFont typeface="Arial"/>
              <a:buNone/>
            </a:pPr>
            <a:r>
              <a:rPr b="1" lang="en-GB" sz="2100">
                <a:solidFill>
                  <a:srgbClr val="94A3B8"/>
                </a:solidFill>
                <a:latin typeface="Arial"/>
                <a:ea typeface="Arial"/>
                <a:cs typeface="Arial"/>
                <a:sym typeface="Arial"/>
              </a:rPr>
              <a:t>›</a:t>
            </a:r>
            <a:endParaRPr sz="2100">
              <a:solidFill>
                <a:schemeClr val="dk1"/>
              </a:solidFill>
              <a:latin typeface="Calibri"/>
              <a:ea typeface="Calibri"/>
              <a:cs typeface="Calibri"/>
              <a:sym typeface="Calibri"/>
            </a:endParaRPr>
          </a:p>
        </p:txBody>
      </p:sp>
      <p:sp>
        <p:nvSpPr>
          <p:cNvPr id="563" name="Google Shape;563;p29"/>
          <p:cNvSpPr/>
          <p:nvPr/>
        </p:nvSpPr>
        <p:spPr>
          <a:xfrm>
            <a:off x="6481162" y="1706404"/>
            <a:ext cx="2249400" cy="1714500"/>
          </a:xfrm>
          <a:prstGeom prst="roundRect">
            <a:avLst>
              <a:gd fmla="val 5882" name="adj"/>
            </a:avLst>
          </a:prstGeom>
          <a:solidFill>
            <a:srgbClr val="F5F7FA"/>
          </a:solidFill>
          <a:ln>
            <a:noFill/>
          </a:ln>
          <a:effectLst>
            <a:outerShdw blurRad="101600" rotWithShape="0" algn="bl" dir="5400000" dist="38100">
              <a:srgbClr val="1C2B3E">
                <a:alpha val="1019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64" name="Google Shape;564;p29"/>
          <p:cNvSpPr/>
          <p:nvPr/>
        </p:nvSpPr>
        <p:spPr>
          <a:xfrm>
            <a:off x="411502" y="5465910"/>
            <a:ext cx="8319300" cy="30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D"/>
              </a:buClr>
              <a:buSzPts val="1000"/>
              <a:buFont typeface="Arial"/>
              <a:buNone/>
            </a:pPr>
            <a:r>
              <a:rPr i="1" lang="en-GB" sz="1000">
                <a:solidFill>
                  <a:srgbClr val="5B6B7D"/>
                </a:solidFill>
                <a:latin typeface="Arial"/>
                <a:ea typeface="Arial"/>
                <a:cs typeface="Arial"/>
                <a:sym typeface="Arial"/>
              </a:rPr>
              <a:t>MAIA does not make supplier documents true or approve payments. Purchasing, warehouse and finance own the final decision.</a:t>
            </a:r>
            <a:endParaRPr sz="1000">
              <a:solidFill>
                <a:schemeClr val="dk1"/>
              </a:solidFill>
              <a:latin typeface="Calibri"/>
              <a:ea typeface="Calibri"/>
              <a:cs typeface="Calibri"/>
              <a:sym typeface="Calibri"/>
            </a:endParaRPr>
          </a:p>
        </p:txBody>
      </p:sp>
      <p:sp>
        <p:nvSpPr>
          <p:cNvPr id="565" name="Google Shape;565;p29"/>
          <p:cNvSpPr txBox="1"/>
          <p:nvPr>
            <p:ph idx="12" type="sldNum"/>
          </p:nvPr>
        </p:nvSpPr>
        <p:spPr>
          <a:xfrm>
            <a:off x="8347216" y="4750189"/>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566" name="Google Shape;566;p29"/>
          <p:cNvSpPr/>
          <p:nvPr/>
        </p:nvSpPr>
        <p:spPr>
          <a:xfrm>
            <a:off x="1204871" y="1872655"/>
            <a:ext cx="548700" cy="1233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500"/>
              <a:t>RECEIVED</a:t>
            </a:r>
            <a:endParaRPr b="1" sz="500"/>
          </a:p>
        </p:txBody>
      </p:sp>
      <p:sp>
        <p:nvSpPr>
          <p:cNvPr id="567" name="Google Shape;567;p29"/>
          <p:cNvSpPr/>
          <p:nvPr/>
        </p:nvSpPr>
        <p:spPr>
          <a:xfrm>
            <a:off x="1206396" y="2893244"/>
            <a:ext cx="548700" cy="1233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500"/>
              <a:t>RECEIVED</a:t>
            </a:r>
            <a:endParaRPr b="1" sz="500"/>
          </a:p>
        </p:txBody>
      </p:sp>
      <p:grpSp>
        <p:nvGrpSpPr>
          <p:cNvPr id="568" name="Google Shape;568;p29"/>
          <p:cNvGrpSpPr/>
          <p:nvPr/>
        </p:nvGrpSpPr>
        <p:grpSpPr>
          <a:xfrm>
            <a:off x="2684511" y="2558983"/>
            <a:ext cx="1511100" cy="338078"/>
            <a:chOff x="2589938" y="2546302"/>
            <a:chExt cx="1511100" cy="338078"/>
          </a:xfrm>
        </p:grpSpPr>
        <p:sp>
          <p:nvSpPr>
            <p:cNvPr id="569" name="Google Shape;569;p29"/>
            <p:cNvSpPr/>
            <p:nvPr/>
          </p:nvSpPr>
          <p:spPr>
            <a:xfrm>
              <a:off x="2597800" y="2561414"/>
              <a:ext cx="1453800" cy="308700"/>
            </a:xfrm>
            <a:prstGeom prst="roundRect">
              <a:avLst>
                <a:gd fmla="val 50000" name="adj"/>
              </a:avLst>
            </a:prstGeom>
            <a:solidFill>
              <a:srgbClr val="FFFFFF"/>
            </a:solidFill>
            <a:ln cap="flat" cmpd="sng" w="9525">
              <a:solidFill>
                <a:srgbClr val="E3E8E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500">
                <a:solidFill>
                  <a:schemeClr val="lt1"/>
                </a:solidFill>
              </a:endParaRPr>
            </a:p>
          </p:txBody>
        </p:sp>
        <p:sp>
          <p:nvSpPr>
            <p:cNvPr id="570" name="Google Shape;570;p29"/>
            <p:cNvSpPr/>
            <p:nvPr/>
          </p:nvSpPr>
          <p:spPr>
            <a:xfrm>
              <a:off x="2589938" y="2547180"/>
              <a:ext cx="1511100" cy="337200"/>
            </a:xfrm>
            <a:prstGeom prst="roundRect">
              <a:avLst>
                <a:gd fmla="val 50000" name="adj"/>
              </a:avLst>
            </a:prstGeom>
            <a:solidFill>
              <a:srgbClr val="FFFFFF"/>
            </a:solidFill>
            <a:ln cap="flat" cmpd="sng" w="9525">
              <a:solidFill>
                <a:srgbClr val="E3E8E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500">
                <a:solidFill>
                  <a:schemeClr val="lt1"/>
                </a:solidFill>
              </a:endParaRPr>
            </a:p>
          </p:txBody>
        </p:sp>
        <p:grpSp>
          <p:nvGrpSpPr>
            <p:cNvPr id="571" name="Google Shape;571;p29"/>
            <p:cNvGrpSpPr/>
            <p:nvPr/>
          </p:nvGrpSpPr>
          <p:grpSpPr>
            <a:xfrm>
              <a:off x="2711758" y="2546302"/>
              <a:ext cx="1363438" cy="337252"/>
              <a:chOff x="2248400" y="3149000"/>
              <a:chExt cx="1306225" cy="323100"/>
            </a:xfrm>
          </p:grpSpPr>
          <p:pic>
            <p:nvPicPr>
              <p:cNvPr descr="/home/claude/maia/icons/FiCheck_green.png" id="572" name="Google Shape;572;p29"/>
              <p:cNvPicPr preferRelativeResize="0"/>
              <p:nvPr/>
            </p:nvPicPr>
            <p:blipFill rotWithShape="1">
              <a:blip r:embed="rId5">
                <a:alphaModFix/>
              </a:blip>
              <a:srcRect b="0" l="0" r="0" t="0"/>
              <a:stretch/>
            </p:blipFill>
            <p:spPr>
              <a:xfrm>
                <a:off x="2248400" y="3240750"/>
                <a:ext cx="139600" cy="139600"/>
              </a:xfrm>
              <a:prstGeom prst="rect">
                <a:avLst/>
              </a:prstGeom>
              <a:noFill/>
              <a:ln>
                <a:noFill/>
              </a:ln>
            </p:spPr>
          </p:pic>
          <p:sp>
            <p:nvSpPr>
              <p:cNvPr id="573" name="Google Shape;573;p29"/>
              <p:cNvSpPr txBox="1"/>
              <p:nvPr/>
            </p:nvSpPr>
            <p:spPr>
              <a:xfrm>
                <a:off x="2356125" y="3149000"/>
                <a:ext cx="1198500" cy="323100"/>
              </a:xfrm>
              <a:prstGeom prst="rect">
                <a:avLst/>
              </a:prstGeom>
              <a:noFill/>
              <a:ln>
                <a:noFill/>
              </a:ln>
            </p:spPr>
            <p:txBody>
              <a:bodyPr anchorCtr="0" anchor="t" bIns="95425" lIns="95425" spcFirstLastPara="1" rIns="95425" wrap="square" tIns="95425">
                <a:spAutoFit/>
              </a:bodyPr>
              <a:lstStyle/>
              <a:p>
                <a:pPr indent="0" lvl="0" marL="0" rtl="0" algn="l">
                  <a:lnSpc>
                    <a:spcPct val="115000"/>
                  </a:lnSpc>
                  <a:spcBef>
                    <a:spcPts val="0"/>
                  </a:spcBef>
                  <a:spcAft>
                    <a:spcPts val="0"/>
                  </a:spcAft>
                  <a:buNone/>
                </a:pPr>
                <a:r>
                  <a:rPr lang="en-GB" sz="939"/>
                  <a:t>PO found</a:t>
                </a:r>
                <a:endParaRPr sz="939"/>
              </a:p>
            </p:txBody>
          </p:sp>
        </p:grpSp>
      </p:grpSp>
      <p:grpSp>
        <p:nvGrpSpPr>
          <p:cNvPr id="574" name="Google Shape;574;p29"/>
          <p:cNvGrpSpPr/>
          <p:nvPr/>
        </p:nvGrpSpPr>
        <p:grpSpPr>
          <a:xfrm>
            <a:off x="2684511" y="2945459"/>
            <a:ext cx="1511100" cy="337252"/>
            <a:chOff x="2589938" y="2878507"/>
            <a:chExt cx="1511100" cy="337252"/>
          </a:xfrm>
        </p:grpSpPr>
        <p:sp>
          <p:nvSpPr>
            <p:cNvPr id="575" name="Google Shape;575;p29"/>
            <p:cNvSpPr/>
            <p:nvPr/>
          </p:nvSpPr>
          <p:spPr>
            <a:xfrm>
              <a:off x="2589938" y="2878532"/>
              <a:ext cx="1511100" cy="337200"/>
            </a:xfrm>
            <a:prstGeom prst="roundRect">
              <a:avLst>
                <a:gd fmla="val 50000" name="adj"/>
              </a:avLst>
            </a:prstGeom>
            <a:solidFill>
              <a:srgbClr val="FFFFFF"/>
            </a:solidFill>
            <a:ln cap="flat" cmpd="sng" w="9525">
              <a:solidFill>
                <a:srgbClr val="E3E8E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500">
                <a:solidFill>
                  <a:schemeClr val="lt1"/>
                </a:solidFill>
              </a:endParaRPr>
            </a:p>
          </p:txBody>
        </p:sp>
        <p:grpSp>
          <p:nvGrpSpPr>
            <p:cNvPr id="576" name="Google Shape;576;p29"/>
            <p:cNvGrpSpPr/>
            <p:nvPr/>
          </p:nvGrpSpPr>
          <p:grpSpPr>
            <a:xfrm>
              <a:off x="2711758" y="2878507"/>
              <a:ext cx="1363438" cy="337252"/>
              <a:chOff x="2248400" y="3149000"/>
              <a:chExt cx="1306225" cy="323100"/>
            </a:xfrm>
          </p:grpSpPr>
          <p:pic>
            <p:nvPicPr>
              <p:cNvPr descr="/home/claude/maia/icons/FiCheck_green.png" id="577" name="Google Shape;577;p29"/>
              <p:cNvPicPr preferRelativeResize="0"/>
              <p:nvPr/>
            </p:nvPicPr>
            <p:blipFill rotWithShape="1">
              <a:blip r:embed="rId5">
                <a:alphaModFix/>
              </a:blip>
              <a:srcRect b="0" l="0" r="0" t="0"/>
              <a:stretch/>
            </p:blipFill>
            <p:spPr>
              <a:xfrm>
                <a:off x="2248400" y="3240750"/>
                <a:ext cx="139600" cy="139600"/>
              </a:xfrm>
              <a:prstGeom prst="rect">
                <a:avLst/>
              </a:prstGeom>
              <a:noFill/>
              <a:ln>
                <a:noFill/>
              </a:ln>
            </p:spPr>
          </p:pic>
          <p:sp>
            <p:nvSpPr>
              <p:cNvPr id="578" name="Google Shape;578;p29"/>
              <p:cNvSpPr txBox="1"/>
              <p:nvPr/>
            </p:nvSpPr>
            <p:spPr>
              <a:xfrm>
                <a:off x="2356125" y="3149000"/>
                <a:ext cx="1198500" cy="323100"/>
              </a:xfrm>
              <a:prstGeom prst="rect">
                <a:avLst/>
              </a:prstGeom>
              <a:noFill/>
              <a:ln>
                <a:noFill/>
              </a:ln>
            </p:spPr>
            <p:txBody>
              <a:bodyPr anchorCtr="0" anchor="t" bIns="95425" lIns="95425" spcFirstLastPara="1" rIns="95425" wrap="square" tIns="95425">
                <a:spAutoFit/>
              </a:bodyPr>
              <a:lstStyle/>
              <a:p>
                <a:pPr indent="0" lvl="0" marL="0" rtl="0" algn="l">
                  <a:lnSpc>
                    <a:spcPct val="115000"/>
                  </a:lnSpc>
                  <a:spcBef>
                    <a:spcPts val="0"/>
                  </a:spcBef>
                  <a:spcAft>
                    <a:spcPts val="0"/>
                  </a:spcAft>
                  <a:buNone/>
                </a:pPr>
                <a:r>
                  <a:rPr lang="en-GB" sz="939"/>
                  <a:t>Goods received</a:t>
                </a:r>
                <a:endParaRPr sz="939"/>
              </a:p>
            </p:txBody>
          </p:sp>
        </p:grpSp>
      </p:grpSp>
      <p:grpSp>
        <p:nvGrpSpPr>
          <p:cNvPr id="579" name="Google Shape;579;p29"/>
          <p:cNvGrpSpPr/>
          <p:nvPr/>
        </p:nvGrpSpPr>
        <p:grpSpPr>
          <a:xfrm>
            <a:off x="4240034" y="2173345"/>
            <a:ext cx="1511100" cy="337252"/>
            <a:chOff x="4213496" y="2223026"/>
            <a:chExt cx="1511100" cy="337252"/>
          </a:xfrm>
        </p:grpSpPr>
        <p:sp>
          <p:nvSpPr>
            <p:cNvPr id="580" name="Google Shape;580;p29"/>
            <p:cNvSpPr/>
            <p:nvPr/>
          </p:nvSpPr>
          <p:spPr>
            <a:xfrm>
              <a:off x="4213496" y="2234434"/>
              <a:ext cx="1511100" cy="308700"/>
            </a:xfrm>
            <a:prstGeom prst="roundRect">
              <a:avLst>
                <a:gd fmla="val 50000" name="adj"/>
              </a:avLst>
            </a:prstGeom>
            <a:solidFill>
              <a:srgbClr val="FFFFFF"/>
            </a:solidFill>
            <a:ln cap="flat" cmpd="sng" w="9525">
              <a:solidFill>
                <a:srgbClr val="E3E8E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500">
                <a:solidFill>
                  <a:schemeClr val="lt1"/>
                </a:solidFill>
              </a:endParaRPr>
            </a:p>
          </p:txBody>
        </p:sp>
        <p:grpSp>
          <p:nvGrpSpPr>
            <p:cNvPr id="581" name="Google Shape;581;p29"/>
            <p:cNvGrpSpPr/>
            <p:nvPr/>
          </p:nvGrpSpPr>
          <p:grpSpPr>
            <a:xfrm>
              <a:off x="4328539" y="2223026"/>
              <a:ext cx="1363438" cy="337252"/>
              <a:chOff x="2248400" y="3149000"/>
              <a:chExt cx="1306225" cy="323100"/>
            </a:xfrm>
          </p:grpSpPr>
          <p:pic>
            <p:nvPicPr>
              <p:cNvPr descr="/home/claude/maia/icons/FiCheck_green.png" id="582" name="Google Shape;582;p29"/>
              <p:cNvPicPr preferRelativeResize="0"/>
              <p:nvPr/>
            </p:nvPicPr>
            <p:blipFill rotWithShape="1">
              <a:blip r:embed="rId5">
                <a:alphaModFix/>
              </a:blip>
              <a:srcRect b="0" l="0" r="0" t="0"/>
              <a:stretch/>
            </p:blipFill>
            <p:spPr>
              <a:xfrm>
                <a:off x="2248400" y="3240750"/>
                <a:ext cx="139600" cy="139600"/>
              </a:xfrm>
              <a:prstGeom prst="rect">
                <a:avLst/>
              </a:prstGeom>
              <a:noFill/>
              <a:ln>
                <a:noFill/>
              </a:ln>
            </p:spPr>
          </p:pic>
          <p:sp>
            <p:nvSpPr>
              <p:cNvPr id="583" name="Google Shape;583;p29"/>
              <p:cNvSpPr txBox="1"/>
              <p:nvPr/>
            </p:nvSpPr>
            <p:spPr>
              <a:xfrm>
                <a:off x="2356125" y="3149000"/>
                <a:ext cx="1198500" cy="323100"/>
              </a:xfrm>
              <a:prstGeom prst="rect">
                <a:avLst/>
              </a:prstGeom>
              <a:noFill/>
              <a:ln>
                <a:noFill/>
              </a:ln>
            </p:spPr>
            <p:txBody>
              <a:bodyPr anchorCtr="0" anchor="t" bIns="95425" lIns="95425" spcFirstLastPara="1" rIns="95425" wrap="square" tIns="95425">
                <a:spAutoFit/>
              </a:bodyPr>
              <a:lstStyle/>
              <a:p>
                <a:pPr indent="0" lvl="0" marL="0" rtl="0" algn="l">
                  <a:lnSpc>
                    <a:spcPct val="115000"/>
                  </a:lnSpc>
                  <a:spcBef>
                    <a:spcPts val="0"/>
                  </a:spcBef>
                  <a:spcAft>
                    <a:spcPts val="0"/>
                  </a:spcAft>
                  <a:buNone/>
                </a:pPr>
                <a:r>
                  <a:rPr lang="en-GB" sz="939"/>
                  <a:t>Quantity checked</a:t>
                </a:r>
                <a:endParaRPr sz="939"/>
              </a:p>
            </p:txBody>
          </p:sp>
        </p:grpSp>
      </p:grpSp>
      <p:grpSp>
        <p:nvGrpSpPr>
          <p:cNvPr id="584" name="Google Shape;584;p29"/>
          <p:cNvGrpSpPr/>
          <p:nvPr/>
        </p:nvGrpSpPr>
        <p:grpSpPr>
          <a:xfrm>
            <a:off x="4240043" y="2554372"/>
            <a:ext cx="1511100" cy="340097"/>
            <a:chOff x="4213506" y="2544314"/>
            <a:chExt cx="1511100" cy="340097"/>
          </a:xfrm>
        </p:grpSpPr>
        <p:sp>
          <p:nvSpPr>
            <p:cNvPr id="585" name="Google Shape;585;p29"/>
            <p:cNvSpPr/>
            <p:nvPr/>
          </p:nvSpPr>
          <p:spPr>
            <a:xfrm>
              <a:off x="4213506" y="2544314"/>
              <a:ext cx="1511100" cy="337200"/>
            </a:xfrm>
            <a:prstGeom prst="roundRect">
              <a:avLst>
                <a:gd fmla="val 50000" name="adj"/>
              </a:avLst>
            </a:prstGeom>
            <a:solidFill>
              <a:srgbClr val="FFFFFF"/>
            </a:solidFill>
            <a:ln cap="flat" cmpd="sng" w="9525">
              <a:solidFill>
                <a:srgbClr val="E3E8E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500">
                <a:solidFill>
                  <a:schemeClr val="lt1"/>
                </a:solidFill>
              </a:endParaRPr>
            </a:p>
          </p:txBody>
        </p:sp>
        <p:grpSp>
          <p:nvGrpSpPr>
            <p:cNvPr id="586" name="Google Shape;586;p29"/>
            <p:cNvGrpSpPr/>
            <p:nvPr/>
          </p:nvGrpSpPr>
          <p:grpSpPr>
            <a:xfrm>
              <a:off x="4328539" y="2547159"/>
              <a:ext cx="1363438" cy="337252"/>
              <a:chOff x="2248400" y="3149000"/>
              <a:chExt cx="1306225" cy="323100"/>
            </a:xfrm>
          </p:grpSpPr>
          <p:pic>
            <p:nvPicPr>
              <p:cNvPr descr="/home/claude/maia/icons/FiCheck_green.png" id="587" name="Google Shape;587;p29"/>
              <p:cNvPicPr preferRelativeResize="0"/>
              <p:nvPr/>
            </p:nvPicPr>
            <p:blipFill rotWithShape="1">
              <a:blip r:embed="rId5">
                <a:alphaModFix/>
              </a:blip>
              <a:srcRect b="0" l="0" r="0" t="0"/>
              <a:stretch/>
            </p:blipFill>
            <p:spPr>
              <a:xfrm>
                <a:off x="2248400" y="3240750"/>
                <a:ext cx="139600" cy="139600"/>
              </a:xfrm>
              <a:prstGeom prst="rect">
                <a:avLst/>
              </a:prstGeom>
              <a:noFill/>
              <a:ln>
                <a:noFill/>
              </a:ln>
            </p:spPr>
          </p:pic>
          <p:sp>
            <p:nvSpPr>
              <p:cNvPr id="588" name="Google Shape;588;p29"/>
              <p:cNvSpPr txBox="1"/>
              <p:nvPr/>
            </p:nvSpPr>
            <p:spPr>
              <a:xfrm>
                <a:off x="2356125" y="3149000"/>
                <a:ext cx="1198500" cy="323100"/>
              </a:xfrm>
              <a:prstGeom prst="rect">
                <a:avLst/>
              </a:prstGeom>
              <a:noFill/>
              <a:ln>
                <a:noFill/>
              </a:ln>
            </p:spPr>
            <p:txBody>
              <a:bodyPr anchorCtr="0" anchor="t" bIns="95425" lIns="95425" spcFirstLastPara="1" rIns="95425" wrap="square" tIns="95425">
                <a:spAutoFit/>
              </a:bodyPr>
              <a:lstStyle/>
              <a:p>
                <a:pPr indent="0" lvl="0" marL="0" rtl="0" algn="l">
                  <a:lnSpc>
                    <a:spcPct val="115000"/>
                  </a:lnSpc>
                  <a:spcBef>
                    <a:spcPts val="0"/>
                  </a:spcBef>
                  <a:spcAft>
                    <a:spcPts val="0"/>
                  </a:spcAft>
                  <a:buNone/>
                </a:pPr>
                <a:r>
                  <a:rPr lang="en-GB" sz="939"/>
                  <a:t>Price</a:t>
                </a:r>
                <a:r>
                  <a:rPr lang="en-GB" sz="939"/>
                  <a:t> checked</a:t>
                </a:r>
                <a:endParaRPr sz="939"/>
              </a:p>
            </p:txBody>
          </p:sp>
        </p:grpSp>
      </p:grpSp>
      <p:grpSp>
        <p:nvGrpSpPr>
          <p:cNvPr id="589" name="Google Shape;589;p29"/>
          <p:cNvGrpSpPr/>
          <p:nvPr/>
        </p:nvGrpSpPr>
        <p:grpSpPr>
          <a:xfrm>
            <a:off x="4240043" y="2938244"/>
            <a:ext cx="1511100" cy="341574"/>
            <a:chOff x="4213506" y="2871292"/>
            <a:chExt cx="1511100" cy="341574"/>
          </a:xfrm>
        </p:grpSpPr>
        <p:sp>
          <p:nvSpPr>
            <p:cNvPr id="590" name="Google Shape;590;p29"/>
            <p:cNvSpPr/>
            <p:nvPr/>
          </p:nvSpPr>
          <p:spPr>
            <a:xfrm>
              <a:off x="4213506" y="2875666"/>
              <a:ext cx="1511100" cy="337200"/>
            </a:xfrm>
            <a:prstGeom prst="roundRect">
              <a:avLst>
                <a:gd fmla="val 50000" name="adj"/>
              </a:avLst>
            </a:prstGeom>
            <a:solidFill>
              <a:srgbClr val="FFFFFF"/>
            </a:solidFill>
            <a:ln cap="flat" cmpd="sng" w="9525">
              <a:solidFill>
                <a:srgbClr val="E3E8E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500">
                <a:solidFill>
                  <a:schemeClr val="lt1"/>
                </a:solidFill>
              </a:endParaRPr>
            </a:p>
          </p:txBody>
        </p:sp>
        <p:grpSp>
          <p:nvGrpSpPr>
            <p:cNvPr id="591" name="Google Shape;591;p29"/>
            <p:cNvGrpSpPr/>
            <p:nvPr/>
          </p:nvGrpSpPr>
          <p:grpSpPr>
            <a:xfrm>
              <a:off x="4328539" y="2871292"/>
              <a:ext cx="1363438" cy="337252"/>
              <a:chOff x="2248400" y="3149000"/>
              <a:chExt cx="1306225" cy="323100"/>
            </a:xfrm>
          </p:grpSpPr>
          <p:pic>
            <p:nvPicPr>
              <p:cNvPr descr="/home/claude/maia/icons/FiCheck_green.png" id="592" name="Google Shape;592;p29"/>
              <p:cNvPicPr preferRelativeResize="0"/>
              <p:nvPr/>
            </p:nvPicPr>
            <p:blipFill rotWithShape="1">
              <a:blip r:embed="rId5">
                <a:alphaModFix/>
              </a:blip>
              <a:srcRect b="0" l="0" r="0" t="0"/>
              <a:stretch/>
            </p:blipFill>
            <p:spPr>
              <a:xfrm>
                <a:off x="2248400" y="3240750"/>
                <a:ext cx="139600" cy="139600"/>
              </a:xfrm>
              <a:prstGeom prst="rect">
                <a:avLst/>
              </a:prstGeom>
              <a:noFill/>
              <a:ln>
                <a:noFill/>
              </a:ln>
            </p:spPr>
          </p:pic>
          <p:sp>
            <p:nvSpPr>
              <p:cNvPr id="593" name="Google Shape;593;p29"/>
              <p:cNvSpPr txBox="1"/>
              <p:nvPr/>
            </p:nvSpPr>
            <p:spPr>
              <a:xfrm>
                <a:off x="2356125" y="3149000"/>
                <a:ext cx="1198500" cy="323100"/>
              </a:xfrm>
              <a:prstGeom prst="rect">
                <a:avLst/>
              </a:prstGeom>
              <a:noFill/>
              <a:ln>
                <a:noFill/>
              </a:ln>
            </p:spPr>
            <p:txBody>
              <a:bodyPr anchorCtr="0" anchor="t" bIns="95425" lIns="95425" spcFirstLastPara="1" rIns="95425" wrap="square" tIns="95425">
                <a:spAutoFit/>
              </a:bodyPr>
              <a:lstStyle/>
              <a:p>
                <a:pPr indent="0" lvl="0" marL="0" rtl="0" algn="l">
                  <a:lnSpc>
                    <a:spcPct val="115000"/>
                  </a:lnSpc>
                  <a:spcBef>
                    <a:spcPts val="0"/>
                  </a:spcBef>
                  <a:spcAft>
                    <a:spcPts val="0"/>
                  </a:spcAft>
                  <a:buNone/>
                </a:pPr>
                <a:r>
                  <a:rPr lang="en-GB" sz="939"/>
                  <a:t>Duplicate</a:t>
                </a:r>
                <a:r>
                  <a:rPr lang="en-GB" sz="939"/>
                  <a:t> checked</a:t>
                </a:r>
                <a:endParaRPr sz="939"/>
              </a:p>
            </p:txBody>
          </p:sp>
        </p:grpSp>
      </p:grpSp>
      <p:grpSp>
        <p:nvGrpSpPr>
          <p:cNvPr id="594" name="Google Shape;594;p29"/>
          <p:cNvGrpSpPr/>
          <p:nvPr/>
        </p:nvGrpSpPr>
        <p:grpSpPr>
          <a:xfrm>
            <a:off x="2684501" y="2173332"/>
            <a:ext cx="1511100" cy="337252"/>
            <a:chOff x="2589928" y="2223013"/>
            <a:chExt cx="1511100" cy="337252"/>
          </a:xfrm>
        </p:grpSpPr>
        <p:sp>
          <p:nvSpPr>
            <p:cNvPr id="595" name="Google Shape;595;p29"/>
            <p:cNvSpPr/>
            <p:nvPr/>
          </p:nvSpPr>
          <p:spPr>
            <a:xfrm>
              <a:off x="2589928" y="2237300"/>
              <a:ext cx="1511100" cy="308700"/>
            </a:xfrm>
            <a:prstGeom prst="roundRect">
              <a:avLst>
                <a:gd fmla="val 50000" name="adj"/>
              </a:avLst>
            </a:prstGeom>
            <a:solidFill>
              <a:srgbClr val="FFFFFF"/>
            </a:solidFill>
            <a:ln cap="flat" cmpd="sng" w="9525">
              <a:solidFill>
                <a:srgbClr val="E3E8E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500">
                <a:solidFill>
                  <a:schemeClr val="lt1"/>
                </a:solidFill>
              </a:endParaRPr>
            </a:p>
          </p:txBody>
        </p:sp>
        <p:grpSp>
          <p:nvGrpSpPr>
            <p:cNvPr id="596" name="Google Shape;596;p29"/>
            <p:cNvGrpSpPr/>
            <p:nvPr/>
          </p:nvGrpSpPr>
          <p:grpSpPr>
            <a:xfrm>
              <a:off x="2711758" y="2223013"/>
              <a:ext cx="1363438" cy="337252"/>
              <a:chOff x="2248400" y="3149000"/>
              <a:chExt cx="1306225" cy="323100"/>
            </a:xfrm>
          </p:grpSpPr>
          <p:pic>
            <p:nvPicPr>
              <p:cNvPr descr="/home/claude/maia/icons/FiCheck_green.png" id="597" name="Google Shape;597;p29"/>
              <p:cNvPicPr preferRelativeResize="0"/>
              <p:nvPr/>
            </p:nvPicPr>
            <p:blipFill rotWithShape="1">
              <a:blip r:embed="rId5">
                <a:alphaModFix/>
              </a:blip>
              <a:srcRect b="0" l="0" r="0" t="0"/>
              <a:stretch/>
            </p:blipFill>
            <p:spPr>
              <a:xfrm>
                <a:off x="2248400" y="3240750"/>
                <a:ext cx="139600" cy="139600"/>
              </a:xfrm>
              <a:prstGeom prst="rect">
                <a:avLst/>
              </a:prstGeom>
              <a:noFill/>
              <a:ln>
                <a:noFill/>
              </a:ln>
            </p:spPr>
          </p:pic>
          <p:sp>
            <p:nvSpPr>
              <p:cNvPr id="598" name="Google Shape;598;p29"/>
              <p:cNvSpPr txBox="1"/>
              <p:nvPr/>
            </p:nvSpPr>
            <p:spPr>
              <a:xfrm>
                <a:off x="2356125" y="3149000"/>
                <a:ext cx="1198500" cy="323100"/>
              </a:xfrm>
              <a:prstGeom prst="rect">
                <a:avLst/>
              </a:prstGeom>
              <a:noFill/>
              <a:ln>
                <a:noFill/>
              </a:ln>
            </p:spPr>
            <p:txBody>
              <a:bodyPr anchorCtr="0" anchor="t" bIns="95425" lIns="95425" spcFirstLastPara="1" rIns="95425" wrap="square" tIns="95425">
                <a:spAutoFit/>
              </a:bodyPr>
              <a:lstStyle/>
              <a:p>
                <a:pPr indent="0" lvl="0" marL="0" rtl="0" algn="l">
                  <a:lnSpc>
                    <a:spcPct val="115000"/>
                  </a:lnSpc>
                  <a:spcBef>
                    <a:spcPts val="0"/>
                  </a:spcBef>
                  <a:spcAft>
                    <a:spcPts val="0"/>
                  </a:spcAft>
                  <a:buNone/>
                </a:pPr>
                <a:r>
                  <a:rPr lang="en-GB" sz="939"/>
                  <a:t>Supplier identified</a:t>
                </a:r>
                <a:endParaRPr sz="939"/>
              </a:p>
            </p:txBody>
          </p:sp>
        </p:grpSp>
      </p:grpSp>
      <p:sp>
        <p:nvSpPr>
          <p:cNvPr id="599" name="Google Shape;599;p29"/>
          <p:cNvSpPr/>
          <p:nvPr/>
        </p:nvSpPr>
        <p:spPr>
          <a:xfrm>
            <a:off x="5959912" y="1848649"/>
            <a:ext cx="3291900" cy="24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2B3E"/>
              </a:buClr>
              <a:buSzPts val="1100"/>
              <a:buFont typeface="Arial"/>
              <a:buNone/>
            </a:pPr>
            <a:r>
              <a:rPr b="1" lang="en-GB" sz="1200">
                <a:solidFill>
                  <a:srgbClr val="1C2B3E"/>
                </a:solidFill>
              </a:rPr>
              <a:t>Payment Review</a:t>
            </a:r>
            <a:endParaRPr sz="1200">
              <a:solidFill>
                <a:schemeClr val="dk1"/>
              </a:solidFill>
              <a:latin typeface="Calibri"/>
              <a:ea typeface="Calibri"/>
              <a:cs typeface="Calibri"/>
              <a:sym typeface="Calibri"/>
            </a:endParaRPr>
          </a:p>
        </p:txBody>
      </p:sp>
      <p:sp>
        <p:nvSpPr>
          <p:cNvPr id="600" name="Google Shape;600;p29"/>
          <p:cNvSpPr/>
          <p:nvPr/>
        </p:nvSpPr>
        <p:spPr>
          <a:xfrm>
            <a:off x="6833800" y="2234781"/>
            <a:ext cx="1544100" cy="420900"/>
          </a:xfrm>
          <a:prstGeom prst="roundRect">
            <a:avLst>
              <a:gd fmla="val 50000" name="adj"/>
            </a:avLst>
          </a:prstGeom>
          <a:solidFill>
            <a:srgbClr val="1A9D5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800">
                <a:solidFill>
                  <a:schemeClr val="lt1"/>
                </a:solidFill>
              </a:rPr>
              <a:t>✓ Matched  </a:t>
            </a:r>
            <a:endParaRPr b="1" sz="800">
              <a:solidFill>
                <a:schemeClr val="lt1"/>
              </a:solidFill>
            </a:endParaRPr>
          </a:p>
          <a:p>
            <a:pPr indent="0" lvl="0" marL="0" rtl="0" algn="ctr">
              <a:spcBef>
                <a:spcPts val="0"/>
              </a:spcBef>
              <a:spcAft>
                <a:spcPts val="0"/>
              </a:spcAft>
              <a:buNone/>
            </a:pPr>
            <a:r>
              <a:rPr lang="en-GB" sz="800">
                <a:solidFill>
                  <a:schemeClr val="lt1"/>
                </a:solidFill>
              </a:rPr>
              <a:t>Move forward</a:t>
            </a:r>
            <a:endParaRPr sz="500">
              <a:solidFill>
                <a:schemeClr val="lt1"/>
              </a:solidFill>
            </a:endParaRPr>
          </a:p>
        </p:txBody>
      </p:sp>
      <p:sp>
        <p:nvSpPr>
          <p:cNvPr id="601" name="Google Shape;601;p29"/>
          <p:cNvSpPr/>
          <p:nvPr/>
        </p:nvSpPr>
        <p:spPr>
          <a:xfrm>
            <a:off x="6833800" y="2732280"/>
            <a:ext cx="1544100" cy="420900"/>
          </a:xfrm>
          <a:prstGeom prst="roundRect">
            <a:avLst>
              <a:gd fmla="val 50000" name="adj"/>
            </a:avLst>
          </a:prstGeom>
          <a:solidFill>
            <a:srgbClr val="DC4C3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800">
                <a:solidFill>
                  <a:schemeClr val="lt1"/>
                </a:solidFill>
              </a:rPr>
              <a:t>⚠ Mismatch </a:t>
            </a:r>
            <a:endParaRPr b="1" sz="800">
              <a:solidFill>
                <a:schemeClr val="lt1"/>
              </a:solidFill>
            </a:endParaRPr>
          </a:p>
          <a:p>
            <a:pPr indent="0" lvl="0" marL="0" rtl="0" algn="ctr">
              <a:spcBef>
                <a:spcPts val="0"/>
              </a:spcBef>
              <a:spcAft>
                <a:spcPts val="0"/>
              </a:spcAft>
              <a:buNone/>
            </a:pPr>
            <a:r>
              <a:rPr lang="en-GB" sz="800">
                <a:solidFill>
                  <a:schemeClr val="lt1"/>
                </a:solidFill>
              </a:rPr>
              <a:t>Held for review</a:t>
            </a:r>
            <a:endParaRPr sz="500">
              <a:solidFill>
                <a:schemeClr val="lt1"/>
              </a:solidFill>
            </a:endParaRPr>
          </a:p>
        </p:txBody>
      </p:sp>
      <p:sp>
        <p:nvSpPr>
          <p:cNvPr id="602" name="Google Shape;602;p29"/>
          <p:cNvSpPr/>
          <p:nvPr/>
        </p:nvSpPr>
        <p:spPr>
          <a:xfrm>
            <a:off x="410450" y="3750346"/>
            <a:ext cx="8321400" cy="853200"/>
          </a:xfrm>
          <a:prstGeom prst="roundRect">
            <a:avLst>
              <a:gd fmla="val 15834" name="adj"/>
            </a:avLst>
          </a:prstGeom>
          <a:solidFill>
            <a:schemeClr val="accent2"/>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03" name="Google Shape;603;p29"/>
          <p:cNvSpPr txBox="1"/>
          <p:nvPr/>
        </p:nvSpPr>
        <p:spPr>
          <a:xfrm>
            <a:off x="898558" y="3889330"/>
            <a:ext cx="6858300" cy="58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1200">
                <a:solidFill>
                  <a:schemeClr val="dk2"/>
                </a:solidFill>
              </a:rPr>
              <a:t>MAIA </a:t>
            </a:r>
            <a:r>
              <a:rPr i="1" lang="en-GB" sz="1200">
                <a:solidFill>
                  <a:schemeClr val="dk2"/>
                </a:solidFill>
              </a:rPr>
              <a:t>does not </a:t>
            </a:r>
            <a:r>
              <a:rPr lang="en-GB" sz="1200">
                <a:solidFill>
                  <a:schemeClr val="dk2"/>
                </a:solidFill>
              </a:rPr>
              <a:t>make supplier documents true or approve payments. </a:t>
            </a:r>
            <a:endParaRPr sz="1200">
              <a:solidFill>
                <a:schemeClr val="dk2"/>
              </a:solidFill>
            </a:endParaRPr>
          </a:p>
          <a:p>
            <a:pPr indent="0" lvl="0" marL="0" rtl="0" algn="l">
              <a:spcBef>
                <a:spcPts val="0"/>
              </a:spcBef>
              <a:spcAft>
                <a:spcPts val="0"/>
              </a:spcAft>
              <a:buNone/>
            </a:pPr>
            <a:r>
              <a:rPr lang="en-GB" sz="1200">
                <a:solidFill>
                  <a:schemeClr val="dk2"/>
                </a:solidFill>
              </a:rPr>
              <a:t>Purchasing, warehouse and finance own the final decision.</a:t>
            </a:r>
            <a:endParaRPr sz="1200">
              <a:solidFill>
                <a:schemeClr val="dk2"/>
              </a:solidFill>
            </a:endParaRPr>
          </a:p>
        </p:txBody>
      </p:sp>
      <p:pic>
        <p:nvPicPr>
          <p:cNvPr id="604" name="Google Shape;604;p29" title="lightbulb-on (1).png"/>
          <p:cNvPicPr preferRelativeResize="0"/>
          <p:nvPr/>
        </p:nvPicPr>
        <p:blipFill rotWithShape="1">
          <a:blip r:embed="rId6">
            <a:alphaModFix/>
          </a:blip>
          <a:srcRect b="0" l="0" r="0" t="0"/>
          <a:stretch/>
        </p:blipFill>
        <p:spPr>
          <a:xfrm>
            <a:off x="646966" y="4049055"/>
            <a:ext cx="205800" cy="2058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08" name="Shape 608"/>
        <p:cNvGrpSpPr/>
        <p:nvPr/>
      </p:nvGrpSpPr>
      <p:grpSpPr>
        <a:xfrm>
          <a:off x="0" y="0"/>
          <a:ext cx="0" cy="0"/>
          <a:chOff x="0" y="0"/>
          <a:chExt cx="0" cy="0"/>
        </a:xfrm>
      </p:grpSpPr>
      <p:sp>
        <p:nvSpPr>
          <p:cNvPr id="609" name="Google Shape;609;p30"/>
          <p:cNvSpPr txBox="1"/>
          <p:nvPr>
            <p:ph idx="12" type="sldNum"/>
          </p:nvPr>
        </p:nvSpPr>
        <p:spPr>
          <a:xfrm>
            <a:off x="8347216" y="4750189"/>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610" name="Google Shape;610;p30"/>
          <p:cNvSpPr/>
          <p:nvPr/>
        </p:nvSpPr>
        <p:spPr>
          <a:xfrm>
            <a:off x="411502" y="260604"/>
            <a:ext cx="68583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SECTION 1</a:t>
            </a:r>
            <a:endParaRPr sz="800">
              <a:solidFill>
                <a:schemeClr val="dk1"/>
              </a:solidFill>
              <a:latin typeface="Calibri"/>
              <a:ea typeface="Calibri"/>
              <a:cs typeface="Calibri"/>
              <a:sym typeface="Calibri"/>
            </a:endParaRPr>
          </a:p>
        </p:txBody>
      </p:sp>
      <p:sp>
        <p:nvSpPr>
          <p:cNvPr id="611" name="Google Shape;611;p30"/>
          <p:cNvSpPr/>
          <p:nvPr/>
        </p:nvSpPr>
        <p:spPr>
          <a:xfrm>
            <a:off x="411502" y="438912"/>
            <a:ext cx="8321400" cy="480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1C2B3E"/>
              </a:buClr>
              <a:buSzPts val="2200"/>
              <a:buFont typeface="Arial"/>
              <a:buNone/>
            </a:pPr>
            <a:r>
              <a:rPr b="1" lang="en-GB" sz="2200">
                <a:solidFill>
                  <a:srgbClr val="1C2B3E"/>
                </a:solidFill>
                <a:latin typeface="Poppins"/>
                <a:ea typeface="Poppins"/>
                <a:cs typeface="Poppins"/>
                <a:sym typeface="Poppins"/>
              </a:rPr>
              <a:t>Works with systems you already using.</a:t>
            </a:r>
            <a:endParaRPr b="1" sz="2200">
              <a:solidFill>
                <a:srgbClr val="1C2B3E"/>
              </a:solidFill>
            </a:endParaRPr>
          </a:p>
        </p:txBody>
      </p:sp>
      <p:sp>
        <p:nvSpPr>
          <p:cNvPr id="612" name="Google Shape;612;p30"/>
          <p:cNvSpPr/>
          <p:nvPr/>
        </p:nvSpPr>
        <p:spPr>
          <a:xfrm>
            <a:off x="4933700" y="1261100"/>
            <a:ext cx="3799200" cy="3003900"/>
          </a:xfrm>
          <a:prstGeom prst="roundRect">
            <a:avLst>
              <a:gd fmla="val 4348" name="adj"/>
            </a:avLst>
          </a:prstGeom>
          <a:noFill/>
          <a:ln cap="flat" cmpd="sng" w="9525">
            <a:solidFill>
              <a:srgbClr val="E3E8EF"/>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13" name="Google Shape;613;p30"/>
          <p:cNvSpPr/>
          <p:nvPr/>
        </p:nvSpPr>
        <p:spPr>
          <a:xfrm>
            <a:off x="5137005" y="1433223"/>
            <a:ext cx="315600" cy="315600"/>
          </a:xfrm>
          <a:prstGeom prst="roundRect">
            <a:avLst>
              <a:gd fmla="val 22000" name="adj"/>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14" name="Google Shape;614;p30"/>
          <p:cNvSpPr/>
          <p:nvPr/>
        </p:nvSpPr>
        <p:spPr>
          <a:xfrm>
            <a:off x="5562229" y="1433229"/>
            <a:ext cx="2210100" cy="315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1000"/>
              <a:buFont typeface="Arial"/>
              <a:buNone/>
            </a:pPr>
            <a:r>
              <a:rPr b="1" lang="en-GB" sz="1000">
                <a:solidFill>
                  <a:srgbClr val="1C2B3E"/>
                </a:solidFill>
              </a:rPr>
              <a:t>What gets synced?</a:t>
            </a:r>
            <a:endParaRPr sz="1000">
              <a:solidFill>
                <a:schemeClr val="dk1"/>
              </a:solidFill>
              <a:latin typeface="Calibri"/>
              <a:ea typeface="Calibri"/>
              <a:cs typeface="Calibri"/>
              <a:sym typeface="Calibri"/>
            </a:endParaRPr>
          </a:p>
        </p:txBody>
      </p:sp>
      <p:grpSp>
        <p:nvGrpSpPr>
          <p:cNvPr id="615" name="Google Shape;615;p30"/>
          <p:cNvGrpSpPr/>
          <p:nvPr/>
        </p:nvGrpSpPr>
        <p:grpSpPr>
          <a:xfrm>
            <a:off x="5158895" y="2147668"/>
            <a:ext cx="1629639" cy="323100"/>
            <a:chOff x="5212360" y="3366025"/>
            <a:chExt cx="1629639" cy="323100"/>
          </a:xfrm>
        </p:grpSpPr>
        <p:pic>
          <p:nvPicPr>
            <p:cNvPr descr="/home/claude/maia/icons/FiCheck_green.png" id="616" name="Google Shape;616;p30"/>
            <p:cNvPicPr preferRelativeResize="0"/>
            <p:nvPr/>
          </p:nvPicPr>
          <p:blipFill rotWithShape="1">
            <a:blip r:embed="rId3">
              <a:alphaModFix/>
            </a:blip>
            <a:srcRect b="0" l="0" r="0" t="0"/>
            <a:stretch/>
          </p:blipFill>
          <p:spPr>
            <a:xfrm>
              <a:off x="5212360" y="3458995"/>
              <a:ext cx="137160" cy="137160"/>
            </a:xfrm>
            <a:prstGeom prst="rect">
              <a:avLst/>
            </a:prstGeom>
            <a:noFill/>
            <a:ln>
              <a:noFill/>
            </a:ln>
          </p:spPr>
        </p:pic>
        <p:sp>
          <p:nvSpPr>
            <p:cNvPr id="617" name="Google Shape;617;p30"/>
            <p:cNvSpPr txBox="1"/>
            <p:nvPr/>
          </p:nvSpPr>
          <p:spPr>
            <a:xfrm>
              <a:off x="5349499" y="3366025"/>
              <a:ext cx="1492500" cy="323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900">
                  <a:solidFill>
                    <a:srgbClr val="5B6B7D"/>
                  </a:solidFill>
                </a:rPr>
                <a:t>Customers</a:t>
              </a:r>
              <a:endParaRPr/>
            </a:p>
          </p:txBody>
        </p:sp>
      </p:grpSp>
      <p:grpSp>
        <p:nvGrpSpPr>
          <p:cNvPr id="618" name="Google Shape;618;p30"/>
          <p:cNvGrpSpPr/>
          <p:nvPr/>
        </p:nvGrpSpPr>
        <p:grpSpPr>
          <a:xfrm>
            <a:off x="5160233" y="2435940"/>
            <a:ext cx="1629639" cy="323100"/>
            <a:chOff x="5212360" y="3366025"/>
            <a:chExt cx="1629639" cy="323100"/>
          </a:xfrm>
        </p:grpSpPr>
        <p:pic>
          <p:nvPicPr>
            <p:cNvPr descr="/home/claude/maia/icons/FiCheck_green.png" id="619" name="Google Shape;619;p30"/>
            <p:cNvPicPr preferRelativeResize="0"/>
            <p:nvPr/>
          </p:nvPicPr>
          <p:blipFill rotWithShape="1">
            <a:blip r:embed="rId3">
              <a:alphaModFix/>
            </a:blip>
            <a:srcRect b="0" l="0" r="0" t="0"/>
            <a:stretch/>
          </p:blipFill>
          <p:spPr>
            <a:xfrm>
              <a:off x="5212360" y="3458995"/>
              <a:ext cx="137160" cy="137160"/>
            </a:xfrm>
            <a:prstGeom prst="rect">
              <a:avLst/>
            </a:prstGeom>
            <a:noFill/>
            <a:ln>
              <a:noFill/>
            </a:ln>
          </p:spPr>
        </p:pic>
        <p:sp>
          <p:nvSpPr>
            <p:cNvPr id="620" name="Google Shape;620;p30"/>
            <p:cNvSpPr txBox="1"/>
            <p:nvPr/>
          </p:nvSpPr>
          <p:spPr>
            <a:xfrm>
              <a:off x="5349499" y="3366025"/>
              <a:ext cx="1492500" cy="323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900">
                  <a:solidFill>
                    <a:srgbClr val="5B6B7D"/>
                  </a:solidFill>
                </a:rPr>
                <a:t>Items</a:t>
              </a:r>
              <a:endParaRPr sz="900">
                <a:solidFill>
                  <a:srgbClr val="5B6B7D"/>
                </a:solidFill>
              </a:endParaRPr>
            </a:p>
          </p:txBody>
        </p:sp>
      </p:grpSp>
      <p:grpSp>
        <p:nvGrpSpPr>
          <p:cNvPr id="621" name="Google Shape;621;p30"/>
          <p:cNvGrpSpPr/>
          <p:nvPr/>
        </p:nvGrpSpPr>
        <p:grpSpPr>
          <a:xfrm>
            <a:off x="5160233" y="2724211"/>
            <a:ext cx="1629639" cy="323100"/>
            <a:chOff x="5212360" y="3366025"/>
            <a:chExt cx="1629639" cy="323100"/>
          </a:xfrm>
        </p:grpSpPr>
        <p:pic>
          <p:nvPicPr>
            <p:cNvPr descr="/home/claude/maia/icons/FiCheck_green.png" id="622" name="Google Shape;622;p30"/>
            <p:cNvPicPr preferRelativeResize="0"/>
            <p:nvPr/>
          </p:nvPicPr>
          <p:blipFill rotWithShape="1">
            <a:blip r:embed="rId3">
              <a:alphaModFix/>
            </a:blip>
            <a:srcRect b="0" l="0" r="0" t="0"/>
            <a:stretch/>
          </p:blipFill>
          <p:spPr>
            <a:xfrm>
              <a:off x="5212360" y="3458995"/>
              <a:ext cx="137160" cy="137160"/>
            </a:xfrm>
            <a:prstGeom prst="rect">
              <a:avLst/>
            </a:prstGeom>
            <a:noFill/>
            <a:ln>
              <a:noFill/>
            </a:ln>
          </p:spPr>
        </p:pic>
        <p:sp>
          <p:nvSpPr>
            <p:cNvPr id="623" name="Google Shape;623;p30"/>
            <p:cNvSpPr txBox="1"/>
            <p:nvPr/>
          </p:nvSpPr>
          <p:spPr>
            <a:xfrm>
              <a:off x="5349499" y="3366025"/>
              <a:ext cx="1492500" cy="323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900">
                  <a:solidFill>
                    <a:srgbClr val="5B6B7D"/>
                  </a:solidFill>
                </a:rPr>
                <a:t>Stock</a:t>
              </a:r>
              <a:endParaRPr sz="900">
                <a:solidFill>
                  <a:srgbClr val="5B6B7D"/>
                </a:solidFill>
              </a:endParaRPr>
            </a:p>
          </p:txBody>
        </p:sp>
      </p:grpSp>
      <p:grpSp>
        <p:nvGrpSpPr>
          <p:cNvPr id="624" name="Google Shape;624;p30"/>
          <p:cNvGrpSpPr/>
          <p:nvPr/>
        </p:nvGrpSpPr>
        <p:grpSpPr>
          <a:xfrm>
            <a:off x="5158895" y="3012483"/>
            <a:ext cx="1629639" cy="323100"/>
            <a:chOff x="5212360" y="3366025"/>
            <a:chExt cx="1629639" cy="323100"/>
          </a:xfrm>
        </p:grpSpPr>
        <p:pic>
          <p:nvPicPr>
            <p:cNvPr descr="/home/claude/maia/icons/FiCheck_green.png" id="625" name="Google Shape;625;p30"/>
            <p:cNvPicPr preferRelativeResize="0"/>
            <p:nvPr/>
          </p:nvPicPr>
          <p:blipFill rotWithShape="1">
            <a:blip r:embed="rId3">
              <a:alphaModFix/>
            </a:blip>
            <a:srcRect b="0" l="0" r="0" t="0"/>
            <a:stretch/>
          </p:blipFill>
          <p:spPr>
            <a:xfrm>
              <a:off x="5212360" y="3458995"/>
              <a:ext cx="137160" cy="137160"/>
            </a:xfrm>
            <a:prstGeom prst="rect">
              <a:avLst/>
            </a:prstGeom>
            <a:noFill/>
            <a:ln>
              <a:noFill/>
            </a:ln>
          </p:spPr>
        </p:pic>
        <p:sp>
          <p:nvSpPr>
            <p:cNvPr id="626" name="Google Shape;626;p30"/>
            <p:cNvSpPr txBox="1"/>
            <p:nvPr/>
          </p:nvSpPr>
          <p:spPr>
            <a:xfrm>
              <a:off x="5349499" y="3366025"/>
              <a:ext cx="1492500" cy="323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900">
                  <a:solidFill>
                    <a:srgbClr val="5B6B7D"/>
                  </a:solidFill>
                </a:rPr>
                <a:t>Pricing</a:t>
              </a:r>
              <a:endParaRPr sz="900">
                <a:solidFill>
                  <a:srgbClr val="5B6B7D"/>
                </a:solidFill>
              </a:endParaRPr>
            </a:p>
          </p:txBody>
        </p:sp>
      </p:grpSp>
      <p:sp>
        <p:nvSpPr>
          <p:cNvPr id="627" name="Google Shape;627;p30"/>
          <p:cNvSpPr/>
          <p:nvPr/>
        </p:nvSpPr>
        <p:spPr>
          <a:xfrm>
            <a:off x="5141369" y="1855871"/>
            <a:ext cx="1386600" cy="315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1000"/>
              <a:buFont typeface="Arial"/>
              <a:buNone/>
            </a:pPr>
            <a:r>
              <a:rPr b="1" lang="en-GB" sz="1000">
                <a:solidFill>
                  <a:schemeClr val="accent1"/>
                </a:solidFill>
              </a:rPr>
              <a:t>From ERP to MAIA</a:t>
            </a:r>
            <a:endParaRPr b="1" sz="1000">
              <a:solidFill>
                <a:schemeClr val="accent1"/>
              </a:solidFill>
              <a:latin typeface="Calibri"/>
              <a:ea typeface="Calibri"/>
              <a:cs typeface="Calibri"/>
              <a:sym typeface="Calibri"/>
            </a:endParaRPr>
          </a:p>
        </p:txBody>
      </p:sp>
      <p:grpSp>
        <p:nvGrpSpPr>
          <p:cNvPr id="628" name="Google Shape;628;p30"/>
          <p:cNvGrpSpPr/>
          <p:nvPr/>
        </p:nvGrpSpPr>
        <p:grpSpPr>
          <a:xfrm>
            <a:off x="6973745" y="2435418"/>
            <a:ext cx="1629639" cy="323100"/>
            <a:chOff x="5212360" y="3366025"/>
            <a:chExt cx="1629639" cy="323100"/>
          </a:xfrm>
        </p:grpSpPr>
        <p:pic>
          <p:nvPicPr>
            <p:cNvPr descr="/home/claude/maia/icons/FiCheck_green.png" id="629" name="Google Shape;629;p30"/>
            <p:cNvPicPr preferRelativeResize="0"/>
            <p:nvPr/>
          </p:nvPicPr>
          <p:blipFill rotWithShape="1">
            <a:blip r:embed="rId3">
              <a:alphaModFix/>
            </a:blip>
            <a:srcRect b="0" l="0" r="0" t="0"/>
            <a:stretch/>
          </p:blipFill>
          <p:spPr>
            <a:xfrm>
              <a:off x="5212360" y="3458995"/>
              <a:ext cx="137160" cy="137160"/>
            </a:xfrm>
            <a:prstGeom prst="rect">
              <a:avLst/>
            </a:prstGeom>
            <a:noFill/>
            <a:ln>
              <a:noFill/>
            </a:ln>
          </p:spPr>
        </p:pic>
        <p:sp>
          <p:nvSpPr>
            <p:cNvPr id="630" name="Google Shape;630;p30"/>
            <p:cNvSpPr txBox="1"/>
            <p:nvPr/>
          </p:nvSpPr>
          <p:spPr>
            <a:xfrm>
              <a:off x="5349499" y="3366025"/>
              <a:ext cx="1492500" cy="323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900">
                  <a:solidFill>
                    <a:srgbClr val="5B6B7D"/>
                  </a:solidFill>
                </a:rPr>
                <a:t>Sales Orders</a:t>
              </a:r>
              <a:endParaRPr/>
            </a:p>
          </p:txBody>
        </p:sp>
      </p:grpSp>
      <p:grpSp>
        <p:nvGrpSpPr>
          <p:cNvPr id="631" name="Google Shape;631;p30"/>
          <p:cNvGrpSpPr/>
          <p:nvPr/>
        </p:nvGrpSpPr>
        <p:grpSpPr>
          <a:xfrm>
            <a:off x="6973745" y="2724068"/>
            <a:ext cx="1629639" cy="323100"/>
            <a:chOff x="5212360" y="3366025"/>
            <a:chExt cx="1629639" cy="323100"/>
          </a:xfrm>
        </p:grpSpPr>
        <p:pic>
          <p:nvPicPr>
            <p:cNvPr descr="/home/claude/maia/icons/FiCheck_green.png" id="632" name="Google Shape;632;p30"/>
            <p:cNvPicPr preferRelativeResize="0"/>
            <p:nvPr/>
          </p:nvPicPr>
          <p:blipFill rotWithShape="1">
            <a:blip r:embed="rId3">
              <a:alphaModFix/>
            </a:blip>
            <a:srcRect b="0" l="0" r="0" t="0"/>
            <a:stretch/>
          </p:blipFill>
          <p:spPr>
            <a:xfrm>
              <a:off x="5212360" y="3458995"/>
              <a:ext cx="137160" cy="137160"/>
            </a:xfrm>
            <a:prstGeom prst="rect">
              <a:avLst/>
            </a:prstGeom>
            <a:noFill/>
            <a:ln>
              <a:noFill/>
            </a:ln>
          </p:spPr>
        </p:pic>
        <p:sp>
          <p:nvSpPr>
            <p:cNvPr id="633" name="Google Shape;633;p30"/>
            <p:cNvSpPr txBox="1"/>
            <p:nvPr/>
          </p:nvSpPr>
          <p:spPr>
            <a:xfrm>
              <a:off x="5349499" y="3366025"/>
              <a:ext cx="1492500" cy="323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900">
                  <a:solidFill>
                    <a:srgbClr val="5B6B7D"/>
                  </a:solidFill>
                </a:rPr>
                <a:t>Delivery Notes</a:t>
              </a:r>
              <a:endParaRPr sz="900">
                <a:solidFill>
                  <a:srgbClr val="5B6B7D"/>
                </a:solidFill>
              </a:endParaRPr>
            </a:p>
          </p:txBody>
        </p:sp>
      </p:grpSp>
      <p:grpSp>
        <p:nvGrpSpPr>
          <p:cNvPr id="634" name="Google Shape;634;p30"/>
          <p:cNvGrpSpPr/>
          <p:nvPr/>
        </p:nvGrpSpPr>
        <p:grpSpPr>
          <a:xfrm>
            <a:off x="6973745" y="3301368"/>
            <a:ext cx="1629639" cy="323100"/>
            <a:chOff x="5212360" y="3366025"/>
            <a:chExt cx="1629639" cy="323100"/>
          </a:xfrm>
        </p:grpSpPr>
        <p:pic>
          <p:nvPicPr>
            <p:cNvPr descr="/home/claude/maia/icons/FiCheck_green.png" id="635" name="Google Shape;635;p30"/>
            <p:cNvPicPr preferRelativeResize="0"/>
            <p:nvPr/>
          </p:nvPicPr>
          <p:blipFill rotWithShape="1">
            <a:blip r:embed="rId3">
              <a:alphaModFix/>
            </a:blip>
            <a:srcRect b="0" l="0" r="0" t="0"/>
            <a:stretch/>
          </p:blipFill>
          <p:spPr>
            <a:xfrm>
              <a:off x="5212360" y="3458995"/>
              <a:ext cx="137160" cy="137160"/>
            </a:xfrm>
            <a:prstGeom prst="rect">
              <a:avLst/>
            </a:prstGeom>
            <a:noFill/>
            <a:ln>
              <a:noFill/>
            </a:ln>
          </p:spPr>
        </p:pic>
        <p:sp>
          <p:nvSpPr>
            <p:cNvPr id="636" name="Google Shape;636;p30"/>
            <p:cNvSpPr txBox="1"/>
            <p:nvPr/>
          </p:nvSpPr>
          <p:spPr>
            <a:xfrm>
              <a:off x="5349499" y="3366025"/>
              <a:ext cx="1492500" cy="323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900">
                  <a:solidFill>
                    <a:srgbClr val="5B6B7D"/>
                  </a:solidFill>
                </a:rPr>
                <a:t>Invoices</a:t>
              </a:r>
              <a:endParaRPr sz="900">
                <a:solidFill>
                  <a:srgbClr val="5B6B7D"/>
                </a:solidFill>
              </a:endParaRPr>
            </a:p>
          </p:txBody>
        </p:sp>
      </p:grpSp>
      <p:grpSp>
        <p:nvGrpSpPr>
          <p:cNvPr id="637" name="Google Shape;637;p30"/>
          <p:cNvGrpSpPr/>
          <p:nvPr/>
        </p:nvGrpSpPr>
        <p:grpSpPr>
          <a:xfrm>
            <a:off x="6973745" y="3590018"/>
            <a:ext cx="1629639" cy="323100"/>
            <a:chOff x="5212360" y="3366025"/>
            <a:chExt cx="1629639" cy="323100"/>
          </a:xfrm>
        </p:grpSpPr>
        <p:pic>
          <p:nvPicPr>
            <p:cNvPr descr="/home/claude/maia/icons/FiCheck_green.png" id="638" name="Google Shape;638;p30"/>
            <p:cNvPicPr preferRelativeResize="0"/>
            <p:nvPr/>
          </p:nvPicPr>
          <p:blipFill rotWithShape="1">
            <a:blip r:embed="rId3">
              <a:alphaModFix/>
            </a:blip>
            <a:srcRect b="0" l="0" r="0" t="0"/>
            <a:stretch/>
          </p:blipFill>
          <p:spPr>
            <a:xfrm>
              <a:off x="5212360" y="3458995"/>
              <a:ext cx="137160" cy="137160"/>
            </a:xfrm>
            <a:prstGeom prst="rect">
              <a:avLst/>
            </a:prstGeom>
            <a:noFill/>
            <a:ln>
              <a:noFill/>
            </a:ln>
          </p:spPr>
        </p:pic>
        <p:sp>
          <p:nvSpPr>
            <p:cNvPr id="639" name="Google Shape;639;p30"/>
            <p:cNvSpPr txBox="1"/>
            <p:nvPr/>
          </p:nvSpPr>
          <p:spPr>
            <a:xfrm>
              <a:off x="5349499" y="3366025"/>
              <a:ext cx="1492500" cy="323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900">
                  <a:solidFill>
                    <a:srgbClr val="5B6B7D"/>
                  </a:solidFill>
                </a:rPr>
                <a:t>Payments</a:t>
              </a:r>
              <a:endParaRPr sz="900">
                <a:solidFill>
                  <a:srgbClr val="5B6B7D"/>
                </a:solidFill>
              </a:endParaRPr>
            </a:p>
          </p:txBody>
        </p:sp>
      </p:grpSp>
      <p:sp>
        <p:nvSpPr>
          <p:cNvPr id="640" name="Google Shape;640;p30"/>
          <p:cNvSpPr/>
          <p:nvPr/>
        </p:nvSpPr>
        <p:spPr>
          <a:xfrm>
            <a:off x="6973757" y="1855871"/>
            <a:ext cx="1386600" cy="315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1000"/>
              <a:buFont typeface="Arial"/>
              <a:buNone/>
            </a:pPr>
            <a:r>
              <a:rPr b="1" lang="en-GB" sz="1000">
                <a:solidFill>
                  <a:schemeClr val="accent1"/>
                </a:solidFill>
              </a:rPr>
              <a:t>From MAIA to ERP</a:t>
            </a:r>
            <a:endParaRPr b="1" sz="1000">
              <a:solidFill>
                <a:schemeClr val="accent1"/>
              </a:solidFill>
              <a:latin typeface="Calibri"/>
              <a:ea typeface="Calibri"/>
              <a:cs typeface="Calibri"/>
              <a:sym typeface="Calibri"/>
            </a:endParaRPr>
          </a:p>
        </p:txBody>
      </p:sp>
      <p:pic>
        <p:nvPicPr>
          <p:cNvPr id="641" name="Google Shape;641;p30" title="repeat (1).png"/>
          <p:cNvPicPr preferRelativeResize="0"/>
          <p:nvPr/>
        </p:nvPicPr>
        <p:blipFill>
          <a:blip r:embed="rId4">
            <a:alphaModFix/>
          </a:blip>
          <a:stretch>
            <a:fillRect/>
          </a:stretch>
        </p:blipFill>
        <p:spPr>
          <a:xfrm>
            <a:off x="5221981" y="1518205"/>
            <a:ext cx="145626" cy="145626"/>
          </a:xfrm>
          <a:prstGeom prst="rect">
            <a:avLst/>
          </a:prstGeom>
          <a:noFill/>
          <a:ln>
            <a:noFill/>
          </a:ln>
        </p:spPr>
      </p:pic>
      <p:grpSp>
        <p:nvGrpSpPr>
          <p:cNvPr id="642" name="Google Shape;642;p30"/>
          <p:cNvGrpSpPr/>
          <p:nvPr/>
        </p:nvGrpSpPr>
        <p:grpSpPr>
          <a:xfrm>
            <a:off x="411502" y="1261110"/>
            <a:ext cx="4286400" cy="768000"/>
            <a:chOff x="411502" y="1337310"/>
            <a:chExt cx="4286400" cy="768000"/>
          </a:xfrm>
        </p:grpSpPr>
        <p:sp>
          <p:nvSpPr>
            <p:cNvPr id="643" name="Google Shape;643;p30"/>
            <p:cNvSpPr/>
            <p:nvPr/>
          </p:nvSpPr>
          <p:spPr>
            <a:xfrm>
              <a:off x="411502" y="1337310"/>
              <a:ext cx="4286400" cy="768000"/>
            </a:xfrm>
            <a:prstGeom prst="roundRect">
              <a:avLst>
                <a:gd fmla="val 8929" name="adj"/>
              </a:avLst>
            </a:prstGeom>
            <a:solidFill>
              <a:srgbClr val="F5F7FA"/>
            </a:solidFill>
            <a:ln>
              <a:noFill/>
            </a:ln>
            <a:effectLst>
              <a:outerShdw blurRad="101600" rotWithShape="0" algn="bl" dir="5400000" dist="38100">
                <a:srgbClr val="1C2B3E">
                  <a:alpha val="1019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44" name="Google Shape;644;p30"/>
            <p:cNvSpPr/>
            <p:nvPr/>
          </p:nvSpPr>
          <p:spPr>
            <a:xfrm>
              <a:off x="576103" y="1433322"/>
              <a:ext cx="3957300" cy="233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1100"/>
                <a:buFont typeface="Arial"/>
                <a:buNone/>
              </a:pPr>
              <a:r>
                <a:rPr b="1" lang="en-GB" sz="1100">
                  <a:solidFill>
                    <a:srgbClr val="1C2B3E"/>
                  </a:solidFill>
                  <a:latin typeface="Arial"/>
                  <a:ea typeface="Arial"/>
                  <a:cs typeface="Arial"/>
                  <a:sym typeface="Arial"/>
                </a:rPr>
                <a:t>Channels </a:t>
              </a:r>
              <a:r>
                <a:rPr b="1" lang="en-GB" sz="1100">
                  <a:solidFill>
                    <a:srgbClr val="1C2B3E"/>
                  </a:solidFill>
                </a:rPr>
                <a:t>you familiar with</a:t>
              </a:r>
              <a:endParaRPr sz="1100">
                <a:solidFill>
                  <a:schemeClr val="dk1"/>
                </a:solidFill>
                <a:latin typeface="Calibri"/>
                <a:ea typeface="Calibri"/>
                <a:cs typeface="Calibri"/>
                <a:sym typeface="Calibri"/>
              </a:endParaRPr>
            </a:p>
          </p:txBody>
        </p:sp>
        <p:sp>
          <p:nvSpPr>
            <p:cNvPr id="645" name="Google Shape;645;p30"/>
            <p:cNvSpPr/>
            <p:nvPr/>
          </p:nvSpPr>
          <p:spPr>
            <a:xfrm>
              <a:off x="576103" y="1748790"/>
              <a:ext cx="891600" cy="246900"/>
            </a:xfrm>
            <a:prstGeom prst="roundRect">
              <a:avLst>
                <a:gd fmla="val 50000"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46" name="Google Shape;646;p30"/>
            <p:cNvSpPr/>
            <p:nvPr/>
          </p:nvSpPr>
          <p:spPr>
            <a:xfrm>
              <a:off x="576103" y="1748790"/>
              <a:ext cx="891600" cy="246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WhatsApp</a:t>
              </a:r>
              <a:endParaRPr sz="800">
                <a:solidFill>
                  <a:schemeClr val="dk1"/>
                </a:solidFill>
                <a:latin typeface="Calibri"/>
                <a:ea typeface="Calibri"/>
                <a:cs typeface="Calibri"/>
                <a:sym typeface="Calibri"/>
              </a:endParaRPr>
            </a:p>
          </p:txBody>
        </p:sp>
        <p:sp>
          <p:nvSpPr>
            <p:cNvPr id="647" name="Google Shape;647;p30"/>
            <p:cNvSpPr/>
            <p:nvPr/>
          </p:nvSpPr>
          <p:spPr>
            <a:xfrm>
              <a:off x="1549991" y="1748790"/>
              <a:ext cx="891600" cy="246900"/>
            </a:xfrm>
            <a:prstGeom prst="roundRect">
              <a:avLst>
                <a:gd fmla="val 50000"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48" name="Google Shape;648;p30"/>
            <p:cNvSpPr/>
            <p:nvPr/>
          </p:nvSpPr>
          <p:spPr>
            <a:xfrm>
              <a:off x="1549991" y="1748790"/>
              <a:ext cx="891600" cy="246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Telegram</a:t>
              </a:r>
              <a:endParaRPr sz="800">
                <a:solidFill>
                  <a:schemeClr val="dk1"/>
                </a:solidFill>
                <a:latin typeface="Calibri"/>
                <a:ea typeface="Calibri"/>
                <a:cs typeface="Calibri"/>
                <a:sym typeface="Calibri"/>
              </a:endParaRPr>
            </a:p>
          </p:txBody>
        </p:sp>
        <p:sp>
          <p:nvSpPr>
            <p:cNvPr id="649" name="Google Shape;649;p30"/>
            <p:cNvSpPr/>
            <p:nvPr/>
          </p:nvSpPr>
          <p:spPr>
            <a:xfrm>
              <a:off x="2523879" y="1748790"/>
              <a:ext cx="891600" cy="246900"/>
            </a:xfrm>
            <a:prstGeom prst="roundRect">
              <a:avLst>
                <a:gd fmla="val 50000" name="adj"/>
              </a:avLst>
            </a:prstGeom>
            <a:solidFill>
              <a:srgbClr val="FFFFFF"/>
            </a:solidFill>
            <a:ln cap="flat" cmpd="sng" w="12700">
              <a:solidFill>
                <a:srgbClr val="E3E8EF"/>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50" name="Google Shape;650;p30"/>
            <p:cNvSpPr/>
            <p:nvPr/>
          </p:nvSpPr>
          <p:spPr>
            <a:xfrm>
              <a:off x="2523879" y="1748790"/>
              <a:ext cx="891600" cy="246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800"/>
                <a:buFont typeface="Arial"/>
                <a:buNone/>
              </a:pPr>
              <a:r>
                <a:rPr b="1" lang="en-GB" sz="800">
                  <a:solidFill>
                    <a:srgbClr val="94A3B8"/>
                  </a:solidFill>
                  <a:latin typeface="Arial"/>
                  <a:ea typeface="Arial"/>
                  <a:cs typeface="Arial"/>
                  <a:sym typeface="Arial"/>
                </a:rPr>
                <a:t>Email*</a:t>
              </a:r>
              <a:endParaRPr sz="800">
                <a:solidFill>
                  <a:schemeClr val="dk1"/>
                </a:solidFill>
                <a:latin typeface="Calibri"/>
                <a:ea typeface="Calibri"/>
                <a:cs typeface="Calibri"/>
                <a:sym typeface="Calibri"/>
              </a:endParaRPr>
            </a:p>
          </p:txBody>
        </p:sp>
        <p:sp>
          <p:nvSpPr>
            <p:cNvPr id="651" name="Google Shape;651;p30"/>
            <p:cNvSpPr/>
            <p:nvPr/>
          </p:nvSpPr>
          <p:spPr>
            <a:xfrm>
              <a:off x="3497766" y="1748790"/>
              <a:ext cx="891600" cy="246900"/>
            </a:xfrm>
            <a:prstGeom prst="roundRect">
              <a:avLst>
                <a:gd fmla="val 50000" name="adj"/>
              </a:avLst>
            </a:prstGeom>
            <a:solidFill>
              <a:srgbClr val="FFFFFF"/>
            </a:solidFill>
            <a:ln cap="flat" cmpd="sng" w="12700">
              <a:solidFill>
                <a:srgbClr val="E3E8EF"/>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52" name="Google Shape;652;p30"/>
            <p:cNvSpPr/>
            <p:nvPr/>
          </p:nvSpPr>
          <p:spPr>
            <a:xfrm>
              <a:off x="3497766" y="1748790"/>
              <a:ext cx="891600" cy="246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800"/>
                <a:buFont typeface="Arial"/>
                <a:buNone/>
              </a:pPr>
              <a:r>
                <a:rPr b="1" lang="en-GB" sz="800">
                  <a:solidFill>
                    <a:srgbClr val="94A3B8"/>
                  </a:solidFill>
                  <a:latin typeface="Arial"/>
                  <a:ea typeface="Arial"/>
                  <a:cs typeface="Arial"/>
                  <a:sym typeface="Arial"/>
                </a:rPr>
                <a:t>Teams*</a:t>
              </a:r>
              <a:endParaRPr sz="800">
                <a:solidFill>
                  <a:schemeClr val="dk1"/>
                </a:solidFill>
                <a:latin typeface="Calibri"/>
                <a:ea typeface="Calibri"/>
                <a:cs typeface="Calibri"/>
                <a:sym typeface="Calibri"/>
              </a:endParaRPr>
            </a:p>
          </p:txBody>
        </p:sp>
      </p:grpSp>
      <p:pic>
        <p:nvPicPr>
          <p:cNvPr descr="/home/claude/maia/icons/FiRepeat_accent.png" id="653" name="Google Shape;653;p30"/>
          <p:cNvPicPr preferRelativeResize="0"/>
          <p:nvPr/>
        </p:nvPicPr>
        <p:blipFill rotWithShape="1">
          <a:blip r:embed="rId5">
            <a:alphaModFix/>
          </a:blip>
          <a:srcRect b="0" l="0" r="0" t="0"/>
          <a:stretch/>
        </p:blipFill>
        <p:spPr>
          <a:xfrm>
            <a:off x="2465582" y="2114983"/>
            <a:ext cx="178308" cy="178308"/>
          </a:xfrm>
          <a:prstGeom prst="rect">
            <a:avLst/>
          </a:prstGeom>
          <a:noFill/>
          <a:ln>
            <a:noFill/>
          </a:ln>
        </p:spPr>
      </p:pic>
      <p:sp>
        <p:nvSpPr>
          <p:cNvPr id="654" name="Google Shape;654;p30"/>
          <p:cNvSpPr/>
          <p:nvPr/>
        </p:nvSpPr>
        <p:spPr>
          <a:xfrm>
            <a:off x="411502" y="2379068"/>
            <a:ext cx="4286400" cy="768000"/>
          </a:xfrm>
          <a:prstGeom prst="roundRect">
            <a:avLst>
              <a:gd fmla="val 8929" name="adj"/>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55" name="Google Shape;655;p30"/>
          <p:cNvSpPr/>
          <p:nvPr/>
        </p:nvSpPr>
        <p:spPr>
          <a:xfrm>
            <a:off x="576103" y="2475080"/>
            <a:ext cx="3957300" cy="233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Arial"/>
              <a:buNone/>
            </a:pPr>
            <a:r>
              <a:rPr b="1" lang="en-GB" sz="1100">
                <a:solidFill>
                  <a:srgbClr val="FFFFFF"/>
                </a:solidFill>
                <a:latin typeface="Arial"/>
                <a:ea typeface="Arial"/>
                <a:cs typeface="Arial"/>
                <a:sym typeface="Arial"/>
              </a:rPr>
              <a:t>MAIA</a:t>
            </a:r>
            <a:endParaRPr sz="1100">
              <a:solidFill>
                <a:schemeClr val="dk1"/>
              </a:solidFill>
              <a:latin typeface="Calibri"/>
              <a:ea typeface="Calibri"/>
              <a:cs typeface="Calibri"/>
              <a:sym typeface="Calibri"/>
            </a:endParaRPr>
          </a:p>
        </p:txBody>
      </p:sp>
      <p:pic>
        <p:nvPicPr>
          <p:cNvPr descr="/home/claude/maia/icons/FiRepeat_accent.png" id="656" name="Google Shape;656;p30"/>
          <p:cNvPicPr preferRelativeResize="0"/>
          <p:nvPr/>
        </p:nvPicPr>
        <p:blipFill rotWithShape="1">
          <a:blip r:embed="rId5">
            <a:alphaModFix/>
          </a:blip>
          <a:srcRect b="0" l="0" r="0" t="0"/>
          <a:stretch/>
        </p:blipFill>
        <p:spPr>
          <a:xfrm>
            <a:off x="2465582" y="3232845"/>
            <a:ext cx="178308" cy="178308"/>
          </a:xfrm>
          <a:prstGeom prst="rect">
            <a:avLst/>
          </a:prstGeom>
          <a:noFill/>
          <a:ln>
            <a:noFill/>
          </a:ln>
        </p:spPr>
      </p:pic>
      <p:grpSp>
        <p:nvGrpSpPr>
          <p:cNvPr id="657" name="Google Shape;657;p30"/>
          <p:cNvGrpSpPr/>
          <p:nvPr/>
        </p:nvGrpSpPr>
        <p:grpSpPr>
          <a:xfrm>
            <a:off x="411502" y="3496930"/>
            <a:ext cx="4286400" cy="768000"/>
            <a:chOff x="411502" y="3467292"/>
            <a:chExt cx="4286400" cy="768000"/>
          </a:xfrm>
        </p:grpSpPr>
        <p:sp>
          <p:nvSpPr>
            <p:cNvPr id="658" name="Google Shape;658;p30"/>
            <p:cNvSpPr/>
            <p:nvPr/>
          </p:nvSpPr>
          <p:spPr>
            <a:xfrm>
              <a:off x="411502" y="3467292"/>
              <a:ext cx="4286400" cy="768000"/>
            </a:xfrm>
            <a:prstGeom prst="roundRect">
              <a:avLst>
                <a:gd fmla="val 8929"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59" name="Google Shape;659;p30"/>
            <p:cNvSpPr/>
            <p:nvPr/>
          </p:nvSpPr>
          <p:spPr>
            <a:xfrm>
              <a:off x="576103" y="3563304"/>
              <a:ext cx="3957300" cy="233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Arial"/>
                <a:buNone/>
              </a:pPr>
              <a:r>
                <a:rPr b="1" lang="en-GB" sz="1100">
                  <a:solidFill>
                    <a:srgbClr val="FFFFFF"/>
                  </a:solidFill>
                  <a:latin typeface="Arial"/>
                  <a:ea typeface="Arial"/>
                  <a:cs typeface="Arial"/>
                  <a:sym typeface="Arial"/>
                </a:rPr>
                <a:t>ERP / Accounting system you c</a:t>
              </a:r>
              <a:r>
                <a:rPr b="1" lang="en-GB" sz="1100">
                  <a:solidFill>
                    <a:srgbClr val="FFFFFF"/>
                  </a:solidFill>
                </a:rPr>
                <a:t>urrently use</a:t>
              </a:r>
              <a:endParaRPr sz="1100">
                <a:solidFill>
                  <a:schemeClr val="dk1"/>
                </a:solidFill>
                <a:latin typeface="Calibri"/>
                <a:ea typeface="Calibri"/>
                <a:cs typeface="Calibri"/>
                <a:sym typeface="Calibri"/>
              </a:endParaRPr>
            </a:p>
          </p:txBody>
        </p:sp>
        <p:sp>
          <p:nvSpPr>
            <p:cNvPr id="660" name="Google Shape;660;p30"/>
            <p:cNvSpPr/>
            <p:nvPr/>
          </p:nvSpPr>
          <p:spPr>
            <a:xfrm>
              <a:off x="576103" y="3878772"/>
              <a:ext cx="891600" cy="246900"/>
            </a:xfrm>
            <a:prstGeom prst="roundRect">
              <a:avLst>
                <a:gd fmla="val 50000" name="adj"/>
              </a:avLst>
            </a:prstGeom>
            <a:solidFill>
              <a:srgbClr val="32495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61" name="Google Shape;661;p30"/>
            <p:cNvSpPr/>
            <p:nvPr/>
          </p:nvSpPr>
          <p:spPr>
            <a:xfrm>
              <a:off x="576103" y="3878772"/>
              <a:ext cx="891600" cy="246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2A6BE"/>
                </a:buClr>
                <a:buSzPts val="800"/>
                <a:buFont typeface="Arial"/>
                <a:buNone/>
              </a:pPr>
              <a:r>
                <a:rPr b="1" lang="en-GB" sz="800">
                  <a:solidFill>
                    <a:srgbClr val="92A6BE"/>
                  </a:solidFill>
                  <a:latin typeface="Arial"/>
                  <a:ea typeface="Arial"/>
                  <a:cs typeface="Arial"/>
                  <a:sym typeface="Arial"/>
                </a:rPr>
                <a:t>AutoCount</a:t>
              </a:r>
              <a:endParaRPr sz="800">
                <a:solidFill>
                  <a:schemeClr val="dk1"/>
                </a:solidFill>
                <a:latin typeface="Calibri"/>
                <a:ea typeface="Calibri"/>
                <a:cs typeface="Calibri"/>
                <a:sym typeface="Calibri"/>
              </a:endParaRPr>
            </a:p>
          </p:txBody>
        </p:sp>
        <p:sp>
          <p:nvSpPr>
            <p:cNvPr id="662" name="Google Shape;662;p30"/>
            <p:cNvSpPr/>
            <p:nvPr/>
          </p:nvSpPr>
          <p:spPr>
            <a:xfrm>
              <a:off x="1549991" y="3878772"/>
              <a:ext cx="891600" cy="246900"/>
            </a:xfrm>
            <a:prstGeom prst="roundRect">
              <a:avLst>
                <a:gd fmla="val 50000" name="adj"/>
              </a:avLst>
            </a:prstGeom>
            <a:solidFill>
              <a:srgbClr val="32495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63" name="Google Shape;663;p30"/>
            <p:cNvSpPr/>
            <p:nvPr/>
          </p:nvSpPr>
          <p:spPr>
            <a:xfrm>
              <a:off x="1549991" y="3878772"/>
              <a:ext cx="891600" cy="246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2A6BE"/>
                </a:buClr>
                <a:buSzPts val="800"/>
                <a:buFont typeface="Arial"/>
                <a:buNone/>
              </a:pPr>
              <a:r>
                <a:rPr b="1" lang="en-GB" sz="800">
                  <a:solidFill>
                    <a:srgbClr val="92A6BE"/>
                  </a:solidFill>
                  <a:latin typeface="Arial"/>
                  <a:ea typeface="Arial"/>
                  <a:cs typeface="Arial"/>
                  <a:sym typeface="Arial"/>
                </a:rPr>
                <a:t>SQL</a:t>
              </a:r>
              <a:endParaRPr sz="800">
                <a:solidFill>
                  <a:schemeClr val="dk1"/>
                </a:solidFill>
                <a:latin typeface="Calibri"/>
                <a:ea typeface="Calibri"/>
                <a:cs typeface="Calibri"/>
                <a:sym typeface="Calibri"/>
              </a:endParaRPr>
            </a:p>
          </p:txBody>
        </p:sp>
        <p:sp>
          <p:nvSpPr>
            <p:cNvPr id="664" name="Google Shape;664;p30"/>
            <p:cNvSpPr/>
            <p:nvPr/>
          </p:nvSpPr>
          <p:spPr>
            <a:xfrm>
              <a:off x="2523879" y="3878772"/>
              <a:ext cx="891600" cy="246900"/>
            </a:xfrm>
            <a:prstGeom prst="roundRect">
              <a:avLst>
                <a:gd fmla="val 50000" name="adj"/>
              </a:avLst>
            </a:prstGeom>
            <a:solidFill>
              <a:srgbClr val="32495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65" name="Google Shape;665;p30"/>
            <p:cNvSpPr/>
            <p:nvPr/>
          </p:nvSpPr>
          <p:spPr>
            <a:xfrm>
              <a:off x="2523879" y="3878772"/>
              <a:ext cx="891600" cy="246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2A6BE"/>
                </a:buClr>
                <a:buSzPts val="800"/>
                <a:buFont typeface="Arial"/>
                <a:buNone/>
              </a:pPr>
              <a:r>
                <a:rPr b="1" lang="en-GB" sz="800">
                  <a:solidFill>
                    <a:srgbClr val="92A6BE"/>
                  </a:solidFill>
                  <a:latin typeface="Arial"/>
                  <a:ea typeface="Arial"/>
                  <a:cs typeface="Arial"/>
                  <a:sym typeface="Arial"/>
                </a:rPr>
                <a:t>SAP B1</a:t>
              </a:r>
              <a:endParaRPr sz="800">
                <a:solidFill>
                  <a:schemeClr val="dk1"/>
                </a:solidFill>
                <a:latin typeface="Calibri"/>
                <a:ea typeface="Calibri"/>
                <a:cs typeface="Calibri"/>
                <a:sym typeface="Calibri"/>
              </a:endParaRPr>
            </a:p>
          </p:txBody>
        </p:sp>
        <p:sp>
          <p:nvSpPr>
            <p:cNvPr id="666" name="Google Shape;666;p30"/>
            <p:cNvSpPr/>
            <p:nvPr/>
          </p:nvSpPr>
          <p:spPr>
            <a:xfrm>
              <a:off x="3497766" y="3878772"/>
              <a:ext cx="891600" cy="246900"/>
            </a:xfrm>
            <a:prstGeom prst="roundRect">
              <a:avLst>
                <a:gd fmla="val 50000" name="adj"/>
              </a:avLst>
            </a:prstGeom>
            <a:solidFill>
              <a:srgbClr val="32495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67" name="Google Shape;667;p30"/>
            <p:cNvSpPr/>
            <p:nvPr/>
          </p:nvSpPr>
          <p:spPr>
            <a:xfrm>
              <a:off x="3497766" y="3878772"/>
              <a:ext cx="891600" cy="246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2A6BE"/>
                </a:buClr>
                <a:buSzPts val="800"/>
                <a:buFont typeface="Arial"/>
                <a:buNone/>
              </a:pPr>
              <a:r>
                <a:rPr b="1" lang="en-GB" sz="800">
                  <a:solidFill>
                    <a:srgbClr val="92A6BE"/>
                  </a:solidFill>
                  <a:latin typeface="Arial"/>
                  <a:ea typeface="Arial"/>
                  <a:cs typeface="Arial"/>
                  <a:sym typeface="Arial"/>
                </a:rPr>
                <a:t>Epicor</a:t>
              </a:r>
              <a:endParaRPr sz="800">
                <a:solidFill>
                  <a:schemeClr val="dk1"/>
                </a:solidFill>
                <a:latin typeface="Calibri"/>
                <a:ea typeface="Calibri"/>
                <a:cs typeface="Calibri"/>
                <a:sym typeface="Calibri"/>
              </a:endParaRPr>
            </a:p>
          </p:txBody>
        </p:sp>
      </p:grpSp>
      <p:sp>
        <p:nvSpPr>
          <p:cNvPr id="668" name="Google Shape;668;p30"/>
          <p:cNvSpPr/>
          <p:nvPr/>
        </p:nvSpPr>
        <p:spPr>
          <a:xfrm>
            <a:off x="411502" y="4456368"/>
            <a:ext cx="4286400" cy="24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800"/>
              <a:buFont typeface="Arial"/>
              <a:buNone/>
            </a:pPr>
            <a:r>
              <a:rPr i="1" lang="en-GB" sz="800">
                <a:solidFill>
                  <a:srgbClr val="94A3B8"/>
                </a:solidFill>
                <a:latin typeface="Arial"/>
                <a:ea typeface="Arial"/>
                <a:cs typeface="Arial"/>
                <a:sym typeface="Arial"/>
              </a:rPr>
              <a:t>* Email and Microsoft Teams are add-on channels. Other chat platforms can be customised.</a:t>
            </a:r>
            <a:endParaRPr sz="800">
              <a:solidFill>
                <a:schemeClr val="dk1"/>
              </a:solidFill>
              <a:latin typeface="Calibri"/>
              <a:ea typeface="Calibri"/>
              <a:cs typeface="Calibri"/>
              <a:sym typeface="Calibri"/>
            </a:endParaRPr>
          </a:p>
        </p:txBody>
      </p:sp>
      <p:sp>
        <p:nvSpPr>
          <p:cNvPr id="669" name="Google Shape;669;p30"/>
          <p:cNvSpPr/>
          <p:nvPr/>
        </p:nvSpPr>
        <p:spPr>
          <a:xfrm>
            <a:off x="576100" y="2760425"/>
            <a:ext cx="1202400" cy="2400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800"/>
              <a:t>Auto Extraction</a:t>
            </a:r>
            <a:endParaRPr b="1" sz="800"/>
          </a:p>
        </p:txBody>
      </p:sp>
      <p:sp>
        <p:nvSpPr>
          <p:cNvPr id="670" name="Google Shape;670;p30"/>
          <p:cNvSpPr/>
          <p:nvPr/>
        </p:nvSpPr>
        <p:spPr>
          <a:xfrm>
            <a:off x="1877431" y="2760425"/>
            <a:ext cx="1203000" cy="2400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800"/>
              <a:t>Auto Validation</a:t>
            </a:r>
            <a:endParaRPr b="1" sz="800"/>
          </a:p>
        </p:txBody>
      </p:sp>
      <p:sp>
        <p:nvSpPr>
          <p:cNvPr id="671" name="Google Shape;671;p30"/>
          <p:cNvSpPr/>
          <p:nvPr/>
        </p:nvSpPr>
        <p:spPr>
          <a:xfrm>
            <a:off x="3179363" y="2760425"/>
            <a:ext cx="1203000" cy="2400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800"/>
              <a:t>Full Tracking</a:t>
            </a:r>
            <a:endParaRPr b="1" sz="800"/>
          </a:p>
        </p:txBody>
      </p:sp>
      <p:grpSp>
        <p:nvGrpSpPr>
          <p:cNvPr id="672" name="Google Shape;672;p30"/>
          <p:cNvGrpSpPr/>
          <p:nvPr/>
        </p:nvGrpSpPr>
        <p:grpSpPr>
          <a:xfrm>
            <a:off x="5160233" y="3300754"/>
            <a:ext cx="1629639" cy="323100"/>
            <a:chOff x="5212360" y="3366025"/>
            <a:chExt cx="1629639" cy="323100"/>
          </a:xfrm>
        </p:grpSpPr>
        <p:pic>
          <p:nvPicPr>
            <p:cNvPr descr="/home/claude/maia/icons/FiCheck_green.png" id="673" name="Google Shape;673;p30"/>
            <p:cNvPicPr preferRelativeResize="0"/>
            <p:nvPr/>
          </p:nvPicPr>
          <p:blipFill rotWithShape="1">
            <a:blip r:embed="rId3">
              <a:alphaModFix/>
            </a:blip>
            <a:srcRect b="0" l="0" r="0" t="0"/>
            <a:stretch/>
          </p:blipFill>
          <p:spPr>
            <a:xfrm>
              <a:off x="5212360" y="3458995"/>
              <a:ext cx="137160" cy="137160"/>
            </a:xfrm>
            <a:prstGeom prst="rect">
              <a:avLst/>
            </a:prstGeom>
            <a:noFill/>
            <a:ln>
              <a:noFill/>
            </a:ln>
          </p:spPr>
        </p:pic>
        <p:sp>
          <p:nvSpPr>
            <p:cNvPr id="674" name="Google Shape;674;p30"/>
            <p:cNvSpPr txBox="1"/>
            <p:nvPr/>
          </p:nvSpPr>
          <p:spPr>
            <a:xfrm>
              <a:off x="5349499" y="3366025"/>
              <a:ext cx="1492500" cy="323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900">
                  <a:solidFill>
                    <a:srgbClr val="5B6B7D"/>
                  </a:solidFill>
                </a:rPr>
                <a:t>Suppliers</a:t>
              </a:r>
              <a:endParaRPr sz="900">
                <a:solidFill>
                  <a:srgbClr val="5B6B7D"/>
                </a:solidFill>
              </a:endParaRPr>
            </a:p>
          </p:txBody>
        </p:sp>
      </p:grpSp>
      <p:grpSp>
        <p:nvGrpSpPr>
          <p:cNvPr id="675" name="Google Shape;675;p30"/>
          <p:cNvGrpSpPr/>
          <p:nvPr/>
        </p:nvGrpSpPr>
        <p:grpSpPr>
          <a:xfrm>
            <a:off x="6973745" y="2146768"/>
            <a:ext cx="1629639" cy="323100"/>
            <a:chOff x="5212360" y="3366025"/>
            <a:chExt cx="1629639" cy="323100"/>
          </a:xfrm>
        </p:grpSpPr>
        <p:pic>
          <p:nvPicPr>
            <p:cNvPr descr="/home/claude/maia/icons/FiCheck_green.png" id="676" name="Google Shape;676;p30"/>
            <p:cNvPicPr preferRelativeResize="0"/>
            <p:nvPr/>
          </p:nvPicPr>
          <p:blipFill rotWithShape="1">
            <a:blip r:embed="rId3">
              <a:alphaModFix/>
            </a:blip>
            <a:srcRect b="0" l="0" r="0" t="0"/>
            <a:stretch/>
          </p:blipFill>
          <p:spPr>
            <a:xfrm>
              <a:off x="5212360" y="3458995"/>
              <a:ext cx="137160" cy="137160"/>
            </a:xfrm>
            <a:prstGeom prst="rect">
              <a:avLst/>
            </a:prstGeom>
            <a:noFill/>
            <a:ln>
              <a:noFill/>
            </a:ln>
          </p:spPr>
        </p:pic>
        <p:sp>
          <p:nvSpPr>
            <p:cNvPr id="677" name="Google Shape;677;p30"/>
            <p:cNvSpPr txBox="1"/>
            <p:nvPr/>
          </p:nvSpPr>
          <p:spPr>
            <a:xfrm>
              <a:off x="5349499" y="3366025"/>
              <a:ext cx="1492500" cy="323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900">
                  <a:solidFill>
                    <a:srgbClr val="5B6B7D"/>
                  </a:solidFill>
                </a:rPr>
                <a:t>Quotation</a:t>
              </a:r>
              <a:endParaRPr/>
            </a:p>
          </p:txBody>
        </p:sp>
      </p:grpSp>
      <p:grpSp>
        <p:nvGrpSpPr>
          <p:cNvPr id="678" name="Google Shape;678;p30"/>
          <p:cNvGrpSpPr/>
          <p:nvPr/>
        </p:nvGrpSpPr>
        <p:grpSpPr>
          <a:xfrm>
            <a:off x="6973745" y="3012718"/>
            <a:ext cx="1629639" cy="323100"/>
            <a:chOff x="5212360" y="3366025"/>
            <a:chExt cx="1629639" cy="323100"/>
          </a:xfrm>
        </p:grpSpPr>
        <p:pic>
          <p:nvPicPr>
            <p:cNvPr descr="/home/claude/maia/icons/FiCheck_green.png" id="679" name="Google Shape;679;p30"/>
            <p:cNvPicPr preferRelativeResize="0"/>
            <p:nvPr/>
          </p:nvPicPr>
          <p:blipFill rotWithShape="1">
            <a:blip r:embed="rId3">
              <a:alphaModFix/>
            </a:blip>
            <a:srcRect b="0" l="0" r="0" t="0"/>
            <a:stretch/>
          </p:blipFill>
          <p:spPr>
            <a:xfrm>
              <a:off x="5212360" y="3458995"/>
              <a:ext cx="137160" cy="137160"/>
            </a:xfrm>
            <a:prstGeom prst="rect">
              <a:avLst/>
            </a:prstGeom>
            <a:noFill/>
            <a:ln>
              <a:noFill/>
            </a:ln>
          </p:spPr>
        </p:pic>
        <p:sp>
          <p:nvSpPr>
            <p:cNvPr id="680" name="Google Shape;680;p30"/>
            <p:cNvSpPr txBox="1"/>
            <p:nvPr/>
          </p:nvSpPr>
          <p:spPr>
            <a:xfrm>
              <a:off x="5349499" y="3366025"/>
              <a:ext cx="1492500" cy="323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900">
                  <a:solidFill>
                    <a:srgbClr val="5B6B7D"/>
                  </a:solidFill>
                </a:rPr>
                <a:t>Credit Note/Debit Note</a:t>
              </a:r>
              <a:endParaRPr sz="900">
                <a:solidFill>
                  <a:srgbClr val="5B6B7D"/>
                </a:solidFill>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85" name="Shape 685"/>
        <p:cNvGrpSpPr/>
        <p:nvPr/>
      </p:nvGrpSpPr>
      <p:grpSpPr>
        <a:xfrm>
          <a:off x="0" y="0"/>
          <a:ext cx="0" cy="0"/>
          <a:chOff x="0" y="0"/>
          <a:chExt cx="0" cy="0"/>
        </a:xfrm>
      </p:grpSpPr>
      <p:sp>
        <p:nvSpPr>
          <p:cNvPr id="686" name="Google Shape;686;p31"/>
          <p:cNvSpPr/>
          <p:nvPr/>
        </p:nvSpPr>
        <p:spPr>
          <a:xfrm>
            <a:off x="411502" y="260604"/>
            <a:ext cx="6858366"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SECTION 1</a:t>
            </a:r>
            <a:endParaRPr sz="800">
              <a:solidFill>
                <a:schemeClr val="dk1"/>
              </a:solidFill>
              <a:latin typeface="Calibri"/>
              <a:ea typeface="Calibri"/>
              <a:cs typeface="Calibri"/>
              <a:sym typeface="Calibri"/>
            </a:endParaRPr>
          </a:p>
        </p:txBody>
      </p:sp>
      <p:sp>
        <p:nvSpPr>
          <p:cNvPr id="687" name="Google Shape;687;p31"/>
          <p:cNvSpPr/>
          <p:nvPr/>
        </p:nvSpPr>
        <p:spPr>
          <a:xfrm>
            <a:off x="411502" y="438912"/>
            <a:ext cx="8321255" cy="4800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C2B3E"/>
              </a:buClr>
              <a:buSzPts val="2200"/>
              <a:buFont typeface="Arial"/>
              <a:buNone/>
            </a:pPr>
            <a:r>
              <a:rPr b="1" lang="en-GB" sz="2200">
                <a:solidFill>
                  <a:srgbClr val="1C2B3E"/>
                </a:solidFill>
                <a:latin typeface="Poppins"/>
                <a:ea typeface="Poppins"/>
                <a:cs typeface="Poppins"/>
                <a:sym typeface="Poppins"/>
              </a:rPr>
              <a:t>Which of these is your Monday morning?</a:t>
            </a:r>
            <a:endParaRPr sz="2200">
              <a:solidFill>
                <a:schemeClr val="dk1"/>
              </a:solidFill>
              <a:latin typeface="Poppins"/>
              <a:ea typeface="Poppins"/>
              <a:cs typeface="Poppins"/>
              <a:sym typeface="Poppins"/>
            </a:endParaRPr>
          </a:p>
        </p:txBody>
      </p:sp>
      <p:sp>
        <p:nvSpPr>
          <p:cNvPr id="688" name="Google Shape;688;p31"/>
          <p:cNvSpPr/>
          <p:nvPr/>
        </p:nvSpPr>
        <p:spPr>
          <a:xfrm>
            <a:off x="412527" y="1641289"/>
            <a:ext cx="1565100" cy="1131600"/>
          </a:xfrm>
          <a:prstGeom prst="roundRect">
            <a:avLst>
              <a:gd fmla="val 6154" name="adj"/>
            </a:avLst>
          </a:prstGeom>
          <a:solidFill>
            <a:srgbClr val="F5F7FA"/>
          </a:solidFill>
          <a:ln>
            <a:noFill/>
          </a:ln>
          <a:effectLst>
            <a:outerShdw blurRad="101600" rotWithShape="0" algn="bl" dir="5400000" dist="38100">
              <a:srgbClr val="1C2B3E">
                <a:alpha val="10196"/>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89" name="Google Shape;689;p31"/>
          <p:cNvSpPr/>
          <p:nvPr/>
        </p:nvSpPr>
        <p:spPr>
          <a:xfrm>
            <a:off x="518496" y="1747253"/>
            <a:ext cx="228300" cy="228300"/>
          </a:xfrm>
          <a:prstGeom prst="roundRect">
            <a:avLst>
              <a:gd fmla="val 22000"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PhoneCall_white.png" id="690" name="Google Shape;690;p31"/>
          <p:cNvPicPr preferRelativeResize="0"/>
          <p:nvPr/>
        </p:nvPicPr>
        <p:blipFill rotWithShape="1">
          <a:blip r:embed="rId3">
            <a:alphaModFix/>
          </a:blip>
          <a:srcRect b="0" l="0" r="0" t="0"/>
          <a:stretch/>
        </p:blipFill>
        <p:spPr>
          <a:xfrm>
            <a:off x="575556" y="1804310"/>
            <a:ext cx="114114" cy="114114"/>
          </a:xfrm>
          <a:prstGeom prst="rect">
            <a:avLst/>
          </a:prstGeom>
          <a:noFill/>
          <a:ln>
            <a:noFill/>
          </a:ln>
        </p:spPr>
      </p:pic>
      <p:sp>
        <p:nvSpPr>
          <p:cNvPr id="691" name="Google Shape;691;p31"/>
          <p:cNvSpPr/>
          <p:nvPr/>
        </p:nvSpPr>
        <p:spPr>
          <a:xfrm>
            <a:off x="518420" y="2198296"/>
            <a:ext cx="13614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1000"/>
              <a:buFont typeface="Arial"/>
              <a:buNone/>
            </a:pPr>
            <a:r>
              <a:rPr b="1" lang="en-GB" sz="1000">
                <a:solidFill>
                  <a:srgbClr val="1C2B3E"/>
                </a:solidFill>
                <a:latin typeface="Arial"/>
                <a:ea typeface="Arial"/>
                <a:cs typeface="Arial"/>
                <a:sym typeface="Arial"/>
              </a:rPr>
              <a:t>No source truth</a:t>
            </a:r>
            <a:endParaRPr sz="1200">
              <a:solidFill>
                <a:schemeClr val="dk1"/>
              </a:solidFill>
              <a:latin typeface="Calibri"/>
              <a:ea typeface="Calibri"/>
              <a:cs typeface="Calibri"/>
              <a:sym typeface="Calibri"/>
            </a:endParaRPr>
          </a:p>
        </p:txBody>
      </p:sp>
      <p:sp>
        <p:nvSpPr>
          <p:cNvPr id="692" name="Google Shape;692;p31"/>
          <p:cNvSpPr/>
          <p:nvPr/>
        </p:nvSpPr>
        <p:spPr>
          <a:xfrm>
            <a:off x="2101056" y="1641289"/>
            <a:ext cx="1565100" cy="1131600"/>
          </a:xfrm>
          <a:prstGeom prst="roundRect">
            <a:avLst>
              <a:gd fmla="val 6154" name="adj"/>
            </a:avLst>
          </a:prstGeom>
          <a:solidFill>
            <a:srgbClr val="F5F7FA"/>
          </a:solidFill>
          <a:ln>
            <a:noFill/>
          </a:ln>
          <a:effectLst>
            <a:outerShdw blurRad="101600" rotWithShape="0" algn="bl" dir="5400000" dist="38100">
              <a:srgbClr val="1C2B3E">
                <a:alpha val="10196"/>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93" name="Google Shape;693;p31"/>
          <p:cNvSpPr/>
          <p:nvPr/>
        </p:nvSpPr>
        <p:spPr>
          <a:xfrm>
            <a:off x="2207025" y="1747253"/>
            <a:ext cx="228300" cy="228300"/>
          </a:xfrm>
          <a:prstGeom prst="roundRect">
            <a:avLst>
              <a:gd fmla="val 22000"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PhoneCall_white.png" id="694" name="Google Shape;694;p31"/>
          <p:cNvPicPr preferRelativeResize="0"/>
          <p:nvPr/>
        </p:nvPicPr>
        <p:blipFill rotWithShape="1">
          <a:blip r:embed="rId3">
            <a:alphaModFix/>
          </a:blip>
          <a:srcRect b="0" l="0" r="0" t="0"/>
          <a:stretch/>
        </p:blipFill>
        <p:spPr>
          <a:xfrm>
            <a:off x="2264085" y="1804310"/>
            <a:ext cx="114114" cy="114114"/>
          </a:xfrm>
          <a:prstGeom prst="rect">
            <a:avLst/>
          </a:prstGeom>
          <a:noFill/>
          <a:ln>
            <a:noFill/>
          </a:ln>
        </p:spPr>
      </p:pic>
      <p:sp>
        <p:nvSpPr>
          <p:cNvPr id="695" name="Google Shape;695;p31"/>
          <p:cNvSpPr/>
          <p:nvPr/>
        </p:nvSpPr>
        <p:spPr>
          <a:xfrm>
            <a:off x="2206950" y="2198296"/>
            <a:ext cx="13614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1000"/>
              <a:buFont typeface="Arial"/>
              <a:buNone/>
            </a:pPr>
            <a:r>
              <a:rPr b="1" lang="en-GB" sz="1000">
                <a:solidFill>
                  <a:srgbClr val="1C2B3E"/>
                </a:solidFill>
                <a:latin typeface="Arial"/>
                <a:ea typeface="Arial"/>
                <a:cs typeface="Arial"/>
                <a:sym typeface="Arial"/>
              </a:rPr>
              <a:t>New customer stuck</a:t>
            </a:r>
            <a:endParaRPr sz="1200">
              <a:solidFill>
                <a:schemeClr val="dk1"/>
              </a:solidFill>
              <a:latin typeface="Calibri"/>
              <a:ea typeface="Calibri"/>
              <a:cs typeface="Calibri"/>
              <a:sym typeface="Calibri"/>
            </a:endParaRPr>
          </a:p>
        </p:txBody>
      </p:sp>
      <p:sp>
        <p:nvSpPr>
          <p:cNvPr id="696" name="Google Shape;696;p31"/>
          <p:cNvSpPr/>
          <p:nvPr/>
        </p:nvSpPr>
        <p:spPr>
          <a:xfrm>
            <a:off x="3789586" y="1641289"/>
            <a:ext cx="1565100" cy="1131600"/>
          </a:xfrm>
          <a:prstGeom prst="roundRect">
            <a:avLst>
              <a:gd fmla="val 6154" name="adj"/>
            </a:avLst>
          </a:prstGeom>
          <a:solidFill>
            <a:srgbClr val="F5F7FA"/>
          </a:solidFill>
          <a:ln>
            <a:noFill/>
          </a:ln>
          <a:effectLst>
            <a:outerShdw blurRad="101600" rotWithShape="0" algn="bl" dir="5400000" dist="38100">
              <a:srgbClr val="1C2B3E">
                <a:alpha val="10196"/>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97" name="Google Shape;697;p31"/>
          <p:cNvSpPr/>
          <p:nvPr/>
        </p:nvSpPr>
        <p:spPr>
          <a:xfrm>
            <a:off x="3895554" y="1747253"/>
            <a:ext cx="228300" cy="228300"/>
          </a:xfrm>
          <a:prstGeom prst="roundRect">
            <a:avLst>
              <a:gd fmla="val 22000"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PhoneCall_white.png" id="698" name="Google Shape;698;p31"/>
          <p:cNvPicPr preferRelativeResize="0"/>
          <p:nvPr/>
        </p:nvPicPr>
        <p:blipFill rotWithShape="1">
          <a:blip r:embed="rId3">
            <a:alphaModFix/>
          </a:blip>
          <a:srcRect b="0" l="0" r="0" t="0"/>
          <a:stretch/>
        </p:blipFill>
        <p:spPr>
          <a:xfrm>
            <a:off x="3952615" y="1804310"/>
            <a:ext cx="114114" cy="114114"/>
          </a:xfrm>
          <a:prstGeom prst="rect">
            <a:avLst/>
          </a:prstGeom>
          <a:noFill/>
          <a:ln>
            <a:noFill/>
          </a:ln>
        </p:spPr>
      </p:pic>
      <p:sp>
        <p:nvSpPr>
          <p:cNvPr id="699" name="Google Shape;699;p31"/>
          <p:cNvSpPr/>
          <p:nvPr/>
        </p:nvSpPr>
        <p:spPr>
          <a:xfrm>
            <a:off x="3895479" y="2198296"/>
            <a:ext cx="13614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1000"/>
              <a:buFont typeface="Arial"/>
              <a:buNone/>
            </a:pPr>
            <a:r>
              <a:rPr b="1" lang="en-GB" sz="1000">
                <a:solidFill>
                  <a:srgbClr val="1C2B3E"/>
                </a:solidFill>
                <a:latin typeface="Arial"/>
                <a:ea typeface="Arial"/>
                <a:cs typeface="Arial"/>
                <a:sym typeface="Arial"/>
              </a:rPr>
              <a:t>Call finance first</a:t>
            </a:r>
            <a:endParaRPr sz="1200">
              <a:solidFill>
                <a:schemeClr val="dk1"/>
              </a:solidFill>
              <a:latin typeface="Calibri"/>
              <a:ea typeface="Calibri"/>
              <a:cs typeface="Calibri"/>
              <a:sym typeface="Calibri"/>
            </a:endParaRPr>
          </a:p>
        </p:txBody>
      </p:sp>
      <p:sp>
        <p:nvSpPr>
          <p:cNvPr id="700" name="Google Shape;700;p31"/>
          <p:cNvSpPr/>
          <p:nvPr/>
        </p:nvSpPr>
        <p:spPr>
          <a:xfrm>
            <a:off x="5478116" y="1641289"/>
            <a:ext cx="1565100" cy="1131600"/>
          </a:xfrm>
          <a:prstGeom prst="roundRect">
            <a:avLst>
              <a:gd fmla="val 6154" name="adj"/>
            </a:avLst>
          </a:prstGeom>
          <a:solidFill>
            <a:srgbClr val="F5F7FA"/>
          </a:solidFill>
          <a:ln>
            <a:noFill/>
          </a:ln>
          <a:effectLst>
            <a:outerShdw blurRad="101600" rotWithShape="0" algn="bl" dir="5400000" dist="38100">
              <a:srgbClr val="1C2B3E">
                <a:alpha val="10196"/>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01" name="Google Shape;701;p31"/>
          <p:cNvSpPr/>
          <p:nvPr/>
        </p:nvSpPr>
        <p:spPr>
          <a:xfrm>
            <a:off x="5584084" y="1747253"/>
            <a:ext cx="228300" cy="228300"/>
          </a:xfrm>
          <a:prstGeom prst="roundRect">
            <a:avLst>
              <a:gd fmla="val 22000"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PhoneCall_white.png" id="702" name="Google Shape;702;p31"/>
          <p:cNvPicPr preferRelativeResize="0"/>
          <p:nvPr/>
        </p:nvPicPr>
        <p:blipFill rotWithShape="1">
          <a:blip r:embed="rId3">
            <a:alphaModFix/>
          </a:blip>
          <a:srcRect b="0" l="0" r="0" t="0"/>
          <a:stretch/>
        </p:blipFill>
        <p:spPr>
          <a:xfrm>
            <a:off x="5641144" y="1804310"/>
            <a:ext cx="114114" cy="114114"/>
          </a:xfrm>
          <a:prstGeom prst="rect">
            <a:avLst/>
          </a:prstGeom>
          <a:noFill/>
          <a:ln>
            <a:noFill/>
          </a:ln>
        </p:spPr>
      </p:pic>
      <p:sp>
        <p:nvSpPr>
          <p:cNvPr id="703" name="Google Shape;703;p31"/>
          <p:cNvSpPr/>
          <p:nvPr/>
        </p:nvSpPr>
        <p:spPr>
          <a:xfrm>
            <a:off x="5584008" y="2198296"/>
            <a:ext cx="13614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1000"/>
              <a:buFont typeface="Arial"/>
              <a:buNone/>
            </a:pPr>
            <a:r>
              <a:rPr b="1" lang="en-GB" sz="1000">
                <a:solidFill>
                  <a:srgbClr val="1C2B3E"/>
                </a:solidFill>
                <a:latin typeface="Arial"/>
                <a:ea typeface="Arial"/>
                <a:cs typeface="Arial"/>
                <a:sym typeface="Arial"/>
              </a:rPr>
              <a:t>Dig for docs</a:t>
            </a:r>
            <a:endParaRPr sz="1200">
              <a:solidFill>
                <a:schemeClr val="dk1"/>
              </a:solidFill>
              <a:latin typeface="Calibri"/>
              <a:ea typeface="Calibri"/>
              <a:cs typeface="Calibri"/>
              <a:sym typeface="Calibri"/>
            </a:endParaRPr>
          </a:p>
        </p:txBody>
      </p:sp>
      <p:sp>
        <p:nvSpPr>
          <p:cNvPr id="704" name="Google Shape;704;p31"/>
          <p:cNvSpPr/>
          <p:nvPr/>
        </p:nvSpPr>
        <p:spPr>
          <a:xfrm>
            <a:off x="7166645" y="1641289"/>
            <a:ext cx="1565100" cy="1131600"/>
          </a:xfrm>
          <a:prstGeom prst="roundRect">
            <a:avLst>
              <a:gd fmla="val 6154" name="adj"/>
            </a:avLst>
          </a:prstGeom>
          <a:solidFill>
            <a:srgbClr val="F5F7FA"/>
          </a:solidFill>
          <a:ln>
            <a:noFill/>
          </a:ln>
          <a:effectLst>
            <a:outerShdw blurRad="101600" rotWithShape="0" algn="bl" dir="5400000" dist="38100">
              <a:srgbClr val="1C2B3E">
                <a:alpha val="10196"/>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05" name="Google Shape;705;p31"/>
          <p:cNvSpPr/>
          <p:nvPr/>
        </p:nvSpPr>
        <p:spPr>
          <a:xfrm>
            <a:off x="7272614" y="1747253"/>
            <a:ext cx="228300" cy="228300"/>
          </a:xfrm>
          <a:prstGeom prst="roundRect">
            <a:avLst>
              <a:gd fmla="val 22000"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PhoneCall_white.png" id="706" name="Google Shape;706;p31"/>
          <p:cNvPicPr preferRelativeResize="0"/>
          <p:nvPr/>
        </p:nvPicPr>
        <p:blipFill rotWithShape="1">
          <a:blip r:embed="rId3">
            <a:alphaModFix/>
          </a:blip>
          <a:srcRect b="0" l="0" r="0" t="0"/>
          <a:stretch/>
        </p:blipFill>
        <p:spPr>
          <a:xfrm>
            <a:off x="7329674" y="1804310"/>
            <a:ext cx="114114" cy="114114"/>
          </a:xfrm>
          <a:prstGeom prst="rect">
            <a:avLst/>
          </a:prstGeom>
          <a:noFill/>
          <a:ln>
            <a:noFill/>
          </a:ln>
        </p:spPr>
      </p:pic>
      <p:sp>
        <p:nvSpPr>
          <p:cNvPr id="707" name="Google Shape;707;p31"/>
          <p:cNvSpPr/>
          <p:nvPr/>
        </p:nvSpPr>
        <p:spPr>
          <a:xfrm>
            <a:off x="7272538" y="2198296"/>
            <a:ext cx="13614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1000"/>
              <a:buFont typeface="Arial"/>
              <a:buNone/>
            </a:pPr>
            <a:r>
              <a:rPr b="1" lang="en-GB" sz="1000">
                <a:solidFill>
                  <a:srgbClr val="1C2B3E"/>
                </a:solidFill>
                <a:latin typeface="Arial"/>
                <a:ea typeface="Arial"/>
                <a:cs typeface="Arial"/>
                <a:sym typeface="Arial"/>
              </a:rPr>
              <a:t>Wrong contract price</a:t>
            </a:r>
            <a:endParaRPr sz="1200">
              <a:solidFill>
                <a:schemeClr val="dk1"/>
              </a:solidFill>
              <a:latin typeface="Calibri"/>
              <a:ea typeface="Calibri"/>
              <a:cs typeface="Calibri"/>
              <a:sym typeface="Calibri"/>
            </a:endParaRPr>
          </a:p>
        </p:txBody>
      </p:sp>
      <p:sp>
        <p:nvSpPr>
          <p:cNvPr id="708" name="Google Shape;708;p31"/>
          <p:cNvSpPr/>
          <p:nvPr/>
        </p:nvSpPr>
        <p:spPr>
          <a:xfrm>
            <a:off x="412527" y="2896304"/>
            <a:ext cx="1565100" cy="1131600"/>
          </a:xfrm>
          <a:prstGeom prst="roundRect">
            <a:avLst>
              <a:gd fmla="val 6154" name="adj"/>
            </a:avLst>
          </a:prstGeom>
          <a:solidFill>
            <a:srgbClr val="F5F7FA"/>
          </a:solidFill>
          <a:ln>
            <a:noFill/>
          </a:ln>
          <a:effectLst>
            <a:outerShdw blurRad="101600" rotWithShape="0" algn="bl" dir="5400000" dist="38100">
              <a:srgbClr val="1C2B3E">
                <a:alpha val="10196"/>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09" name="Google Shape;709;p31"/>
          <p:cNvSpPr/>
          <p:nvPr/>
        </p:nvSpPr>
        <p:spPr>
          <a:xfrm>
            <a:off x="518496" y="3002267"/>
            <a:ext cx="228300" cy="228300"/>
          </a:xfrm>
          <a:prstGeom prst="roundRect">
            <a:avLst>
              <a:gd fmla="val 22000"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PhoneCall_white.png" id="710" name="Google Shape;710;p31"/>
          <p:cNvPicPr preferRelativeResize="0"/>
          <p:nvPr/>
        </p:nvPicPr>
        <p:blipFill rotWithShape="1">
          <a:blip r:embed="rId3">
            <a:alphaModFix/>
          </a:blip>
          <a:srcRect b="0" l="0" r="0" t="0"/>
          <a:stretch/>
        </p:blipFill>
        <p:spPr>
          <a:xfrm>
            <a:off x="575556" y="3059324"/>
            <a:ext cx="114114" cy="114114"/>
          </a:xfrm>
          <a:prstGeom prst="rect">
            <a:avLst/>
          </a:prstGeom>
          <a:noFill/>
          <a:ln>
            <a:noFill/>
          </a:ln>
        </p:spPr>
      </p:pic>
      <p:sp>
        <p:nvSpPr>
          <p:cNvPr id="711" name="Google Shape;711;p31"/>
          <p:cNvSpPr/>
          <p:nvPr/>
        </p:nvSpPr>
        <p:spPr>
          <a:xfrm>
            <a:off x="518420" y="3453310"/>
            <a:ext cx="13614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1000"/>
              <a:buFont typeface="Arial"/>
              <a:buNone/>
            </a:pPr>
            <a:r>
              <a:rPr b="1" lang="en-GB" sz="1000">
                <a:solidFill>
                  <a:srgbClr val="1C2B3E"/>
                </a:solidFill>
                <a:latin typeface="Arial"/>
                <a:ea typeface="Arial"/>
                <a:cs typeface="Arial"/>
                <a:sym typeface="Arial"/>
              </a:rPr>
              <a:t>Remember item code</a:t>
            </a:r>
            <a:endParaRPr sz="1200">
              <a:solidFill>
                <a:schemeClr val="dk1"/>
              </a:solidFill>
              <a:latin typeface="Calibri"/>
              <a:ea typeface="Calibri"/>
              <a:cs typeface="Calibri"/>
              <a:sym typeface="Calibri"/>
            </a:endParaRPr>
          </a:p>
        </p:txBody>
      </p:sp>
      <p:sp>
        <p:nvSpPr>
          <p:cNvPr id="712" name="Google Shape;712;p31"/>
          <p:cNvSpPr/>
          <p:nvPr/>
        </p:nvSpPr>
        <p:spPr>
          <a:xfrm>
            <a:off x="2101056" y="2896304"/>
            <a:ext cx="1565100" cy="1131600"/>
          </a:xfrm>
          <a:prstGeom prst="roundRect">
            <a:avLst>
              <a:gd fmla="val 6154" name="adj"/>
            </a:avLst>
          </a:prstGeom>
          <a:solidFill>
            <a:srgbClr val="F5F7FA"/>
          </a:solidFill>
          <a:ln>
            <a:noFill/>
          </a:ln>
          <a:effectLst>
            <a:outerShdw blurRad="101600" rotWithShape="0" algn="bl" dir="5400000" dist="38100">
              <a:srgbClr val="1C2B3E">
                <a:alpha val="10196"/>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13" name="Google Shape;713;p31"/>
          <p:cNvSpPr/>
          <p:nvPr/>
        </p:nvSpPr>
        <p:spPr>
          <a:xfrm>
            <a:off x="2207025" y="3002267"/>
            <a:ext cx="228300" cy="228300"/>
          </a:xfrm>
          <a:prstGeom prst="roundRect">
            <a:avLst>
              <a:gd fmla="val 22000"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PhoneCall_white.png" id="714" name="Google Shape;714;p31"/>
          <p:cNvPicPr preferRelativeResize="0"/>
          <p:nvPr/>
        </p:nvPicPr>
        <p:blipFill rotWithShape="1">
          <a:blip r:embed="rId3">
            <a:alphaModFix/>
          </a:blip>
          <a:srcRect b="0" l="0" r="0" t="0"/>
          <a:stretch/>
        </p:blipFill>
        <p:spPr>
          <a:xfrm>
            <a:off x="2264085" y="3059324"/>
            <a:ext cx="114114" cy="114114"/>
          </a:xfrm>
          <a:prstGeom prst="rect">
            <a:avLst/>
          </a:prstGeom>
          <a:noFill/>
          <a:ln>
            <a:noFill/>
          </a:ln>
        </p:spPr>
      </p:pic>
      <p:sp>
        <p:nvSpPr>
          <p:cNvPr id="715" name="Google Shape;715;p31"/>
          <p:cNvSpPr/>
          <p:nvPr/>
        </p:nvSpPr>
        <p:spPr>
          <a:xfrm>
            <a:off x="2206950" y="3453310"/>
            <a:ext cx="13614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1000"/>
              <a:buFont typeface="Arial"/>
              <a:buNone/>
            </a:pPr>
            <a:r>
              <a:rPr b="1" lang="en-GB" sz="1000">
                <a:solidFill>
                  <a:srgbClr val="1C2B3E"/>
                </a:solidFill>
                <a:latin typeface="Arial"/>
                <a:ea typeface="Arial"/>
                <a:cs typeface="Arial"/>
                <a:sym typeface="Arial"/>
              </a:rPr>
              <a:t>Manual UOM maths</a:t>
            </a:r>
            <a:endParaRPr sz="1200">
              <a:solidFill>
                <a:schemeClr val="dk1"/>
              </a:solidFill>
              <a:latin typeface="Calibri"/>
              <a:ea typeface="Calibri"/>
              <a:cs typeface="Calibri"/>
              <a:sym typeface="Calibri"/>
            </a:endParaRPr>
          </a:p>
        </p:txBody>
      </p:sp>
      <p:sp>
        <p:nvSpPr>
          <p:cNvPr id="716" name="Google Shape;716;p31"/>
          <p:cNvSpPr/>
          <p:nvPr/>
        </p:nvSpPr>
        <p:spPr>
          <a:xfrm>
            <a:off x="3789586" y="2896304"/>
            <a:ext cx="1565100" cy="1131600"/>
          </a:xfrm>
          <a:prstGeom prst="roundRect">
            <a:avLst>
              <a:gd fmla="val 6154" name="adj"/>
            </a:avLst>
          </a:prstGeom>
          <a:solidFill>
            <a:srgbClr val="F5F7FA"/>
          </a:solidFill>
          <a:ln>
            <a:noFill/>
          </a:ln>
          <a:effectLst>
            <a:outerShdw blurRad="101600" rotWithShape="0" algn="bl" dir="5400000" dist="38100">
              <a:srgbClr val="1C2B3E">
                <a:alpha val="10196"/>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17" name="Google Shape;717;p31"/>
          <p:cNvSpPr/>
          <p:nvPr/>
        </p:nvSpPr>
        <p:spPr>
          <a:xfrm>
            <a:off x="3895554" y="3002267"/>
            <a:ext cx="228300" cy="228300"/>
          </a:xfrm>
          <a:prstGeom prst="roundRect">
            <a:avLst>
              <a:gd fmla="val 22000"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PhoneCall_white.png" id="718" name="Google Shape;718;p31"/>
          <p:cNvPicPr preferRelativeResize="0"/>
          <p:nvPr/>
        </p:nvPicPr>
        <p:blipFill rotWithShape="1">
          <a:blip r:embed="rId3">
            <a:alphaModFix/>
          </a:blip>
          <a:srcRect b="0" l="0" r="0" t="0"/>
          <a:stretch/>
        </p:blipFill>
        <p:spPr>
          <a:xfrm>
            <a:off x="3952615" y="3059324"/>
            <a:ext cx="114114" cy="114114"/>
          </a:xfrm>
          <a:prstGeom prst="rect">
            <a:avLst/>
          </a:prstGeom>
          <a:noFill/>
          <a:ln>
            <a:noFill/>
          </a:ln>
        </p:spPr>
      </p:pic>
      <p:sp>
        <p:nvSpPr>
          <p:cNvPr id="719" name="Google Shape;719;p31"/>
          <p:cNvSpPr/>
          <p:nvPr/>
        </p:nvSpPr>
        <p:spPr>
          <a:xfrm>
            <a:off x="3895479" y="3453310"/>
            <a:ext cx="13614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1000"/>
              <a:buFont typeface="Arial"/>
              <a:buNone/>
            </a:pPr>
            <a:r>
              <a:rPr b="1" lang="en-GB" sz="1000">
                <a:solidFill>
                  <a:srgbClr val="1C2B3E"/>
                </a:solidFill>
                <a:latin typeface="Arial"/>
                <a:ea typeface="Arial"/>
                <a:cs typeface="Arial"/>
                <a:sym typeface="Arial"/>
              </a:rPr>
              <a:t>Call warehouse</a:t>
            </a:r>
            <a:endParaRPr sz="1200">
              <a:solidFill>
                <a:schemeClr val="dk1"/>
              </a:solidFill>
              <a:latin typeface="Calibri"/>
              <a:ea typeface="Calibri"/>
              <a:cs typeface="Calibri"/>
              <a:sym typeface="Calibri"/>
            </a:endParaRPr>
          </a:p>
        </p:txBody>
      </p:sp>
      <p:sp>
        <p:nvSpPr>
          <p:cNvPr id="720" name="Google Shape;720;p31"/>
          <p:cNvSpPr/>
          <p:nvPr/>
        </p:nvSpPr>
        <p:spPr>
          <a:xfrm>
            <a:off x="5478116" y="2896304"/>
            <a:ext cx="1565100" cy="1131600"/>
          </a:xfrm>
          <a:prstGeom prst="roundRect">
            <a:avLst>
              <a:gd fmla="val 6154" name="adj"/>
            </a:avLst>
          </a:prstGeom>
          <a:solidFill>
            <a:srgbClr val="F5F7FA"/>
          </a:solidFill>
          <a:ln>
            <a:noFill/>
          </a:ln>
          <a:effectLst>
            <a:outerShdw blurRad="101600" rotWithShape="0" algn="bl" dir="5400000" dist="38100">
              <a:srgbClr val="1C2B3E">
                <a:alpha val="10196"/>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21" name="Google Shape;721;p31"/>
          <p:cNvSpPr/>
          <p:nvPr/>
        </p:nvSpPr>
        <p:spPr>
          <a:xfrm>
            <a:off x="5584084" y="3002267"/>
            <a:ext cx="228300" cy="228300"/>
          </a:xfrm>
          <a:prstGeom prst="roundRect">
            <a:avLst>
              <a:gd fmla="val 22000"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PhoneCall_white.png" id="722" name="Google Shape;722;p31"/>
          <p:cNvPicPr preferRelativeResize="0"/>
          <p:nvPr/>
        </p:nvPicPr>
        <p:blipFill rotWithShape="1">
          <a:blip r:embed="rId3">
            <a:alphaModFix/>
          </a:blip>
          <a:srcRect b="0" l="0" r="0" t="0"/>
          <a:stretch/>
        </p:blipFill>
        <p:spPr>
          <a:xfrm>
            <a:off x="5641144" y="3059324"/>
            <a:ext cx="114114" cy="114114"/>
          </a:xfrm>
          <a:prstGeom prst="rect">
            <a:avLst/>
          </a:prstGeom>
          <a:noFill/>
          <a:ln>
            <a:noFill/>
          </a:ln>
        </p:spPr>
      </p:pic>
      <p:sp>
        <p:nvSpPr>
          <p:cNvPr id="723" name="Google Shape;723;p31"/>
          <p:cNvSpPr/>
          <p:nvPr/>
        </p:nvSpPr>
        <p:spPr>
          <a:xfrm>
            <a:off x="5584008" y="3453310"/>
            <a:ext cx="13614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1000"/>
              <a:buFont typeface="Arial"/>
              <a:buNone/>
            </a:pPr>
            <a:r>
              <a:rPr b="1" lang="en-GB" sz="1000">
                <a:solidFill>
                  <a:srgbClr val="1C2B3E"/>
                </a:solidFill>
                <a:latin typeface="Arial"/>
                <a:ea typeface="Arial"/>
                <a:cs typeface="Arial"/>
                <a:sym typeface="Arial"/>
              </a:rPr>
              <a:t>Match receipts manually</a:t>
            </a:r>
            <a:endParaRPr sz="1200">
              <a:solidFill>
                <a:schemeClr val="dk1"/>
              </a:solidFill>
              <a:latin typeface="Calibri"/>
              <a:ea typeface="Calibri"/>
              <a:cs typeface="Calibri"/>
              <a:sym typeface="Calibri"/>
            </a:endParaRPr>
          </a:p>
        </p:txBody>
      </p:sp>
      <p:sp>
        <p:nvSpPr>
          <p:cNvPr id="724" name="Google Shape;724;p31"/>
          <p:cNvSpPr/>
          <p:nvPr/>
        </p:nvSpPr>
        <p:spPr>
          <a:xfrm>
            <a:off x="7166645" y="2896304"/>
            <a:ext cx="1565100" cy="1131600"/>
          </a:xfrm>
          <a:prstGeom prst="roundRect">
            <a:avLst>
              <a:gd fmla="val 6154" name="adj"/>
            </a:avLst>
          </a:prstGeom>
          <a:solidFill>
            <a:srgbClr val="F5F7FA"/>
          </a:solidFill>
          <a:ln>
            <a:noFill/>
          </a:ln>
          <a:effectLst>
            <a:outerShdw blurRad="101600" rotWithShape="0" algn="bl" dir="5400000" dist="38100">
              <a:srgbClr val="1C2B3E">
                <a:alpha val="10196"/>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25" name="Google Shape;725;p31"/>
          <p:cNvSpPr/>
          <p:nvPr/>
        </p:nvSpPr>
        <p:spPr>
          <a:xfrm>
            <a:off x="7272614" y="3002267"/>
            <a:ext cx="228300" cy="228300"/>
          </a:xfrm>
          <a:prstGeom prst="roundRect">
            <a:avLst>
              <a:gd fmla="val 22000"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PhoneCall_white.png" id="726" name="Google Shape;726;p31"/>
          <p:cNvPicPr preferRelativeResize="0"/>
          <p:nvPr/>
        </p:nvPicPr>
        <p:blipFill rotWithShape="1">
          <a:blip r:embed="rId3">
            <a:alphaModFix/>
          </a:blip>
          <a:srcRect b="0" l="0" r="0" t="0"/>
          <a:stretch/>
        </p:blipFill>
        <p:spPr>
          <a:xfrm>
            <a:off x="7329674" y="3059324"/>
            <a:ext cx="114114" cy="114114"/>
          </a:xfrm>
          <a:prstGeom prst="rect">
            <a:avLst/>
          </a:prstGeom>
          <a:noFill/>
          <a:ln>
            <a:noFill/>
          </a:ln>
        </p:spPr>
      </p:pic>
      <p:sp>
        <p:nvSpPr>
          <p:cNvPr id="727" name="Google Shape;727;p31"/>
          <p:cNvSpPr/>
          <p:nvPr/>
        </p:nvSpPr>
        <p:spPr>
          <a:xfrm>
            <a:off x="7272538" y="3453310"/>
            <a:ext cx="13614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1000"/>
              <a:buFont typeface="Arial"/>
              <a:buNone/>
            </a:pPr>
            <a:r>
              <a:rPr b="1" lang="en-GB" sz="1000">
                <a:solidFill>
                  <a:srgbClr val="1C2B3E"/>
                </a:solidFill>
                <a:latin typeface="Arial"/>
                <a:ea typeface="Arial"/>
                <a:cs typeface="Arial"/>
                <a:sym typeface="Arial"/>
              </a:rPr>
              <a:t>Pay before matching</a:t>
            </a:r>
            <a:endParaRPr sz="1200">
              <a:solidFill>
                <a:schemeClr val="dk1"/>
              </a:solidFill>
              <a:latin typeface="Calibri"/>
              <a:ea typeface="Calibri"/>
              <a:cs typeface="Calibri"/>
              <a:sym typeface="Calibri"/>
            </a:endParaRPr>
          </a:p>
        </p:txBody>
      </p:sp>
      <p:sp>
        <p:nvSpPr>
          <p:cNvPr id="728" name="Google Shape;728;p31"/>
          <p:cNvSpPr txBox="1"/>
          <p:nvPr>
            <p:ph idx="12" type="sldNum"/>
          </p:nvPr>
        </p:nvSpPr>
        <p:spPr>
          <a:xfrm>
            <a:off x="8347216" y="4750189"/>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33" name="Shape 733"/>
        <p:cNvGrpSpPr/>
        <p:nvPr/>
      </p:nvGrpSpPr>
      <p:grpSpPr>
        <a:xfrm>
          <a:off x="0" y="0"/>
          <a:ext cx="0" cy="0"/>
          <a:chOff x="0" y="0"/>
          <a:chExt cx="0" cy="0"/>
        </a:xfrm>
      </p:grpSpPr>
      <p:sp>
        <p:nvSpPr>
          <p:cNvPr id="734" name="Google Shape;734;p32"/>
          <p:cNvSpPr/>
          <p:nvPr/>
        </p:nvSpPr>
        <p:spPr>
          <a:xfrm>
            <a:off x="411502" y="260604"/>
            <a:ext cx="68583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SECTION 1</a:t>
            </a:r>
            <a:endParaRPr sz="800">
              <a:solidFill>
                <a:schemeClr val="dk1"/>
              </a:solidFill>
              <a:latin typeface="Calibri"/>
              <a:ea typeface="Calibri"/>
              <a:cs typeface="Calibri"/>
              <a:sym typeface="Calibri"/>
            </a:endParaRPr>
          </a:p>
        </p:txBody>
      </p:sp>
      <p:sp>
        <p:nvSpPr>
          <p:cNvPr id="735" name="Google Shape;735;p32"/>
          <p:cNvSpPr/>
          <p:nvPr/>
        </p:nvSpPr>
        <p:spPr>
          <a:xfrm>
            <a:off x="411502" y="438912"/>
            <a:ext cx="8321400" cy="480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C2B3E"/>
              </a:buClr>
              <a:buSzPts val="2200"/>
              <a:buFont typeface="Arial"/>
              <a:buNone/>
            </a:pPr>
            <a:r>
              <a:rPr b="1" lang="en-GB" sz="2200">
                <a:solidFill>
                  <a:srgbClr val="1C2B3E"/>
                </a:solidFill>
                <a:latin typeface="Poppins"/>
                <a:ea typeface="Poppins"/>
                <a:cs typeface="Poppins"/>
                <a:sym typeface="Poppins"/>
              </a:rPr>
              <a:t>How customer order moves through MAIA.</a:t>
            </a:r>
            <a:endParaRPr sz="2200">
              <a:solidFill>
                <a:schemeClr val="dk1"/>
              </a:solidFill>
              <a:latin typeface="Poppins"/>
              <a:ea typeface="Poppins"/>
              <a:cs typeface="Poppins"/>
              <a:sym typeface="Poppins"/>
            </a:endParaRPr>
          </a:p>
        </p:txBody>
      </p:sp>
      <p:sp>
        <p:nvSpPr>
          <p:cNvPr id="736" name="Google Shape;736;p32"/>
          <p:cNvSpPr txBox="1"/>
          <p:nvPr>
            <p:ph idx="12" type="sldNum"/>
          </p:nvPr>
        </p:nvSpPr>
        <p:spPr>
          <a:xfrm>
            <a:off x="8347216" y="4750189"/>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737" name="Google Shape;737;p32"/>
          <p:cNvSpPr/>
          <p:nvPr/>
        </p:nvSpPr>
        <p:spPr>
          <a:xfrm>
            <a:off x="411438" y="1542150"/>
            <a:ext cx="1510500" cy="2584800"/>
          </a:xfrm>
          <a:prstGeom prst="roundRect">
            <a:avLst>
              <a:gd fmla="val 5882" name="adj"/>
            </a:avLst>
          </a:prstGeom>
          <a:solidFill>
            <a:srgbClr val="F5F7FA"/>
          </a:solidFill>
          <a:ln>
            <a:noFill/>
          </a:ln>
          <a:effectLst>
            <a:outerShdw blurRad="101600" rotWithShape="0" algn="bl" dir="5400000" dist="38100">
              <a:srgbClr val="1C2B3E">
                <a:alpha val="1019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rgbClr val="1B2B3E"/>
              </a:solidFill>
              <a:latin typeface="Calibri"/>
              <a:ea typeface="Calibri"/>
              <a:cs typeface="Calibri"/>
              <a:sym typeface="Calibri"/>
            </a:endParaRPr>
          </a:p>
        </p:txBody>
      </p:sp>
      <p:sp>
        <p:nvSpPr>
          <p:cNvPr id="738" name="Google Shape;738;p32"/>
          <p:cNvSpPr/>
          <p:nvPr/>
        </p:nvSpPr>
        <p:spPr>
          <a:xfrm>
            <a:off x="995292" y="2255067"/>
            <a:ext cx="342900" cy="342900"/>
          </a:xfrm>
          <a:prstGeom prst="ellipse">
            <a:avLst/>
          </a:pr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rgbClr val="1B2B3E"/>
              </a:solidFill>
              <a:latin typeface="Calibri"/>
              <a:ea typeface="Calibri"/>
              <a:cs typeface="Calibri"/>
              <a:sym typeface="Calibri"/>
            </a:endParaRPr>
          </a:p>
        </p:txBody>
      </p:sp>
      <p:pic>
        <p:nvPicPr>
          <p:cNvPr descr="/home/claude/maia/icons/FiFileText_accent.png" id="739" name="Google Shape;739;p32"/>
          <p:cNvPicPr preferRelativeResize="0"/>
          <p:nvPr/>
        </p:nvPicPr>
        <p:blipFill rotWithShape="1">
          <a:blip r:embed="rId3">
            <a:alphaModFix/>
          </a:blip>
          <a:srcRect b="0" l="0" r="0" t="0"/>
          <a:stretch/>
        </p:blipFill>
        <p:spPr>
          <a:xfrm>
            <a:off x="1081022" y="2340792"/>
            <a:ext cx="171450" cy="171450"/>
          </a:xfrm>
          <a:prstGeom prst="rect">
            <a:avLst/>
          </a:prstGeom>
          <a:noFill/>
          <a:ln>
            <a:noFill/>
          </a:ln>
        </p:spPr>
      </p:pic>
      <p:sp>
        <p:nvSpPr>
          <p:cNvPr id="740" name="Google Shape;740;p32"/>
          <p:cNvSpPr/>
          <p:nvPr/>
        </p:nvSpPr>
        <p:spPr>
          <a:xfrm>
            <a:off x="466306" y="2666547"/>
            <a:ext cx="14010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2B3E"/>
              </a:buClr>
              <a:buSzPts val="900"/>
              <a:buFont typeface="Arial"/>
              <a:buNone/>
            </a:pPr>
            <a:r>
              <a:rPr b="1" lang="en-GB" sz="900">
                <a:solidFill>
                  <a:srgbClr val="1C2B3E"/>
                </a:solidFill>
                <a:latin typeface="Arial"/>
                <a:ea typeface="Arial"/>
                <a:cs typeface="Arial"/>
                <a:sym typeface="Arial"/>
              </a:rPr>
              <a:t>Quotation / CPO</a:t>
            </a:r>
            <a:endParaRPr sz="900">
              <a:solidFill>
                <a:srgbClr val="1B2B3E"/>
              </a:solidFill>
              <a:latin typeface="Calibri"/>
              <a:ea typeface="Calibri"/>
              <a:cs typeface="Calibri"/>
              <a:sym typeface="Calibri"/>
            </a:endParaRPr>
          </a:p>
        </p:txBody>
      </p:sp>
      <p:sp>
        <p:nvSpPr>
          <p:cNvPr id="741" name="Google Shape;741;p32"/>
          <p:cNvSpPr/>
          <p:nvPr/>
        </p:nvSpPr>
        <p:spPr>
          <a:xfrm>
            <a:off x="720958" y="3009447"/>
            <a:ext cx="891600" cy="192000"/>
          </a:xfrm>
          <a:prstGeom prst="roundRect">
            <a:avLst>
              <a:gd fmla="val 50000" name="adj"/>
            </a:avLst>
          </a:pr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rgbClr val="1B2B3E"/>
              </a:solidFill>
              <a:latin typeface="Calibri"/>
              <a:ea typeface="Calibri"/>
              <a:cs typeface="Calibri"/>
              <a:sym typeface="Calibri"/>
            </a:endParaRPr>
          </a:p>
        </p:txBody>
      </p:sp>
      <p:sp>
        <p:nvSpPr>
          <p:cNvPr id="742" name="Google Shape;742;p32"/>
          <p:cNvSpPr/>
          <p:nvPr/>
        </p:nvSpPr>
        <p:spPr>
          <a:xfrm>
            <a:off x="720958" y="3009447"/>
            <a:ext cx="891600" cy="192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600"/>
              <a:buFont typeface="Arial"/>
              <a:buNone/>
            </a:pPr>
            <a:r>
              <a:rPr b="1" lang="en-GB" sz="600">
                <a:solidFill>
                  <a:srgbClr val="94A3B8"/>
                </a:solidFill>
                <a:latin typeface="Arial"/>
                <a:ea typeface="Arial"/>
                <a:cs typeface="Arial"/>
                <a:sym typeface="Arial"/>
              </a:rPr>
              <a:t>DRAFT → OPEN</a:t>
            </a:r>
            <a:endParaRPr sz="600">
              <a:solidFill>
                <a:srgbClr val="1B2B3E"/>
              </a:solidFill>
              <a:latin typeface="Calibri"/>
              <a:ea typeface="Calibri"/>
              <a:cs typeface="Calibri"/>
              <a:sym typeface="Calibri"/>
            </a:endParaRPr>
          </a:p>
        </p:txBody>
      </p:sp>
      <p:sp>
        <p:nvSpPr>
          <p:cNvPr id="743" name="Google Shape;743;p32"/>
          <p:cNvSpPr/>
          <p:nvPr/>
        </p:nvSpPr>
        <p:spPr>
          <a:xfrm>
            <a:off x="1880913" y="2543103"/>
            <a:ext cx="2742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2100"/>
              <a:buFont typeface="Arial"/>
              <a:buNone/>
            </a:pPr>
            <a:r>
              <a:rPr b="1" lang="en-GB" sz="2100">
                <a:solidFill>
                  <a:srgbClr val="94A3B8"/>
                </a:solidFill>
                <a:latin typeface="Arial"/>
                <a:ea typeface="Arial"/>
                <a:cs typeface="Arial"/>
                <a:sym typeface="Arial"/>
              </a:rPr>
              <a:t>›</a:t>
            </a:r>
            <a:endParaRPr sz="2100">
              <a:solidFill>
                <a:srgbClr val="1B2B3E"/>
              </a:solidFill>
              <a:latin typeface="Calibri"/>
              <a:ea typeface="Calibri"/>
              <a:cs typeface="Calibri"/>
              <a:sym typeface="Calibri"/>
            </a:endParaRPr>
          </a:p>
        </p:txBody>
      </p:sp>
      <p:sp>
        <p:nvSpPr>
          <p:cNvPr id="744" name="Google Shape;744;p32"/>
          <p:cNvSpPr/>
          <p:nvPr/>
        </p:nvSpPr>
        <p:spPr>
          <a:xfrm>
            <a:off x="2114093" y="1542150"/>
            <a:ext cx="1510500" cy="2584800"/>
          </a:xfrm>
          <a:prstGeom prst="roundRect">
            <a:avLst>
              <a:gd fmla="val 5882" name="adj"/>
            </a:avLst>
          </a:prstGeom>
          <a:solidFill>
            <a:srgbClr val="F5F7FA"/>
          </a:solidFill>
          <a:ln>
            <a:noFill/>
          </a:ln>
          <a:effectLst>
            <a:outerShdw blurRad="101600" rotWithShape="0" algn="bl" dir="5400000" dist="38100">
              <a:srgbClr val="1C2B3E">
                <a:alpha val="1019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rgbClr val="1B2B3E"/>
              </a:solidFill>
              <a:latin typeface="Calibri"/>
              <a:ea typeface="Calibri"/>
              <a:cs typeface="Calibri"/>
              <a:sym typeface="Calibri"/>
            </a:endParaRPr>
          </a:p>
        </p:txBody>
      </p:sp>
      <p:sp>
        <p:nvSpPr>
          <p:cNvPr id="745" name="Google Shape;745;p32"/>
          <p:cNvSpPr/>
          <p:nvPr/>
        </p:nvSpPr>
        <p:spPr>
          <a:xfrm>
            <a:off x="2697950" y="2255067"/>
            <a:ext cx="342900" cy="342900"/>
          </a:xfrm>
          <a:prstGeom prst="ellipse">
            <a:avLst/>
          </a:pr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rgbClr val="1B2B3E"/>
              </a:solidFill>
              <a:latin typeface="Calibri"/>
              <a:ea typeface="Calibri"/>
              <a:cs typeface="Calibri"/>
              <a:sym typeface="Calibri"/>
            </a:endParaRPr>
          </a:p>
        </p:txBody>
      </p:sp>
      <p:pic>
        <p:nvPicPr>
          <p:cNvPr descr="/home/claude/maia/icons/FiShoppingCart_accent.png" id="746" name="Google Shape;746;p32"/>
          <p:cNvPicPr preferRelativeResize="0"/>
          <p:nvPr/>
        </p:nvPicPr>
        <p:blipFill rotWithShape="1">
          <a:blip r:embed="rId4">
            <a:alphaModFix/>
          </a:blip>
          <a:srcRect b="0" l="0" r="0" t="0"/>
          <a:stretch/>
        </p:blipFill>
        <p:spPr>
          <a:xfrm>
            <a:off x="2783679" y="2340792"/>
            <a:ext cx="171450" cy="171450"/>
          </a:xfrm>
          <a:prstGeom prst="rect">
            <a:avLst/>
          </a:prstGeom>
          <a:noFill/>
          <a:ln>
            <a:noFill/>
          </a:ln>
        </p:spPr>
      </p:pic>
      <p:sp>
        <p:nvSpPr>
          <p:cNvPr id="747" name="Google Shape;747;p32"/>
          <p:cNvSpPr/>
          <p:nvPr/>
        </p:nvSpPr>
        <p:spPr>
          <a:xfrm>
            <a:off x="2168964" y="2666547"/>
            <a:ext cx="14010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2B3E"/>
              </a:buClr>
              <a:buSzPts val="900"/>
              <a:buFont typeface="Arial"/>
              <a:buNone/>
            </a:pPr>
            <a:r>
              <a:rPr b="1" lang="en-GB" sz="900">
                <a:solidFill>
                  <a:srgbClr val="1C2B3E"/>
                </a:solidFill>
                <a:latin typeface="Arial"/>
                <a:ea typeface="Arial"/>
                <a:cs typeface="Arial"/>
                <a:sym typeface="Arial"/>
              </a:rPr>
              <a:t>Sales Order</a:t>
            </a:r>
            <a:endParaRPr sz="900">
              <a:solidFill>
                <a:srgbClr val="1B2B3E"/>
              </a:solidFill>
              <a:latin typeface="Calibri"/>
              <a:ea typeface="Calibri"/>
              <a:cs typeface="Calibri"/>
              <a:sym typeface="Calibri"/>
            </a:endParaRPr>
          </a:p>
        </p:txBody>
      </p:sp>
      <p:sp>
        <p:nvSpPr>
          <p:cNvPr id="748" name="Google Shape;748;p32"/>
          <p:cNvSpPr/>
          <p:nvPr/>
        </p:nvSpPr>
        <p:spPr>
          <a:xfrm>
            <a:off x="2423615" y="3009447"/>
            <a:ext cx="891600" cy="192000"/>
          </a:xfrm>
          <a:prstGeom prst="roundRect">
            <a:avLst>
              <a:gd fmla="val 50000" name="adj"/>
            </a:avLst>
          </a:pr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rgbClr val="1B2B3E"/>
              </a:solidFill>
              <a:latin typeface="Calibri"/>
              <a:ea typeface="Calibri"/>
              <a:cs typeface="Calibri"/>
              <a:sym typeface="Calibri"/>
            </a:endParaRPr>
          </a:p>
        </p:txBody>
      </p:sp>
      <p:sp>
        <p:nvSpPr>
          <p:cNvPr id="749" name="Google Shape;749;p32"/>
          <p:cNvSpPr/>
          <p:nvPr/>
        </p:nvSpPr>
        <p:spPr>
          <a:xfrm>
            <a:off x="2423615" y="3009447"/>
            <a:ext cx="891600" cy="192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600"/>
              <a:buFont typeface="Arial"/>
              <a:buNone/>
            </a:pPr>
            <a:r>
              <a:rPr b="1" lang="en-GB" sz="600">
                <a:solidFill>
                  <a:srgbClr val="94A3B8"/>
                </a:solidFill>
                <a:latin typeface="Arial"/>
                <a:ea typeface="Arial"/>
                <a:cs typeface="Arial"/>
                <a:sym typeface="Arial"/>
              </a:rPr>
              <a:t>ORDERED</a:t>
            </a:r>
            <a:endParaRPr sz="600">
              <a:solidFill>
                <a:srgbClr val="1B2B3E"/>
              </a:solidFill>
              <a:latin typeface="Calibri"/>
              <a:ea typeface="Calibri"/>
              <a:cs typeface="Calibri"/>
              <a:sym typeface="Calibri"/>
            </a:endParaRPr>
          </a:p>
        </p:txBody>
      </p:sp>
      <p:sp>
        <p:nvSpPr>
          <p:cNvPr id="750" name="Google Shape;750;p32"/>
          <p:cNvSpPr/>
          <p:nvPr/>
        </p:nvSpPr>
        <p:spPr>
          <a:xfrm>
            <a:off x="3583571" y="2543103"/>
            <a:ext cx="2742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2100"/>
              <a:buFont typeface="Arial"/>
              <a:buNone/>
            </a:pPr>
            <a:r>
              <a:rPr b="1" lang="en-GB" sz="2100">
                <a:solidFill>
                  <a:srgbClr val="94A3B8"/>
                </a:solidFill>
                <a:latin typeface="Arial"/>
                <a:ea typeface="Arial"/>
                <a:cs typeface="Arial"/>
                <a:sym typeface="Arial"/>
              </a:rPr>
              <a:t>›</a:t>
            </a:r>
            <a:endParaRPr sz="2100">
              <a:solidFill>
                <a:srgbClr val="1B2B3E"/>
              </a:solidFill>
              <a:latin typeface="Calibri"/>
              <a:ea typeface="Calibri"/>
              <a:cs typeface="Calibri"/>
              <a:sym typeface="Calibri"/>
            </a:endParaRPr>
          </a:p>
        </p:txBody>
      </p:sp>
      <p:sp>
        <p:nvSpPr>
          <p:cNvPr id="751" name="Google Shape;751;p32"/>
          <p:cNvSpPr/>
          <p:nvPr/>
        </p:nvSpPr>
        <p:spPr>
          <a:xfrm>
            <a:off x="3816750" y="1542150"/>
            <a:ext cx="1510500" cy="2584800"/>
          </a:xfrm>
          <a:prstGeom prst="roundRect">
            <a:avLst>
              <a:gd fmla="val 5882" name="adj"/>
            </a:avLst>
          </a:prstGeom>
          <a:solidFill>
            <a:srgbClr val="F5F7FA"/>
          </a:solidFill>
          <a:ln>
            <a:noFill/>
          </a:ln>
          <a:effectLst>
            <a:outerShdw blurRad="101600" rotWithShape="0" algn="bl" dir="5400000" dist="38100">
              <a:srgbClr val="1C2B3E">
                <a:alpha val="1019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rgbClr val="1B2B3E"/>
              </a:solidFill>
              <a:latin typeface="Calibri"/>
              <a:ea typeface="Calibri"/>
              <a:cs typeface="Calibri"/>
              <a:sym typeface="Calibri"/>
            </a:endParaRPr>
          </a:p>
        </p:txBody>
      </p:sp>
      <p:sp>
        <p:nvSpPr>
          <p:cNvPr id="752" name="Google Shape;752;p32"/>
          <p:cNvSpPr/>
          <p:nvPr/>
        </p:nvSpPr>
        <p:spPr>
          <a:xfrm>
            <a:off x="4400608" y="2255067"/>
            <a:ext cx="342900" cy="342900"/>
          </a:xfrm>
          <a:prstGeom prst="ellipse">
            <a:avLst/>
          </a:pr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rgbClr val="1B2B3E"/>
              </a:solidFill>
              <a:latin typeface="Calibri"/>
              <a:ea typeface="Calibri"/>
              <a:cs typeface="Calibri"/>
              <a:sym typeface="Calibri"/>
            </a:endParaRPr>
          </a:p>
        </p:txBody>
      </p:sp>
      <p:pic>
        <p:nvPicPr>
          <p:cNvPr descr="/home/claude/maia/icons/FiClipboard_accent.png" id="753" name="Google Shape;753;p32"/>
          <p:cNvPicPr preferRelativeResize="0"/>
          <p:nvPr/>
        </p:nvPicPr>
        <p:blipFill rotWithShape="1">
          <a:blip r:embed="rId5">
            <a:alphaModFix/>
          </a:blip>
          <a:srcRect b="0" l="0" r="0" t="0"/>
          <a:stretch/>
        </p:blipFill>
        <p:spPr>
          <a:xfrm>
            <a:off x="4486338" y="2340792"/>
            <a:ext cx="171450" cy="171450"/>
          </a:xfrm>
          <a:prstGeom prst="rect">
            <a:avLst/>
          </a:prstGeom>
          <a:noFill/>
          <a:ln>
            <a:noFill/>
          </a:ln>
        </p:spPr>
      </p:pic>
      <p:sp>
        <p:nvSpPr>
          <p:cNvPr id="754" name="Google Shape;754;p32"/>
          <p:cNvSpPr/>
          <p:nvPr/>
        </p:nvSpPr>
        <p:spPr>
          <a:xfrm>
            <a:off x="3871622" y="2666547"/>
            <a:ext cx="14010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2B3E"/>
              </a:buClr>
              <a:buSzPts val="900"/>
              <a:buFont typeface="Arial"/>
              <a:buNone/>
            </a:pPr>
            <a:r>
              <a:rPr b="1" lang="en-GB" sz="900">
                <a:solidFill>
                  <a:srgbClr val="1C2B3E"/>
                </a:solidFill>
                <a:latin typeface="Arial"/>
                <a:ea typeface="Arial"/>
                <a:cs typeface="Arial"/>
                <a:sym typeface="Arial"/>
              </a:rPr>
              <a:t>Delivery Note</a:t>
            </a:r>
            <a:endParaRPr sz="900">
              <a:solidFill>
                <a:srgbClr val="1B2B3E"/>
              </a:solidFill>
              <a:latin typeface="Calibri"/>
              <a:ea typeface="Calibri"/>
              <a:cs typeface="Calibri"/>
              <a:sym typeface="Calibri"/>
            </a:endParaRPr>
          </a:p>
        </p:txBody>
      </p:sp>
      <p:sp>
        <p:nvSpPr>
          <p:cNvPr id="755" name="Google Shape;755;p32"/>
          <p:cNvSpPr/>
          <p:nvPr/>
        </p:nvSpPr>
        <p:spPr>
          <a:xfrm>
            <a:off x="4126273" y="3009447"/>
            <a:ext cx="891600" cy="192000"/>
          </a:xfrm>
          <a:prstGeom prst="roundRect">
            <a:avLst>
              <a:gd fmla="val 50000" name="adj"/>
            </a:avLst>
          </a:pr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rgbClr val="1B2B3E"/>
              </a:solidFill>
              <a:latin typeface="Calibri"/>
              <a:ea typeface="Calibri"/>
              <a:cs typeface="Calibri"/>
              <a:sym typeface="Calibri"/>
            </a:endParaRPr>
          </a:p>
        </p:txBody>
      </p:sp>
      <p:sp>
        <p:nvSpPr>
          <p:cNvPr id="756" name="Google Shape;756;p32"/>
          <p:cNvSpPr/>
          <p:nvPr/>
        </p:nvSpPr>
        <p:spPr>
          <a:xfrm>
            <a:off x="4126273" y="3009447"/>
            <a:ext cx="891600" cy="192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600"/>
              <a:buFont typeface="Arial"/>
              <a:buNone/>
            </a:pPr>
            <a:r>
              <a:rPr b="1" lang="en-GB" sz="600">
                <a:solidFill>
                  <a:srgbClr val="94A3B8"/>
                </a:solidFill>
                <a:latin typeface="Arial"/>
                <a:ea typeface="Arial"/>
                <a:cs typeface="Arial"/>
                <a:sym typeface="Arial"/>
              </a:rPr>
              <a:t>TO DELIVER</a:t>
            </a:r>
            <a:endParaRPr sz="600">
              <a:solidFill>
                <a:srgbClr val="1B2B3E"/>
              </a:solidFill>
              <a:latin typeface="Calibri"/>
              <a:ea typeface="Calibri"/>
              <a:cs typeface="Calibri"/>
              <a:sym typeface="Calibri"/>
            </a:endParaRPr>
          </a:p>
        </p:txBody>
      </p:sp>
      <p:sp>
        <p:nvSpPr>
          <p:cNvPr id="757" name="Google Shape;757;p32"/>
          <p:cNvSpPr/>
          <p:nvPr/>
        </p:nvSpPr>
        <p:spPr>
          <a:xfrm>
            <a:off x="5286228" y="2543103"/>
            <a:ext cx="2742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2100"/>
              <a:buFont typeface="Arial"/>
              <a:buNone/>
            </a:pPr>
            <a:r>
              <a:rPr b="1" lang="en-GB" sz="2100">
                <a:solidFill>
                  <a:srgbClr val="94A3B8"/>
                </a:solidFill>
                <a:latin typeface="Arial"/>
                <a:ea typeface="Arial"/>
                <a:cs typeface="Arial"/>
                <a:sym typeface="Arial"/>
              </a:rPr>
              <a:t>›</a:t>
            </a:r>
            <a:endParaRPr sz="2100">
              <a:solidFill>
                <a:srgbClr val="1B2B3E"/>
              </a:solidFill>
              <a:latin typeface="Calibri"/>
              <a:ea typeface="Calibri"/>
              <a:cs typeface="Calibri"/>
              <a:sym typeface="Calibri"/>
            </a:endParaRPr>
          </a:p>
        </p:txBody>
      </p:sp>
      <p:sp>
        <p:nvSpPr>
          <p:cNvPr id="758" name="Google Shape;758;p32"/>
          <p:cNvSpPr/>
          <p:nvPr/>
        </p:nvSpPr>
        <p:spPr>
          <a:xfrm>
            <a:off x="5519406" y="1542150"/>
            <a:ext cx="1510500" cy="2584800"/>
          </a:xfrm>
          <a:prstGeom prst="roundRect">
            <a:avLst>
              <a:gd fmla="val 5882" name="adj"/>
            </a:avLst>
          </a:prstGeom>
          <a:solidFill>
            <a:srgbClr val="F5F7FA"/>
          </a:solidFill>
          <a:ln>
            <a:noFill/>
          </a:ln>
          <a:effectLst>
            <a:outerShdw blurRad="101600" rotWithShape="0" algn="bl" dir="5400000" dist="38100">
              <a:srgbClr val="1C2B3E">
                <a:alpha val="1019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rgbClr val="1B2B3E"/>
              </a:solidFill>
              <a:latin typeface="Calibri"/>
              <a:ea typeface="Calibri"/>
              <a:cs typeface="Calibri"/>
              <a:sym typeface="Calibri"/>
            </a:endParaRPr>
          </a:p>
        </p:txBody>
      </p:sp>
      <p:sp>
        <p:nvSpPr>
          <p:cNvPr id="759" name="Google Shape;759;p32"/>
          <p:cNvSpPr/>
          <p:nvPr/>
        </p:nvSpPr>
        <p:spPr>
          <a:xfrm>
            <a:off x="6103266" y="2255067"/>
            <a:ext cx="342900" cy="342900"/>
          </a:xfrm>
          <a:prstGeom prst="ellipse">
            <a:avLst/>
          </a:pr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rgbClr val="1B2B3E"/>
              </a:solidFill>
              <a:latin typeface="Calibri"/>
              <a:ea typeface="Calibri"/>
              <a:cs typeface="Calibri"/>
              <a:sym typeface="Calibri"/>
            </a:endParaRPr>
          </a:p>
        </p:txBody>
      </p:sp>
      <p:pic>
        <p:nvPicPr>
          <p:cNvPr descr="/home/claude/maia/icons/FiTruck_accent.png" id="760" name="Google Shape;760;p32"/>
          <p:cNvPicPr preferRelativeResize="0"/>
          <p:nvPr/>
        </p:nvPicPr>
        <p:blipFill rotWithShape="1">
          <a:blip r:embed="rId6">
            <a:alphaModFix/>
          </a:blip>
          <a:srcRect b="0" l="0" r="0" t="0"/>
          <a:stretch/>
        </p:blipFill>
        <p:spPr>
          <a:xfrm>
            <a:off x="6188995" y="2340792"/>
            <a:ext cx="171450" cy="171450"/>
          </a:xfrm>
          <a:prstGeom prst="rect">
            <a:avLst/>
          </a:prstGeom>
          <a:noFill/>
          <a:ln>
            <a:noFill/>
          </a:ln>
        </p:spPr>
      </p:pic>
      <p:sp>
        <p:nvSpPr>
          <p:cNvPr id="761" name="Google Shape;761;p32"/>
          <p:cNvSpPr/>
          <p:nvPr/>
        </p:nvSpPr>
        <p:spPr>
          <a:xfrm>
            <a:off x="5574280" y="2666547"/>
            <a:ext cx="14010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2B3E"/>
              </a:buClr>
              <a:buSzPts val="900"/>
              <a:buFont typeface="Arial"/>
              <a:buNone/>
            </a:pPr>
            <a:r>
              <a:rPr b="1" lang="en-GB" sz="900">
                <a:solidFill>
                  <a:srgbClr val="1C2B3E"/>
                </a:solidFill>
                <a:latin typeface="Arial"/>
                <a:ea typeface="Arial"/>
                <a:cs typeface="Arial"/>
                <a:sym typeface="Arial"/>
              </a:rPr>
              <a:t>Sales Invoice</a:t>
            </a:r>
            <a:endParaRPr sz="900">
              <a:solidFill>
                <a:srgbClr val="1B2B3E"/>
              </a:solidFill>
              <a:latin typeface="Calibri"/>
              <a:ea typeface="Calibri"/>
              <a:cs typeface="Calibri"/>
              <a:sym typeface="Calibri"/>
            </a:endParaRPr>
          </a:p>
        </p:txBody>
      </p:sp>
      <p:sp>
        <p:nvSpPr>
          <p:cNvPr id="762" name="Google Shape;762;p32"/>
          <p:cNvSpPr/>
          <p:nvPr/>
        </p:nvSpPr>
        <p:spPr>
          <a:xfrm>
            <a:off x="5828931" y="3009447"/>
            <a:ext cx="891600" cy="192000"/>
          </a:xfrm>
          <a:prstGeom prst="roundRect">
            <a:avLst>
              <a:gd fmla="val 50000" name="adj"/>
            </a:avLst>
          </a:pr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rgbClr val="1B2B3E"/>
              </a:solidFill>
              <a:latin typeface="Calibri"/>
              <a:ea typeface="Calibri"/>
              <a:cs typeface="Calibri"/>
              <a:sym typeface="Calibri"/>
            </a:endParaRPr>
          </a:p>
        </p:txBody>
      </p:sp>
      <p:sp>
        <p:nvSpPr>
          <p:cNvPr id="763" name="Google Shape;763;p32"/>
          <p:cNvSpPr/>
          <p:nvPr/>
        </p:nvSpPr>
        <p:spPr>
          <a:xfrm>
            <a:off x="5828931" y="3009447"/>
            <a:ext cx="891600" cy="192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600"/>
              <a:buFont typeface="Arial"/>
              <a:buNone/>
            </a:pPr>
            <a:r>
              <a:rPr b="1" lang="en-GB" sz="600">
                <a:solidFill>
                  <a:srgbClr val="94A3B8"/>
                </a:solidFill>
                <a:latin typeface="Arial"/>
                <a:ea typeface="Arial"/>
                <a:cs typeface="Arial"/>
                <a:sym typeface="Arial"/>
              </a:rPr>
              <a:t>TO BILL</a:t>
            </a:r>
            <a:endParaRPr sz="600">
              <a:solidFill>
                <a:srgbClr val="1B2B3E"/>
              </a:solidFill>
              <a:latin typeface="Calibri"/>
              <a:ea typeface="Calibri"/>
              <a:cs typeface="Calibri"/>
              <a:sym typeface="Calibri"/>
            </a:endParaRPr>
          </a:p>
        </p:txBody>
      </p:sp>
      <p:sp>
        <p:nvSpPr>
          <p:cNvPr id="764" name="Google Shape;764;p32"/>
          <p:cNvSpPr/>
          <p:nvPr/>
        </p:nvSpPr>
        <p:spPr>
          <a:xfrm>
            <a:off x="6988887" y="2543103"/>
            <a:ext cx="2742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2100"/>
              <a:buFont typeface="Arial"/>
              <a:buNone/>
            </a:pPr>
            <a:r>
              <a:rPr b="1" lang="en-GB" sz="2100">
                <a:solidFill>
                  <a:srgbClr val="94A3B8"/>
                </a:solidFill>
                <a:latin typeface="Arial"/>
                <a:ea typeface="Arial"/>
                <a:cs typeface="Arial"/>
                <a:sym typeface="Arial"/>
              </a:rPr>
              <a:t>›</a:t>
            </a:r>
            <a:endParaRPr sz="2100">
              <a:solidFill>
                <a:srgbClr val="1B2B3E"/>
              </a:solidFill>
              <a:latin typeface="Calibri"/>
              <a:ea typeface="Calibri"/>
              <a:cs typeface="Calibri"/>
              <a:sym typeface="Calibri"/>
            </a:endParaRPr>
          </a:p>
        </p:txBody>
      </p:sp>
      <p:sp>
        <p:nvSpPr>
          <p:cNvPr id="765" name="Google Shape;765;p32"/>
          <p:cNvSpPr/>
          <p:nvPr/>
        </p:nvSpPr>
        <p:spPr>
          <a:xfrm>
            <a:off x="7222063" y="1542150"/>
            <a:ext cx="1510500" cy="2584800"/>
          </a:xfrm>
          <a:prstGeom prst="roundRect">
            <a:avLst>
              <a:gd fmla="val 5882" name="adj"/>
            </a:avLst>
          </a:prstGeom>
          <a:solidFill>
            <a:srgbClr val="E8821E"/>
          </a:solidFill>
          <a:ln>
            <a:noFill/>
          </a:ln>
          <a:effectLst>
            <a:outerShdw blurRad="101600" rotWithShape="0" algn="bl" dir="5400000" dist="38100">
              <a:srgbClr val="1C2B3E">
                <a:alpha val="1019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rgbClr val="1B2B3E"/>
              </a:solidFill>
              <a:latin typeface="Calibri"/>
              <a:ea typeface="Calibri"/>
              <a:cs typeface="Calibri"/>
              <a:sym typeface="Calibri"/>
            </a:endParaRPr>
          </a:p>
        </p:txBody>
      </p:sp>
      <p:sp>
        <p:nvSpPr>
          <p:cNvPr id="766" name="Google Shape;766;p32"/>
          <p:cNvSpPr/>
          <p:nvPr/>
        </p:nvSpPr>
        <p:spPr>
          <a:xfrm>
            <a:off x="7805923" y="2255067"/>
            <a:ext cx="342900" cy="342900"/>
          </a:xfrm>
          <a:prstGeom prst="ellipse">
            <a:avLst/>
          </a:pr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rgbClr val="1B2B3E"/>
              </a:solidFill>
              <a:latin typeface="Calibri"/>
              <a:ea typeface="Calibri"/>
              <a:cs typeface="Calibri"/>
              <a:sym typeface="Calibri"/>
            </a:endParaRPr>
          </a:p>
        </p:txBody>
      </p:sp>
      <p:pic>
        <p:nvPicPr>
          <p:cNvPr descr="/home/claude/maia/icons/FiCheckCircle_accent.png" id="767" name="Google Shape;767;p32"/>
          <p:cNvPicPr preferRelativeResize="0"/>
          <p:nvPr/>
        </p:nvPicPr>
        <p:blipFill rotWithShape="1">
          <a:blip r:embed="rId7">
            <a:alphaModFix/>
          </a:blip>
          <a:srcRect b="0" l="0" r="0" t="0"/>
          <a:stretch/>
        </p:blipFill>
        <p:spPr>
          <a:xfrm>
            <a:off x="7891653" y="2340792"/>
            <a:ext cx="171450" cy="171450"/>
          </a:xfrm>
          <a:prstGeom prst="rect">
            <a:avLst/>
          </a:prstGeom>
          <a:noFill/>
          <a:ln>
            <a:noFill/>
          </a:ln>
        </p:spPr>
      </p:pic>
      <p:sp>
        <p:nvSpPr>
          <p:cNvPr id="768" name="Google Shape;768;p32"/>
          <p:cNvSpPr/>
          <p:nvPr/>
        </p:nvSpPr>
        <p:spPr>
          <a:xfrm>
            <a:off x="7276938" y="2666547"/>
            <a:ext cx="14010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Arial"/>
              <a:buNone/>
            </a:pPr>
            <a:r>
              <a:rPr b="1" lang="en-GB" sz="900">
                <a:solidFill>
                  <a:srgbClr val="FFFFFF"/>
                </a:solidFill>
                <a:latin typeface="Arial"/>
                <a:ea typeface="Arial"/>
                <a:cs typeface="Arial"/>
                <a:sym typeface="Arial"/>
              </a:rPr>
              <a:t>Billed ✓</a:t>
            </a:r>
            <a:endParaRPr sz="900">
              <a:solidFill>
                <a:srgbClr val="1B2B3E"/>
              </a:solidFill>
              <a:latin typeface="Calibri"/>
              <a:ea typeface="Calibri"/>
              <a:cs typeface="Calibri"/>
              <a:sym typeface="Calibri"/>
            </a:endParaRPr>
          </a:p>
        </p:txBody>
      </p:sp>
      <p:sp>
        <p:nvSpPr>
          <p:cNvPr id="769" name="Google Shape;769;p32"/>
          <p:cNvSpPr/>
          <p:nvPr/>
        </p:nvSpPr>
        <p:spPr>
          <a:xfrm>
            <a:off x="7531589" y="3009447"/>
            <a:ext cx="891600" cy="192000"/>
          </a:xfrm>
          <a:prstGeom prst="roundRect">
            <a:avLst>
              <a:gd fmla="val 50000" name="adj"/>
            </a:avLst>
          </a:pr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rgbClr val="1B2B3E"/>
              </a:solidFill>
              <a:latin typeface="Calibri"/>
              <a:ea typeface="Calibri"/>
              <a:cs typeface="Calibri"/>
              <a:sym typeface="Calibri"/>
            </a:endParaRPr>
          </a:p>
        </p:txBody>
      </p:sp>
      <p:sp>
        <p:nvSpPr>
          <p:cNvPr id="770" name="Google Shape;770;p32"/>
          <p:cNvSpPr/>
          <p:nvPr/>
        </p:nvSpPr>
        <p:spPr>
          <a:xfrm>
            <a:off x="7531589" y="3009447"/>
            <a:ext cx="891600" cy="192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821E"/>
              </a:buClr>
              <a:buSzPts val="600"/>
              <a:buFont typeface="Arial"/>
              <a:buNone/>
            </a:pPr>
            <a:r>
              <a:rPr b="1" lang="en-GB" sz="600">
                <a:solidFill>
                  <a:srgbClr val="E8821E"/>
                </a:solidFill>
                <a:latin typeface="Arial"/>
                <a:ea typeface="Arial"/>
                <a:cs typeface="Arial"/>
                <a:sym typeface="Arial"/>
              </a:rPr>
              <a:t>DONE</a:t>
            </a:r>
            <a:endParaRPr sz="600">
              <a:solidFill>
                <a:srgbClr val="1B2B3E"/>
              </a:solidFill>
              <a:latin typeface="Calibri"/>
              <a:ea typeface="Calibri"/>
              <a:cs typeface="Calibri"/>
              <a:sym typeface="Calibri"/>
            </a:endParaRPr>
          </a:p>
        </p:txBody>
      </p:sp>
      <p:cxnSp>
        <p:nvCxnSpPr>
          <p:cNvPr id="771" name="Google Shape;771;p32"/>
          <p:cNvCxnSpPr/>
          <p:nvPr/>
        </p:nvCxnSpPr>
        <p:spPr>
          <a:xfrm>
            <a:off x="2869409" y="3297482"/>
            <a:ext cx="0" cy="240000"/>
          </a:xfrm>
          <a:prstGeom prst="straightConnector1">
            <a:avLst/>
          </a:prstGeom>
          <a:noFill/>
          <a:ln cap="flat" cmpd="sng" w="19050">
            <a:solidFill>
              <a:srgbClr val="E3E8EF"/>
            </a:solidFill>
            <a:prstDash val="dash"/>
            <a:round/>
            <a:headEnd len="sm" w="sm" type="none"/>
            <a:tailEnd len="sm" w="sm" type="none"/>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76" name="Shape 776"/>
        <p:cNvGrpSpPr/>
        <p:nvPr/>
      </p:nvGrpSpPr>
      <p:grpSpPr>
        <a:xfrm>
          <a:off x="0" y="0"/>
          <a:ext cx="0" cy="0"/>
          <a:chOff x="0" y="0"/>
          <a:chExt cx="0" cy="0"/>
        </a:xfrm>
      </p:grpSpPr>
      <p:sp>
        <p:nvSpPr>
          <p:cNvPr id="777" name="Google Shape;777;p33"/>
          <p:cNvSpPr/>
          <p:nvPr/>
        </p:nvSpPr>
        <p:spPr>
          <a:xfrm>
            <a:off x="411502" y="260604"/>
            <a:ext cx="6858366"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SECTION 1</a:t>
            </a:r>
            <a:endParaRPr sz="800">
              <a:solidFill>
                <a:schemeClr val="dk1"/>
              </a:solidFill>
              <a:latin typeface="Calibri"/>
              <a:ea typeface="Calibri"/>
              <a:cs typeface="Calibri"/>
              <a:sym typeface="Calibri"/>
            </a:endParaRPr>
          </a:p>
        </p:txBody>
      </p:sp>
      <p:sp>
        <p:nvSpPr>
          <p:cNvPr id="778" name="Google Shape;778;p33"/>
          <p:cNvSpPr/>
          <p:nvPr/>
        </p:nvSpPr>
        <p:spPr>
          <a:xfrm>
            <a:off x="411502" y="438912"/>
            <a:ext cx="8321255" cy="4800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C2B3E"/>
              </a:buClr>
              <a:buSzPts val="2200"/>
              <a:buFont typeface="Arial"/>
              <a:buNone/>
            </a:pPr>
            <a:r>
              <a:rPr b="1" lang="en-GB" sz="2200">
                <a:solidFill>
                  <a:srgbClr val="1C2B3E"/>
                </a:solidFill>
                <a:latin typeface="Poppins"/>
                <a:ea typeface="Poppins"/>
                <a:cs typeface="Poppins"/>
                <a:sym typeface="Poppins"/>
              </a:rPr>
              <a:t>Where you fit + the handoff.</a:t>
            </a:r>
            <a:endParaRPr sz="2200">
              <a:solidFill>
                <a:schemeClr val="dk1"/>
              </a:solidFill>
              <a:latin typeface="Poppins"/>
              <a:ea typeface="Poppins"/>
              <a:cs typeface="Poppins"/>
              <a:sym typeface="Poppins"/>
            </a:endParaRPr>
          </a:p>
        </p:txBody>
      </p:sp>
      <p:sp>
        <p:nvSpPr>
          <p:cNvPr id="779" name="Google Shape;779;p33"/>
          <p:cNvSpPr/>
          <p:nvPr/>
        </p:nvSpPr>
        <p:spPr>
          <a:xfrm>
            <a:off x="411502" y="1208223"/>
            <a:ext cx="8321400" cy="454800"/>
          </a:xfrm>
          <a:prstGeom prst="roundRect">
            <a:avLst>
              <a:gd fmla="val 12821" name="adj"/>
            </a:avLst>
          </a:prstGeom>
          <a:solidFill>
            <a:srgbClr val="F5F7FA"/>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80" name="Google Shape;780;p33"/>
          <p:cNvSpPr/>
          <p:nvPr/>
        </p:nvSpPr>
        <p:spPr>
          <a:xfrm>
            <a:off x="548675" y="1313138"/>
            <a:ext cx="1347600" cy="244800"/>
          </a:xfrm>
          <a:prstGeom prst="roundRect">
            <a:avLst>
              <a:gd fmla="val 50000"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User_white.png" id="781" name="Google Shape;781;p33"/>
          <p:cNvPicPr preferRelativeResize="0"/>
          <p:nvPr/>
        </p:nvPicPr>
        <p:blipFill rotWithShape="1">
          <a:blip r:embed="rId3">
            <a:alphaModFix/>
          </a:blip>
          <a:srcRect b="0" l="0" r="0" t="0"/>
          <a:stretch/>
        </p:blipFill>
        <p:spPr>
          <a:xfrm>
            <a:off x="630970" y="1374357"/>
            <a:ext cx="144026" cy="122415"/>
          </a:xfrm>
          <a:prstGeom prst="rect">
            <a:avLst/>
          </a:prstGeom>
          <a:noFill/>
          <a:ln>
            <a:noFill/>
          </a:ln>
        </p:spPr>
      </p:pic>
      <p:sp>
        <p:nvSpPr>
          <p:cNvPr id="782" name="Google Shape;782;p33"/>
          <p:cNvSpPr/>
          <p:nvPr/>
        </p:nvSpPr>
        <p:spPr>
          <a:xfrm>
            <a:off x="816146" y="1313150"/>
            <a:ext cx="960300" cy="244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SALES</a:t>
            </a:r>
            <a:endParaRPr sz="800">
              <a:solidFill>
                <a:schemeClr val="dk1"/>
              </a:solidFill>
              <a:latin typeface="Calibri"/>
              <a:ea typeface="Calibri"/>
              <a:cs typeface="Calibri"/>
              <a:sym typeface="Calibri"/>
            </a:endParaRPr>
          </a:p>
        </p:txBody>
      </p:sp>
      <p:sp>
        <p:nvSpPr>
          <p:cNvPr id="783" name="Google Shape;783;p33"/>
          <p:cNvSpPr/>
          <p:nvPr/>
        </p:nvSpPr>
        <p:spPr>
          <a:xfrm>
            <a:off x="1988926" y="1307320"/>
            <a:ext cx="987600" cy="256500"/>
          </a:xfrm>
          <a:prstGeom prst="roundRect">
            <a:avLst>
              <a:gd fmla="val 50000" name="adj"/>
            </a:avLst>
          </a:prstGeom>
          <a:solidFill>
            <a:srgbClr val="FFFFFF"/>
          </a:solidFill>
          <a:ln cap="flat" cmpd="sng" w="12700">
            <a:solidFill>
              <a:srgbClr val="E3E8EF"/>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84" name="Google Shape;784;p33"/>
          <p:cNvSpPr/>
          <p:nvPr/>
        </p:nvSpPr>
        <p:spPr>
          <a:xfrm>
            <a:off x="1988926" y="1307320"/>
            <a:ext cx="987600" cy="256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2B3E"/>
              </a:buClr>
              <a:buSzPts val="900"/>
              <a:buFont typeface="Arial"/>
              <a:buNone/>
            </a:pPr>
            <a:r>
              <a:rPr b="1" lang="en-GB" sz="900">
                <a:solidFill>
                  <a:srgbClr val="1C2B3E"/>
                </a:solidFill>
                <a:latin typeface="Arial"/>
                <a:ea typeface="Arial"/>
                <a:cs typeface="Arial"/>
                <a:sym typeface="Arial"/>
              </a:rPr>
              <a:t>CPO / QT</a:t>
            </a:r>
            <a:endParaRPr sz="900">
              <a:solidFill>
                <a:schemeClr val="dk1"/>
              </a:solidFill>
              <a:latin typeface="Calibri"/>
              <a:ea typeface="Calibri"/>
              <a:cs typeface="Calibri"/>
              <a:sym typeface="Calibri"/>
            </a:endParaRPr>
          </a:p>
        </p:txBody>
      </p:sp>
      <p:sp>
        <p:nvSpPr>
          <p:cNvPr id="785" name="Google Shape;785;p33"/>
          <p:cNvSpPr/>
          <p:nvPr/>
        </p:nvSpPr>
        <p:spPr>
          <a:xfrm>
            <a:off x="3147990" y="1307320"/>
            <a:ext cx="1203600" cy="256500"/>
          </a:xfrm>
          <a:prstGeom prst="roundRect">
            <a:avLst>
              <a:gd fmla="val 50000" name="adj"/>
            </a:avLst>
          </a:prstGeom>
          <a:solidFill>
            <a:srgbClr val="FFFFFF"/>
          </a:solidFill>
          <a:ln cap="flat" cmpd="sng" w="12700">
            <a:solidFill>
              <a:srgbClr val="E3E8EF"/>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86" name="Google Shape;786;p33"/>
          <p:cNvSpPr/>
          <p:nvPr/>
        </p:nvSpPr>
        <p:spPr>
          <a:xfrm>
            <a:off x="3147990" y="1307320"/>
            <a:ext cx="1203600" cy="256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2B3E"/>
              </a:buClr>
              <a:buSzPts val="900"/>
              <a:buFont typeface="Arial"/>
              <a:buNone/>
            </a:pPr>
            <a:r>
              <a:rPr b="1" lang="en-GB" sz="900">
                <a:solidFill>
                  <a:srgbClr val="1C2B3E"/>
                </a:solidFill>
                <a:latin typeface="Arial"/>
                <a:ea typeface="Arial"/>
                <a:cs typeface="Arial"/>
                <a:sym typeface="Arial"/>
              </a:rPr>
              <a:t>Sales Order</a:t>
            </a:r>
            <a:endParaRPr sz="900">
              <a:solidFill>
                <a:schemeClr val="dk1"/>
              </a:solidFill>
              <a:latin typeface="Calibri"/>
              <a:ea typeface="Calibri"/>
              <a:cs typeface="Calibri"/>
              <a:sym typeface="Calibri"/>
            </a:endParaRPr>
          </a:p>
        </p:txBody>
      </p:sp>
      <p:cxnSp>
        <p:nvCxnSpPr>
          <p:cNvPr id="787" name="Google Shape;787;p33"/>
          <p:cNvCxnSpPr/>
          <p:nvPr/>
        </p:nvCxnSpPr>
        <p:spPr>
          <a:xfrm>
            <a:off x="1097339" y="1674567"/>
            <a:ext cx="0" cy="221400"/>
          </a:xfrm>
          <a:prstGeom prst="straightConnector1">
            <a:avLst/>
          </a:prstGeom>
          <a:noFill/>
          <a:ln cap="flat" cmpd="sng" w="25400">
            <a:solidFill>
              <a:srgbClr val="E8821E"/>
            </a:solidFill>
            <a:prstDash val="solid"/>
            <a:round/>
            <a:headEnd len="sm" w="sm" type="none"/>
            <a:tailEnd len="sm" w="sm" type="none"/>
          </a:ln>
        </p:spPr>
      </p:cxnSp>
      <p:sp>
        <p:nvSpPr>
          <p:cNvPr id="788" name="Google Shape;788;p33"/>
          <p:cNvSpPr/>
          <p:nvPr/>
        </p:nvSpPr>
        <p:spPr>
          <a:xfrm>
            <a:off x="1337381" y="1697883"/>
            <a:ext cx="925800" cy="174900"/>
          </a:xfrm>
          <a:prstGeom prst="roundRect">
            <a:avLst>
              <a:gd fmla="val 50000" name="adj"/>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89" name="Google Shape;789;p33"/>
          <p:cNvSpPr/>
          <p:nvPr/>
        </p:nvSpPr>
        <p:spPr>
          <a:xfrm>
            <a:off x="1337381" y="1697883"/>
            <a:ext cx="925800" cy="174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00"/>
              <a:buFont typeface="Arial"/>
              <a:buNone/>
            </a:pPr>
            <a:r>
              <a:rPr b="1" lang="en-GB" sz="700">
                <a:solidFill>
                  <a:srgbClr val="FFFFFF"/>
                </a:solidFill>
                <a:latin typeface="Arial"/>
                <a:ea typeface="Arial"/>
                <a:cs typeface="Arial"/>
                <a:sym typeface="Arial"/>
              </a:rPr>
              <a:t>↕ HANDOFF</a:t>
            </a:r>
            <a:endParaRPr sz="700">
              <a:solidFill>
                <a:schemeClr val="dk1"/>
              </a:solidFill>
              <a:latin typeface="Calibri"/>
              <a:ea typeface="Calibri"/>
              <a:cs typeface="Calibri"/>
              <a:sym typeface="Calibri"/>
            </a:endParaRPr>
          </a:p>
        </p:txBody>
      </p:sp>
      <p:sp>
        <p:nvSpPr>
          <p:cNvPr id="790" name="Google Shape;790;p33"/>
          <p:cNvSpPr/>
          <p:nvPr/>
        </p:nvSpPr>
        <p:spPr>
          <a:xfrm>
            <a:off x="411502" y="1907739"/>
            <a:ext cx="8321400" cy="454800"/>
          </a:xfrm>
          <a:prstGeom prst="roundRect">
            <a:avLst>
              <a:gd fmla="val 12821" name="adj"/>
            </a:avLst>
          </a:prstGeom>
          <a:solidFill>
            <a:srgbClr val="F5F7FA"/>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91" name="Google Shape;791;p33"/>
          <p:cNvSpPr/>
          <p:nvPr/>
        </p:nvSpPr>
        <p:spPr>
          <a:xfrm>
            <a:off x="548675" y="2012656"/>
            <a:ext cx="1347600" cy="244800"/>
          </a:xfrm>
          <a:prstGeom prst="roundRect">
            <a:avLst>
              <a:gd fmla="val 50000"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Shield_white.png" id="792" name="Google Shape;792;p33"/>
          <p:cNvPicPr preferRelativeResize="0"/>
          <p:nvPr/>
        </p:nvPicPr>
        <p:blipFill rotWithShape="1">
          <a:blip r:embed="rId4">
            <a:alphaModFix/>
          </a:blip>
          <a:srcRect b="0" l="0" r="0" t="0"/>
          <a:stretch/>
        </p:blipFill>
        <p:spPr>
          <a:xfrm>
            <a:off x="630970" y="2073873"/>
            <a:ext cx="144026" cy="122415"/>
          </a:xfrm>
          <a:prstGeom prst="rect">
            <a:avLst/>
          </a:prstGeom>
          <a:noFill/>
          <a:ln>
            <a:noFill/>
          </a:ln>
        </p:spPr>
      </p:pic>
      <p:sp>
        <p:nvSpPr>
          <p:cNvPr id="793" name="Google Shape;793;p33"/>
          <p:cNvSpPr/>
          <p:nvPr/>
        </p:nvSpPr>
        <p:spPr>
          <a:xfrm>
            <a:off x="816146" y="2012666"/>
            <a:ext cx="960300" cy="244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CREDIT </a:t>
            </a:r>
            <a:r>
              <a:rPr b="1" lang="en-GB" sz="800">
                <a:solidFill>
                  <a:srgbClr val="FFFFFF"/>
                </a:solidFill>
              </a:rPr>
              <a:t>CONTROL</a:t>
            </a:r>
            <a:endParaRPr sz="800">
              <a:solidFill>
                <a:schemeClr val="dk1"/>
              </a:solidFill>
              <a:latin typeface="Calibri"/>
              <a:ea typeface="Calibri"/>
              <a:cs typeface="Calibri"/>
              <a:sym typeface="Calibri"/>
            </a:endParaRPr>
          </a:p>
        </p:txBody>
      </p:sp>
      <p:sp>
        <p:nvSpPr>
          <p:cNvPr id="794" name="Google Shape;794;p33"/>
          <p:cNvSpPr/>
          <p:nvPr/>
        </p:nvSpPr>
        <p:spPr>
          <a:xfrm>
            <a:off x="1988926" y="2006836"/>
            <a:ext cx="2067900" cy="256500"/>
          </a:xfrm>
          <a:prstGeom prst="roundRect">
            <a:avLst>
              <a:gd fmla="val 50000" name="adj"/>
            </a:avLst>
          </a:prstGeom>
          <a:solidFill>
            <a:srgbClr val="FFFFFF"/>
          </a:solidFill>
          <a:ln cap="flat" cmpd="sng" w="12700">
            <a:solidFill>
              <a:srgbClr val="E3E8EF"/>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95" name="Google Shape;795;p33"/>
          <p:cNvSpPr/>
          <p:nvPr/>
        </p:nvSpPr>
        <p:spPr>
          <a:xfrm>
            <a:off x="1988926" y="2006836"/>
            <a:ext cx="2067900" cy="256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2B3E"/>
              </a:buClr>
              <a:buSzPts val="900"/>
              <a:buFont typeface="Arial"/>
              <a:buNone/>
            </a:pPr>
            <a:r>
              <a:rPr b="1" lang="en-GB" sz="900">
                <a:solidFill>
                  <a:srgbClr val="1C2B3E"/>
                </a:solidFill>
                <a:latin typeface="Arial"/>
                <a:ea typeface="Arial"/>
                <a:cs typeface="Arial"/>
                <a:sym typeface="Arial"/>
              </a:rPr>
              <a:t>Credit </a:t>
            </a:r>
            <a:r>
              <a:rPr b="1" lang="en-GB" sz="900">
                <a:solidFill>
                  <a:srgbClr val="1C2B3E"/>
                </a:solidFill>
              </a:rPr>
              <a:t>review</a:t>
            </a:r>
            <a:r>
              <a:rPr b="1" lang="en-GB" sz="900">
                <a:solidFill>
                  <a:srgbClr val="1C2B3E"/>
                </a:solidFill>
                <a:latin typeface="Arial"/>
                <a:ea typeface="Arial"/>
                <a:cs typeface="Arial"/>
                <a:sym typeface="Arial"/>
              </a:rPr>
              <a:t> / override</a:t>
            </a:r>
            <a:endParaRPr sz="900">
              <a:solidFill>
                <a:schemeClr val="dk1"/>
              </a:solidFill>
              <a:latin typeface="Calibri"/>
              <a:ea typeface="Calibri"/>
              <a:cs typeface="Calibri"/>
              <a:sym typeface="Calibri"/>
            </a:endParaRPr>
          </a:p>
        </p:txBody>
      </p:sp>
      <p:cxnSp>
        <p:nvCxnSpPr>
          <p:cNvPr id="796" name="Google Shape;796;p33"/>
          <p:cNvCxnSpPr/>
          <p:nvPr/>
        </p:nvCxnSpPr>
        <p:spPr>
          <a:xfrm>
            <a:off x="1097339" y="2374083"/>
            <a:ext cx="0" cy="221400"/>
          </a:xfrm>
          <a:prstGeom prst="straightConnector1">
            <a:avLst/>
          </a:prstGeom>
          <a:noFill/>
          <a:ln cap="flat" cmpd="sng" w="25400">
            <a:solidFill>
              <a:srgbClr val="E8821E"/>
            </a:solidFill>
            <a:prstDash val="solid"/>
            <a:round/>
            <a:headEnd len="sm" w="sm" type="none"/>
            <a:tailEnd len="sm" w="sm" type="none"/>
          </a:ln>
        </p:spPr>
      </p:cxnSp>
      <p:sp>
        <p:nvSpPr>
          <p:cNvPr id="797" name="Google Shape;797;p33"/>
          <p:cNvSpPr/>
          <p:nvPr/>
        </p:nvSpPr>
        <p:spPr>
          <a:xfrm>
            <a:off x="1337381" y="2397399"/>
            <a:ext cx="925800" cy="174900"/>
          </a:xfrm>
          <a:prstGeom prst="roundRect">
            <a:avLst>
              <a:gd fmla="val 50000" name="adj"/>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98" name="Google Shape;798;p33"/>
          <p:cNvSpPr/>
          <p:nvPr/>
        </p:nvSpPr>
        <p:spPr>
          <a:xfrm>
            <a:off x="1337381" y="2397399"/>
            <a:ext cx="925800" cy="174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00"/>
              <a:buFont typeface="Arial"/>
              <a:buNone/>
            </a:pPr>
            <a:r>
              <a:rPr b="1" lang="en-GB" sz="700">
                <a:solidFill>
                  <a:srgbClr val="FFFFFF"/>
                </a:solidFill>
                <a:latin typeface="Arial"/>
                <a:ea typeface="Arial"/>
                <a:cs typeface="Arial"/>
                <a:sym typeface="Arial"/>
              </a:rPr>
              <a:t>↕ HANDOFF</a:t>
            </a:r>
            <a:endParaRPr sz="700">
              <a:solidFill>
                <a:schemeClr val="dk1"/>
              </a:solidFill>
              <a:latin typeface="Calibri"/>
              <a:ea typeface="Calibri"/>
              <a:cs typeface="Calibri"/>
              <a:sym typeface="Calibri"/>
            </a:endParaRPr>
          </a:p>
        </p:txBody>
      </p:sp>
      <p:sp>
        <p:nvSpPr>
          <p:cNvPr id="799" name="Google Shape;799;p33"/>
          <p:cNvSpPr/>
          <p:nvPr/>
        </p:nvSpPr>
        <p:spPr>
          <a:xfrm>
            <a:off x="411502" y="2607254"/>
            <a:ext cx="8321400" cy="454800"/>
          </a:xfrm>
          <a:prstGeom prst="roundRect">
            <a:avLst>
              <a:gd fmla="val 12821" name="adj"/>
            </a:avLst>
          </a:prstGeom>
          <a:solidFill>
            <a:srgbClr val="F5F7FA"/>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800" name="Google Shape;800;p33"/>
          <p:cNvSpPr/>
          <p:nvPr/>
        </p:nvSpPr>
        <p:spPr>
          <a:xfrm>
            <a:off x="548675" y="2712175"/>
            <a:ext cx="1347600" cy="244800"/>
          </a:xfrm>
          <a:prstGeom prst="roundRect">
            <a:avLst>
              <a:gd fmla="val 50000"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Package_white.png" id="801" name="Google Shape;801;p33"/>
          <p:cNvPicPr preferRelativeResize="0"/>
          <p:nvPr/>
        </p:nvPicPr>
        <p:blipFill rotWithShape="1">
          <a:blip r:embed="rId5">
            <a:alphaModFix/>
          </a:blip>
          <a:srcRect b="0" l="0" r="0" t="0"/>
          <a:stretch/>
        </p:blipFill>
        <p:spPr>
          <a:xfrm>
            <a:off x="630970" y="2773389"/>
            <a:ext cx="144026" cy="122415"/>
          </a:xfrm>
          <a:prstGeom prst="rect">
            <a:avLst/>
          </a:prstGeom>
          <a:noFill/>
          <a:ln>
            <a:noFill/>
          </a:ln>
        </p:spPr>
      </p:pic>
      <p:sp>
        <p:nvSpPr>
          <p:cNvPr id="802" name="Google Shape;802;p33"/>
          <p:cNvSpPr/>
          <p:nvPr/>
        </p:nvSpPr>
        <p:spPr>
          <a:xfrm>
            <a:off x="816146" y="2712182"/>
            <a:ext cx="960300" cy="244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LOGISTICS</a:t>
            </a:r>
            <a:endParaRPr sz="800">
              <a:solidFill>
                <a:schemeClr val="dk1"/>
              </a:solidFill>
              <a:latin typeface="Calibri"/>
              <a:ea typeface="Calibri"/>
              <a:cs typeface="Calibri"/>
              <a:sym typeface="Calibri"/>
            </a:endParaRPr>
          </a:p>
        </p:txBody>
      </p:sp>
      <p:sp>
        <p:nvSpPr>
          <p:cNvPr id="803" name="Google Shape;803;p33"/>
          <p:cNvSpPr/>
          <p:nvPr/>
        </p:nvSpPr>
        <p:spPr>
          <a:xfrm>
            <a:off x="1988926" y="2706352"/>
            <a:ext cx="1059600" cy="256500"/>
          </a:xfrm>
          <a:prstGeom prst="roundRect">
            <a:avLst>
              <a:gd fmla="val 50000" name="adj"/>
            </a:avLst>
          </a:prstGeom>
          <a:solidFill>
            <a:srgbClr val="FFFFFF"/>
          </a:solidFill>
          <a:ln cap="flat" cmpd="sng" w="12700">
            <a:solidFill>
              <a:srgbClr val="E3E8EF"/>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804" name="Google Shape;804;p33"/>
          <p:cNvSpPr/>
          <p:nvPr/>
        </p:nvSpPr>
        <p:spPr>
          <a:xfrm>
            <a:off x="1988926" y="2706352"/>
            <a:ext cx="1059600" cy="256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2B3E"/>
              </a:buClr>
              <a:buSzPts val="900"/>
              <a:buFont typeface="Arial"/>
              <a:buNone/>
            </a:pPr>
            <a:r>
              <a:rPr b="1" lang="en-GB" sz="900">
                <a:solidFill>
                  <a:srgbClr val="1C2B3E"/>
                </a:solidFill>
                <a:latin typeface="Arial"/>
                <a:ea typeface="Arial"/>
                <a:cs typeface="Arial"/>
                <a:sym typeface="Arial"/>
              </a:rPr>
              <a:t>Pick List</a:t>
            </a:r>
            <a:endParaRPr sz="900">
              <a:solidFill>
                <a:schemeClr val="dk1"/>
              </a:solidFill>
              <a:latin typeface="Calibri"/>
              <a:ea typeface="Calibri"/>
              <a:cs typeface="Calibri"/>
              <a:sym typeface="Calibri"/>
            </a:endParaRPr>
          </a:p>
        </p:txBody>
      </p:sp>
      <p:sp>
        <p:nvSpPr>
          <p:cNvPr id="805" name="Google Shape;805;p33"/>
          <p:cNvSpPr/>
          <p:nvPr/>
        </p:nvSpPr>
        <p:spPr>
          <a:xfrm>
            <a:off x="3220003" y="2706352"/>
            <a:ext cx="1347600" cy="256500"/>
          </a:xfrm>
          <a:prstGeom prst="roundRect">
            <a:avLst>
              <a:gd fmla="val 50000" name="adj"/>
            </a:avLst>
          </a:prstGeom>
          <a:solidFill>
            <a:srgbClr val="FFFFFF"/>
          </a:solidFill>
          <a:ln cap="flat" cmpd="sng" w="12700">
            <a:solidFill>
              <a:srgbClr val="E3E8EF"/>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806" name="Google Shape;806;p33"/>
          <p:cNvSpPr/>
          <p:nvPr/>
        </p:nvSpPr>
        <p:spPr>
          <a:xfrm>
            <a:off x="3220003" y="2706352"/>
            <a:ext cx="1347600" cy="256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2B3E"/>
              </a:buClr>
              <a:buSzPts val="900"/>
              <a:buFont typeface="Arial"/>
              <a:buNone/>
            </a:pPr>
            <a:r>
              <a:rPr b="1" lang="en-GB" sz="900">
                <a:solidFill>
                  <a:srgbClr val="1C2B3E"/>
                </a:solidFill>
                <a:latin typeface="Arial"/>
                <a:ea typeface="Arial"/>
                <a:cs typeface="Arial"/>
                <a:sym typeface="Arial"/>
              </a:rPr>
              <a:t>Delivery Note</a:t>
            </a:r>
            <a:endParaRPr sz="900">
              <a:solidFill>
                <a:schemeClr val="dk1"/>
              </a:solidFill>
              <a:latin typeface="Calibri"/>
              <a:ea typeface="Calibri"/>
              <a:cs typeface="Calibri"/>
              <a:sym typeface="Calibri"/>
            </a:endParaRPr>
          </a:p>
        </p:txBody>
      </p:sp>
      <p:cxnSp>
        <p:nvCxnSpPr>
          <p:cNvPr id="807" name="Google Shape;807;p33"/>
          <p:cNvCxnSpPr/>
          <p:nvPr/>
        </p:nvCxnSpPr>
        <p:spPr>
          <a:xfrm>
            <a:off x="1097339" y="3073599"/>
            <a:ext cx="0" cy="221400"/>
          </a:xfrm>
          <a:prstGeom prst="straightConnector1">
            <a:avLst/>
          </a:prstGeom>
          <a:noFill/>
          <a:ln cap="flat" cmpd="sng" w="25400">
            <a:solidFill>
              <a:srgbClr val="E8821E"/>
            </a:solidFill>
            <a:prstDash val="solid"/>
            <a:round/>
            <a:headEnd len="sm" w="sm" type="none"/>
            <a:tailEnd len="sm" w="sm" type="none"/>
          </a:ln>
        </p:spPr>
      </p:cxnSp>
      <p:sp>
        <p:nvSpPr>
          <p:cNvPr id="808" name="Google Shape;808;p33"/>
          <p:cNvSpPr/>
          <p:nvPr/>
        </p:nvSpPr>
        <p:spPr>
          <a:xfrm>
            <a:off x="1337381" y="3096915"/>
            <a:ext cx="925800" cy="174900"/>
          </a:xfrm>
          <a:prstGeom prst="roundRect">
            <a:avLst>
              <a:gd fmla="val 50000" name="adj"/>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809" name="Google Shape;809;p33"/>
          <p:cNvSpPr/>
          <p:nvPr/>
        </p:nvSpPr>
        <p:spPr>
          <a:xfrm>
            <a:off x="1337381" y="3096915"/>
            <a:ext cx="925800" cy="174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00"/>
              <a:buFont typeface="Arial"/>
              <a:buNone/>
            </a:pPr>
            <a:r>
              <a:rPr b="1" lang="en-GB" sz="700">
                <a:solidFill>
                  <a:srgbClr val="FFFFFF"/>
                </a:solidFill>
                <a:latin typeface="Arial"/>
                <a:ea typeface="Arial"/>
                <a:cs typeface="Arial"/>
                <a:sym typeface="Arial"/>
              </a:rPr>
              <a:t>↕ HANDOFF</a:t>
            </a:r>
            <a:endParaRPr sz="700">
              <a:solidFill>
                <a:schemeClr val="dk1"/>
              </a:solidFill>
              <a:latin typeface="Calibri"/>
              <a:ea typeface="Calibri"/>
              <a:cs typeface="Calibri"/>
              <a:sym typeface="Calibri"/>
            </a:endParaRPr>
          </a:p>
        </p:txBody>
      </p:sp>
      <p:sp>
        <p:nvSpPr>
          <p:cNvPr id="810" name="Google Shape;810;p33"/>
          <p:cNvSpPr/>
          <p:nvPr/>
        </p:nvSpPr>
        <p:spPr>
          <a:xfrm>
            <a:off x="411502" y="3306771"/>
            <a:ext cx="8321400" cy="454800"/>
          </a:xfrm>
          <a:prstGeom prst="roundRect">
            <a:avLst>
              <a:gd fmla="val 12821" name="adj"/>
            </a:avLst>
          </a:prstGeom>
          <a:solidFill>
            <a:srgbClr val="F5F7FA"/>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811" name="Google Shape;811;p33"/>
          <p:cNvSpPr/>
          <p:nvPr/>
        </p:nvSpPr>
        <p:spPr>
          <a:xfrm>
            <a:off x="548675" y="3411694"/>
            <a:ext cx="1347600" cy="244800"/>
          </a:xfrm>
          <a:prstGeom prst="roundRect">
            <a:avLst>
              <a:gd fmla="val 50000"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Truck_white.png" id="812" name="Google Shape;812;p33"/>
          <p:cNvPicPr preferRelativeResize="0"/>
          <p:nvPr/>
        </p:nvPicPr>
        <p:blipFill rotWithShape="1">
          <a:blip r:embed="rId6">
            <a:alphaModFix/>
          </a:blip>
          <a:srcRect b="0" l="0" r="0" t="0"/>
          <a:stretch/>
        </p:blipFill>
        <p:spPr>
          <a:xfrm>
            <a:off x="636237" y="3472900"/>
            <a:ext cx="133500" cy="122425"/>
          </a:xfrm>
          <a:prstGeom prst="rect">
            <a:avLst/>
          </a:prstGeom>
          <a:noFill/>
          <a:ln>
            <a:noFill/>
          </a:ln>
        </p:spPr>
      </p:pic>
      <p:sp>
        <p:nvSpPr>
          <p:cNvPr id="813" name="Google Shape;813;p33"/>
          <p:cNvSpPr/>
          <p:nvPr/>
        </p:nvSpPr>
        <p:spPr>
          <a:xfrm>
            <a:off x="816146" y="3411698"/>
            <a:ext cx="960300" cy="244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DRIVER</a:t>
            </a:r>
            <a:endParaRPr sz="800">
              <a:solidFill>
                <a:schemeClr val="dk1"/>
              </a:solidFill>
              <a:latin typeface="Calibri"/>
              <a:ea typeface="Calibri"/>
              <a:cs typeface="Calibri"/>
              <a:sym typeface="Calibri"/>
            </a:endParaRPr>
          </a:p>
        </p:txBody>
      </p:sp>
      <p:sp>
        <p:nvSpPr>
          <p:cNvPr id="814" name="Google Shape;814;p33"/>
          <p:cNvSpPr/>
          <p:nvPr/>
        </p:nvSpPr>
        <p:spPr>
          <a:xfrm>
            <a:off x="1988926" y="3405868"/>
            <a:ext cx="1563600" cy="256500"/>
          </a:xfrm>
          <a:prstGeom prst="roundRect">
            <a:avLst>
              <a:gd fmla="val 50000" name="adj"/>
            </a:avLst>
          </a:prstGeom>
          <a:solidFill>
            <a:srgbClr val="FFFFFF"/>
          </a:solidFill>
          <a:ln cap="flat" cmpd="sng" w="12700">
            <a:solidFill>
              <a:srgbClr val="E3E8EF"/>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815" name="Google Shape;815;p33"/>
          <p:cNvSpPr/>
          <p:nvPr/>
        </p:nvSpPr>
        <p:spPr>
          <a:xfrm>
            <a:off x="1988926" y="3405868"/>
            <a:ext cx="1563600" cy="256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2B3E"/>
              </a:buClr>
              <a:buSzPts val="900"/>
              <a:buFont typeface="Arial"/>
              <a:buNone/>
            </a:pPr>
            <a:r>
              <a:rPr b="1" lang="en-GB" sz="900">
                <a:solidFill>
                  <a:srgbClr val="1C2B3E"/>
                </a:solidFill>
                <a:latin typeface="Arial"/>
                <a:ea typeface="Arial"/>
                <a:cs typeface="Arial"/>
                <a:sym typeface="Arial"/>
              </a:rPr>
              <a:t>Delivery · POD</a:t>
            </a:r>
            <a:endParaRPr sz="900">
              <a:solidFill>
                <a:schemeClr val="dk1"/>
              </a:solidFill>
              <a:latin typeface="Calibri"/>
              <a:ea typeface="Calibri"/>
              <a:cs typeface="Calibri"/>
              <a:sym typeface="Calibri"/>
            </a:endParaRPr>
          </a:p>
        </p:txBody>
      </p:sp>
      <p:sp>
        <p:nvSpPr>
          <p:cNvPr id="816" name="Google Shape;816;p33"/>
          <p:cNvSpPr/>
          <p:nvPr/>
        </p:nvSpPr>
        <p:spPr>
          <a:xfrm>
            <a:off x="411502" y="4006286"/>
            <a:ext cx="8321400" cy="454800"/>
          </a:xfrm>
          <a:prstGeom prst="roundRect">
            <a:avLst>
              <a:gd fmla="val 12821" name="adj"/>
            </a:avLst>
          </a:prstGeom>
          <a:solidFill>
            <a:srgbClr val="F5F7FA"/>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817" name="Google Shape;817;p33"/>
          <p:cNvSpPr/>
          <p:nvPr/>
        </p:nvSpPr>
        <p:spPr>
          <a:xfrm>
            <a:off x="548675" y="4111212"/>
            <a:ext cx="1347600" cy="244800"/>
          </a:xfrm>
          <a:prstGeom prst="roundRect">
            <a:avLst>
              <a:gd fmla="val 50000"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User_white.png" id="818" name="Google Shape;818;p33"/>
          <p:cNvPicPr preferRelativeResize="0"/>
          <p:nvPr/>
        </p:nvPicPr>
        <p:blipFill rotWithShape="1">
          <a:blip r:embed="rId7">
            <a:alphaModFix/>
          </a:blip>
          <a:srcRect b="0" l="0" r="0" t="0"/>
          <a:stretch/>
        </p:blipFill>
        <p:spPr>
          <a:xfrm>
            <a:off x="636225" y="4172413"/>
            <a:ext cx="133525" cy="122425"/>
          </a:xfrm>
          <a:prstGeom prst="rect">
            <a:avLst/>
          </a:prstGeom>
          <a:noFill/>
          <a:ln>
            <a:noFill/>
          </a:ln>
        </p:spPr>
      </p:pic>
      <p:sp>
        <p:nvSpPr>
          <p:cNvPr id="819" name="Google Shape;819;p33"/>
          <p:cNvSpPr/>
          <p:nvPr/>
        </p:nvSpPr>
        <p:spPr>
          <a:xfrm>
            <a:off x="816146" y="4111213"/>
            <a:ext cx="960300" cy="244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FINANCE</a:t>
            </a:r>
            <a:endParaRPr sz="800">
              <a:solidFill>
                <a:schemeClr val="dk1"/>
              </a:solidFill>
              <a:latin typeface="Calibri"/>
              <a:ea typeface="Calibri"/>
              <a:cs typeface="Calibri"/>
              <a:sym typeface="Calibri"/>
            </a:endParaRPr>
          </a:p>
        </p:txBody>
      </p:sp>
      <p:sp>
        <p:nvSpPr>
          <p:cNvPr id="820" name="Google Shape;820;p33"/>
          <p:cNvSpPr/>
          <p:nvPr/>
        </p:nvSpPr>
        <p:spPr>
          <a:xfrm>
            <a:off x="1988926" y="4105383"/>
            <a:ext cx="987600" cy="256500"/>
          </a:xfrm>
          <a:prstGeom prst="roundRect">
            <a:avLst>
              <a:gd fmla="val 50000" name="adj"/>
            </a:avLst>
          </a:prstGeom>
          <a:solidFill>
            <a:srgbClr val="FFFFFF"/>
          </a:solidFill>
          <a:ln cap="flat" cmpd="sng" w="12700">
            <a:solidFill>
              <a:srgbClr val="E3E8EF"/>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821" name="Google Shape;821;p33"/>
          <p:cNvSpPr/>
          <p:nvPr/>
        </p:nvSpPr>
        <p:spPr>
          <a:xfrm>
            <a:off x="1988926" y="4105383"/>
            <a:ext cx="987600" cy="256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2B3E"/>
              </a:buClr>
              <a:buSzPts val="900"/>
              <a:buFont typeface="Arial"/>
              <a:buNone/>
            </a:pPr>
            <a:r>
              <a:rPr b="1" lang="en-GB" sz="900">
                <a:solidFill>
                  <a:srgbClr val="1C2B3E"/>
                </a:solidFill>
                <a:latin typeface="Arial"/>
                <a:ea typeface="Arial"/>
                <a:cs typeface="Arial"/>
                <a:sym typeface="Arial"/>
              </a:rPr>
              <a:t>Sales Invoice</a:t>
            </a:r>
            <a:endParaRPr sz="900">
              <a:solidFill>
                <a:schemeClr val="dk1"/>
              </a:solidFill>
              <a:latin typeface="Calibri"/>
              <a:ea typeface="Calibri"/>
              <a:cs typeface="Calibri"/>
              <a:sym typeface="Calibri"/>
            </a:endParaRPr>
          </a:p>
        </p:txBody>
      </p:sp>
      <p:sp>
        <p:nvSpPr>
          <p:cNvPr id="822" name="Google Shape;822;p33"/>
          <p:cNvSpPr/>
          <p:nvPr/>
        </p:nvSpPr>
        <p:spPr>
          <a:xfrm>
            <a:off x="3147990" y="4105383"/>
            <a:ext cx="1680300" cy="256500"/>
          </a:xfrm>
          <a:prstGeom prst="roundRect">
            <a:avLst>
              <a:gd fmla="val 50000" name="adj"/>
            </a:avLst>
          </a:prstGeom>
          <a:solidFill>
            <a:srgbClr val="FFFFFF"/>
          </a:solidFill>
          <a:ln cap="flat" cmpd="sng" w="12700">
            <a:solidFill>
              <a:srgbClr val="E3E8EF"/>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823" name="Google Shape;823;p33"/>
          <p:cNvSpPr/>
          <p:nvPr/>
        </p:nvSpPr>
        <p:spPr>
          <a:xfrm>
            <a:off x="3147990" y="4105383"/>
            <a:ext cx="1680300" cy="256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2B3E"/>
              </a:buClr>
              <a:buSzPts val="900"/>
              <a:buFont typeface="Arial"/>
              <a:buNone/>
            </a:pPr>
            <a:r>
              <a:rPr b="1" lang="en-GB" sz="900">
                <a:solidFill>
                  <a:srgbClr val="1C2B3E"/>
                </a:solidFill>
                <a:latin typeface="Arial"/>
                <a:ea typeface="Arial"/>
                <a:cs typeface="Arial"/>
                <a:sym typeface="Arial"/>
              </a:rPr>
              <a:t>AR / SOA / Payment</a:t>
            </a:r>
            <a:endParaRPr sz="900">
              <a:solidFill>
                <a:schemeClr val="dk1"/>
              </a:solidFill>
              <a:latin typeface="Calibri"/>
              <a:ea typeface="Calibri"/>
              <a:cs typeface="Calibri"/>
              <a:sym typeface="Calibri"/>
            </a:endParaRPr>
          </a:p>
        </p:txBody>
      </p:sp>
      <p:cxnSp>
        <p:nvCxnSpPr>
          <p:cNvPr id="824" name="Google Shape;824;p33"/>
          <p:cNvCxnSpPr/>
          <p:nvPr/>
        </p:nvCxnSpPr>
        <p:spPr>
          <a:xfrm>
            <a:off x="1097339" y="3773115"/>
            <a:ext cx="0" cy="221400"/>
          </a:xfrm>
          <a:prstGeom prst="straightConnector1">
            <a:avLst/>
          </a:prstGeom>
          <a:noFill/>
          <a:ln cap="flat" cmpd="sng" w="25400">
            <a:solidFill>
              <a:srgbClr val="E8821E"/>
            </a:solidFill>
            <a:prstDash val="solid"/>
            <a:round/>
            <a:headEnd len="sm" w="sm" type="none"/>
            <a:tailEnd len="sm" w="sm" type="none"/>
          </a:ln>
        </p:spPr>
      </p:cxnSp>
      <p:sp>
        <p:nvSpPr>
          <p:cNvPr id="825" name="Google Shape;825;p33"/>
          <p:cNvSpPr/>
          <p:nvPr/>
        </p:nvSpPr>
        <p:spPr>
          <a:xfrm>
            <a:off x="1337381" y="3796431"/>
            <a:ext cx="925800" cy="174900"/>
          </a:xfrm>
          <a:prstGeom prst="roundRect">
            <a:avLst>
              <a:gd fmla="val 50000" name="adj"/>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826" name="Google Shape;826;p33"/>
          <p:cNvSpPr/>
          <p:nvPr/>
        </p:nvSpPr>
        <p:spPr>
          <a:xfrm>
            <a:off x="1337381" y="3796431"/>
            <a:ext cx="925800" cy="174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00"/>
              <a:buFont typeface="Arial"/>
              <a:buNone/>
            </a:pPr>
            <a:r>
              <a:rPr b="1" lang="en-GB" sz="700">
                <a:solidFill>
                  <a:srgbClr val="FFFFFF"/>
                </a:solidFill>
                <a:latin typeface="Arial"/>
                <a:ea typeface="Arial"/>
                <a:cs typeface="Arial"/>
                <a:sym typeface="Arial"/>
              </a:rPr>
              <a:t>↕ HANDOFF</a:t>
            </a:r>
            <a:endParaRPr sz="700">
              <a:solidFill>
                <a:schemeClr val="dk1"/>
              </a:solidFill>
              <a:latin typeface="Calibri"/>
              <a:ea typeface="Calibri"/>
              <a:cs typeface="Calibri"/>
              <a:sym typeface="Calibri"/>
            </a:endParaRPr>
          </a:p>
        </p:txBody>
      </p:sp>
      <p:sp>
        <p:nvSpPr>
          <p:cNvPr id="827" name="Google Shape;827;p33"/>
          <p:cNvSpPr txBox="1"/>
          <p:nvPr>
            <p:ph idx="12" type="sldNum"/>
          </p:nvPr>
        </p:nvSpPr>
        <p:spPr>
          <a:xfrm>
            <a:off x="8347216" y="4750189"/>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32" name="Shape 832"/>
        <p:cNvGrpSpPr/>
        <p:nvPr/>
      </p:nvGrpSpPr>
      <p:grpSpPr>
        <a:xfrm>
          <a:off x="0" y="0"/>
          <a:ext cx="0" cy="0"/>
          <a:chOff x="0" y="0"/>
          <a:chExt cx="0" cy="0"/>
        </a:xfrm>
      </p:grpSpPr>
      <p:sp>
        <p:nvSpPr>
          <p:cNvPr id="833" name="Google Shape;833;p34"/>
          <p:cNvSpPr/>
          <p:nvPr/>
        </p:nvSpPr>
        <p:spPr>
          <a:xfrm>
            <a:off x="411502" y="260604"/>
            <a:ext cx="6858366"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SECTION 1</a:t>
            </a:r>
            <a:endParaRPr sz="800">
              <a:solidFill>
                <a:schemeClr val="dk1"/>
              </a:solidFill>
              <a:latin typeface="Calibri"/>
              <a:ea typeface="Calibri"/>
              <a:cs typeface="Calibri"/>
              <a:sym typeface="Calibri"/>
            </a:endParaRPr>
          </a:p>
        </p:txBody>
      </p:sp>
      <p:sp>
        <p:nvSpPr>
          <p:cNvPr id="834" name="Google Shape;834;p34"/>
          <p:cNvSpPr/>
          <p:nvPr/>
        </p:nvSpPr>
        <p:spPr>
          <a:xfrm>
            <a:off x="411502" y="438912"/>
            <a:ext cx="8321255" cy="4800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C2B3E"/>
              </a:buClr>
              <a:buSzPts val="2200"/>
              <a:buFont typeface="Arial"/>
              <a:buNone/>
            </a:pPr>
            <a:r>
              <a:rPr b="1" lang="en-GB" sz="2200">
                <a:solidFill>
                  <a:srgbClr val="1C2B3E"/>
                </a:solidFill>
                <a:latin typeface="Poppins"/>
                <a:ea typeface="Poppins"/>
                <a:cs typeface="Poppins"/>
                <a:sym typeface="Poppins"/>
              </a:rPr>
              <a:t>MAIA helps, you decide.</a:t>
            </a:r>
            <a:endParaRPr sz="2200">
              <a:solidFill>
                <a:schemeClr val="dk1"/>
              </a:solidFill>
              <a:latin typeface="Poppins"/>
              <a:ea typeface="Poppins"/>
              <a:cs typeface="Poppins"/>
              <a:sym typeface="Poppins"/>
            </a:endParaRPr>
          </a:p>
        </p:txBody>
      </p:sp>
      <p:sp>
        <p:nvSpPr>
          <p:cNvPr id="835" name="Google Shape;835;p34"/>
          <p:cNvSpPr/>
          <p:nvPr/>
        </p:nvSpPr>
        <p:spPr>
          <a:xfrm>
            <a:off x="411502" y="1243522"/>
            <a:ext cx="4023600" cy="1748700"/>
          </a:xfrm>
          <a:prstGeom prst="roundRect">
            <a:avLst>
              <a:gd fmla="val 4706" name="adj"/>
            </a:avLst>
          </a:prstGeom>
          <a:solidFill>
            <a:srgbClr val="E3F5EC"/>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836" name="Google Shape;836;p34"/>
          <p:cNvSpPr/>
          <p:nvPr/>
        </p:nvSpPr>
        <p:spPr>
          <a:xfrm>
            <a:off x="576103" y="1394399"/>
            <a:ext cx="315600" cy="315600"/>
          </a:xfrm>
          <a:prstGeom prst="roundRect">
            <a:avLst>
              <a:gd fmla="val 22000" name="adj"/>
            </a:avLst>
          </a:prstGeom>
          <a:solidFill>
            <a:srgbClr val="1A9D5C"/>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CheckCircle_white.png" id="837" name="Google Shape;837;p34"/>
          <p:cNvPicPr preferRelativeResize="0"/>
          <p:nvPr/>
        </p:nvPicPr>
        <p:blipFill rotWithShape="1">
          <a:blip r:embed="rId3">
            <a:alphaModFix/>
          </a:blip>
          <a:srcRect b="0" l="0" r="0" t="0"/>
          <a:stretch/>
        </p:blipFill>
        <p:spPr>
          <a:xfrm>
            <a:off x="647086" y="1465379"/>
            <a:ext cx="173507" cy="173507"/>
          </a:xfrm>
          <a:prstGeom prst="rect">
            <a:avLst/>
          </a:prstGeom>
          <a:noFill/>
          <a:ln>
            <a:noFill/>
          </a:ln>
        </p:spPr>
      </p:pic>
      <p:sp>
        <p:nvSpPr>
          <p:cNvPr id="838" name="Google Shape;838;p34"/>
          <p:cNvSpPr/>
          <p:nvPr/>
        </p:nvSpPr>
        <p:spPr>
          <a:xfrm>
            <a:off x="1001321" y="1380683"/>
            <a:ext cx="3337500" cy="315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1200"/>
              <a:buFont typeface="Arial"/>
              <a:buNone/>
            </a:pPr>
            <a:r>
              <a:rPr b="1" lang="en-GB" sz="1200">
                <a:solidFill>
                  <a:srgbClr val="1C2B3E"/>
                </a:solidFill>
                <a:latin typeface="Arial"/>
                <a:ea typeface="Arial"/>
                <a:cs typeface="Arial"/>
                <a:sym typeface="Arial"/>
              </a:rPr>
              <a:t>MAIA does</a:t>
            </a:r>
            <a:endParaRPr sz="1200">
              <a:solidFill>
                <a:schemeClr val="dk1"/>
              </a:solidFill>
              <a:latin typeface="Calibri"/>
              <a:ea typeface="Calibri"/>
              <a:cs typeface="Calibri"/>
              <a:sym typeface="Calibri"/>
            </a:endParaRPr>
          </a:p>
        </p:txBody>
      </p:sp>
      <p:grpSp>
        <p:nvGrpSpPr>
          <p:cNvPr id="839" name="Google Shape;839;p34"/>
          <p:cNvGrpSpPr/>
          <p:nvPr/>
        </p:nvGrpSpPr>
        <p:grpSpPr>
          <a:xfrm>
            <a:off x="672227" y="1833311"/>
            <a:ext cx="1943147" cy="274320"/>
            <a:chOff x="576103" y="1927098"/>
            <a:chExt cx="1943147" cy="274320"/>
          </a:xfrm>
        </p:grpSpPr>
        <p:pic>
          <p:nvPicPr>
            <p:cNvPr descr="/home/claude/maia/icons/FiCheck_green.png" id="840" name="Google Shape;840;p34"/>
            <p:cNvPicPr preferRelativeResize="0"/>
            <p:nvPr/>
          </p:nvPicPr>
          <p:blipFill rotWithShape="1">
            <a:blip r:embed="rId4">
              <a:alphaModFix/>
            </a:blip>
            <a:srcRect b="0" l="0" r="0" t="0"/>
            <a:stretch/>
          </p:blipFill>
          <p:spPr>
            <a:xfrm>
              <a:off x="576103" y="2002535"/>
              <a:ext cx="137160" cy="137160"/>
            </a:xfrm>
            <a:prstGeom prst="rect">
              <a:avLst/>
            </a:prstGeom>
            <a:noFill/>
            <a:ln>
              <a:noFill/>
            </a:ln>
          </p:spPr>
        </p:pic>
        <p:sp>
          <p:nvSpPr>
            <p:cNvPr id="841" name="Google Shape;841;p34"/>
            <p:cNvSpPr/>
            <p:nvPr/>
          </p:nvSpPr>
          <p:spPr>
            <a:xfrm>
              <a:off x="781854" y="1927098"/>
              <a:ext cx="173739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1000"/>
                <a:buFont typeface="Arial"/>
                <a:buNone/>
              </a:pPr>
              <a:r>
                <a:rPr lang="en-GB" sz="1000">
                  <a:solidFill>
                    <a:srgbClr val="1C2B3E"/>
                  </a:solidFill>
                </a:rPr>
                <a:t>Finds information</a:t>
              </a:r>
              <a:endParaRPr sz="1000">
                <a:solidFill>
                  <a:schemeClr val="dk1"/>
                </a:solidFill>
                <a:latin typeface="Calibri"/>
                <a:ea typeface="Calibri"/>
                <a:cs typeface="Calibri"/>
                <a:sym typeface="Calibri"/>
              </a:endParaRPr>
            </a:p>
          </p:txBody>
        </p:sp>
      </p:grpSp>
      <p:grpSp>
        <p:nvGrpSpPr>
          <p:cNvPr id="842" name="Google Shape;842;p34"/>
          <p:cNvGrpSpPr/>
          <p:nvPr/>
        </p:nvGrpSpPr>
        <p:grpSpPr>
          <a:xfrm>
            <a:off x="2587833" y="1833311"/>
            <a:ext cx="1943147" cy="274320"/>
            <a:chOff x="2587833" y="1927098"/>
            <a:chExt cx="1943147" cy="274320"/>
          </a:xfrm>
        </p:grpSpPr>
        <p:pic>
          <p:nvPicPr>
            <p:cNvPr descr="/home/claude/maia/icons/FiCheck_green.png" id="843" name="Google Shape;843;p34"/>
            <p:cNvPicPr preferRelativeResize="0"/>
            <p:nvPr/>
          </p:nvPicPr>
          <p:blipFill rotWithShape="1">
            <a:blip r:embed="rId4">
              <a:alphaModFix/>
            </a:blip>
            <a:srcRect b="0" l="0" r="0" t="0"/>
            <a:stretch/>
          </p:blipFill>
          <p:spPr>
            <a:xfrm>
              <a:off x="2587833" y="2002535"/>
              <a:ext cx="137160" cy="137160"/>
            </a:xfrm>
            <a:prstGeom prst="rect">
              <a:avLst/>
            </a:prstGeom>
            <a:noFill/>
            <a:ln>
              <a:noFill/>
            </a:ln>
          </p:spPr>
        </p:pic>
        <p:sp>
          <p:nvSpPr>
            <p:cNvPr id="844" name="Google Shape;844;p34"/>
            <p:cNvSpPr/>
            <p:nvPr/>
          </p:nvSpPr>
          <p:spPr>
            <a:xfrm>
              <a:off x="2793584" y="1927098"/>
              <a:ext cx="173739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1000"/>
                <a:buFont typeface="Arial"/>
                <a:buNone/>
              </a:pPr>
              <a:r>
                <a:rPr lang="en-GB" sz="1000">
                  <a:solidFill>
                    <a:srgbClr val="1C2B3E"/>
                  </a:solidFill>
                  <a:latin typeface="Arial"/>
                  <a:ea typeface="Arial"/>
                  <a:cs typeface="Arial"/>
                  <a:sym typeface="Arial"/>
                </a:rPr>
                <a:t>Suggests actions</a:t>
              </a:r>
              <a:endParaRPr sz="1000">
                <a:solidFill>
                  <a:schemeClr val="dk1"/>
                </a:solidFill>
                <a:latin typeface="Calibri"/>
                <a:ea typeface="Calibri"/>
                <a:cs typeface="Calibri"/>
                <a:sym typeface="Calibri"/>
              </a:endParaRPr>
            </a:p>
          </p:txBody>
        </p:sp>
      </p:grpSp>
      <p:grpSp>
        <p:nvGrpSpPr>
          <p:cNvPr id="845" name="Google Shape;845;p34"/>
          <p:cNvGrpSpPr/>
          <p:nvPr/>
        </p:nvGrpSpPr>
        <p:grpSpPr>
          <a:xfrm>
            <a:off x="672227" y="2176211"/>
            <a:ext cx="1943147" cy="274320"/>
            <a:chOff x="576103" y="2269998"/>
            <a:chExt cx="1943147" cy="274320"/>
          </a:xfrm>
        </p:grpSpPr>
        <p:pic>
          <p:nvPicPr>
            <p:cNvPr descr="/home/claude/maia/icons/FiCheck_green.png" id="846" name="Google Shape;846;p34"/>
            <p:cNvPicPr preferRelativeResize="0"/>
            <p:nvPr/>
          </p:nvPicPr>
          <p:blipFill rotWithShape="1">
            <a:blip r:embed="rId4">
              <a:alphaModFix/>
            </a:blip>
            <a:srcRect b="0" l="0" r="0" t="0"/>
            <a:stretch/>
          </p:blipFill>
          <p:spPr>
            <a:xfrm>
              <a:off x="576103" y="2345435"/>
              <a:ext cx="137160" cy="137160"/>
            </a:xfrm>
            <a:prstGeom prst="rect">
              <a:avLst/>
            </a:prstGeom>
            <a:noFill/>
            <a:ln>
              <a:noFill/>
            </a:ln>
          </p:spPr>
        </p:pic>
        <p:sp>
          <p:nvSpPr>
            <p:cNvPr id="847" name="Google Shape;847;p34"/>
            <p:cNvSpPr/>
            <p:nvPr/>
          </p:nvSpPr>
          <p:spPr>
            <a:xfrm>
              <a:off x="781854" y="2269998"/>
              <a:ext cx="173739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1000"/>
                <a:buFont typeface="Arial"/>
                <a:buNone/>
              </a:pPr>
              <a:r>
                <a:rPr lang="en-GB" sz="1000">
                  <a:solidFill>
                    <a:srgbClr val="1C2B3E"/>
                  </a:solidFill>
                  <a:latin typeface="Arial"/>
                  <a:ea typeface="Arial"/>
                  <a:cs typeface="Arial"/>
                  <a:sym typeface="Arial"/>
                </a:rPr>
                <a:t>Validates data</a:t>
              </a:r>
              <a:endParaRPr sz="1000">
                <a:solidFill>
                  <a:schemeClr val="dk1"/>
                </a:solidFill>
                <a:latin typeface="Calibri"/>
                <a:ea typeface="Calibri"/>
                <a:cs typeface="Calibri"/>
                <a:sym typeface="Calibri"/>
              </a:endParaRPr>
            </a:p>
          </p:txBody>
        </p:sp>
      </p:grpSp>
      <p:grpSp>
        <p:nvGrpSpPr>
          <p:cNvPr id="848" name="Google Shape;848;p34"/>
          <p:cNvGrpSpPr/>
          <p:nvPr/>
        </p:nvGrpSpPr>
        <p:grpSpPr>
          <a:xfrm>
            <a:off x="2587833" y="2176211"/>
            <a:ext cx="1943147" cy="274320"/>
            <a:chOff x="2587833" y="2269998"/>
            <a:chExt cx="1943147" cy="274320"/>
          </a:xfrm>
        </p:grpSpPr>
        <p:pic>
          <p:nvPicPr>
            <p:cNvPr descr="/home/claude/maia/icons/FiCheck_green.png" id="849" name="Google Shape;849;p34"/>
            <p:cNvPicPr preferRelativeResize="0"/>
            <p:nvPr/>
          </p:nvPicPr>
          <p:blipFill rotWithShape="1">
            <a:blip r:embed="rId4">
              <a:alphaModFix/>
            </a:blip>
            <a:srcRect b="0" l="0" r="0" t="0"/>
            <a:stretch/>
          </p:blipFill>
          <p:spPr>
            <a:xfrm>
              <a:off x="2587833" y="2345435"/>
              <a:ext cx="137160" cy="137160"/>
            </a:xfrm>
            <a:prstGeom prst="rect">
              <a:avLst/>
            </a:prstGeom>
            <a:noFill/>
            <a:ln>
              <a:noFill/>
            </a:ln>
          </p:spPr>
        </p:pic>
        <p:sp>
          <p:nvSpPr>
            <p:cNvPr id="850" name="Google Shape;850;p34"/>
            <p:cNvSpPr/>
            <p:nvPr/>
          </p:nvSpPr>
          <p:spPr>
            <a:xfrm>
              <a:off x="2793584" y="2269998"/>
              <a:ext cx="173739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1000"/>
                <a:buFont typeface="Arial"/>
                <a:buNone/>
              </a:pPr>
              <a:r>
                <a:rPr lang="en-GB" sz="1000">
                  <a:solidFill>
                    <a:srgbClr val="1C2B3E"/>
                  </a:solidFill>
                  <a:latin typeface="Arial"/>
                  <a:ea typeface="Arial"/>
                  <a:cs typeface="Arial"/>
                  <a:sym typeface="Arial"/>
                </a:rPr>
                <a:t>Routes w</a:t>
              </a:r>
              <a:r>
                <a:rPr lang="en-GB" sz="1000">
                  <a:solidFill>
                    <a:srgbClr val="1C2B3E"/>
                  </a:solidFill>
                </a:rPr>
                <a:t>ork</a:t>
              </a:r>
              <a:endParaRPr sz="1000">
                <a:solidFill>
                  <a:schemeClr val="dk1"/>
                </a:solidFill>
                <a:latin typeface="Calibri"/>
                <a:ea typeface="Calibri"/>
                <a:cs typeface="Calibri"/>
                <a:sym typeface="Calibri"/>
              </a:endParaRPr>
            </a:p>
          </p:txBody>
        </p:sp>
      </p:grpSp>
      <p:grpSp>
        <p:nvGrpSpPr>
          <p:cNvPr id="851" name="Google Shape;851;p34"/>
          <p:cNvGrpSpPr/>
          <p:nvPr/>
        </p:nvGrpSpPr>
        <p:grpSpPr>
          <a:xfrm>
            <a:off x="672227" y="2519111"/>
            <a:ext cx="1943147" cy="274320"/>
            <a:chOff x="576103" y="2612898"/>
            <a:chExt cx="1943147" cy="274320"/>
          </a:xfrm>
        </p:grpSpPr>
        <p:pic>
          <p:nvPicPr>
            <p:cNvPr descr="/home/claude/maia/icons/FiCheck_green.png" id="852" name="Google Shape;852;p34"/>
            <p:cNvPicPr preferRelativeResize="0"/>
            <p:nvPr/>
          </p:nvPicPr>
          <p:blipFill rotWithShape="1">
            <a:blip r:embed="rId4">
              <a:alphaModFix/>
            </a:blip>
            <a:srcRect b="0" l="0" r="0" t="0"/>
            <a:stretch/>
          </p:blipFill>
          <p:spPr>
            <a:xfrm>
              <a:off x="576103" y="2688335"/>
              <a:ext cx="137160" cy="137160"/>
            </a:xfrm>
            <a:prstGeom prst="rect">
              <a:avLst/>
            </a:prstGeom>
            <a:noFill/>
            <a:ln>
              <a:noFill/>
            </a:ln>
          </p:spPr>
        </p:pic>
        <p:sp>
          <p:nvSpPr>
            <p:cNvPr id="853" name="Google Shape;853;p34"/>
            <p:cNvSpPr/>
            <p:nvPr/>
          </p:nvSpPr>
          <p:spPr>
            <a:xfrm>
              <a:off x="781854" y="2612898"/>
              <a:ext cx="173739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1000"/>
                <a:buFont typeface="Arial"/>
                <a:buNone/>
              </a:pPr>
              <a:r>
                <a:rPr lang="en-GB" sz="1000">
                  <a:solidFill>
                    <a:srgbClr val="1C2B3E"/>
                  </a:solidFill>
                </a:rPr>
                <a:t>Sends reminders</a:t>
              </a:r>
              <a:endParaRPr sz="1000">
                <a:solidFill>
                  <a:schemeClr val="dk1"/>
                </a:solidFill>
                <a:latin typeface="Calibri"/>
                <a:ea typeface="Calibri"/>
                <a:cs typeface="Calibri"/>
                <a:sym typeface="Calibri"/>
              </a:endParaRPr>
            </a:p>
          </p:txBody>
        </p:sp>
      </p:grpSp>
      <p:grpSp>
        <p:nvGrpSpPr>
          <p:cNvPr id="854" name="Google Shape;854;p34"/>
          <p:cNvGrpSpPr/>
          <p:nvPr/>
        </p:nvGrpSpPr>
        <p:grpSpPr>
          <a:xfrm>
            <a:off x="2587833" y="2519111"/>
            <a:ext cx="1943147" cy="274320"/>
            <a:chOff x="2587833" y="2612898"/>
            <a:chExt cx="1943147" cy="274320"/>
          </a:xfrm>
        </p:grpSpPr>
        <p:pic>
          <p:nvPicPr>
            <p:cNvPr descr="/home/claude/maia/icons/FiCheck_green.png" id="855" name="Google Shape;855;p34"/>
            <p:cNvPicPr preferRelativeResize="0"/>
            <p:nvPr/>
          </p:nvPicPr>
          <p:blipFill rotWithShape="1">
            <a:blip r:embed="rId4">
              <a:alphaModFix/>
            </a:blip>
            <a:srcRect b="0" l="0" r="0" t="0"/>
            <a:stretch/>
          </p:blipFill>
          <p:spPr>
            <a:xfrm>
              <a:off x="2587833" y="2688335"/>
              <a:ext cx="137160" cy="137160"/>
            </a:xfrm>
            <a:prstGeom prst="rect">
              <a:avLst/>
            </a:prstGeom>
            <a:noFill/>
            <a:ln>
              <a:noFill/>
            </a:ln>
          </p:spPr>
        </p:pic>
        <p:sp>
          <p:nvSpPr>
            <p:cNvPr id="856" name="Google Shape;856;p34"/>
            <p:cNvSpPr/>
            <p:nvPr/>
          </p:nvSpPr>
          <p:spPr>
            <a:xfrm>
              <a:off x="2793584" y="2612898"/>
              <a:ext cx="173739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1000"/>
                <a:buFont typeface="Arial"/>
                <a:buNone/>
              </a:pPr>
              <a:r>
                <a:rPr lang="en-GB" sz="1000">
                  <a:solidFill>
                    <a:srgbClr val="1C2B3E"/>
                  </a:solidFill>
                  <a:latin typeface="Arial"/>
                  <a:ea typeface="Arial"/>
                  <a:cs typeface="Arial"/>
                  <a:sym typeface="Arial"/>
                </a:rPr>
                <a:t>Keeps the trail</a:t>
              </a:r>
              <a:endParaRPr sz="1000">
                <a:solidFill>
                  <a:schemeClr val="dk1"/>
                </a:solidFill>
                <a:latin typeface="Calibri"/>
                <a:ea typeface="Calibri"/>
                <a:cs typeface="Calibri"/>
                <a:sym typeface="Calibri"/>
              </a:endParaRPr>
            </a:p>
          </p:txBody>
        </p:sp>
      </p:grpSp>
      <p:sp>
        <p:nvSpPr>
          <p:cNvPr id="857" name="Google Shape;857;p34"/>
          <p:cNvSpPr/>
          <p:nvPr/>
        </p:nvSpPr>
        <p:spPr>
          <a:xfrm>
            <a:off x="4709300" y="1243525"/>
            <a:ext cx="4023600" cy="1748700"/>
          </a:xfrm>
          <a:prstGeom prst="roundRect">
            <a:avLst>
              <a:gd fmla="val 4706" name="adj"/>
            </a:avLst>
          </a:prstGeom>
          <a:solidFill>
            <a:srgbClr val="F5F7FA"/>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858" name="Google Shape;858;p34"/>
          <p:cNvSpPr/>
          <p:nvPr/>
        </p:nvSpPr>
        <p:spPr>
          <a:xfrm>
            <a:off x="4873898" y="1394399"/>
            <a:ext cx="315600" cy="315600"/>
          </a:xfrm>
          <a:prstGeom prst="roundRect">
            <a:avLst>
              <a:gd fmla="val 22000"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User_white.png" id="859" name="Google Shape;859;p34"/>
          <p:cNvPicPr preferRelativeResize="0"/>
          <p:nvPr/>
        </p:nvPicPr>
        <p:blipFill rotWithShape="1">
          <a:blip r:embed="rId5">
            <a:alphaModFix/>
          </a:blip>
          <a:srcRect b="0" l="0" r="0" t="0"/>
          <a:stretch/>
        </p:blipFill>
        <p:spPr>
          <a:xfrm>
            <a:off x="4944882" y="1465379"/>
            <a:ext cx="173507" cy="173507"/>
          </a:xfrm>
          <a:prstGeom prst="rect">
            <a:avLst/>
          </a:prstGeom>
          <a:noFill/>
          <a:ln>
            <a:noFill/>
          </a:ln>
        </p:spPr>
      </p:pic>
      <p:sp>
        <p:nvSpPr>
          <p:cNvPr id="860" name="Google Shape;860;p34"/>
          <p:cNvSpPr/>
          <p:nvPr/>
        </p:nvSpPr>
        <p:spPr>
          <a:xfrm>
            <a:off x="5299117" y="1380683"/>
            <a:ext cx="3337500" cy="315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1200"/>
              <a:buFont typeface="Arial"/>
              <a:buNone/>
            </a:pPr>
            <a:r>
              <a:rPr b="1" lang="en-GB" sz="1200">
                <a:solidFill>
                  <a:srgbClr val="1C2B3E"/>
                </a:solidFill>
                <a:latin typeface="Arial"/>
                <a:ea typeface="Arial"/>
                <a:cs typeface="Arial"/>
                <a:sym typeface="Arial"/>
              </a:rPr>
              <a:t>You decide</a:t>
            </a:r>
            <a:endParaRPr sz="1200">
              <a:solidFill>
                <a:schemeClr val="dk1"/>
              </a:solidFill>
              <a:latin typeface="Calibri"/>
              <a:ea typeface="Calibri"/>
              <a:cs typeface="Calibri"/>
              <a:sym typeface="Calibri"/>
            </a:endParaRPr>
          </a:p>
        </p:txBody>
      </p:sp>
      <p:sp>
        <p:nvSpPr>
          <p:cNvPr id="861" name="Google Shape;861;p34"/>
          <p:cNvSpPr/>
          <p:nvPr/>
        </p:nvSpPr>
        <p:spPr>
          <a:xfrm>
            <a:off x="4873898" y="1833311"/>
            <a:ext cx="36804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1000"/>
              <a:buFont typeface="Arial"/>
              <a:buNone/>
            </a:pPr>
            <a:r>
              <a:rPr lang="en-GB" sz="1000">
                <a:solidFill>
                  <a:srgbClr val="1C2B3E"/>
                </a:solidFill>
                <a:latin typeface="Arial"/>
                <a:ea typeface="Arial"/>
                <a:cs typeface="Arial"/>
                <a:sym typeface="Arial"/>
              </a:rPr>
              <a:t>—  Approve exceptions</a:t>
            </a:r>
            <a:endParaRPr sz="1000">
              <a:solidFill>
                <a:schemeClr val="dk1"/>
              </a:solidFill>
              <a:latin typeface="Calibri"/>
              <a:ea typeface="Calibri"/>
              <a:cs typeface="Calibri"/>
              <a:sym typeface="Calibri"/>
            </a:endParaRPr>
          </a:p>
        </p:txBody>
      </p:sp>
      <p:sp>
        <p:nvSpPr>
          <p:cNvPr id="862" name="Google Shape;862;p34"/>
          <p:cNvSpPr/>
          <p:nvPr/>
        </p:nvSpPr>
        <p:spPr>
          <a:xfrm>
            <a:off x="4873898" y="2066483"/>
            <a:ext cx="36804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1000"/>
              <a:buFont typeface="Arial"/>
              <a:buNone/>
            </a:pPr>
            <a:r>
              <a:rPr lang="en-GB" sz="1000">
                <a:solidFill>
                  <a:srgbClr val="1C2B3E"/>
                </a:solidFill>
                <a:latin typeface="Arial"/>
                <a:ea typeface="Arial"/>
                <a:cs typeface="Arial"/>
                <a:sym typeface="Arial"/>
              </a:rPr>
              <a:t>—  </a:t>
            </a:r>
            <a:r>
              <a:rPr lang="en-GB" sz="1000">
                <a:solidFill>
                  <a:srgbClr val="1C2B3E"/>
                </a:solidFill>
              </a:rPr>
              <a:t>Make business decisions</a:t>
            </a:r>
            <a:endParaRPr sz="1000">
              <a:solidFill>
                <a:schemeClr val="dk1"/>
              </a:solidFill>
              <a:latin typeface="Calibri"/>
              <a:ea typeface="Calibri"/>
              <a:cs typeface="Calibri"/>
              <a:sym typeface="Calibri"/>
            </a:endParaRPr>
          </a:p>
        </p:txBody>
      </p:sp>
      <p:sp>
        <p:nvSpPr>
          <p:cNvPr id="863" name="Google Shape;863;p34"/>
          <p:cNvSpPr/>
          <p:nvPr/>
        </p:nvSpPr>
        <p:spPr>
          <a:xfrm>
            <a:off x="4873898" y="2299655"/>
            <a:ext cx="36804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1000"/>
              <a:buFont typeface="Arial"/>
              <a:buNone/>
            </a:pPr>
            <a:r>
              <a:rPr lang="en-GB" sz="1000">
                <a:solidFill>
                  <a:srgbClr val="1C2B3E"/>
                </a:solidFill>
                <a:latin typeface="Arial"/>
                <a:ea typeface="Arial"/>
                <a:cs typeface="Arial"/>
                <a:sym typeface="Arial"/>
              </a:rPr>
              <a:t>—  Fix bad data</a:t>
            </a:r>
            <a:endParaRPr sz="1000">
              <a:solidFill>
                <a:schemeClr val="dk1"/>
              </a:solidFill>
              <a:latin typeface="Calibri"/>
              <a:ea typeface="Calibri"/>
              <a:cs typeface="Calibri"/>
              <a:sym typeface="Calibri"/>
            </a:endParaRPr>
          </a:p>
        </p:txBody>
      </p:sp>
      <p:sp>
        <p:nvSpPr>
          <p:cNvPr id="864" name="Google Shape;864;p34"/>
          <p:cNvSpPr/>
          <p:nvPr/>
        </p:nvSpPr>
        <p:spPr>
          <a:xfrm>
            <a:off x="4873898" y="2532827"/>
            <a:ext cx="36804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1000"/>
              <a:buFont typeface="Arial"/>
              <a:buNone/>
            </a:pPr>
            <a:r>
              <a:rPr lang="en-GB" sz="1000">
                <a:solidFill>
                  <a:srgbClr val="1C2B3E"/>
                </a:solidFill>
                <a:latin typeface="Arial"/>
                <a:ea typeface="Arial"/>
                <a:cs typeface="Arial"/>
                <a:sym typeface="Arial"/>
              </a:rPr>
              <a:t>—  Confirm sensitive actions</a:t>
            </a:r>
            <a:endParaRPr sz="1000">
              <a:solidFill>
                <a:schemeClr val="dk1"/>
              </a:solidFill>
              <a:latin typeface="Calibri"/>
              <a:ea typeface="Calibri"/>
              <a:cs typeface="Calibri"/>
              <a:sym typeface="Calibri"/>
            </a:endParaRPr>
          </a:p>
        </p:txBody>
      </p:sp>
      <p:sp>
        <p:nvSpPr>
          <p:cNvPr id="865" name="Google Shape;865;p34"/>
          <p:cNvSpPr/>
          <p:nvPr/>
        </p:nvSpPr>
        <p:spPr>
          <a:xfrm>
            <a:off x="411500" y="3198064"/>
            <a:ext cx="8321100" cy="1227600"/>
          </a:xfrm>
          <a:prstGeom prst="roundRect">
            <a:avLst>
              <a:gd fmla="val 6452" name="adj"/>
            </a:avLst>
          </a:prstGeom>
          <a:solidFill>
            <a:srgbClr val="FFFFFF"/>
          </a:solidFill>
          <a:ln cap="flat" cmpd="sng" w="12700">
            <a:solidFill>
              <a:srgbClr val="E3E8EF"/>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866" name="Google Shape;866;p34"/>
          <p:cNvSpPr/>
          <p:nvPr/>
        </p:nvSpPr>
        <p:spPr>
          <a:xfrm>
            <a:off x="603207" y="3366288"/>
            <a:ext cx="80196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D"/>
              </a:buClr>
              <a:buSzPts val="900"/>
              <a:buFont typeface="Arial"/>
              <a:buNone/>
            </a:pPr>
            <a:r>
              <a:rPr b="1" lang="en-GB" sz="1200">
                <a:solidFill>
                  <a:schemeClr val="dk2"/>
                </a:solidFill>
              </a:rPr>
              <a:t>MAIA prepares the work. People make the decisions.</a:t>
            </a:r>
            <a:endParaRPr sz="1200">
              <a:solidFill>
                <a:schemeClr val="dk2"/>
              </a:solidFill>
              <a:latin typeface="Calibri"/>
              <a:ea typeface="Calibri"/>
              <a:cs typeface="Calibri"/>
              <a:sym typeface="Calibri"/>
            </a:endParaRPr>
          </a:p>
        </p:txBody>
      </p:sp>
      <p:sp>
        <p:nvSpPr>
          <p:cNvPr id="867" name="Google Shape;867;p34"/>
          <p:cNvSpPr txBox="1"/>
          <p:nvPr>
            <p:ph idx="12" type="sldNum"/>
          </p:nvPr>
        </p:nvSpPr>
        <p:spPr>
          <a:xfrm>
            <a:off x="8347216" y="4750189"/>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grpSp>
        <p:nvGrpSpPr>
          <p:cNvPr id="868" name="Google Shape;868;p34"/>
          <p:cNvGrpSpPr/>
          <p:nvPr/>
        </p:nvGrpSpPr>
        <p:grpSpPr>
          <a:xfrm>
            <a:off x="603206" y="3673674"/>
            <a:ext cx="1874615" cy="318990"/>
            <a:chOff x="5212360" y="3366031"/>
            <a:chExt cx="1919729" cy="326700"/>
          </a:xfrm>
        </p:grpSpPr>
        <p:pic>
          <p:nvPicPr>
            <p:cNvPr id="869" name="Google Shape;869;p34" title="close.png"/>
            <p:cNvPicPr preferRelativeResize="0"/>
            <p:nvPr/>
          </p:nvPicPr>
          <p:blipFill rotWithShape="1">
            <a:blip r:embed="rId6">
              <a:alphaModFix/>
            </a:blip>
            <a:srcRect b="10" l="0" r="0" t="0"/>
            <a:stretch/>
          </p:blipFill>
          <p:spPr>
            <a:xfrm>
              <a:off x="5212360" y="3458995"/>
              <a:ext cx="137161" cy="137161"/>
            </a:xfrm>
            <a:prstGeom prst="rect">
              <a:avLst/>
            </a:prstGeom>
            <a:noFill/>
            <a:ln>
              <a:noFill/>
            </a:ln>
          </p:spPr>
        </p:pic>
        <p:sp>
          <p:nvSpPr>
            <p:cNvPr id="870" name="Google Shape;870;p34"/>
            <p:cNvSpPr txBox="1"/>
            <p:nvPr/>
          </p:nvSpPr>
          <p:spPr>
            <a:xfrm>
              <a:off x="5349489" y="3366031"/>
              <a:ext cx="1782600" cy="326700"/>
            </a:xfrm>
            <a:prstGeom prst="rect">
              <a:avLst/>
            </a:prstGeom>
            <a:noFill/>
            <a:ln>
              <a:noFill/>
            </a:ln>
          </p:spPr>
          <p:txBody>
            <a:bodyPr anchorCtr="0" anchor="t" bIns="89275" lIns="89275" spcFirstLastPara="1" rIns="89275" wrap="square" tIns="89275">
              <a:spAutoFit/>
            </a:bodyPr>
            <a:lstStyle/>
            <a:p>
              <a:pPr indent="0" lvl="0" marL="0" rtl="0" algn="l">
                <a:lnSpc>
                  <a:spcPct val="115000"/>
                </a:lnSpc>
                <a:spcBef>
                  <a:spcPts val="0"/>
                </a:spcBef>
                <a:spcAft>
                  <a:spcPts val="0"/>
                </a:spcAft>
                <a:buNone/>
              </a:pPr>
              <a:r>
                <a:rPr lang="en-GB" sz="900">
                  <a:solidFill>
                    <a:schemeClr val="dk1"/>
                  </a:solidFill>
                </a:rPr>
                <a:t>Replace your ERP</a:t>
              </a:r>
              <a:endParaRPr sz="900">
                <a:solidFill>
                  <a:schemeClr val="dk1"/>
                </a:solidFill>
              </a:endParaRPr>
            </a:p>
          </p:txBody>
        </p:sp>
      </p:grpSp>
      <p:grpSp>
        <p:nvGrpSpPr>
          <p:cNvPr id="871" name="Google Shape;871;p34"/>
          <p:cNvGrpSpPr/>
          <p:nvPr/>
        </p:nvGrpSpPr>
        <p:grpSpPr>
          <a:xfrm>
            <a:off x="603206" y="3992675"/>
            <a:ext cx="2403081" cy="318990"/>
            <a:chOff x="5212360" y="3366032"/>
            <a:chExt cx="2460912" cy="326700"/>
          </a:xfrm>
        </p:grpSpPr>
        <p:pic>
          <p:nvPicPr>
            <p:cNvPr id="872" name="Google Shape;872;p34" title="close.png"/>
            <p:cNvPicPr preferRelativeResize="0"/>
            <p:nvPr/>
          </p:nvPicPr>
          <p:blipFill rotWithShape="1">
            <a:blip r:embed="rId6">
              <a:alphaModFix/>
            </a:blip>
            <a:srcRect b="10" l="0" r="0" t="0"/>
            <a:stretch/>
          </p:blipFill>
          <p:spPr>
            <a:xfrm>
              <a:off x="5212360" y="3458995"/>
              <a:ext cx="137161" cy="137161"/>
            </a:xfrm>
            <a:prstGeom prst="rect">
              <a:avLst/>
            </a:prstGeom>
            <a:noFill/>
            <a:ln>
              <a:noFill/>
            </a:ln>
          </p:spPr>
        </p:pic>
        <p:sp>
          <p:nvSpPr>
            <p:cNvPr id="873" name="Google Shape;873;p34"/>
            <p:cNvSpPr txBox="1"/>
            <p:nvPr/>
          </p:nvSpPr>
          <p:spPr>
            <a:xfrm>
              <a:off x="5349472" y="3366032"/>
              <a:ext cx="2323800" cy="326700"/>
            </a:xfrm>
            <a:prstGeom prst="rect">
              <a:avLst/>
            </a:prstGeom>
            <a:noFill/>
            <a:ln>
              <a:noFill/>
            </a:ln>
          </p:spPr>
          <p:txBody>
            <a:bodyPr anchorCtr="0" anchor="t" bIns="89275" lIns="89275" spcFirstLastPara="1" rIns="89275" wrap="square" tIns="89275">
              <a:spAutoFit/>
            </a:bodyPr>
            <a:lstStyle/>
            <a:p>
              <a:pPr indent="0" lvl="0" marL="0" rtl="0" algn="l">
                <a:lnSpc>
                  <a:spcPct val="115000"/>
                </a:lnSpc>
                <a:spcBef>
                  <a:spcPts val="0"/>
                </a:spcBef>
                <a:spcAft>
                  <a:spcPts val="0"/>
                </a:spcAft>
                <a:buNone/>
              </a:pPr>
              <a:r>
                <a:rPr lang="en-GB" sz="900">
                  <a:solidFill>
                    <a:schemeClr val="dk1"/>
                  </a:solidFill>
                </a:rPr>
                <a:t>Approve everything automatically </a:t>
              </a:r>
              <a:endParaRPr sz="900">
                <a:solidFill>
                  <a:schemeClr val="dk1"/>
                </a:solidFill>
              </a:endParaRPr>
            </a:p>
          </p:txBody>
        </p:sp>
      </p:grpSp>
      <p:grpSp>
        <p:nvGrpSpPr>
          <p:cNvPr id="874" name="Google Shape;874;p34"/>
          <p:cNvGrpSpPr/>
          <p:nvPr/>
        </p:nvGrpSpPr>
        <p:grpSpPr>
          <a:xfrm>
            <a:off x="3201420" y="3675412"/>
            <a:ext cx="2403081" cy="318990"/>
            <a:chOff x="5212360" y="3366032"/>
            <a:chExt cx="2460912" cy="326700"/>
          </a:xfrm>
        </p:grpSpPr>
        <p:pic>
          <p:nvPicPr>
            <p:cNvPr id="875" name="Google Shape;875;p34" title="close.png"/>
            <p:cNvPicPr preferRelativeResize="0"/>
            <p:nvPr/>
          </p:nvPicPr>
          <p:blipFill rotWithShape="1">
            <a:blip r:embed="rId6">
              <a:alphaModFix/>
            </a:blip>
            <a:srcRect b="10" l="0" r="0" t="0"/>
            <a:stretch/>
          </p:blipFill>
          <p:spPr>
            <a:xfrm>
              <a:off x="5212360" y="3458995"/>
              <a:ext cx="137161" cy="137161"/>
            </a:xfrm>
            <a:prstGeom prst="rect">
              <a:avLst/>
            </a:prstGeom>
            <a:noFill/>
            <a:ln>
              <a:noFill/>
            </a:ln>
          </p:spPr>
        </p:pic>
        <p:sp>
          <p:nvSpPr>
            <p:cNvPr id="876" name="Google Shape;876;p34"/>
            <p:cNvSpPr txBox="1"/>
            <p:nvPr/>
          </p:nvSpPr>
          <p:spPr>
            <a:xfrm>
              <a:off x="5349472" y="3366032"/>
              <a:ext cx="2323800" cy="326700"/>
            </a:xfrm>
            <a:prstGeom prst="rect">
              <a:avLst/>
            </a:prstGeom>
            <a:noFill/>
            <a:ln>
              <a:noFill/>
            </a:ln>
          </p:spPr>
          <p:txBody>
            <a:bodyPr anchorCtr="0" anchor="t" bIns="89275" lIns="89275" spcFirstLastPara="1" rIns="89275" wrap="square" tIns="89275">
              <a:spAutoFit/>
            </a:bodyPr>
            <a:lstStyle/>
            <a:p>
              <a:pPr indent="0" lvl="0" marL="0" rtl="0" algn="l">
                <a:lnSpc>
                  <a:spcPct val="115000"/>
                </a:lnSpc>
                <a:spcBef>
                  <a:spcPts val="0"/>
                </a:spcBef>
                <a:spcAft>
                  <a:spcPts val="0"/>
                </a:spcAft>
                <a:buNone/>
              </a:pPr>
              <a:r>
                <a:rPr lang="en-GB" sz="900">
                  <a:solidFill>
                    <a:schemeClr val="dk1"/>
                  </a:solidFill>
                </a:rPr>
                <a:t>Guarantee tax / </a:t>
              </a:r>
              <a:r>
                <a:rPr lang="en-GB" sz="900">
                  <a:solidFill>
                    <a:schemeClr val="dk1"/>
                  </a:solidFill>
                </a:rPr>
                <a:t>legal</a:t>
              </a:r>
              <a:r>
                <a:rPr lang="en-GB" sz="900">
                  <a:solidFill>
                    <a:schemeClr val="dk1"/>
                  </a:solidFill>
                </a:rPr>
                <a:t> compliance</a:t>
              </a:r>
              <a:endParaRPr sz="900">
                <a:solidFill>
                  <a:schemeClr val="dk1"/>
                </a:solidFill>
              </a:endParaRPr>
            </a:p>
          </p:txBody>
        </p:sp>
      </p:grpSp>
      <p:grpSp>
        <p:nvGrpSpPr>
          <p:cNvPr id="877" name="Google Shape;877;p34"/>
          <p:cNvGrpSpPr/>
          <p:nvPr/>
        </p:nvGrpSpPr>
        <p:grpSpPr>
          <a:xfrm>
            <a:off x="5956631" y="3992212"/>
            <a:ext cx="2403081" cy="318990"/>
            <a:chOff x="5212360" y="3366032"/>
            <a:chExt cx="2460912" cy="326700"/>
          </a:xfrm>
        </p:grpSpPr>
        <p:pic>
          <p:nvPicPr>
            <p:cNvPr id="878" name="Google Shape;878;p34" title="close.png"/>
            <p:cNvPicPr preferRelativeResize="0"/>
            <p:nvPr/>
          </p:nvPicPr>
          <p:blipFill rotWithShape="1">
            <a:blip r:embed="rId6">
              <a:alphaModFix/>
            </a:blip>
            <a:srcRect b="10" l="0" r="0" t="0"/>
            <a:stretch/>
          </p:blipFill>
          <p:spPr>
            <a:xfrm>
              <a:off x="5212360" y="3458995"/>
              <a:ext cx="137161" cy="137161"/>
            </a:xfrm>
            <a:prstGeom prst="rect">
              <a:avLst/>
            </a:prstGeom>
            <a:noFill/>
            <a:ln>
              <a:noFill/>
            </a:ln>
          </p:spPr>
        </p:pic>
        <p:sp>
          <p:nvSpPr>
            <p:cNvPr id="879" name="Google Shape;879;p34"/>
            <p:cNvSpPr txBox="1"/>
            <p:nvPr/>
          </p:nvSpPr>
          <p:spPr>
            <a:xfrm>
              <a:off x="5349472" y="3366032"/>
              <a:ext cx="2323800" cy="326700"/>
            </a:xfrm>
            <a:prstGeom prst="rect">
              <a:avLst/>
            </a:prstGeom>
            <a:noFill/>
            <a:ln>
              <a:noFill/>
            </a:ln>
          </p:spPr>
          <p:txBody>
            <a:bodyPr anchorCtr="0" anchor="t" bIns="89275" lIns="89275" spcFirstLastPara="1" rIns="89275" wrap="square" tIns="89275">
              <a:spAutoFit/>
            </a:bodyPr>
            <a:lstStyle/>
            <a:p>
              <a:pPr indent="0" lvl="0" marL="0" rtl="0" algn="l">
                <a:lnSpc>
                  <a:spcPct val="115000"/>
                </a:lnSpc>
                <a:spcBef>
                  <a:spcPts val="0"/>
                </a:spcBef>
                <a:spcAft>
                  <a:spcPts val="0"/>
                </a:spcAft>
                <a:buNone/>
              </a:pPr>
              <a:r>
                <a:rPr lang="en-GB" sz="900">
                  <a:solidFill>
                    <a:schemeClr val="dk1"/>
                  </a:solidFill>
                </a:rPr>
                <a:t>Replace human judgement</a:t>
              </a:r>
              <a:endParaRPr sz="900">
                <a:solidFill>
                  <a:schemeClr val="dk1"/>
                </a:solidFill>
              </a:endParaRPr>
            </a:p>
          </p:txBody>
        </p:sp>
      </p:grpSp>
      <p:grpSp>
        <p:nvGrpSpPr>
          <p:cNvPr id="880" name="Google Shape;880;p34"/>
          <p:cNvGrpSpPr/>
          <p:nvPr/>
        </p:nvGrpSpPr>
        <p:grpSpPr>
          <a:xfrm>
            <a:off x="3201420" y="3992212"/>
            <a:ext cx="2403081" cy="318990"/>
            <a:chOff x="5212360" y="3366032"/>
            <a:chExt cx="2460912" cy="326700"/>
          </a:xfrm>
        </p:grpSpPr>
        <p:pic>
          <p:nvPicPr>
            <p:cNvPr id="881" name="Google Shape;881;p34" title="close.png"/>
            <p:cNvPicPr preferRelativeResize="0"/>
            <p:nvPr/>
          </p:nvPicPr>
          <p:blipFill rotWithShape="1">
            <a:blip r:embed="rId6">
              <a:alphaModFix/>
            </a:blip>
            <a:srcRect b="10" l="0" r="0" t="0"/>
            <a:stretch/>
          </p:blipFill>
          <p:spPr>
            <a:xfrm>
              <a:off x="5212360" y="3458995"/>
              <a:ext cx="137161" cy="137161"/>
            </a:xfrm>
            <a:prstGeom prst="rect">
              <a:avLst/>
            </a:prstGeom>
            <a:noFill/>
            <a:ln>
              <a:noFill/>
            </a:ln>
          </p:spPr>
        </p:pic>
        <p:sp>
          <p:nvSpPr>
            <p:cNvPr id="882" name="Google Shape;882;p34"/>
            <p:cNvSpPr txBox="1"/>
            <p:nvPr/>
          </p:nvSpPr>
          <p:spPr>
            <a:xfrm>
              <a:off x="5349472" y="3366032"/>
              <a:ext cx="2323800" cy="326700"/>
            </a:xfrm>
            <a:prstGeom prst="rect">
              <a:avLst/>
            </a:prstGeom>
            <a:noFill/>
            <a:ln>
              <a:noFill/>
            </a:ln>
          </p:spPr>
          <p:txBody>
            <a:bodyPr anchorCtr="0" anchor="t" bIns="89275" lIns="89275" spcFirstLastPara="1" rIns="89275" wrap="square" tIns="89275">
              <a:spAutoFit/>
            </a:bodyPr>
            <a:lstStyle/>
            <a:p>
              <a:pPr indent="0" lvl="0" marL="0" rtl="0" algn="l">
                <a:lnSpc>
                  <a:spcPct val="115000"/>
                </a:lnSpc>
                <a:spcBef>
                  <a:spcPts val="0"/>
                </a:spcBef>
                <a:spcAft>
                  <a:spcPts val="0"/>
                </a:spcAft>
                <a:buNone/>
              </a:pPr>
              <a:r>
                <a:rPr lang="en-GB" sz="900">
                  <a:solidFill>
                    <a:schemeClr val="dk1"/>
                  </a:solidFill>
                </a:rPr>
                <a:t>Make policy decisions for you</a:t>
              </a:r>
              <a:endParaRPr sz="900">
                <a:solidFill>
                  <a:schemeClr val="dk1"/>
                </a:solidFill>
              </a:endParaRPr>
            </a:p>
          </p:txBody>
        </p:sp>
      </p:grpSp>
      <p:grpSp>
        <p:nvGrpSpPr>
          <p:cNvPr id="883" name="Google Shape;883;p34"/>
          <p:cNvGrpSpPr/>
          <p:nvPr/>
        </p:nvGrpSpPr>
        <p:grpSpPr>
          <a:xfrm>
            <a:off x="5956631" y="3675412"/>
            <a:ext cx="2403081" cy="318990"/>
            <a:chOff x="5212360" y="3366032"/>
            <a:chExt cx="2460912" cy="326700"/>
          </a:xfrm>
        </p:grpSpPr>
        <p:pic>
          <p:nvPicPr>
            <p:cNvPr id="884" name="Google Shape;884;p34" title="close.png"/>
            <p:cNvPicPr preferRelativeResize="0"/>
            <p:nvPr/>
          </p:nvPicPr>
          <p:blipFill rotWithShape="1">
            <a:blip r:embed="rId6">
              <a:alphaModFix/>
            </a:blip>
            <a:srcRect b="10" l="0" r="0" t="0"/>
            <a:stretch/>
          </p:blipFill>
          <p:spPr>
            <a:xfrm>
              <a:off x="5212360" y="3458995"/>
              <a:ext cx="137161" cy="137161"/>
            </a:xfrm>
            <a:prstGeom prst="rect">
              <a:avLst/>
            </a:prstGeom>
            <a:noFill/>
            <a:ln>
              <a:noFill/>
            </a:ln>
          </p:spPr>
        </p:pic>
        <p:sp>
          <p:nvSpPr>
            <p:cNvPr id="885" name="Google Shape;885;p34"/>
            <p:cNvSpPr txBox="1"/>
            <p:nvPr/>
          </p:nvSpPr>
          <p:spPr>
            <a:xfrm>
              <a:off x="5349472" y="3366032"/>
              <a:ext cx="2323800" cy="326700"/>
            </a:xfrm>
            <a:prstGeom prst="rect">
              <a:avLst/>
            </a:prstGeom>
            <a:noFill/>
            <a:ln>
              <a:noFill/>
            </a:ln>
          </p:spPr>
          <p:txBody>
            <a:bodyPr anchorCtr="0" anchor="t" bIns="89275" lIns="89275" spcFirstLastPara="1" rIns="89275" wrap="square" tIns="89275">
              <a:spAutoFit/>
            </a:bodyPr>
            <a:lstStyle/>
            <a:p>
              <a:pPr indent="0" lvl="0" marL="0" rtl="0" algn="l">
                <a:lnSpc>
                  <a:spcPct val="115000"/>
                </a:lnSpc>
                <a:spcBef>
                  <a:spcPts val="0"/>
                </a:spcBef>
                <a:spcAft>
                  <a:spcPts val="0"/>
                </a:spcAft>
                <a:buNone/>
              </a:pPr>
              <a:r>
                <a:rPr lang="en-GB" sz="900">
                  <a:solidFill>
                    <a:schemeClr val="dk1"/>
                  </a:solidFill>
                </a:rPr>
                <a:t>Put every ERP function into chat</a:t>
              </a:r>
              <a:endParaRPr sz="900">
                <a:solidFill>
                  <a:schemeClr val="dk1"/>
                </a:solidFill>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C2B3E"/>
        </a:solidFill>
      </p:bgPr>
    </p:bg>
    <p:spTree>
      <p:nvGrpSpPr>
        <p:cNvPr id="890" name="Shape 890"/>
        <p:cNvGrpSpPr/>
        <p:nvPr/>
      </p:nvGrpSpPr>
      <p:grpSpPr>
        <a:xfrm>
          <a:off x="0" y="0"/>
          <a:ext cx="0" cy="0"/>
          <a:chOff x="0" y="0"/>
          <a:chExt cx="0" cy="0"/>
        </a:xfrm>
      </p:grpSpPr>
      <p:sp>
        <p:nvSpPr>
          <p:cNvPr id="891" name="Google Shape;891;p35"/>
          <p:cNvSpPr/>
          <p:nvPr/>
        </p:nvSpPr>
        <p:spPr>
          <a:xfrm>
            <a:off x="685837" y="377190"/>
            <a:ext cx="7772700" cy="48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400"/>
              <a:buFont typeface="Arial"/>
              <a:buNone/>
            </a:pPr>
            <a:r>
              <a:rPr b="1" lang="en-GB" sz="2400">
                <a:solidFill>
                  <a:srgbClr val="FFFFFF"/>
                </a:solidFill>
                <a:latin typeface="Poppins"/>
                <a:ea typeface="Poppins"/>
                <a:cs typeface="Poppins"/>
                <a:sym typeface="Poppins"/>
              </a:rPr>
              <a:t>Watch first, then you drive.</a:t>
            </a:r>
            <a:endParaRPr sz="2400">
              <a:solidFill>
                <a:schemeClr val="dk1"/>
              </a:solidFill>
              <a:latin typeface="Poppins"/>
              <a:ea typeface="Poppins"/>
              <a:cs typeface="Poppins"/>
              <a:sym typeface="Poppins"/>
            </a:endParaRPr>
          </a:p>
        </p:txBody>
      </p:sp>
      <p:sp>
        <p:nvSpPr>
          <p:cNvPr id="892" name="Google Shape;892;p35"/>
          <p:cNvSpPr/>
          <p:nvPr/>
        </p:nvSpPr>
        <p:spPr>
          <a:xfrm>
            <a:off x="685837" y="877824"/>
            <a:ext cx="7772586"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2A6BE"/>
              </a:buClr>
              <a:buSzPts val="1100"/>
              <a:buFont typeface="Arial"/>
              <a:buNone/>
            </a:pPr>
            <a:r>
              <a:rPr i="1" lang="en-GB" sz="1100">
                <a:solidFill>
                  <a:srgbClr val="92A6BE"/>
                </a:solidFill>
                <a:latin typeface="Arial"/>
                <a:ea typeface="Arial"/>
                <a:cs typeface="Arial"/>
                <a:sym typeface="Arial"/>
              </a:rPr>
              <a:t>We'll pause — you predict what happens next.</a:t>
            </a:r>
            <a:endParaRPr sz="1100">
              <a:solidFill>
                <a:schemeClr val="dk1"/>
              </a:solidFill>
              <a:latin typeface="Calibri"/>
              <a:ea typeface="Calibri"/>
              <a:cs typeface="Calibri"/>
              <a:sym typeface="Calibri"/>
            </a:endParaRPr>
          </a:p>
        </p:txBody>
      </p:sp>
      <p:sp>
        <p:nvSpPr>
          <p:cNvPr id="893" name="Google Shape;893;p35"/>
          <p:cNvSpPr/>
          <p:nvPr/>
        </p:nvSpPr>
        <p:spPr>
          <a:xfrm>
            <a:off x="2788805" y="1706883"/>
            <a:ext cx="3566400" cy="1714500"/>
          </a:xfrm>
          <a:prstGeom prst="roundRect">
            <a:avLst>
              <a:gd fmla="val 4800" name="adj"/>
            </a:avLst>
          </a:prstGeom>
          <a:solidFill>
            <a:srgbClr val="27394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894" name="Google Shape;894;p35"/>
          <p:cNvSpPr/>
          <p:nvPr/>
        </p:nvSpPr>
        <p:spPr>
          <a:xfrm>
            <a:off x="2788805" y="1706883"/>
            <a:ext cx="3566400" cy="342900"/>
          </a:xfrm>
          <a:prstGeom prst="roundRect">
            <a:avLst>
              <a:gd fmla="val 24000" name="adj"/>
            </a:avLst>
          </a:prstGeom>
          <a:solidFill>
            <a:srgbClr val="32495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895" name="Google Shape;895;p35"/>
          <p:cNvSpPr/>
          <p:nvPr/>
        </p:nvSpPr>
        <p:spPr>
          <a:xfrm>
            <a:off x="2788805" y="1878333"/>
            <a:ext cx="3566400" cy="171600"/>
          </a:xfrm>
          <a:prstGeom prst="rect">
            <a:avLst/>
          </a:prstGeom>
          <a:solidFill>
            <a:srgbClr val="32495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896" name="Google Shape;896;p35"/>
          <p:cNvSpPr/>
          <p:nvPr/>
        </p:nvSpPr>
        <p:spPr>
          <a:xfrm>
            <a:off x="2884822" y="1775463"/>
            <a:ext cx="205800" cy="205800"/>
          </a:xfrm>
          <a:prstGeom prst="ellipse">
            <a:avLst/>
          </a:prstGeom>
          <a:solidFill>
            <a:srgbClr val="1A9D5C"/>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MessageCircle_white.png" id="897" name="Google Shape;897;p35"/>
          <p:cNvPicPr preferRelativeResize="0"/>
          <p:nvPr/>
        </p:nvPicPr>
        <p:blipFill rotWithShape="1">
          <a:blip r:embed="rId3">
            <a:alphaModFix/>
          </a:blip>
          <a:srcRect b="0" l="0" r="0" t="0"/>
          <a:stretch/>
        </p:blipFill>
        <p:spPr>
          <a:xfrm>
            <a:off x="2931116" y="1821754"/>
            <a:ext cx="113157" cy="113157"/>
          </a:xfrm>
          <a:prstGeom prst="rect">
            <a:avLst/>
          </a:prstGeom>
          <a:noFill/>
          <a:ln>
            <a:noFill/>
          </a:ln>
        </p:spPr>
      </p:pic>
      <p:sp>
        <p:nvSpPr>
          <p:cNvPr id="898" name="Google Shape;898;p35"/>
          <p:cNvSpPr/>
          <p:nvPr/>
        </p:nvSpPr>
        <p:spPr>
          <a:xfrm>
            <a:off x="3159156" y="1706883"/>
            <a:ext cx="137160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Arial"/>
              <a:buNone/>
            </a:pPr>
            <a:r>
              <a:rPr b="1" lang="en-GB" sz="900">
                <a:solidFill>
                  <a:srgbClr val="FFFFFF"/>
                </a:solidFill>
                <a:latin typeface="Arial"/>
                <a:ea typeface="Arial"/>
                <a:cs typeface="Arial"/>
                <a:sym typeface="Arial"/>
              </a:rPr>
              <a:t>MAIA</a:t>
            </a:r>
            <a:endParaRPr sz="900">
              <a:solidFill>
                <a:schemeClr val="dk1"/>
              </a:solidFill>
              <a:latin typeface="Calibri"/>
              <a:ea typeface="Calibri"/>
              <a:cs typeface="Calibri"/>
              <a:sym typeface="Calibri"/>
            </a:endParaRPr>
          </a:p>
        </p:txBody>
      </p:sp>
      <p:sp>
        <p:nvSpPr>
          <p:cNvPr id="899" name="Google Shape;899;p35"/>
          <p:cNvSpPr/>
          <p:nvPr/>
        </p:nvSpPr>
        <p:spPr>
          <a:xfrm>
            <a:off x="5463567" y="1706883"/>
            <a:ext cx="788700" cy="3429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A9D5C"/>
              </a:buClr>
              <a:buSzPts val="700"/>
              <a:buFont typeface="Arial"/>
              <a:buNone/>
            </a:pPr>
            <a:r>
              <a:rPr lang="en-GB" sz="700">
                <a:solidFill>
                  <a:srgbClr val="1A9D5C"/>
                </a:solidFill>
                <a:latin typeface="Arial"/>
                <a:ea typeface="Arial"/>
                <a:cs typeface="Arial"/>
                <a:sym typeface="Arial"/>
              </a:rPr>
              <a:t>online</a:t>
            </a:r>
            <a:endParaRPr sz="700">
              <a:solidFill>
                <a:schemeClr val="dk1"/>
              </a:solidFill>
              <a:latin typeface="Calibri"/>
              <a:ea typeface="Calibri"/>
              <a:cs typeface="Calibri"/>
              <a:sym typeface="Calibri"/>
            </a:endParaRPr>
          </a:p>
        </p:txBody>
      </p:sp>
      <p:sp>
        <p:nvSpPr>
          <p:cNvPr id="900" name="Google Shape;900;p35"/>
          <p:cNvSpPr/>
          <p:nvPr/>
        </p:nvSpPr>
        <p:spPr>
          <a:xfrm>
            <a:off x="2939689" y="2159511"/>
            <a:ext cx="2772300" cy="548700"/>
          </a:xfrm>
          <a:prstGeom prst="roundRect">
            <a:avLst>
              <a:gd fmla="val 12500" name="adj"/>
            </a:avLst>
          </a:prstGeom>
          <a:solidFill>
            <a:srgbClr val="32495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901" name="Google Shape;901;p35"/>
          <p:cNvSpPr/>
          <p:nvPr/>
        </p:nvSpPr>
        <p:spPr>
          <a:xfrm>
            <a:off x="3035706" y="2159511"/>
            <a:ext cx="25800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Arial"/>
              <a:buNone/>
            </a:pPr>
            <a:r>
              <a:rPr lang="en-GB" sz="900">
                <a:solidFill>
                  <a:srgbClr val="FFFFFF"/>
                </a:solidFill>
                <a:latin typeface="Arial"/>
                <a:ea typeface="Arial"/>
                <a:cs typeface="Arial"/>
                <a:sym typeface="Arial"/>
              </a:rPr>
              <a:t>Morning — ready to process today's orders?</a:t>
            </a:r>
            <a:endParaRPr sz="900">
              <a:solidFill>
                <a:schemeClr val="dk1"/>
              </a:solidFill>
              <a:latin typeface="Calibri"/>
              <a:ea typeface="Calibri"/>
              <a:cs typeface="Calibri"/>
              <a:sym typeface="Calibri"/>
            </a:endParaRPr>
          </a:p>
        </p:txBody>
      </p:sp>
      <p:sp>
        <p:nvSpPr>
          <p:cNvPr id="902" name="Google Shape;902;p35"/>
          <p:cNvSpPr/>
          <p:nvPr/>
        </p:nvSpPr>
        <p:spPr>
          <a:xfrm>
            <a:off x="2939689" y="2804163"/>
            <a:ext cx="2772300" cy="548700"/>
          </a:xfrm>
          <a:prstGeom prst="roundRect">
            <a:avLst>
              <a:gd fmla="val 12500" name="adj"/>
            </a:avLst>
          </a:prstGeom>
          <a:solidFill>
            <a:srgbClr val="32495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903" name="Google Shape;903;p35"/>
          <p:cNvSpPr/>
          <p:nvPr/>
        </p:nvSpPr>
        <p:spPr>
          <a:xfrm>
            <a:off x="3035706" y="2804163"/>
            <a:ext cx="25800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Arial"/>
              <a:buNone/>
            </a:pPr>
            <a:r>
              <a:rPr lang="en-GB" sz="900">
                <a:solidFill>
                  <a:srgbClr val="FFFFFF"/>
                </a:solidFill>
                <a:latin typeface="Arial"/>
                <a:ea typeface="Arial"/>
                <a:cs typeface="Arial"/>
                <a:sym typeface="Arial"/>
              </a:rPr>
              <a:t>Warung Pak Din just sent their weekly PO.</a:t>
            </a:r>
            <a:endParaRPr sz="900">
              <a:solidFill>
                <a:schemeClr val="dk1"/>
              </a:solidFill>
              <a:latin typeface="Calibri"/>
              <a:ea typeface="Calibri"/>
              <a:cs typeface="Calibri"/>
              <a:sym typeface="Calibri"/>
            </a:endParaRPr>
          </a:p>
        </p:txBody>
      </p:sp>
      <p:sp>
        <p:nvSpPr>
          <p:cNvPr id="904" name="Google Shape;904;p35"/>
          <p:cNvSpPr/>
          <p:nvPr/>
        </p:nvSpPr>
        <p:spPr>
          <a:xfrm>
            <a:off x="2788805" y="1706883"/>
            <a:ext cx="3566400" cy="1714500"/>
          </a:xfrm>
          <a:prstGeom prst="roundRect">
            <a:avLst>
              <a:gd fmla="val 4800" name="adj"/>
            </a:avLst>
          </a:prstGeom>
          <a:solidFill>
            <a:srgbClr val="1C2B3E">
              <a:alpha val="54901"/>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905" name="Google Shape;905;p35"/>
          <p:cNvSpPr/>
          <p:nvPr/>
        </p:nvSpPr>
        <p:spPr>
          <a:xfrm>
            <a:off x="4177624" y="2169798"/>
            <a:ext cx="788700" cy="788700"/>
          </a:xfrm>
          <a:prstGeom prst="ellipse">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Play_white.png" id="906" name="Google Shape;906;p35"/>
          <p:cNvPicPr preferRelativeResize="0"/>
          <p:nvPr/>
        </p:nvPicPr>
        <p:blipFill rotWithShape="1">
          <a:blip r:embed="rId4">
            <a:alphaModFix/>
          </a:blip>
          <a:srcRect b="0" l="0" r="0" t="0"/>
          <a:stretch/>
        </p:blipFill>
        <p:spPr>
          <a:xfrm>
            <a:off x="4430011" y="2390625"/>
            <a:ext cx="315468" cy="315468"/>
          </a:xfrm>
          <a:prstGeom prst="rect">
            <a:avLst/>
          </a:prstGeom>
          <a:noFill/>
          <a:ln>
            <a:noFill/>
          </a:ln>
        </p:spPr>
      </p:pic>
      <p:sp>
        <p:nvSpPr>
          <p:cNvPr id="907" name="Google Shape;907;p35"/>
          <p:cNvSpPr/>
          <p:nvPr/>
        </p:nvSpPr>
        <p:spPr>
          <a:xfrm>
            <a:off x="1069904" y="3943355"/>
            <a:ext cx="123600" cy="123300"/>
          </a:xfrm>
          <a:prstGeom prst="ellipse">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908" name="Google Shape;908;p35"/>
          <p:cNvSpPr/>
          <p:nvPr/>
        </p:nvSpPr>
        <p:spPr>
          <a:xfrm>
            <a:off x="445793" y="4128521"/>
            <a:ext cx="1371600" cy="24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2A6BE"/>
              </a:buClr>
              <a:buSzPts val="800"/>
              <a:buFont typeface="Arial"/>
              <a:buNone/>
            </a:pPr>
            <a:r>
              <a:rPr lang="en-GB" sz="800">
                <a:solidFill>
                  <a:srgbClr val="92A6BE"/>
                </a:solidFill>
                <a:latin typeface="Arial"/>
                <a:ea typeface="Arial"/>
                <a:cs typeface="Arial"/>
                <a:sym typeface="Arial"/>
              </a:rPr>
              <a:t>1  CPO / SO</a:t>
            </a:r>
            <a:endParaRPr sz="900">
              <a:solidFill>
                <a:schemeClr val="dk1"/>
              </a:solidFill>
              <a:latin typeface="Calibri"/>
              <a:ea typeface="Calibri"/>
              <a:cs typeface="Calibri"/>
              <a:sym typeface="Calibri"/>
            </a:endParaRPr>
          </a:p>
        </p:txBody>
      </p:sp>
      <p:sp>
        <p:nvSpPr>
          <p:cNvPr id="909" name="Google Shape;909;p35"/>
          <p:cNvSpPr/>
          <p:nvPr/>
        </p:nvSpPr>
        <p:spPr>
          <a:xfrm>
            <a:off x="2167244" y="3943355"/>
            <a:ext cx="123600" cy="123300"/>
          </a:xfrm>
          <a:prstGeom prst="ellipse">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910" name="Google Shape;910;p35"/>
          <p:cNvSpPr/>
          <p:nvPr/>
        </p:nvSpPr>
        <p:spPr>
          <a:xfrm>
            <a:off x="1543132" y="4128521"/>
            <a:ext cx="1371600" cy="24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2A6BE"/>
              </a:buClr>
              <a:buSzPts val="800"/>
              <a:buFont typeface="Arial"/>
              <a:buNone/>
            </a:pPr>
            <a:r>
              <a:rPr lang="en-GB" sz="800">
                <a:solidFill>
                  <a:srgbClr val="92A6BE"/>
                </a:solidFill>
                <a:latin typeface="Arial"/>
                <a:ea typeface="Arial"/>
                <a:cs typeface="Arial"/>
                <a:sym typeface="Arial"/>
              </a:rPr>
              <a:t>2  Credit</a:t>
            </a:r>
            <a:endParaRPr sz="900">
              <a:solidFill>
                <a:schemeClr val="dk1"/>
              </a:solidFill>
              <a:latin typeface="Calibri"/>
              <a:ea typeface="Calibri"/>
              <a:cs typeface="Calibri"/>
              <a:sym typeface="Calibri"/>
            </a:endParaRPr>
          </a:p>
        </p:txBody>
      </p:sp>
      <p:sp>
        <p:nvSpPr>
          <p:cNvPr id="911" name="Google Shape;911;p35"/>
          <p:cNvSpPr/>
          <p:nvPr/>
        </p:nvSpPr>
        <p:spPr>
          <a:xfrm>
            <a:off x="3264582" y="3943355"/>
            <a:ext cx="123600" cy="123300"/>
          </a:xfrm>
          <a:prstGeom prst="ellipse">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912" name="Google Shape;912;p35"/>
          <p:cNvSpPr/>
          <p:nvPr/>
        </p:nvSpPr>
        <p:spPr>
          <a:xfrm>
            <a:off x="2640470" y="4128521"/>
            <a:ext cx="1371600" cy="24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2A6BE"/>
              </a:buClr>
              <a:buSzPts val="800"/>
              <a:buFont typeface="Arial"/>
              <a:buNone/>
            </a:pPr>
            <a:r>
              <a:rPr lang="en-GB" sz="800">
                <a:solidFill>
                  <a:srgbClr val="92A6BE"/>
                </a:solidFill>
                <a:latin typeface="Arial"/>
                <a:ea typeface="Arial"/>
                <a:cs typeface="Arial"/>
                <a:sym typeface="Arial"/>
              </a:rPr>
              <a:t>3  SO→DN→SI</a:t>
            </a:r>
            <a:endParaRPr sz="900">
              <a:solidFill>
                <a:schemeClr val="dk1"/>
              </a:solidFill>
              <a:latin typeface="Calibri"/>
              <a:ea typeface="Calibri"/>
              <a:cs typeface="Calibri"/>
              <a:sym typeface="Calibri"/>
            </a:endParaRPr>
          </a:p>
        </p:txBody>
      </p:sp>
      <p:sp>
        <p:nvSpPr>
          <p:cNvPr id="913" name="Google Shape;913;p35"/>
          <p:cNvSpPr/>
          <p:nvPr/>
        </p:nvSpPr>
        <p:spPr>
          <a:xfrm>
            <a:off x="4361921" y="3943355"/>
            <a:ext cx="123600" cy="123300"/>
          </a:xfrm>
          <a:prstGeom prst="ellipse">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914" name="Google Shape;914;p35"/>
          <p:cNvSpPr/>
          <p:nvPr/>
        </p:nvSpPr>
        <p:spPr>
          <a:xfrm>
            <a:off x="3737809" y="4128521"/>
            <a:ext cx="1371600" cy="24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2A6BE"/>
              </a:buClr>
              <a:buSzPts val="800"/>
              <a:buFont typeface="Arial"/>
              <a:buNone/>
            </a:pPr>
            <a:r>
              <a:rPr lang="en-GB" sz="800">
                <a:solidFill>
                  <a:srgbClr val="92A6BE"/>
                </a:solidFill>
                <a:latin typeface="Arial"/>
                <a:ea typeface="Arial"/>
                <a:cs typeface="Arial"/>
                <a:sym typeface="Arial"/>
              </a:rPr>
              <a:t>4  Pick</a:t>
            </a:r>
            <a:endParaRPr sz="900">
              <a:solidFill>
                <a:schemeClr val="dk1"/>
              </a:solidFill>
              <a:latin typeface="Calibri"/>
              <a:ea typeface="Calibri"/>
              <a:cs typeface="Calibri"/>
              <a:sym typeface="Calibri"/>
            </a:endParaRPr>
          </a:p>
        </p:txBody>
      </p:sp>
      <p:sp>
        <p:nvSpPr>
          <p:cNvPr id="915" name="Google Shape;915;p35"/>
          <p:cNvSpPr/>
          <p:nvPr/>
        </p:nvSpPr>
        <p:spPr>
          <a:xfrm>
            <a:off x="5459259" y="3943355"/>
            <a:ext cx="123600" cy="123300"/>
          </a:xfrm>
          <a:prstGeom prst="ellipse">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916" name="Google Shape;916;p35"/>
          <p:cNvSpPr/>
          <p:nvPr/>
        </p:nvSpPr>
        <p:spPr>
          <a:xfrm>
            <a:off x="4835148" y="4128521"/>
            <a:ext cx="1371600" cy="24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2A6BE"/>
              </a:buClr>
              <a:buSzPts val="800"/>
              <a:buFont typeface="Arial"/>
              <a:buNone/>
            </a:pPr>
            <a:r>
              <a:rPr lang="en-GB" sz="800">
                <a:solidFill>
                  <a:srgbClr val="92A6BE"/>
                </a:solidFill>
                <a:latin typeface="Arial"/>
                <a:ea typeface="Arial"/>
                <a:cs typeface="Arial"/>
                <a:sym typeface="Arial"/>
              </a:rPr>
              <a:t>5  Deliver</a:t>
            </a:r>
            <a:endParaRPr sz="900">
              <a:solidFill>
                <a:schemeClr val="dk1"/>
              </a:solidFill>
              <a:latin typeface="Calibri"/>
              <a:ea typeface="Calibri"/>
              <a:cs typeface="Calibri"/>
              <a:sym typeface="Calibri"/>
            </a:endParaRPr>
          </a:p>
        </p:txBody>
      </p:sp>
      <p:sp>
        <p:nvSpPr>
          <p:cNvPr id="917" name="Google Shape;917;p35"/>
          <p:cNvSpPr/>
          <p:nvPr/>
        </p:nvSpPr>
        <p:spPr>
          <a:xfrm>
            <a:off x="6556598" y="3943355"/>
            <a:ext cx="123600" cy="123300"/>
          </a:xfrm>
          <a:prstGeom prst="ellipse">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918" name="Google Shape;918;p35"/>
          <p:cNvSpPr/>
          <p:nvPr/>
        </p:nvSpPr>
        <p:spPr>
          <a:xfrm>
            <a:off x="5932486" y="4128521"/>
            <a:ext cx="1371600" cy="24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2A6BE"/>
              </a:buClr>
              <a:buSzPts val="800"/>
              <a:buFont typeface="Arial"/>
              <a:buNone/>
            </a:pPr>
            <a:r>
              <a:rPr lang="en-GB" sz="800">
                <a:solidFill>
                  <a:srgbClr val="92A6BE"/>
                </a:solidFill>
                <a:latin typeface="Arial"/>
                <a:ea typeface="Arial"/>
                <a:cs typeface="Arial"/>
                <a:sym typeface="Arial"/>
              </a:rPr>
              <a:t>6  New Customer</a:t>
            </a:r>
            <a:endParaRPr sz="900">
              <a:solidFill>
                <a:schemeClr val="dk1"/>
              </a:solidFill>
              <a:latin typeface="Calibri"/>
              <a:ea typeface="Calibri"/>
              <a:cs typeface="Calibri"/>
              <a:sym typeface="Calibri"/>
            </a:endParaRPr>
          </a:p>
        </p:txBody>
      </p:sp>
      <p:sp>
        <p:nvSpPr>
          <p:cNvPr id="919" name="Google Shape;919;p35"/>
          <p:cNvSpPr/>
          <p:nvPr/>
        </p:nvSpPr>
        <p:spPr>
          <a:xfrm>
            <a:off x="7653936" y="3943355"/>
            <a:ext cx="123600" cy="123300"/>
          </a:xfrm>
          <a:prstGeom prst="ellipse">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920" name="Google Shape;920;p35"/>
          <p:cNvSpPr/>
          <p:nvPr/>
        </p:nvSpPr>
        <p:spPr>
          <a:xfrm>
            <a:off x="7029825" y="4128521"/>
            <a:ext cx="1371600" cy="24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2A6BE"/>
              </a:buClr>
              <a:buSzPts val="800"/>
              <a:buFont typeface="Arial"/>
              <a:buNone/>
            </a:pPr>
            <a:r>
              <a:rPr lang="en-GB" sz="800">
                <a:solidFill>
                  <a:srgbClr val="92A6BE"/>
                </a:solidFill>
                <a:latin typeface="Arial"/>
                <a:ea typeface="Arial"/>
                <a:cs typeface="Arial"/>
                <a:sym typeface="Arial"/>
              </a:rPr>
              <a:t>7  New Item</a:t>
            </a:r>
            <a:endParaRPr sz="900">
              <a:solidFill>
                <a:schemeClr val="dk1"/>
              </a:solidFill>
              <a:latin typeface="Calibri"/>
              <a:ea typeface="Calibri"/>
              <a:cs typeface="Calibri"/>
              <a:sym typeface="Calibri"/>
            </a:endParaRPr>
          </a:p>
        </p:txBody>
      </p:sp>
      <p:sp>
        <p:nvSpPr>
          <p:cNvPr id="921" name="Google Shape;921;p35"/>
          <p:cNvSpPr txBox="1"/>
          <p:nvPr>
            <p:ph idx="12" type="sldNum"/>
          </p:nvPr>
        </p:nvSpPr>
        <p:spPr>
          <a:xfrm>
            <a:off x="8347216" y="4750189"/>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C2B3E"/>
        </a:solidFill>
      </p:bgPr>
    </p:bg>
    <p:spTree>
      <p:nvGrpSpPr>
        <p:cNvPr id="926" name="Shape 926"/>
        <p:cNvGrpSpPr/>
        <p:nvPr/>
      </p:nvGrpSpPr>
      <p:grpSpPr>
        <a:xfrm>
          <a:off x="0" y="0"/>
          <a:ext cx="0" cy="0"/>
          <a:chOff x="0" y="0"/>
          <a:chExt cx="0" cy="0"/>
        </a:xfrm>
      </p:grpSpPr>
      <p:sp>
        <p:nvSpPr>
          <p:cNvPr id="927" name="Google Shape;927;p36"/>
          <p:cNvSpPr/>
          <p:nvPr/>
        </p:nvSpPr>
        <p:spPr>
          <a:xfrm rot="-239987">
            <a:off x="2788955" y="308610"/>
            <a:ext cx="2880513" cy="3703321"/>
          </a:xfrm>
          <a:prstGeom prst="roundRect">
            <a:avLst>
              <a:gd fmla="val 2857" name="adj"/>
            </a:avLst>
          </a:prstGeom>
          <a:solidFill>
            <a:srgbClr val="27394F">
              <a:alpha val="30196"/>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928" name="Google Shape;928;p36"/>
          <p:cNvSpPr/>
          <p:nvPr/>
        </p:nvSpPr>
        <p:spPr>
          <a:xfrm>
            <a:off x="3131873" y="411480"/>
            <a:ext cx="2880514" cy="3703320"/>
          </a:xfrm>
          <a:prstGeom prst="roundRect">
            <a:avLst>
              <a:gd fmla="val 2857" name="adj"/>
            </a:avLst>
          </a:prstGeom>
          <a:solidFill>
            <a:srgbClr val="27394F">
              <a:alpha val="30196"/>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929" name="Google Shape;929;p36"/>
          <p:cNvSpPr/>
          <p:nvPr/>
        </p:nvSpPr>
        <p:spPr>
          <a:xfrm rot="239987">
            <a:off x="3474792" y="514350"/>
            <a:ext cx="2880513" cy="3703321"/>
          </a:xfrm>
          <a:prstGeom prst="roundRect">
            <a:avLst>
              <a:gd fmla="val 2857" name="adj"/>
            </a:avLst>
          </a:prstGeom>
          <a:solidFill>
            <a:srgbClr val="27394F">
              <a:alpha val="30196"/>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930" name="Google Shape;930;p36"/>
          <p:cNvSpPr/>
          <p:nvPr/>
        </p:nvSpPr>
        <p:spPr>
          <a:xfrm>
            <a:off x="3543375" y="891540"/>
            <a:ext cx="1783175" cy="54864"/>
          </a:xfrm>
          <a:prstGeom prst="rect">
            <a:avLst/>
          </a:prstGeom>
          <a:solidFill>
            <a:srgbClr val="92A6BE">
              <a:alpha val="14901"/>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931" name="Google Shape;931;p36"/>
          <p:cNvSpPr/>
          <p:nvPr/>
        </p:nvSpPr>
        <p:spPr>
          <a:xfrm>
            <a:off x="3543375" y="1179576"/>
            <a:ext cx="1440257" cy="54864"/>
          </a:xfrm>
          <a:prstGeom prst="rect">
            <a:avLst/>
          </a:prstGeom>
          <a:solidFill>
            <a:srgbClr val="92A6BE">
              <a:alpha val="14901"/>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932" name="Google Shape;932;p36"/>
          <p:cNvSpPr/>
          <p:nvPr/>
        </p:nvSpPr>
        <p:spPr>
          <a:xfrm>
            <a:off x="3543375" y="1467612"/>
            <a:ext cx="1097339" cy="54864"/>
          </a:xfrm>
          <a:prstGeom prst="rect">
            <a:avLst/>
          </a:prstGeom>
          <a:solidFill>
            <a:srgbClr val="92A6BE">
              <a:alpha val="14901"/>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933" name="Google Shape;933;p36"/>
          <p:cNvSpPr/>
          <p:nvPr/>
        </p:nvSpPr>
        <p:spPr>
          <a:xfrm>
            <a:off x="3543375" y="1755648"/>
            <a:ext cx="1783175" cy="54864"/>
          </a:xfrm>
          <a:prstGeom prst="rect">
            <a:avLst/>
          </a:prstGeom>
          <a:solidFill>
            <a:srgbClr val="92A6BE">
              <a:alpha val="14901"/>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934" name="Google Shape;934;p36"/>
          <p:cNvSpPr/>
          <p:nvPr/>
        </p:nvSpPr>
        <p:spPr>
          <a:xfrm>
            <a:off x="3543375" y="2043684"/>
            <a:ext cx="1440257" cy="54864"/>
          </a:xfrm>
          <a:prstGeom prst="rect">
            <a:avLst/>
          </a:prstGeom>
          <a:solidFill>
            <a:srgbClr val="92A6BE">
              <a:alpha val="14901"/>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935" name="Google Shape;935;p36"/>
          <p:cNvSpPr/>
          <p:nvPr/>
        </p:nvSpPr>
        <p:spPr>
          <a:xfrm>
            <a:off x="3543375" y="2331720"/>
            <a:ext cx="1097339" cy="54864"/>
          </a:xfrm>
          <a:prstGeom prst="rect">
            <a:avLst/>
          </a:prstGeom>
          <a:solidFill>
            <a:srgbClr val="92A6BE">
              <a:alpha val="14901"/>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936" name="Google Shape;936;p36"/>
          <p:cNvSpPr/>
          <p:nvPr/>
        </p:nvSpPr>
        <p:spPr>
          <a:xfrm>
            <a:off x="3543375" y="2619756"/>
            <a:ext cx="1783175" cy="54864"/>
          </a:xfrm>
          <a:prstGeom prst="rect">
            <a:avLst/>
          </a:prstGeom>
          <a:solidFill>
            <a:srgbClr val="92A6BE">
              <a:alpha val="14901"/>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937" name="Google Shape;937;p36"/>
          <p:cNvSpPr/>
          <p:nvPr/>
        </p:nvSpPr>
        <p:spPr>
          <a:xfrm>
            <a:off x="3543375" y="2907792"/>
            <a:ext cx="1440257" cy="54864"/>
          </a:xfrm>
          <a:prstGeom prst="rect">
            <a:avLst/>
          </a:prstGeom>
          <a:solidFill>
            <a:srgbClr val="92A6BE">
              <a:alpha val="14901"/>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938" name="Google Shape;938;p36"/>
          <p:cNvSpPr/>
          <p:nvPr/>
        </p:nvSpPr>
        <p:spPr>
          <a:xfrm>
            <a:off x="411502" y="342900"/>
            <a:ext cx="205751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21E"/>
              </a:buClr>
              <a:buSzPts val="1100"/>
              <a:buFont typeface="Arial"/>
              <a:buNone/>
            </a:pPr>
            <a:r>
              <a:rPr b="1" lang="en-GB" sz="1100">
                <a:solidFill>
                  <a:srgbClr val="E8821E"/>
                </a:solidFill>
                <a:latin typeface="Arial"/>
                <a:ea typeface="Arial"/>
                <a:cs typeface="Arial"/>
                <a:sym typeface="Arial"/>
              </a:rPr>
              <a:t>01 / 07</a:t>
            </a:r>
            <a:endParaRPr sz="1100">
              <a:solidFill>
                <a:schemeClr val="dk1"/>
              </a:solidFill>
              <a:latin typeface="Calibri"/>
              <a:ea typeface="Calibri"/>
              <a:cs typeface="Calibri"/>
              <a:sym typeface="Calibri"/>
            </a:endParaRPr>
          </a:p>
        </p:txBody>
      </p:sp>
      <p:sp>
        <p:nvSpPr>
          <p:cNvPr id="939" name="Google Shape;939;p36"/>
          <p:cNvSpPr/>
          <p:nvPr/>
        </p:nvSpPr>
        <p:spPr>
          <a:xfrm>
            <a:off x="685650" y="2043675"/>
            <a:ext cx="7772700" cy="10080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Clr>
                <a:srgbClr val="FFFFFF"/>
              </a:buClr>
              <a:buSzPts val="2700"/>
              <a:buFont typeface="Arial"/>
              <a:buNone/>
            </a:pPr>
            <a:r>
              <a:rPr b="1" lang="en-GB" sz="2400">
                <a:solidFill>
                  <a:srgbClr val="FFFFFF"/>
                </a:solidFill>
                <a:latin typeface="Poppins"/>
                <a:ea typeface="Poppins"/>
                <a:cs typeface="Poppins"/>
                <a:sym typeface="Poppins"/>
              </a:rPr>
              <a:t>A customer just sent a PO</a:t>
            </a:r>
            <a:endParaRPr b="1" sz="2400">
              <a:solidFill>
                <a:srgbClr val="FFFFFF"/>
              </a:solidFill>
              <a:latin typeface="Poppins"/>
              <a:ea typeface="Poppins"/>
              <a:cs typeface="Poppins"/>
              <a:sym typeface="Poppins"/>
            </a:endParaRPr>
          </a:p>
          <a:p>
            <a:pPr indent="0" lvl="0" marL="0" marR="0" rtl="0" algn="ctr">
              <a:spcBef>
                <a:spcPts val="0"/>
              </a:spcBef>
              <a:spcAft>
                <a:spcPts val="0"/>
              </a:spcAft>
              <a:buClr>
                <a:srgbClr val="FFFFFF"/>
              </a:buClr>
              <a:buSzPts val="2700"/>
              <a:buFont typeface="Arial"/>
              <a:buNone/>
            </a:pPr>
            <a:r>
              <a:rPr lang="en-GB" sz="2400">
                <a:solidFill>
                  <a:srgbClr val="FFFFFF"/>
                </a:solidFill>
                <a:latin typeface="Poppins Light"/>
                <a:ea typeface="Poppins Light"/>
                <a:cs typeface="Poppins Light"/>
                <a:sym typeface="Poppins Light"/>
              </a:rPr>
              <a:t>Let's see how MAIA turns it into a Sales Order</a:t>
            </a:r>
            <a:endParaRPr sz="2400">
              <a:solidFill>
                <a:srgbClr val="FFFFFF"/>
              </a:solidFill>
              <a:latin typeface="Poppins Light"/>
              <a:ea typeface="Poppins Light"/>
              <a:cs typeface="Poppins Light"/>
              <a:sym typeface="Poppins Light"/>
            </a:endParaRPr>
          </a:p>
        </p:txBody>
      </p:sp>
      <p:sp>
        <p:nvSpPr>
          <p:cNvPr id="940" name="Google Shape;940;p36"/>
          <p:cNvSpPr txBox="1"/>
          <p:nvPr>
            <p:ph idx="12" type="sldNum"/>
          </p:nvPr>
        </p:nvSpPr>
        <p:spPr>
          <a:xfrm>
            <a:off x="8347216" y="4750189"/>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4" name="Shape 944"/>
        <p:cNvGrpSpPr/>
        <p:nvPr/>
      </p:nvGrpSpPr>
      <p:grpSpPr>
        <a:xfrm>
          <a:off x="0" y="0"/>
          <a:ext cx="0" cy="0"/>
          <a:chOff x="0" y="0"/>
          <a:chExt cx="0" cy="0"/>
        </a:xfrm>
      </p:grpSpPr>
      <p:sp>
        <p:nvSpPr>
          <p:cNvPr id="945" name="Google Shape;945;p37"/>
          <p:cNvSpPr txBox="1"/>
          <p:nvPr>
            <p:ph idx="12" type="sldNum"/>
          </p:nvPr>
        </p:nvSpPr>
        <p:spPr>
          <a:xfrm>
            <a:off x="8347216" y="4750189"/>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id="946" name="Google Shape;946;p37" title="CPO.mp4">
            <a:hlinkClick r:id="rId3"/>
          </p:cNvPr>
          <p:cNvPicPr preferRelativeResize="0"/>
          <p:nvPr/>
        </p:nvPicPr>
        <p:blipFill>
          <a:blip r:embed="rId4">
            <a:alphaModFix/>
          </a:blip>
          <a:stretch>
            <a:fillRect/>
          </a:stretch>
        </p:blipFill>
        <p:spPr>
          <a:xfrm>
            <a:off x="0" y="0"/>
            <a:ext cx="9144000" cy="514352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946"/>
                                        </p:tgtEl>
                                        <p:attrNameLst>
                                          <p:attrName>style.visibility</p:attrName>
                                        </p:attrNameLst>
                                      </p:cBhvr>
                                      <p:to>
                                        <p:strVal val="visible"/>
                                      </p:to>
                                    </p:set>
                                    <p:animEffect filter="fade" transition="in">
                                      <p:cBhvr>
                                        <p:cTn dur="1000"/>
                                        <p:tgtEl>
                                          <p:spTgt spid="94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C2B3E"/>
        </a:solidFill>
      </p:bgPr>
    </p:bg>
    <p:spTree>
      <p:nvGrpSpPr>
        <p:cNvPr id="951" name="Shape 951"/>
        <p:cNvGrpSpPr/>
        <p:nvPr/>
      </p:nvGrpSpPr>
      <p:grpSpPr>
        <a:xfrm>
          <a:off x="0" y="0"/>
          <a:ext cx="0" cy="0"/>
          <a:chOff x="0" y="0"/>
          <a:chExt cx="0" cy="0"/>
        </a:xfrm>
      </p:grpSpPr>
      <p:sp>
        <p:nvSpPr>
          <p:cNvPr id="952" name="Google Shape;952;p38"/>
          <p:cNvSpPr/>
          <p:nvPr/>
        </p:nvSpPr>
        <p:spPr>
          <a:xfrm>
            <a:off x="411502" y="342900"/>
            <a:ext cx="20574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21E"/>
              </a:buClr>
              <a:buSzPts val="1100"/>
              <a:buFont typeface="Arial"/>
              <a:buNone/>
            </a:pPr>
            <a:r>
              <a:rPr b="1" lang="en-GB" sz="1100">
                <a:solidFill>
                  <a:srgbClr val="E8821E"/>
                </a:solidFill>
                <a:latin typeface="Arial"/>
                <a:ea typeface="Arial"/>
                <a:cs typeface="Arial"/>
                <a:sym typeface="Arial"/>
              </a:rPr>
              <a:t>02 / 07</a:t>
            </a:r>
            <a:endParaRPr sz="1100">
              <a:solidFill>
                <a:schemeClr val="dk1"/>
              </a:solidFill>
              <a:latin typeface="Calibri"/>
              <a:ea typeface="Calibri"/>
              <a:cs typeface="Calibri"/>
              <a:sym typeface="Calibri"/>
            </a:endParaRPr>
          </a:p>
        </p:txBody>
      </p:sp>
      <p:sp>
        <p:nvSpPr>
          <p:cNvPr id="953" name="Google Shape;953;p38"/>
          <p:cNvSpPr/>
          <p:nvPr/>
        </p:nvSpPr>
        <p:spPr>
          <a:xfrm>
            <a:off x="3023100" y="1236650"/>
            <a:ext cx="3097800" cy="994200"/>
          </a:xfrm>
          <a:prstGeom prst="roundRect">
            <a:avLst>
              <a:gd fmla="val 50000" name="adj"/>
            </a:avLst>
          </a:prstGeom>
          <a:solidFill>
            <a:srgbClr val="E8821E"/>
          </a:solidFill>
          <a:ln>
            <a:noFill/>
          </a:ln>
        </p:spPr>
        <p:txBody>
          <a:bodyPr anchorCtr="0" anchor="t" bIns="26150" lIns="52325" spcFirstLastPara="1" rIns="52325" wrap="square" tIns="26150">
            <a:noAutofit/>
          </a:bodyPr>
          <a:lstStyle/>
          <a:p>
            <a:pPr indent="0" lvl="0" marL="0" marR="0" rtl="0" algn="l">
              <a:spcBef>
                <a:spcPts val="0"/>
              </a:spcBef>
              <a:spcAft>
                <a:spcPts val="0"/>
              </a:spcAft>
              <a:buNone/>
            </a:pPr>
            <a:r>
              <a:t/>
            </a:r>
            <a:endParaRPr sz="1068">
              <a:solidFill>
                <a:schemeClr val="dk1"/>
              </a:solidFill>
              <a:latin typeface="Calibri"/>
              <a:ea typeface="Calibri"/>
              <a:cs typeface="Calibri"/>
              <a:sym typeface="Calibri"/>
            </a:endParaRPr>
          </a:p>
        </p:txBody>
      </p:sp>
      <p:pic>
        <p:nvPicPr>
          <p:cNvPr descr="/home/claude/maia/icons/FiAlertTriangle_white.png" id="954" name="Google Shape;954;p38"/>
          <p:cNvPicPr preferRelativeResize="0"/>
          <p:nvPr/>
        </p:nvPicPr>
        <p:blipFill rotWithShape="1">
          <a:blip r:embed="rId3">
            <a:alphaModFix/>
          </a:blip>
          <a:srcRect b="0" l="0" r="0" t="0"/>
          <a:stretch/>
        </p:blipFill>
        <p:spPr>
          <a:xfrm>
            <a:off x="3404565" y="1524507"/>
            <a:ext cx="418701" cy="418701"/>
          </a:xfrm>
          <a:prstGeom prst="rect">
            <a:avLst/>
          </a:prstGeom>
          <a:noFill/>
          <a:ln>
            <a:noFill/>
          </a:ln>
        </p:spPr>
      </p:pic>
      <p:sp>
        <p:nvSpPr>
          <p:cNvPr id="955" name="Google Shape;955;p38"/>
          <p:cNvSpPr/>
          <p:nvPr/>
        </p:nvSpPr>
        <p:spPr>
          <a:xfrm>
            <a:off x="4067713" y="1236650"/>
            <a:ext cx="1974000" cy="99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518"/>
              <a:buFont typeface="Arial"/>
              <a:buNone/>
            </a:pPr>
            <a:r>
              <a:rPr b="1" lang="en-GB" sz="2518">
                <a:solidFill>
                  <a:srgbClr val="FFFFFF"/>
                </a:solidFill>
                <a:latin typeface="Arial"/>
                <a:ea typeface="Arial"/>
                <a:cs typeface="Arial"/>
                <a:sym typeface="Arial"/>
              </a:rPr>
              <a:t>Near limit</a:t>
            </a:r>
            <a:endParaRPr sz="2518">
              <a:solidFill>
                <a:schemeClr val="dk1"/>
              </a:solidFill>
              <a:latin typeface="Calibri"/>
              <a:ea typeface="Calibri"/>
              <a:cs typeface="Calibri"/>
              <a:sym typeface="Calibri"/>
            </a:endParaRPr>
          </a:p>
        </p:txBody>
      </p:sp>
      <p:sp>
        <p:nvSpPr>
          <p:cNvPr id="956" name="Google Shape;956;p38"/>
          <p:cNvSpPr txBox="1"/>
          <p:nvPr>
            <p:ph idx="12" type="sldNum"/>
          </p:nvPr>
        </p:nvSpPr>
        <p:spPr>
          <a:xfrm>
            <a:off x="8347216" y="4750189"/>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957" name="Google Shape;957;p38"/>
          <p:cNvSpPr/>
          <p:nvPr/>
        </p:nvSpPr>
        <p:spPr>
          <a:xfrm>
            <a:off x="795450" y="2551438"/>
            <a:ext cx="7553100" cy="15108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Clr>
                <a:srgbClr val="FFFFFF"/>
              </a:buClr>
              <a:buSzPts val="2700"/>
              <a:buFont typeface="Arial"/>
              <a:buNone/>
            </a:pPr>
            <a:r>
              <a:rPr b="1" lang="en-GB" sz="2400">
                <a:solidFill>
                  <a:srgbClr val="FFFFFF"/>
                </a:solidFill>
                <a:latin typeface="Poppins"/>
                <a:ea typeface="Poppins"/>
                <a:cs typeface="Poppins"/>
                <a:sym typeface="Poppins"/>
              </a:rPr>
              <a:t>We have a new order. But can we accept it?</a:t>
            </a:r>
            <a:endParaRPr b="1" sz="2400">
              <a:solidFill>
                <a:srgbClr val="FFFFFF"/>
              </a:solidFill>
              <a:latin typeface="Poppins"/>
              <a:ea typeface="Poppins"/>
              <a:cs typeface="Poppins"/>
              <a:sym typeface="Poppins"/>
            </a:endParaRPr>
          </a:p>
          <a:p>
            <a:pPr indent="0" lvl="0" marL="0" marR="0" rtl="0" algn="ctr">
              <a:spcBef>
                <a:spcPts val="0"/>
              </a:spcBef>
              <a:spcAft>
                <a:spcPts val="0"/>
              </a:spcAft>
              <a:buClr>
                <a:srgbClr val="FFFFFF"/>
              </a:buClr>
              <a:buSzPts val="2700"/>
              <a:buFont typeface="Arial"/>
              <a:buNone/>
            </a:pPr>
            <a:r>
              <a:rPr lang="en-GB" sz="2400">
                <a:solidFill>
                  <a:srgbClr val="FFFFFF"/>
                </a:solidFill>
                <a:latin typeface="Poppins Light"/>
                <a:ea typeface="Poppins Light"/>
                <a:cs typeface="Poppins Light"/>
                <a:sym typeface="Poppins Light"/>
              </a:rPr>
              <a:t>See how MAIA helps us review credit risk before proceeding.</a:t>
            </a:r>
            <a:endParaRPr sz="2400">
              <a:solidFill>
                <a:srgbClr val="FFFFFF"/>
              </a:solidFill>
              <a:latin typeface="Poppins Light"/>
              <a:ea typeface="Poppins Light"/>
              <a:cs typeface="Poppins Light"/>
              <a:sym typeface="Poppins Light"/>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1" name="Shape 961"/>
        <p:cNvGrpSpPr/>
        <p:nvPr/>
      </p:nvGrpSpPr>
      <p:grpSpPr>
        <a:xfrm>
          <a:off x="0" y="0"/>
          <a:ext cx="0" cy="0"/>
          <a:chOff x="0" y="0"/>
          <a:chExt cx="0" cy="0"/>
        </a:xfrm>
      </p:grpSpPr>
      <p:sp>
        <p:nvSpPr>
          <p:cNvPr id="962" name="Google Shape;962;p39"/>
          <p:cNvSpPr txBox="1"/>
          <p:nvPr>
            <p:ph idx="12" type="sldNum"/>
          </p:nvPr>
        </p:nvSpPr>
        <p:spPr>
          <a:xfrm>
            <a:off x="8347216" y="4750189"/>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id="963" name="Google Shape;963;p39" title="credit-near-limit (1).mp4">
            <a:hlinkClick r:id="rId3"/>
          </p:cNvPr>
          <p:cNvPicPr preferRelativeResize="0"/>
          <p:nvPr/>
        </p:nvPicPr>
        <p:blipFill>
          <a:blip r:embed="rId4">
            <a:alphaModFix/>
          </a:blip>
          <a:stretch>
            <a:fillRect/>
          </a:stretch>
        </p:blipFill>
        <p:spPr>
          <a:xfrm>
            <a:off x="-135175" y="0"/>
            <a:ext cx="9279173" cy="521956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963"/>
                                        </p:tgtEl>
                                        <p:attrNameLst>
                                          <p:attrName>style.visibility</p:attrName>
                                        </p:attrNameLst>
                                      </p:cBhvr>
                                      <p:to>
                                        <p:strVal val="visible"/>
                                      </p:to>
                                    </p:set>
                                    <p:animEffect filter="fade" transition="in">
                                      <p:cBhvr>
                                        <p:cTn dur="1000"/>
                                        <p:tgtEl>
                                          <p:spTgt spid="96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C2B3E"/>
        </a:solidFill>
      </p:bgPr>
    </p:bg>
    <p:spTree>
      <p:nvGrpSpPr>
        <p:cNvPr id="968" name="Shape 968"/>
        <p:cNvGrpSpPr/>
        <p:nvPr/>
      </p:nvGrpSpPr>
      <p:grpSpPr>
        <a:xfrm>
          <a:off x="0" y="0"/>
          <a:ext cx="0" cy="0"/>
          <a:chOff x="0" y="0"/>
          <a:chExt cx="0" cy="0"/>
        </a:xfrm>
      </p:grpSpPr>
      <p:sp>
        <p:nvSpPr>
          <p:cNvPr id="969" name="Google Shape;969;p40"/>
          <p:cNvSpPr/>
          <p:nvPr/>
        </p:nvSpPr>
        <p:spPr>
          <a:xfrm>
            <a:off x="411502" y="342900"/>
            <a:ext cx="205751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21E"/>
              </a:buClr>
              <a:buSzPts val="1100"/>
              <a:buFont typeface="Arial"/>
              <a:buNone/>
            </a:pPr>
            <a:r>
              <a:rPr b="1" lang="en-GB" sz="1100">
                <a:solidFill>
                  <a:srgbClr val="E8821E"/>
                </a:solidFill>
                <a:latin typeface="Arial"/>
                <a:ea typeface="Arial"/>
                <a:cs typeface="Arial"/>
                <a:sym typeface="Arial"/>
              </a:rPr>
              <a:t>04 / 07</a:t>
            </a:r>
            <a:endParaRPr sz="1100">
              <a:solidFill>
                <a:schemeClr val="dk1"/>
              </a:solidFill>
              <a:latin typeface="Calibri"/>
              <a:ea typeface="Calibri"/>
              <a:cs typeface="Calibri"/>
              <a:sym typeface="Calibri"/>
            </a:endParaRPr>
          </a:p>
        </p:txBody>
      </p:sp>
      <p:sp>
        <p:nvSpPr>
          <p:cNvPr id="970" name="Google Shape;970;p40"/>
          <p:cNvSpPr/>
          <p:nvPr/>
        </p:nvSpPr>
        <p:spPr>
          <a:xfrm>
            <a:off x="685837" y="617220"/>
            <a:ext cx="7772700" cy="617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700"/>
              <a:buFont typeface="Arial"/>
              <a:buNone/>
            </a:pPr>
            <a:r>
              <a:rPr b="1" lang="en-GB" sz="2700">
                <a:solidFill>
                  <a:srgbClr val="FFFFFF"/>
                </a:solidFill>
                <a:latin typeface="Poppins"/>
                <a:ea typeface="Poppins"/>
                <a:cs typeface="Poppins"/>
                <a:sym typeface="Poppins"/>
              </a:rPr>
              <a:t>The warehouse view: Pick List</a:t>
            </a:r>
            <a:endParaRPr sz="2700">
              <a:solidFill>
                <a:schemeClr val="dk1"/>
              </a:solidFill>
              <a:latin typeface="Poppins"/>
              <a:ea typeface="Poppins"/>
              <a:cs typeface="Poppins"/>
              <a:sym typeface="Poppins"/>
            </a:endParaRPr>
          </a:p>
        </p:txBody>
      </p:sp>
      <p:sp>
        <p:nvSpPr>
          <p:cNvPr id="971" name="Google Shape;971;p40"/>
          <p:cNvSpPr/>
          <p:nvPr/>
        </p:nvSpPr>
        <p:spPr>
          <a:xfrm>
            <a:off x="685837" y="1234440"/>
            <a:ext cx="77727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2A6BE"/>
              </a:buClr>
              <a:buSzPts val="1100"/>
              <a:buFont typeface="Arial"/>
              <a:buNone/>
            </a:pPr>
            <a:r>
              <a:rPr lang="en-GB" sz="1100">
                <a:solidFill>
                  <a:srgbClr val="92A6BE"/>
                </a:solidFill>
                <a:latin typeface="Arial"/>
                <a:ea typeface="Arial"/>
                <a:cs typeface="Arial"/>
                <a:sym typeface="Arial"/>
              </a:rPr>
              <a:t>How a confirmed order becomes a picking instruction — quantities and locations, no prices.</a:t>
            </a:r>
            <a:endParaRPr sz="1100">
              <a:solidFill>
                <a:schemeClr val="dk1"/>
              </a:solidFill>
              <a:latin typeface="Calibri"/>
              <a:ea typeface="Calibri"/>
              <a:cs typeface="Calibri"/>
              <a:sym typeface="Calibri"/>
            </a:endParaRPr>
          </a:p>
        </p:txBody>
      </p:sp>
      <p:sp>
        <p:nvSpPr>
          <p:cNvPr id="972" name="Google Shape;972;p40"/>
          <p:cNvSpPr/>
          <p:nvPr/>
        </p:nvSpPr>
        <p:spPr>
          <a:xfrm>
            <a:off x="1964168" y="2194560"/>
            <a:ext cx="1484700" cy="1165800"/>
          </a:xfrm>
          <a:prstGeom prst="roundRect">
            <a:avLst>
              <a:gd fmla="val 5882" name="adj"/>
            </a:avLst>
          </a:prstGeom>
          <a:solidFill>
            <a:srgbClr val="27394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973" name="Google Shape;973;p40"/>
          <p:cNvSpPr/>
          <p:nvPr/>
        </p:nvSpPr>
        <p:spPr>
          <a:xfrm>
            <a:off x="2533412" y="2470404"/>
            <a:ext cx="342900" cy="342900"/>
          </a:xfrm>
          <a:prstGeom prst="ellipse">
            <a:avLst/>
          </a:prstGeom>
          <a:solidFill>
            <a:srgbClr val="32495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974" name="Google Shape;974;p40"/>
          <p:cNvSpPr/>
          <p:nvPr/>
        </p:nvSpPr>
        <p:spPr>
          <a:xfrm>
            <a:off x="2022464" y="2881884"/>
            <a:ext cx="13752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Arial"/>
              <a:buNone/>
            </a:pPr>
            <a:r>
              <a:rPr b="1" lang="en-GB" sz="900">
                <a:solidFill>
                  <a:srgbClr val="FFFFFF"/>
                </a:solidFill>
                <a:latin typeface="Arial"/>
                <a:ea typeface="Arial"/>
                <a:cs typeface="Arial"/>
                <a:sym typeface="Arial"/>
              </a:rPr>
              <a:t>Sales Order</a:t>
            </a:r>
            <a:endParaRPr sz="900">
              <a:solidFill>
                <a:schemeClr val="dk1"/>
              </a:solidFill>
              <a:latin typeface="Calibri"/>
              <a:ea typeface="Calibri"/>
              <a:cs typeface="Calibri"/>
              <a:sym typeface="Calibri"/>
            </a:endParaRPr>
          </a:p>
        </p:txBody>
      </p:sp>
      <p:sp>
        <p:nvSpPr>
          <p:cNvPr id="975" name="Google Shape;975;p40"/>
          <p:cNvSpPr/>
          <p:nvPr/>
        </p:nvSpPr>
        <p:spPr>
          <a:xfrm>
            <a:off x="3503871" y="2606040"/>
            <a:ext cx="2742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2A6BE"/>
              </a:buClr>
              <a:buSzPts val="2100"/>
              <a:buFont typeface="Arial"/>
              <a:buNone/>
            </a:pPr>
            <a:r>
              <a:rPr b="1" lang="en-GB" sz="2100">
                <a:solidFill>
                  <a:srgbClr val="92A6BE"/>
                </a:solidFill>
                <a:latin typeface="Arial"/>
                <a:ea typeface="Arial"/>
                <a:cs typeface="Arial"/>
                <a:sym typeface="Arial"/>
              </a:rPr>
              <a:t>›</a:t>
            </a:r>
            <a:endParaRPr sz="2100">
              <a:solidFill>
                <a:schemeClr val="dk1"/>
              </a:solidFill>
              <a:latin typeface="Calibri"/>
              <a:ea typeface="Calibri"/>
              <a:cs typeface="Calibri"/>
              <a:sym typeface="Calibri"/>
            </a:endParaRPr>
          </a:p>
        </p:txBody>
      </p:sp>
      <p:sp>
        <p:nvSpPr>
          <p:cNvPr id="976" name="Google Shape;976;p40"/>
          <p:cNvSpPr/>
          <p:nvPr/>
        </p:nvSpPr>
        <p:spPr>
          <a:xfrm>
            <a:off x="3829642" y="2194560"/>
            <a:ext cx="1484700" cy="1165800"/>
          </a:xfrm>
          <a:prstGeom prst="roundRect">
            <a:avLst>
              <a:gd fmla="val 5882" name="adj"/>
            </a:avLst>
          </a:prstGeom>
          <a:solidFill>
            <a:srgbClr val="27394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977" name="Google Shape;977;p40"/>
          <p:cNvSpPr/>
          <p:nvPr/>
        </p:nvSpPr>
        <p:spPr>
          <a:xfrm>
            <a:off x="4398887" y="2470404"/>
            <a:ext cx="342900" cy="342900"/>
          </a:xfrm>
          <a:prstGeom prst="ellipse">
            <a:avLst/>
          </a:prstGeom>
          <a:solidFill>
            <a:srgbClr val="32495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Clipboard_white.png" id="978" name="Google Shape;978;p40"/>
          <p:cNvPicPr preferRelativeResize="0"/>
          <p:nvPr/>
        </p:nvPicPr>
        <p:blipFill rotWithShape="1">
          <a:blip r:embed="rId3">
            <a:alphaModFix/>
          </a:blip>
          <a:srcRect b="0" l="0" r="0" t="0"/>
          <a:stretch/>
        </p:blipFill>
        <p:spPr>
          <a:xfrm>
            <a:off x="4481187" y="2552700"/>
            <a:ext cx="171450" cy="171450"/>
          </a:xfrm>
          <a:prstGeom prst="rect">
            <a:avLst/>
          </a:prstGeom>
          <a:noFill/>
          <a:ln>
            <a:noFill/>
          </a:ln>
        </p:spPr>
      </p:pic>
      <p:sp>
        <p:nvSpPr>
          <p:cNvPr id="979" name="Google Shape;979;p40"/>
          <p:cNvSpPr/>
          <p:nvPr/>
        </p:nvSpPr>
        <p:spPr>
          <a:xfrm>
            <a:off x="3887938" y="2881884"/>
            <a:ext cx="13752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Arial"/>
              <a:buNone/>
            </a:pPr>
            <a:r>
              <a:rPr b="1" lang="en-GB" sz="900">
                <a:solidFill>
                  <a:srgbClr val="FFFFFF"/>
                </a:solidFill>
                <a:latin typeface="Arial"/>
                <a:ea typeface="Arial"/>
                <a:cs typeface="Arial"/>
                <a:sym typeface="Arial"/>
              </a:rPr>
              <a:t>Pick List</a:t>
            </a:r>
            <a:endParaRPr sz="900">
              <a:solidFill>
                <a:schemeClr val="dk1"/>
              </a:solidFill>
              <a:latin typeface="Calibri"/>
              <a:ea typeface="Calibri"/>
              <a:cs typeface="Calibri"/>
              <a:sym typeface="Calibri"/>
            </a:endParaRPr>
          </a:p>
        </p:txBody>
      </p:sp>
      <p:sp>
        <p:nvSpPr>
          <p:cNvPr id="980" name="Google Shape;980;p40"/>
          <p:cNvSpPr/>
          <p:nvPr/>
        </p:nvSpPr>
        <p:spPr>
          <a:xfrm>
            <a:off x="5369345" y="2606040"/>
            <a:ext cx="2742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2A6BE"/>
              </a:buClr>
              <a:buSzPts val="2100"/>
              <a:buFont typeface="Arial"/>
              <a:buNone/>
            </a:pPr>
            <a:r>
              <a:rPr b="1" lang="en-GB" sz="2100">
                <a:solidFill>
                  <a:srgbClr val="92A6BE"/>
                </a:solidFill>
                <a:latin typeface="Arial"/>
                <a:ea typeface="Arial"/>
                <a:cs typeface="Arial"/>
                <a:sym typeface="Arial"/>
              </a:rPr>
              <a:t>›</a:t>
            </a:r>
            <a:endParaRPr sz="2100">
              <a:solidFill>
                <a:schemeClr val="dk1"/>
              </a:solidFill>
              <a:latin typeface="Calibri"/>
              <a:ea typeface="Calibri"/>
              <a:cs typeface="Calibri"/>
              <a:sym typeface="Calibri"/>
            </a:endParaRPr>
          </a:p>
        </p:txBody>
      </p:sp>
      <p:sp>
        <p:nvSpPr>
          <p:cNvPr id="981" name="Google Shape;981;p40"/>
          <p:cNvSpPr/>
          <p:nvPr/>
        </p:nvSpPr>
        <p:spPr>
          <a:xfrm>
            <a:off x="5695118" y="2194560"/>
            <a:ext cx="1484700" cy="1165800"/>
          </a:xfrm>
          <a:prstGeom prst="roundRect">
            <a:avLst>
              <a:gd fmla="val 5882" name="adj"/>
            </a:avLst>
          </a:prstGeom>
          <a:solidFill>
            <a:srgbClr val="27394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982" name="Google Shape;982;p40"/>
          <p:cNvSpPr/>
          <p:nvPr/>
        </p:nvSpPr>
        <p:spPr>
          <a:xfrm>
            <a:off x="6264362" y="2470404"/>
            <a:ext cx="342900" cy="342900"/>
          </a:xfrm>
          <a:prstGeom prst="ellipse">
            <a:avLst/>
          </a:prstGeom>
          <a:solidFill>
            <a:srgbClr val="32495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Truck_white.png" id="983" name="Google Shape;983;p40"/>
          <p:cNvPicPr preferRelativeResize="0"/>
          <p:nvPr/>
        </p:nvPicPr>
        <p:blipFill rotWithShape="1">
          <a:blip r:embed="rId4">
            <a:alphaModFix/>
          </a:blip>
          <a:srcRect b="0" l="0" r="0" t="0"/>
          <a:stretch/>
        </p:blipFill>
        <p:spPr>
          <a:xfrm>
            <a:off x="6346662" y="2552700"/>
            <a:ext cx="171450" cy="171450"/>
          </a:xfrm>
          <a:prstGeom prst="rect">
            <a:avLst/>
          </a:prstGeom>
          <a:noFill/>
          <a:ln>
            <a:noFill/>
          </a:ln>
        </p:spPr>
      </p:pic>
      <p:sp>
        <p:nvSpPr>
          <p:cNvPr id="984" name="Google Shape;984;p40"/>
          <p:cNvSpPr/>
          <p:nvPr/>
        </p:nvSpPr>
        <p:spPr>
          <a:xfrm>
            <a:off x="5753415" y="2881884"/>
            <a:ext cx="13752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Arial"/>
              <a:buNone/>
            </a:pPr>
            <a:r>
              <a:rPr b="1" lang="en-GB" sz="900">
                <a:solidFill>
                  <a:srgbClr val="FFFFFF"/>
                </a:solidFill>
                <a:latin typeface="Arial"/>
                <a:ea typeface="Arial"/>
                <a:cs typeface="Arial"/>
                <a:sym typeface="Arial"/>
              </a:rPr>
              <a:t>Delivery Note</a:t>
            </a:r>
            <a:endParaRPr sz="900">
              <a:solidFill>
                <a:schemeClr val="dk1"/>
              </a:solidFill>
              <a:latin typeface="Calibri"/>
              <a:ea typeface="Calibri"/>
              <a:cs typeface="Calibri"/>
              <a:sym typeface="Calibri"/>
            </a:endParaRPr>
          </a:p>
        </p:txBody>
      </p:sp>
      <p:sp>
        <p:nvSpPr>
          <p:cNvPr id="985" name="Google Shape;985;p40"/>
          <p:cNvSpPr txBox="1"/>
          <p:nvPr>
            <p:ph idx="12" type="sldNum"/>
          </p:nvPr>
        </p:nvSpPr>
        <p:spPr>
          <a:xfrm>
            <a:off x="8347216" y="4750189"/>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descr="/home/claude/maia/icons/FiShoppingCart_accent.png" id="986" name="Google Shape;986;p40"/>
          <p:cNvPicPr preferRelativeResize="0"/>
          <p:nvPr/>
        </p:nvPicPr>
        <p:blipFill rotWithShape="1">
          <a:blip r:embed="rId5">
            <a:alphaModFix/>
          </a:blip>
          <a:srcRect b="0" l="0" r="0" t="0"/>
          <a:stretch/>
        </p:blipFill>
        <p:spPr>
          <a:xfrm>
            <a:off x="2611274" y="2562633"/>
            <a:ext cx="171475" cy="17147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0" name="Shape 990"/>
        <p:cNvGrpSpPr/>
        <p:nvPr/>
      </p:nvGrpSpPr>
      <p:grpSpPr>
        <a:xfrm>
          <a:off x="0" y="0"/>
          <a:ext cx="0" cy="0"/>
          <a:chOff x="0" y="0"/>
          <a:chExt cx="0" cy="0"/>
        </a:xfrm>
      </p:grpSpPr>
      <p:sp>
        <p:nvSpPr>
          <p:cNvPr id="991" name="Google Shape;991;p41"/>
          <p:cNvSpPr txBox="1"/>
          <p:nvPr>
            <p:ph idx="12" type="sldNum"/>
          </p:nvPr>
        </p:nvSpPr>
        <p:spPr>
          <a:xfrm>
            <a:off x="8347216" y="4750189"/>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992" name="Google Shape;992;p41"/>
          <p:cNvSpPr/>
          <p:nvPr/>
        </p:nvSpPr>
        <p:spPr>
          <a:xfrm>
            <a:off x="685837" y="1954530"/>
            <a:ext cx="7772700" cy="617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700"/>
              <a:buFont typeface="Arial"/>
              <a:buNone/>
            </a:pPr>
            <a:r>
              <a:rPr b="1" lang="en-GB" sz="4000">
                <a:solidFill>
                  <a:schemeClr val="dk1"/>
                </a:solidFill>
                <a:highlight>
                  <a:srgbClr val="FFFF00"/>
                </a:highlight>
              </a:rPr>
              <a:t>Pick list</a:t>
            </a:r>
            <a:endParaRPr b="1" sz="4000">
              <a:solidFill>
                <a:schemeClr val="dk1"/>
              </a:solidFill>
              <a:highlight>
                <a:srgbClr val="FFFF00"/>
              </a:highlight>
              <a:latin typeface="Arial"/>
              <a:ea typeface="Arial"/>
              <a:cs typeface="Arial"/>
              <a:sym typeface="Arial"/>
            </a:endParaRPr>
          </a:p>
          <a:p>
            <a:pPr indent="0" lvl="0" marL="0" marR="0" rtl="0" algn="ctr">
              <a:spcBef>
                <a:spcPts val="0"/>
              </a:spcBef>
              <a:spcAft>
                <a:spcPts val="0"/>
              </a:spcAft>
              <a:buClr>
                <a:srgbClr val="FFFFFF"/>
              </a:buClr>
              <a:buSzPts val="2700"/>
              <a:buFont typeface="Arial"/>
              <a:buNone/>
            </a:pPr>
            <a:r>
              <a:rPr b="1" lang="en-GB" sz="4000">
                <a:solidFill>
                  <a:schemeClr val="dk1"/>
                </a:solidFill>
                <a:highlight>
                  <a:srgbClr val="FFFF00"/>
                </a:highlight>
              </a:rPr>
              <a:t>ATTACH VIDEO HERE</a:t>
            </a:r>
            <a:endParaRPr b="1" sz="4000">
              <a:solidFill>
                <a:schemeClr val="dk1"/>
              </a:solidFill>
              <a:highlight>
                <a:srgbClr val="FFFF00"/>
              </a:highlight>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997" name="Shape 997"/>
        <p:cNvGrpSpPr/>
        <p:nvPr/>
      </p:nvGrpSpPr>
      <p:grpSpPr>
        <a:xfrm>
          <a:off x="0" y="0"/>
          <a:ext cx="0" cy="0"/>
          <a:chOff x="0" y="0"/>
          <a:chExt cx="0" cy="0"/>
        </a:xfrm>
      </p:grpSpPr>
      <p:sp>
        <p:nvSpPr>
          <p:cNvPr id="998" name="Google Shape;998;p42"/>
          <p:cNvSpPr/>
          <p:nvPr/>
        </p:nvSpPr>
        <p:spPr>
          <a:xfrm>
            <a:off x="411502" y="260604"/>
            <a:ext cx="6858366"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 VIDEO · 04 / 07</a:t>
            </a:r>
            <a:endParaRPr sz="800">
              <a:solidFill>
                <a:schemeClr val="dk1"/>
              </a:solidFill>
              <a:latin typeface="Calibri"/>
              <a:ea typeface="Calibri"/>
              <a:cs typeface="Calibri"/>
              <a:sym typeface="Calibri"/>
            </a:endParaRPr>
          </a:p>
        </p:txBody>
      </p:sp>
      <p:sp>
        <p:nvSpPr>
          <p:cNvPr id="999" name="Google Shape;999;p42"/>
          <p:cNvSpPr/>
          <p:nvPr/>
        </p:nvSpPr>
        <p:spPr>
          <a:xfrm>
            <a:off x="411502" y="438912"/>
            <a:ext cx="8321255" cy="4800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C2B3E"/>
              </a:buClr>
              <a:buSzPts val="2200"/>
              <a:buFont typeface="Arial"/>
              <a:buNone/>
            </a:pPr>
            <a:r>
              <a:rPr b="1" lang="en-GB" sz="2200">
                <a:solidFill>
                  <a:srgbClr val="1C2B3E"/>
                </a:solidFill>
                <a:latin typeface="Arial"/>
                <a:ea typeface="Arial"/>
                <a:cs typeface="Arial"/>
                <a:sym typeface="Arial"/>
              </a:rPr>
              <a:t>What the warehouse actually sees</a:t>
            </a:r>
            <a:endParaRPr sz="2200">
              <a:solidFill>
                <a:schemeClr val="dk1"/>
              </a:solidFill>
              <a:latin typeface="Calibri"/>
              <a:ea typeface="Calibri"/>
              <a:cs typeface="Calibri"/>
              <a:sym typeface="Calibri"/>
            </a:endParaRPr>
          </a:p>
        </p:txBody>
      </p:sp>
      <p:sp>
        <p:nvSpPr>
          <p:cNvPr id="1000" name="Google Shape;1000;p42"/>
          <p:cNvSpPr/>
          <p:nvPr/>
        </p:nvSpPr>
        <p:spPr>
          <a:xfrm>
            <a:off x="411502" y="932688"/>
            <a:ext cx="8321255"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D"/>
              </a:buClr>
              <a:buSzPts val="1100"/>
              <a:buFont typeface="Arial"/>
              <a:buNone/>
            </a:pPr>
            <a:r>
              <a:rPr lang="en-GB" sz="1100">
                <a:solidFill>
                  <a:srgbClr val="5B6B7D"/>
                </a:solidFill>
                <a:latin typeface="Arial"/>
                <a:ea typeface="Arial"/>
                <a:cs typeface="Arial"/>
                <a:sym typeface="Arial"/>
              </a:rPr>
              <a:t>Screen recording — watch how it works.</a:t>
            </a:r>
            <a:endParaRPr sz="1100">
              <a:solidFill>
                <a:schemeClr val="dk1"/>
              </a:solidFill>
              <a:latin typeface="Calibri"/>
              <a:ea typeface="Calibri"/>
              <a:cs typeface="Calibri"/>
              <a:sym typeface="Calibri"/>
            </a:endParaRPr>
          </a:p>
        </p:txBody>
      </p:sp>
      <p:sp>
        <p:nvSpPr>
          <p:cNvPr id="1001" name="Google Shape;1001;p42"/>
          <p:cNvSpPr/>
          <p:nvPr/>
        </p:nvSpPr>
        <p:spPr>
          <a:xfrm>
            <a:off x="411502" y="1337310"/>
            <a:ext cx="5006607" cy="2434590"/>
          </a:xfrm>
          <a:prstGeom prst="roundRect">
            <a:avLst>
              <a:gd fmla="val 3380" name="adj"/>
            </a:avLst>
          </a:prstGeom>
          <a:solidFill>
            <a:srgbClr val="F5F7FA"/>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002" name="Google Shape;1002;p42"/>
          <p:cNvSpPr/>
          <p:nvPr/>
        </p:nvSpPr>
        <p:spPr>
          <a:xfrm>
            <a:off x="2160385" y="1529334"/>
            <a:ext cx="1508840" cy="315468"/>
          </a:xfrm>
          <a:prstGeom prst="roundRect">
            <a:avLst>
              <a:gd fmla="val 50000" name="adj"/>
            </a:avLst>
          </a:prstGeom>
          <a:solidFill>
            <a:srgbClr val="1A9D5C"/>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003" name="Google Shape;1003;p42"/>
          <p:cNvSpPr/>
          <p:nvPr/>
        </p:nvSpPr>
        <p:spPr>
          <a:xfrm>
            <a:off x="2160385" y="1529334"/>
            <a:ext cx="1508840" cy="3154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Arial"/>
              <a:buNone/>
            </a:pPr>
            <a:r>
              <a:rPr b="1" lang="en-GB" sz="1000">
                <a:solidFill>
                  <a:srgbClr val="FFFFFF"/>
                </a:solidFill>
                <a:latin typeface="Arial"/>
                <a:ea typeface="Arial"/>
                <a:cs typeface="Arial"/>
                <a:sym typeface="Arial"/>
              </a:rPr>
              <a:t>Pick List ready</a:t>
            </a:r>
            <a:endParaRPr sz="1000">
              <a:solidFill>
                <a:schemeClr val="dk1"/>
              </a:solidFill>
              <a:latin typeface="Calibri"/>
              <a:ea typeface="Calibri"/>
              <a:cs typeface="Calibri"/>
              <a:sym typeface="Calibri"/>
            </a:endParaRPr>
          </a:p>
        </p:txBody>
      </p:sp>
      <p:sp>
        <p:nvSpPr>
          <p:cNvPr id="1004" name="Google Shape;1004;p42"/>
          <p:cNvSpPr/>
          <p:nvPr/>
        </p:nvSpPr>
        <p:spPr>
          <a:xfrm>
            <a:off x="617253" y="2091690"/>
            <a:ext cx="1004751" cy="1371600"/>
          </a:xfrm>
          <a:prstGeom prst="roundRect">
            <a:avLst>
              <a:gd fmla="val 6826" name="adj"/>
            </a:avLst>
          </a:prstGeom>
          <a:solidFill>
            <a:srgbClr val="F5F7FA"/>
          </a:solidFill>
          <a:ln>
            <a:noFill/>
          </a:ln>
          <a:effectLst>
            <a:outerShdw blurRad="101600" rotWithShape="0" algn="bl" dir="5400000" dist="38100">
              <a:srgbClr val="1C2B3E">
                <a:alpha val="10196"/>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005" name="Google Shape;1005;p42"/>
          <p:cNvSpPr/>
          <p:nvPr/>
        </p:nvSpPr>
        <p:spPr>
          <a:xfrm>
            <a:off x="948169" y="2215134"/>
            <a:ext cx="342918" cy="342900"/>
          </a:xfrm>
          <a:prstGeom prst="ellipse">
            <a:avLst/>
          </a:pr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ShoppingCart_accent.png" id="1006" name="Google Shape;1006;p42"/>
          <p:cNvPicPr preferRelativeResize="0"/>
          <p:nvPr/>
        </p:nvPicPr>
        <p:blipFill rotWithShape="1">
          <a:blip r:embed="rId3">
            <a:alphaModFix/>
          </a:blip>
          <a:srcRect b="0" l="0" r="0" t="0"/>
          <a:stretch/>
        </p:blipFill>
        <p:spPr>
          <a:xfrm>
            <a:off x="1033899" y="2300859"/>
            <a:ext cx="171450" cy="171450"/>
          </a:xfrm>
          <a:prstGeom prst="rect">
            <a:avLst/>
          </a:prstGeom>
          <a:noFill/>
          <a:ln>
            <a:noFill/>
          </a:ln>
        </p:spPr>
      </p:pic>
      <p:sp>
        <p:nvSpPr>
          <p:cNvPr id="1007" name="Google Shape;1007;p42"/>
          <p:cNvSpPr/>
          <p:nvPr/>
        </p:nvSpPr>
        <p:spPr>
          <a:xfrm>
            <a:off x="672120" y="2626614"/>
            <a:ext cx="895017"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2B3E"/>
              </a:buClr>
              <a:buSzPts val="900"/>
              <a:buFont typeface="Arial"/>
              <a:buNone/>
            </a:pPr>
            <a:r>
              <a:rPr b="1" lang="en-GB" sz="900">
                <a:solidFill>
                  <a:srgbClr val="1C2B3E"/>
                </a:solidFill>
                <a:latin typeface="Arial"/>
                <a:ea typeface="Arial"/>
                <a:cs typeface="Arial"/>
                <a:sym typeface="Arial"/>
              </a:rPr>
              <a:t>Sales Order</a:t>
            </a:r>
            <a:endParaRPr sz="900">
              <a:solidFill>
                <a:schemeClr val="dk1"/>
              </a:solidFill>
              <a:latin typeface="Calibri"/>
              <a:ea typeface="Calibri"/>
              <a:cs typeface="Calibri"/>
              <a:sym typeface="Calibri"/>
            </a:endParaRPr>
          </a:p>
        </p:txBody>
      </p:sp>
      <p:sp>
        <p:nvSpPr>
          <p:cNvPr id="1008" name="Google Shape;1008;p42"/>
          <p:cNvSpPr/>
          <p:nvPr/>
        </p:nvSpPr>
        <p:spPr>
          <a:xfrm>
            <a:off x="673834" y="3175254"/>
            <a:ext cx="891588" cy="192024"/>
          </a:xfrm>
          <a:prstGeom prst="roundRect">
            <a:avLst>
              <a:gd fmla="val 50000" name="adj"/>
            </a:avLst>
          </a:pr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009" name="Google Shape;1009;p42"/>
          <p:cNvSpPr/>
          <p:nvPr/>
        </p:nvSpPr>
        <p:spPr>
          <a:xfrm>
            <a:off x="673834" y="3175254"/>
            <a:ext cx="891588" cy="1920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600"/>
              <a:buFont typeface="Arial"/>
              <a:buNone/>
            </a:pPr>
            <a:r>
              <a:rPr b="1" lang="en-GB" sz="600">
                <a:solidFill>
                  <a:srgbClr val="94A3B8"/>
                </a:solidFill>
                <a:latin typeface="Arial"/>
                <a:ea typeface="Arial"/>
                <a:cs typeface="Arial"/>
                <a:sym typeface="Arial"/>
              </a:rPr>
              <a:t>CONFIRMED</a:t>
            </a:r>
            <a:endParaRPr sz="600">
              <a:solidFill>
                <a:schemeClr val="dk1"/>
              </a:solidFill>
              <a:latin typeface="Calibri"/>
              <a:ea typeface="Calibri"/>
              <a:cs typeface="Calibri"/>
              <a:sym typeface="Calibri"/>
            </a:endParaRPr>
          </a:p>
        </p:txBody>
      </p:sp>
      <p:sp>
        <p:nvSpPr>
          <p:cNvPr id="1010" name="Google Shape;1010;p42"/>
          <p:cNvSpPr/>
          <p:nvPr/>
        </p:nvSpPr>
        <p:spPr>
          <a:xfrm>
            <a:off x="1580853" y="2606040"/>
            <a:ext cx="274335"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2100"/>
              <a:buFont typeface="Arial"/>
              <a:buNone/>
            </a:pPr>
            <a:r>
              <a:rPr b="1" lang="en-GB" sz="2100">
                <a:solidFill>
                  <a:srgbClr val="94A3B8"/>
                </a:solidFill>
                <a:latin typeface="Arial"/>
                <a:ea typeface="Arial"/>
                <a:cs typeface="Arial"/>
                <a:sym typeface="Arial"/>
              </a:rPr>
              <a:t>›</a:t>
            </a:r>
            <a:endParaRPr sz="2100">
              <a:solidFill>
                <a:schemeClr val="dk1"/>
              </a:solidFill>
              <a:latin typeface="Calibri"/>
              <a:ea typeface="Calibri"/>
              <a:cs typeface="Calibri"/>
              <a:sym typeface="Calibri"/>
            </a:endParaRPr>
          </a:p>
        </p:txBody>
      </p:sp>
      <p:sp>
        <p:nvSpPr>
          <p:cNvPr id="1011" name="Google Shape;1011;p42"/>
          <p:cNvSpPr/>
          <p:nvPr/>
        </p:nvSpPr>
        <p:spPr>
          <a:xfrm>
            <a:off x="1814038" y="2091690"/>
            <a:ext cx="1004751" cy="1371600"/>
          </a:xfrm>
          <a:prstGeom prst="roundRect">
            <a:avLst>
              <a:gd fmla="val 6826" name="adj"/>
            </a:avLst>
          </a:prstGeom>
          <a:solidFill>
            <a:srgbClr val="F5F7FA"/>
          </a:solidFill>
          <a:ln>
            <a:noFill/>
          </a:ln>
          <a:effectLst>
            <a:outerShdw blurRad="101600" rotWithShape="0" algn="bl" dir="5400000" dist="38100">
              <a:srgbClr val="1C2B3E">
                <a:alpha val="10196"/>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012" name="Google Shape;1012;p42"/>
          <p:cNvSpPr/>
          <p:nvPr/>
        </p:nvSpPr>
        <p:spPr>
          <a:xfrm>
            <a:off x="2144954" y="2215134"/>
            <a:ext cx="342918" cy="342900"/>
          </a:xfrm>
          <a:prstGeom prst="ellipse">
            <a:avLst/>
          </a:pr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Clipboard_accent.png" id="1013" name="Google Shape;1013;p42"/>
          <p:cNvPicPr preferRelativeResize="0"/>
          <p:nvPr/>
        </p:nvPicPr>
        <p:blipFill rotWithShape="1">
          <a:blip r:embed="rId4">
            <a:alphaModFix/>
          </a:blip>
          <a:srcRect b="0" l="0" r="0" t="0"/>
          <a:stretch/>
        </p:blipFill>
        <p:spPr>
          <a:xfrm>
            <a:off x="2230683" y="2300859"/>
            <a:ext cx="171450" cy="171450"/>
          </a:xfrm>
          <a:prstGeom prst="rect">
            <a:avLst/>
          </a:prstGeom>
          <a:noFill/>
          <a:ln>
            <a:noFill/>
          </a:ln>
        </p:spPr>
      </p:pic>
      <p:sp>
        <p:nvSpPr>
          <p:cNvPr id="1014" name="Google Shape;1014;p42"/>
          <p:cNvSpPr/>
          <p:nvPr/>
        </p:nvSpPr>
        <p:spPr>
          <a:xfrm>
            <a:off x="1868905" y="2626614"/>
            <a:ext cx="895017"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2B3E"/>
              </a:buClr>
              <a:buSzPts val="900"/>
              <a:buFont typeface="Arial"/>
              <a:buNone/>
            </a:pPr>
            <a:r>
              <a:rPr b="1" lang="en-GB" sz="900">
                <a:solidFill>
                  <a:srgbClr val="1C2B3E"/>
                </a:solidFill>
                <a:latin typeface="Arial"/>
                <a:ea typeface="Arial"/>
                <a:cs typeface="Arial"/>
                <a:sym typeface="Arial"/>
              </a:rPr>
              <a:t>Pick List</a:t>
            </a:r>
            <a:endParaRPr sz="900">
              <a:solidFill>
                <a:schemeClr val="dk1"/>
              </a:solidFill>
              <a:latin typeface="Calibri"/>
              <a:ea typeface="Calibri"/>
              <a:cs typeface="Calibri"/>
              <a:sym typeface="Calibri"/>
            </a:endParaRPr>
          </a:p>
        </p:txBody>
      </p:sp>
      <p:sp>
        <p:nvSpPr>
          <p:cNvPr id="1015" name="Google Shape;1015;p42"/>
          <p:cNvSpPr/>
          <p:nvPr/>
        </p:nvSpPr>
        <p:spPr>
          <a:xfrm>
            <a:off x="1870619" y="3175254"/>
            <a:ext cx="891588" cy="192024"/>
          </a:xfrm>
          <a:prstGeom prst="roundRect">
            <a:avLst>
              <a:gd fmla="val 50000" name="adj"/>
            </a:avLst>
          </a:pr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016" name="Google Shape;1016;p42"/>
          <p:cNvSpPr/>
          <p:nvPr/>
        </p:nvSpPr>
        <p:spPr>
          <a:xfrm>
            <a:off x="1870619" y="3175254"/>
            <a:ext cx="891588" cy="1920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600"/>
              <a:buFont typeface="Arial"/>
              <a:buNone/>
            </a:pPr>
            <a:r>
              <a:rPr b="1" lang="en-GB" sz="600">
                <a:solidFill>
                  <a:srgbClr val="94A3B8"/>
                </a:solidFill>
                <a:latin typeface="Arial"/>
                <a:ea typeface="Arial"/>
                <a:cs typeface="Arial"/>
                <a:sym typeface="Arial"/>
              </a:rPr>
              <a:t>ASSIGNED</a:t>
            </a:r>
            <a:endParaRPr sz="600">
              <a:solidFill>
                <a:schemeClr val="dk1"/>
              </a:solidFill>
              <a:latin typeface="Calibri"/>
              <a:ea typeface="Calibri"/>
              <a:cs typeface="Calibri"/>
              <a:sym typeface="Calibri"/>
            </a:endParaRPr>
          </a:p>
        </p:txBody>
      </p:sp>
      <p:sp>
        <p:nvSpPr>
          <p:cNvPr id="1017" name="Google Shape;1017;p42"/>
          <p:cNvSpPr/>
          <p:nvPr/>
        </p:nvSpPr>
        <p:spPr>
          <a:xfrm>
            <a:off x="2777638" y="2606040"/>
            <a:ext cx="274335"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2100"/>
              <a:buFont typeface="Arial"/>
              <a:buNone/>
            </a:pPr>
            <a:r>
              <a:rPr b="1" lang="en-GB" sz="2100">
                <a:solidFill>
                  <a:srgbClr val="94A3B8"/>
                </a:solidFill>
                <a:latin typeface="Arial"/>
                <a:ea typeface="Arial"/>
                <a:cs typeface="Arial"/>
                <a:sym typeface="Arial"/>
              </a:rPr>
              <a:t>›</a:t>
            </a:r>
            <a:endParaRPr sz="2100">
              <a:solidFill>
                <a:schemeClr val="dk1"/>
              </a:solidFill>
              <a:latin typeface="Calibri"/>
              <a:ea typeface="Calibri"/>
              <a:cs typeface="Calibri"/>
              <a:sym typeface="Calibri"/>
            </a:endParaRPr>
          </a:p>
        </p:txBody>
      </p:sp>
      <p:sp>
        <p:nvSpPr>
          <p:cNvPr id="1018" name="Google Shape;1018;p42"/>
          <p:cNvSpPr/>
          <p:nvPr/>
        </p:nvSpPr>
        <p:spPr>
          <a:xfrm>
            <a:off x="3010823" y="2091690"/>
            <a:ext cx="1004751" cy="1371600"/>
          </a:xfrm>
          <a:prstGeom prst="roundRect">
            <a:avLst>
              <a:gd fmla="val 6826" name="adj"/>
            </a:avLst>
          </a:prstGeom>
          <a:solidFill>
            <a:srgbClr val="F5F7FA"/>
          </a:solidFill>
          <a:ln>
            <a:noFill/>
          </a:ln>
          <a:effectLst>
            <a:outerShdw blurRad="101600" rotWithShape="0" algn="bl" dir="5400000" dist="38100">
              <a:srgbClr val="1C2B3E">
                <a:alpha val="10196"/>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019" name="Google Shape;1019;p42"/>
          <p:cNvSpPr/>
          <p:nvPr/>
        </p:nvSpPr>
        <p:spPr>
          <a:xfrm>
            <a:off x="3341739" y="2215134"/>
            <a:ext cx="342918" cy="342900"/>
          </a:xfrm>
          <a:prstGeom prst="ellipse">
            <a:avLst/>
          </a:pr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Truck_accent.png" id="1020" name="Google Shape;1020;p42"/>
          <p:cNvPicPr preferRelativeResize="0"/>
          <p:nvPr/>
        </p:nvPicPr>
        <p:blipFill rotWithShape="1">
          <a:blip r:embed="rId4">
            <a:alphaModFix/>
          </a:blip>
          <a:srcRect b="0" l="0" r="0" t="0"/>
          <a:stretch/>
        </p:blipFill>
        <p:spPr>
          <a:xfrm>
            <a:off x="3427468" y="2300859"/>
            <a:ext cx="171450" cy="171450"/>
          </a:xfrm>
          <a:prstGeom prst="rect">
            <a:avLst/>
          </a:prstGeom>
          <a:noFill/>
          <a:ln>
            <a:noFill/>
          </a:ln>
        </p:spPr>
      </p:pic>
      <p:sp>
        <p:nvSpPr>
          <p:cNvPr id="1021" name="Google Shape;1021;p42"/>
          <p:cNvSpPr/>
          <p:nvPr/>
        </p:nvSpPr>
        <p:spPr>
          <a:xfrm>
            <a:off x="3065689" y="2626614"/>
            <a:ext cx="895017"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2B3E"/>
              </a:buClr>
              <a:buSzPts val="900"/>
              <a:buFont typeface="Arial"/>
              <a:buNone/>
            </a:pPr>
            <a:r>
              <a:rPr b="1" lang="en-GB" sz="900">
                <a:solidFill>
                  <a:srgbClr val="1C2B3E"/>
                </a:solidFill>
                <a:latin typeface="Arial"/>
                <a:ea typeface="Arial"/>
                <a:cs typeface="Arial"/>
                <a:sym typeface="Arial"/>
              </a:rPr>
              <a:t>Picked &amp; Packed</a:t>
            </a:r>
            <a:endParaRPr sz="900">
              <a:solidFill>
                <a:schemeClr val="dk1"/>
              </a:solidFill>
              <a:latin typeface="Calibri"/>
              <a:ea typeface="Calibri"/>
              <a:cs typeface="Calibri"/>
              <a:sym typeface="Calibri"/>
            </a:endParaRPr>
          </a:p>
        </p:txBody>
      </p:sp>
      <p:sp>
        <p:nvSpPr>
          <p:cNvPr id="1022" name="Google Shape;1022;p42"/>
          <p:cNvSpPr/>
          <p:nvPr/>
        </p:nvSpPr>
        <p:spPr>
          <a:xfrm>
            <a:off x="3067404" y="3175254"/>
            <a:ext cx="891588" cy="192024"/>
          </a:xfrm>
          <a:prstGeom prst="roundRect">
            <a:avLst>
              <a:gd fmla="val 50000" name="adj"/>
            </a:avLst>
          </a:pr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023" name="Google Shape;1023;p42"/>
          <p:cNvSpPr/>
          <p:nvPr/>
        </p:nvSpPr>
        <p:spPr>
          <a:xfrm>
            <a:off x="3067404" y="3175254"/>
            <a:ext cx="891588" cy="1920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600"/>
              <a:buFont typeface="Arial"/>
              <a:buNone/>
            </a:pPr>
            <a:r>
              <a:rPr b="1" lang="en-GB" sz="600">
                <a:solidFill>
                  <a:srgbClr val="94A3B8"/>
                </a:solidFill>
                <a:latin typeface="Arial"/>
                <a:ea typeface="Arial"/>
                <a:cs typeface="Arial"/>
                <a:sym typeface="Arial"/>
              </a:rPr>
              <a:t>CONFIRMED</a:t>
            </a:r>
            <a:endParaRPr sz="600">
              <a:solidFill>
                <a:schemeClr val="dk1"/>
              </a:solidFill>
              <a:latin typeface="Calibri"/>
              <a:ea typeface="Calibri"/>
              <a:cs typeface="Calibri"/>
              <a:sym typeface="Calibri"/>
            </a:endParaRPr>
          </a:p>
        </p:txBody>
      </p:sp>
      <p:sp>
        <p:nvSpPr>
          <p:cNvPr id="1024" name="Google Shape;1024;p42"/>
          <p:cNvSpPr/>
          <p:nvPr/>
        </p:nvSpPr>
        <p:spPr>
          <a:xfrm>
            <a:off x="3974423" y="2606040"/>
            <a:ext cx="274335"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2100"/>
              <a:buFont typeface="Arial"/>
              <a:buNone/>
            </a:pPr>
            <a:r>
              <a:rPr b="1" lang="en-GB" sz="2100">
                <a:solidFill>
                  <a:srgbClr val="94A3B8"/>
                </a:solidFill>
                <a:latin typeface="Arial"/>
                <a:ea typeface="Arial"/>
                <a:cs typeface="Arial"/>
                <a:sym typeface="Arial"/>
              </a:rPr>
              <a:t>›</a:t>
            </a:r>
            <a:endParaRPr sz="2100">
              <a:solidFill>
                <a:schemeClr val="dk1"/>
              </a:solidFill>
              <a:latin typeface="Calibri"/>
              <a:ea typeface="Calibri"/>
              <a:cs typeface="Calibri"/>
              <a:sym typeface="Calibri"/>
            </a:endParaRPr>
          </a:p>
        </p:txBody>
      </p:sp>
      <p:sp>
        <p:nvSpPr>
          <p:cNvPr id="1025" name="Google Shape;1025;p42"/>
          <p:cNvSpPr/>
          <p:nvPr/>
        </p:nvSpPr>
        <p:spPr>
          <a:xfrm>
            <a:off x="4207607" y="2091690"/>
            <a:ext cx="1004751" cy="1371600"/>
          </a:xfrm>
          <a:prstGeom prst="roundRect">
            <a:avLst>
              <a:gd fmla="val 6826" name="adj"/>
            </a:avLst>
          </a:prstGeom>
          <a:solidFill>
            <a:srgbClr val="E8821E"/>
          </a:solidFill>
          <a:ln>
            <a:noFill/>
          </a:ln>
          <a:effectLst>
            <a:outerShdw blurRad="101600" rotWithShape="0" algn="bl" dir="5400000" dist="38100">
              <a:srgbClr val="1C2B3E">
                <a:alpha val="10196"/>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026" name="Google Shape;1026;p42"/>
          <p:cNvSpPr/>
          <p:nvPr/>
        </p:nvSpPr>
        <p:spPr>
          <a:xfrm>
            <a:off x="4538523" y="2215134"/>
            <a:ext cx="342918" cy="342900"/>
          </a:xfrm>
          <a:prstGeom prst="ellipse">
            <a:avLst/>
          </a:pr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CheckCircle_accent.png" id="1027" name="Google Shape;1027;p42"/>
          <p:cNvPicPr preferRelativeResize="0"/>
          <p:nvPr/>
        </p:nvPicPr>
        <p:blipFill rotWithShape="1">
          <a:blip r:embed="rId5">
            <a:alphaModFix/>
          </a:blip>
          <a:srcRect b="0" l="0" r="0" t="0"/>
          <a:stretch/>
        </p:blipFill>
        <p:spPr>
          <a:xfrm>
            <a:off x="4624253" y="2300859"/>
            <a:ext cx="171450" cy="171450"/>
          </a:xfrm>
          <a:prstGeom prst="rect">
            <a:avLst/>
          </a:prstGeom>
          <a:noFill/>
          <a:ln>
            <a:noFill/>
          </a:ln>
        </p:spPr>
      </p:pic>
      <p:sp>
        <p:nvSpPr>
          <p:cNvPr id="1028" name="Google Shape;1028;p42"/>
          <p:cNvSpPr/>
          <p:nvPr/>
        </p:nvSpPr>
        <p:spPr>
          <a:xfrm>
            <a:off x="4262474" y="2626614"/>
            <a:ext cx="895017"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Arial"/>
              <a:buNone/>
            </a:pPr>
            <a:r>
              <a:rPr b="1" lang="en-GB" sz="900">
                <a:solidFill>
                  <a:srgbClr val="FFFFFF"/>
                </a:solidFill>
                <a:latin typeface="Arial"/>
                <a:ea typeface="Arial"/>
                <a:cs typeface="Arial"/>
                <a:sym typeface="Arial"/>
              </a:rPr>
              <a:t>Delivery Note</a:t>
            </a:r>
            <a:endParaRPr sz="900">
              <a:solidFill>
                <a:schemeClr val="dk1"/>
              </a:solidFill>
              <a:latin typeface="Calibri"/>
              <a:ea typeface="Calibri"/>
              <a:cs typeface="Calibri"/>
              <a:sym typeface="Calibri"/>
            </a:endParaRPr>
          </a:p>
        </p:txBody>
      </p:sp>
      <p:sp>
        <p:nvSpPr>
          <p:cNvPr id="1029" name="Google Shape;1029;p42"/>
          <p:cNvSpPr/>
          <p:nvPr/>
        </p:nvSpPr>
        <p:spPr>
          <a:xfrm>
            <a:off x="4264189" y="3175254"/>
            <a:ext cx="891588" cy="192024"/>
          </a:xfrm>
          <a:prstGeom prst="roundRect">
            <a:avLst>
              <a:gd fmla="val 50000" name="adj"/>
            </a:avLst>
          </a:pr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030" name="Google Shape;1030;p42"/>
          <p:cNvSpPr/>
          <p:nvPr/>
        </p:nvSpPr>
        <p:spPr>
          <a:xfrm>
            <a:off x="4264189" y="3175254"/>
            <a:ext cx="891588" cy="1920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821E"/>
              </a:buClr>
              <a:buSzPts val="600"/>
              <a:buFont typeface="Arial"/>
              <a:buNone/>
            </a:pPr>
            <a:r>
              <a:rPr b="1" lang="en-GB" sz="600">
                <a:solidFill>
                  <a:srgbClr val="E8821E"/>
                </a:solidFill>
                <a:latin typeface="Arial"/>
                <a:ea typeface="Arial"/>
                <a:cs typeface="Arial"/>
                <a:sym typeface="Arial"/>
              </a:rPr>
              <a:t>HANDOFF</a:t>
            </a:r>
            <a:endParaRPr sz="600">
              <a:solidFill>
                <a:schemeClr val="dk1"/>
              </a:solidFill>
              <a:latin typeface="Calibri"/>
              <a:ea typeface="Calibri"/>
              <a:cs typeface="Calibri"/>
              <a:sym typeface="Calibri"/>
            </a:endParaRPr>
          </a:p>
        </p:txBody>
      </p:sp>
      <p:sp>
        <p:nvSpPr>
          <p:cNvPr id="1031" name="Google Shape;1031;p42"/>
          <p:cNvSpPr/>
          <p:nvPr/>
        </p:nvSpPr>
        <p:spPr>
          <a:xfrm>
            <a:off x="5692443" y="1337310"/>
            <a:ext cx="3040313" cy="2434590"/>
          </a:xfrm>
          <a:prstGeom prst="roundRect">
            <a:avLst>
              <a:gd fmla="val 3380" name="adj"/>
            </a:avLst>
          </a:prstGeom>
          <a:solidFill>
            <a:srgbClr val="F5F7FA"/>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032" name="Google Shape;1032;p42"/>
          <p:cNvSpPr/>
          <p:nvPr/>
        </p:nvSpPr>
        <p:spPr>
          <a:xfrm>
            <a:off x="5843328" y="1460754"/>
            <a:ext cx="2738545"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800"/>
              <a:buFont typeface="Arial"/>
              <a:buNone/>
            </a:pPr>
            <a:r>
              <a:rPr b="1" lang="en-GB" sz="800">
                <a:solidFill>
                  <a:srgbClr val="94A3B8"/>
                </a:solidFill>
                <a:latin typeface="Arial"/>
                <a:ea typeface="Arial"/>
                <a:cs typeface="Arial"/>
                <a:sym typeface="Arial"/>
              </a:rPr>
              <a:t>WHAT YOU'LL SEE</a:t>
            </a:r>
            <a:endParaRPr sz="800">
              <a:solidFill>
                <a:schemeClr val="dk1"/>
              </a:solidFill>
              <a:latin typeface="Calibri"/>
              <a:ea typeface="Calibri"/>
              <a:cs typeface="Calibri"/>
              <a:sym typeface="Calibri"/>
            </a:endParaRPr>
          </a:p>
        </p:txBody>
      </p:sp>
      <p:sp>
        <p:nvSpPr>
          <p:cNvPr id="1033" name="Google Shape;1033;p42"/>
          <p:cNvSpPr/>
          <p:nvPr/>
        </p:nvSpPr>
        <p:spPr>
          <a:xfrm>
            <a:off x="5843328" y="1762506"/>
            <a:ext cx="219468" cy="219456"/>
          </a:xfrm>
          <a:prstGeom prst="ellipse">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034" name="Google Shape;1034;p42"/>
          <p:cNvSpPr/>
          <p:nvPr/>
        </p:nvSpPr>
        <p:spPr>
          <a:xfrm>
            <a:off x="5843328" y="1762506"/>
            <a:ext cx="219468"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1</a:t>
            </a:r>
            <a:endParaRPr sz="800">
              <a:solidFill>
                <a:schemeClr val="dk1"/>
              </a:solidFill>
              <a:latin typeface="Calibri"/>
              <a:ea typeface="Calibri"/>
              <a:cs typeface="Calibri"/>
              <a:sym typeface="Calibri"/>
            </a:endParaRPr>
          </a:p>
        </p:txBody>
      </p:sp>
      <p:sp>
        <p:nvSpPr>
          <p:cNvPr id="1035" name="Google Shape;1035;p42"/>
          <p:cNvSpPr/>
          <p:nvPr/>
        </p:nvSpPr>
        <p:spPr>
          <a:xfrm>
            <a:off x="6145096" y="1735074"/>
            <a:ext cx="242306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B3E"/>
              </a:buClr>
              <a:buSzPts val="900"/>
              <a:buFont typeface="Arial"/>
              <a:buNone/>
            </a:pPr>
            <a:r>
              <a:rPr lang="en-GB" sz="900">
                <a:solidFill>
                  <a:srgbClr val="1C2B3E"/>
                </a:solidFill>
                <a:latin typeface="Arial"/>
                <a:ea typeface="Arial"/>
                <a:cs typeface="Arial"/>
                <a:sym typeface="Arial"/>
              </a:rPr>
              <a:t>Pick List shows item, quantity and bin location — no price, no tax, no customer credit</a:t>
            </a:r>
            <a:endParaRPr sz="900">
              <a:solidFill>
                <a:schemeClr val="dk1"/>
              </a:solidFill>
              <a:latin typeface="Calibri"/>
              <a:ea typeface="Calibri"/>
              <a:cs typeface="Calibri"/>
              <a:sym typeface="Calibri"/>
            </a:endParaRPr>
          </a:p>
        </p:txBody>
      </p:sp>
      <p:sp>
        <p:nvSpPr>
          <p:cNvPr id="1036" name="Google Shape;1036;p42"/>
          <p:cNvSpPr/>
          <p:nvPr/>
        </p:nvSpPr>
        <p:spPr>
          <a:xfrm>
            <a:off x="5843328" y="2173986"/>
            <a:ext cx="219468" cy="219456"/>
          </a:xfrm>
          <a:prstGeom prst="ellipse">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037" name="Google Shape;1037;p42"/>
          <p:cNvSpPr/>
          <p:nvPr/>
        </p:nvSpPr>
        <p:spPr>
          <a:xfrm>
            <a:off x="5843328" y="2173986"/>
            <a:ext cx="219468"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2</a:t>
            </a:r>
            <a:endParaRPr sz="800">
              <a:solidFill>
                <a:schemeClr val="dk1"/>
              </a:solidFill>
              <a:latin typeface="Calibri"/>
              <a:ea typeface="Calibri"/>
              <a:cs typeface="Calibri"/>
              <a:sym typeface="Calibri"/>
            </a:endParaRPr>
          </a:p>
        </p:txBody>
      </p:sp>
      <p:sp>
        <p:nvSpPr>
          <p:cNvPr id="1038" name="Google Shape;1038;p42"/>
          <p:cNvSpPr/>
          <p:nvPr/>
        </p:nvSpPr>
        <p:spPr>
          <a:xfrm>
            <a:off x="6145096" y="2146554"/>
            <a:ext cx="242306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B3E"/>
              </a:buClr>
              <a:buSzPts val="900"/>
              <a:buFont typeface="Arial"/>
              <a:buNone/>
            </a:pPr>
            <a:r>
              <a:rPr lang="en-GB" sz="900">
                <a:solidFill>
                  <a:srgbClr val="1C2B3E"/>
                </a:solidFill>
                <a:latin typeface="Arial"/>
                <a:ea typeface="Arial"/>
                <a:cs typeface="Arial"/>
                <a:sym typeface="Arial"/>
              </a:rPr>
              <a:t>Warehouse confirms picked quantities — short-pick is flagged here, not after delivery</a:t>
            </a:r>
            <a:endParaRPr sz="900">
              <a:solidFill>
                <a:schemeClr val="dk1"/>
              </a:solidFill>
              <a:latin typeface="Calibri"/>
              <a:ea typeface="Calibri"/>
              <a:cs typeface="Calibri"/>
              <a:sym typeface="Calibri"/>
            </a:endParaRPr>
          </a:p>
        </p:txBody>
      </p:sp>
      <p:sp>
        <p:nvSpPr>
          <p:cNvPr id="1039" name="Google Shape;1039;p42"/>
          <p:cNvSpPr/>
          <p:nvPr/>
        </p:nvSpPr>
        <p:spPr>
          <a:xfrm>
            <a:off x="5843328" y="2585466"/>
            <a:ext cx="219468" cy="219456"/>
          </a:xfrm>
          <a:prstGeom prst="ellipse">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040" name="Google Shape;1040;p42"/>
          <p:cNvSpPr/>
          <p:nvPr/>
        </p:nvSpPr>
        <p:spPr>
          <a:xfrm>
            <a:off x="5843328" y="2585466"/>
            <a:ext cx="219468"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3</a:t>
            </a:r>
            <a:endParaRPr sz="800">
              <a:solidFill>
                <a:schemeClr val="dk1"/>
              </a:solidFill>
              <a:latin typeface="Calibri"/>
              <a:ea typeface="Calibri"/>
              <a:cs typeface="Calibri"/>
              <a:sym typeface="Calibri"/>
            </a:endParaRPr>
          </a:p>
        </p:txBody>
      </p:sp>
      <p:sp>
        <p:nvSpPr>
          <p:cNvPr id="1041" name="Google Shape;1041;p42"/>
          <p:cNvSpPr/>
          <p:nvPr/>
        </p:nvSpPr>
        <p:spPr>
          <a:xfrm>
            <a:off x="6145096" y="2558034"/>
            <a:ext cx="242306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B3E"/>
              </a:buClr>
              <a:buSzPts val="900"/>
              <a:buFont typeface="Arial"/>
              <a:buNone/>
            </a:pPr>
            <a:r>
              <a:rPr lang="en-GB" sz="900">
                <a:solidFill>
                  <a:srgbClr val="1C2B3E"/>
                </a:solidFill>
                <a:latin typeface="Arial"/>
                <a:ea typeface="Arial"/>
                <a:cs typeface="Arial"/>
                <a:sym typeface="Arial"/>
              </a:rPr>
              <a:t>Confirmed pick becomes the Delivery Note — the handoff to logistics</a:t>
            </a:r>
            <a:endParaRPr sz="900">
              <a:solidFill>
                <a:schemeClr val="dk1"/>
              </a:solidFill>
              <a:latin typeface="Calibri"/>
              <a:ea typeface="Calibri"/>
              <a:cs typeface="Calibri"/>
              <a:sym typeface="Calibri"/>
            </a:endParaRPr>
          </a:p>
        </p:txBody>
      </p:sp>
      <p:sp>
        <p:nvSpPr>
          <p:cNvPr id="1042" name="Google Shape;1042;p42"/>
          <p:cNvSpPr/>
          <p:nvPr/>
        </p:nvSpPr>
        <p:spPr>
          <a:xfrm>
            <a:off x="411502" y="3943350"/>
            <a:ext cx="8321255" cy="720090"/>
          </a:xfrm>
          <a:prstGeom prst="roundRect">
            <a:avLst>
              <a:gd fmla="val 11429" name="adj"/>
            </a:avLst>
          </a:prstGeom>
          <a:solidFill>
            <a:srgbClr val="FBEBD9"/>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043" name="Google Shape;1043;p42"/>
          <p:cNvSpPr/>
          <p:nvPr/>
        </p:nvSpPr>
        <p:spPr>
          <a:xfrm>
            <a:off x="562386" y="4094226"/>
            <a:ext cx="342918" cy="342900"/>
          </a:xfrm>
          <a:prstGeom prst="roundRect">
            <a:avLst>
              <a:gd fmla="val 22000" name="adj"/>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MessageCircle_white.png" id="1044" name="Google Shape;1044;p42"/>
          <p:cNvPicPr preferRelativeResize="0"/>
          <p:nvPr/>
        </p:nvPicPr>
        <p:blipFill rotWithShape="1">
          <a:blip r:embed="rId6">
            <a:alphaModFix/>
          </a:blip>
          <a:srcRect b="0" l="0" r="0" t="0"/>
          <a:stretch/>
        </p:blipFill>
        <p:spPr>
          <a:xfrm>
            <a:off x="639543" y="4171379"/>
            <a:ext cx="188595" cy="188595"/>
          </a:xfrm>
          <a:prstGeom prst="rect">
            <a:avLst/>
          </a:prstGeom>
          <a:noFill/>
          <a:ln>
            <a:noFill/>
          </a:ln>
        </p:spPr>
      </p:pic>
      <p:sp>
        <p:nvSpPr>
          <p:cNvPr id="1045" name="Google Shape;1045;p42"/>
          <p:cNvSpPr/>
          <p:nvPr/>
        </p:nvSpPr>
        <p:spPr>
          <a:xfrm>
            <a:off x="1028755" y="4039362"/>
            <a:ext cx="7532543" cy="528066"/>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1C2B3E"/>
              </a:buClr>
              <a:buSzPts val="1000"/>
              <a:buFont typeface="Arial"/>
              <a:buNone/>
            </a:pPr>
            <a:r>
              <a:rPr i="1" lang="en-GB" sz="1000">
                <a:solidFill>
                  <a:srgbClr val="1C2B3E"/>
                </a:solidFill>
                <a:latin typeface="Arial"/>
                <a:ea typeface="Arial"/>
                <a:cs typeface="Arial"/>
                <a:sym typeface="Arial"/>
              </a:rPr>
              <a:t>The warehouse sees only what it needs: what to pick, how much, and where — no prices, no finance detail.</a:t>
            </a:r>
            <a:endParaRPr sz="1000">
              <a:solidFill>
                <a:schemeClr val="dk1"/>
              </a:solidFill>
              <a:latin typeface="Calibri"/>
              <a:ea typeface="Calibri"/>
              <a:cs typeface="Calibri"/>
              <a:sym typeface="Calibri"/>
            </a:endParaRPr>
          </a:p>
        </p:txBody>
      </p:sp>
      <p:sp>
        <p:nvSpPr>
          <p:cNvPr id="1046" name="Google Shape;1046;p42"/>
          <p:cNvSpPr/>
          <p:nvPr/>
        </p:nvSpPr>
        <p:spPr>
          <a:xfrm>
            <a:off x="411502" y="4869180"/>
            <a:ext cx="5486693"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700"/>
              <a:buFont typeface="Arial"/>
              <a:buNone/>
            </a:pPr>
            <a:r>
              <a:rPr lang="en-GB" sz="700">
                <a:solidFill>
                  <a:srgbClr val="94A3B8"/>
                </a:solidFill>
                <a:latin typeface="Arial"/>
                <a:ea typeface="Arial"/>
                <a:cs typeface="Arial"/>
                <a:sym typeface="Arial"/>
              </a:rPr>
              <a:t>SECTION 2</a:t>
            </a:r>
            <a:endParaRPr sz="700">
              <a:solidFill>
                <a:schemeClr val="dk1"/>
              </a:solidFill>
              <a:latin typeface="Calibri"/>
              <a:ea typeface="Calibri"/>
              <a:cs typeface="Calibri"/>
              <a:sym typeface="Calibri"/>
            </a:endParaRPr>
          </a:p>
        </p:txBody>
      </p:sp>
      <p:sp>
        <p:nvSpPr>
          <p:cNvPr id="1047" name="Google Shape;1047;p42"/>
          <p:cNvSpPr/>
          <p:nvPr/>
        </p:nvSpPr>
        <p:spPr>
          <a:xfrm>
            <a:off x="7361084" y="4869180"/>
            <a:ext cx="1371673" cy="20574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700"/>
              <a:buFont typeface="Arial"/>
              <a:buNone/>
            </a:pPr>
            <a:r>
              <a:rPr lang="en-GB" sz="700">
                <a:solidFill>
                  <a:srgbClr val="94A3B8"/>
                </a:solidFill>
                <a:latin typeface="Arial"/>
                <a:ea typeface="Arial"/>
                <a:cs typeface="Arial"/>
                <a:sym typeface="Arial"/>
              </a:rPr>
              <a:t>29 / 82</a:t>
            </a:r>
            <a:endParaRPr sz="700">
              <a:solidFill>
                <a:schemeClr val="dk1"/>
              </a:solidFill>
              <a:latin typeface="Calibri"/>
              <a:ea typeface="Calibri"/>
              <a:cs typeface="Calibri"/>
              <a:sym typeface="Calibri"/>
            </a:endParaRPr>
          </a:p>
        </p:txBody>
      </p:sp>
      <p:sp>
        <p:nvSpPr>
          <p:cNvPr id="1048" name="Google Shape;1048;p42"/>
          <p:cNvSpPr txBox="1"/>
          <p:nvPr>
            <p:ph idx="12" type="sldNum"/>
          </p:nvPr>
        </p:nvSpPr>
        <p:spPr>
          <a:xfrm>
            <a:off x="8347216" y="4750189"/>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C2B3E"/>
        </a:solidFill>
      </p:bgPr>
    </p:bg>
    <p:spTree>
      <p:nvGrpSpPr>
        <p:cNvPr id="1053" name="Shape 1053"/>
        <p:cNvGrpSpPr/>
        <p:nvPr/>
      </p:nvGrpSpPr>
      <p:grpSpPr>
        <a:xfrm>
          <a:off x="0" y="0"/>
          <a:ext cx="0" cy="0"/>
          <a:chOff x="0" y="0"/>
          <a:chExt cx="0" cy="0"/>
        </a:xfrm>
      </p:grpSpPr>
      <p:sp>
        <p:nvSpPr>
          <p:cNvPr id="1054" name="Google Shape;1054;p43"/>
          <p:cNvSpPr/>
          <p:nvPr/>
        </p:nvSpPr>
        <p:spPr>
          <a:xfrm>
            <a:off x="411502" y="342900"/>
            <a:ext cx="20574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21E"/>
              </a:buClr>
              <a:buSzPts val="1100"/>
              <a:buFont typeface="Arial"/>
              <a:buNone/>
            </a:pPr>
            <a:r>
              <a:rPr b="1" lang="en-GB" sz="1100">
                <a:solidFill>
                  <a:srgbClr val="E8821E"/>
                </a:solidFill>
                <a:latin typeface="Arial"/>
                <a:ea typeface="Arial"/>
                <a:cs typeface="Arial"/>
                <a:sym typeface="Arial"/>
              </a:rPr>
              <a:t>03 / 07</a:t>
            </a:r>
            <a:endParaRPr sz="1100">
              <a:solidFill>
                <a:schemeClr val="dk1"/>
              </a:solidFill>
              <a:latin typeface="Calibri"/>
              <a:ea typeface="Calibri"/>
              <a:cs typeface="Calibri"/>
              <a:sym typeface="Calibri"/>
            </a:endParaRPr>
          </a:p>
        </p:txBody>
      </p:sp>
      <p:sp>
        <p:nvSpPr>
          <p:cNvPr id="1055" name="Google Shape;1055;p43"/>
          <p:cNvSpPr/>
          <p:nvPr/>
        </p:nvSpPr>
        <p:spPr>
          <a:xfrm>
            <a:off x="1964168" y="1072165"/>
            <a:ext cx="1484700" cy="1165800"/>
          </a:xfrm>
          <a:prstGeom prst="roundRect">
            <a:avLst>
              <a:gd fmla="val 5882" name="adj"/>
            </a:avLst>
          </a:prstGeom>
          <a:solidFill>
            <a:srgbClr val="27394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056" name="Google Shape;1056;p43"/>
          <p:cNvSpPr/>
          <p:nvPr/>
        </p:nvSpPr>
        <p:spPr>
          <a:xfrm>
            <a:off x="2533412" y="1329554"/>
            <a:ext cx="342900" cy="342900"/>
          </a:xfrm>
          <a:prstGeom prst="ellipse">
            <a:avLst/>
          </a:prstGeom>
          <a:solidFill>
            <a:srgbClr val="32495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057" name="Google Shape;1057;p43"/>
          <p:cNvSpPr/>
          <p:nvPr/>
        </p:nvSpPr>
        <p:spPr>
          <a:xfrm>
            <a:off x="2022464" y="1741034"/>
            <a:ext cx="13752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Arial"/>
              <a:buNone/>
            </a:pPr>
            <a:r>
              <a:rPr b="1" lang="en-GB" sz="900">
                <a:solidFill>
                  <a:srgbClr val="FFFFFF"/>
                </a:solidFill>
                <a:latin typeface="Arial"/>
                <a:ea typeface="Arial"/>
                <a:cs typeface="Arial"/>
                <a:sym typeface="Arial"/>
              </a:rPr>
              <a:t>Sales Order</a:t>
            </a:r>
            <a:endParaRPr sz="900">
              <a:solidFill>
                <a:schemeClr val="dk1"/>
              </a:solidFill>
              <a:latin typeface="Calibri"/>
              <a:ea typeface="Calibri"/>
              <a:cs typeface="Calibri"/>
              <a:sym typeface="Calibri"/>
            </a:endParaRPr>
          </a:p>
        </p:txBody>
      </p:sp>
      <p:sp>
        <p:nvSpPr>
          <p:cNvPr id="1058" name="Google Shape;1058;p43"/>
          <p:cNvSpPr/>
          <p:nvPr/>
        </p:nvSpPr>
        <p:spPr>
          <a:xfrm>
            <a:off x="3503871" y="1483645"/>
            <a:ext cx="2742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2A6BE"/>
              </a:buClr>
              <a:buSzPts val="2100"/>
              <a:buFont typeface="Arial"/>
              <a:buNone/>
            </a:pPr>
            <a:r>
              <a:rPr b="1" lang="en-GB" sz="2100">
                <a:solidFill>
                  <a:srgbClr val="92A6BE"/>
                </a:solidFill>
                <a:latin typeface="Arial"/>
                <a:ea typeface="Arial"/>
                <a:cs typeface="Arial"/>
                <a:sym typeface="Arial"/>
              </a:rPr>
              <a:t>›</a:t>
            </a:r>
            <a:endParaRPr sz="2100">
              <a:solidFill>
                <a:schemeClr val="dk1"/>
              </a:solidFill>
              <a:latin typeface="Calibri"/>
              <a:ea typeface="Calibri"/>
              <a:cs typeface="Calibri"/>
              <a:sym typeface="Calibri"/>
            </a:endParaRPr>
          </a:p>
        </p:txBody>
      </p:sp>
      <p:sp>
        <p:nvSpPr>
          <p:cNvPr id="1059" name="Google Shape;1059;p43"/>
          <p:cNvSpPr/>
          <p:nvPr/>
        </p:nvSpPr>
        <p:spPr>
          <a:xfrm>
            <a:off x="3829642" y="1072165"/>
            <a:ext cx="1484700" cy="1165800"/>
          </a:xfrm>
          <a:prstGeom prst="roundRect">
            <a:avLst>
              <a:gd fmla="val 5882" name="adj"/>
            </a:avLst>
          </a:prstGeom>
          <a:solidFill>
            <a:srgbClr val="27394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060" name="Google Shape;1060;p43"/>
          <p:cNvSpPr/>
          <p:nvPr/>
        </p:nvSpPr>
        <p:spPr>
          <a:xfrm>
            <a:off x="4398887" y="1329554"/>
            <a:ext cx="342900" cy="342900"/>
          </a:xfrm>
          <a:prstGeom prst="ellipse">
            <a:avLst/>
          </a:prstGeom>
          <a:solidFill>
            <a:srgbClr val="32495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Clipboard_white.png" id="1061" name="Google Shape;1061;p43"/>
          <p:cNvPicPr preferRelativeResize="0"/>
          <p:nvPr/>
        </p:nvPicPr>
        <p:blipFill rotWithShape="1">
          <a:blip r:embed="rId3">
            <a:alphaModFix/>
          </a:blip>
          <a:srcRect b="0" l="0" r="0" t="0"/>
          <a:stretch/>
        </p:blipFill>
        <p:spPr>
          <a:xfrm>
            <a:off x="4481187" y="1411850"/>
            <a:ext cx="171450" cy="171450"/>
          </a:xfrm>
          <a:prstGeom prst="rect">
            <a:avLst/>
          </a:prstGeom>
          <a:noFill/>
          <a:ln>
            <a:noFill/>
          </a:ln>
        </p:spPr>
      </p:pic>
      <p:sp>
        <p:nvSpPr>
          <p:cNvPr id="1062" name="Google Shape;1062;p43"/>
          <p:cNvSpPr/>
          <p:nvPr/>
        </p:nvSpPr>
        <p:spPr>
          <a:xfrm>
            <a:off x="3887938" y="1741034"/>
            <a:ext cx="13752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Arial"/>
              <a:buNone/>
            </a:pPr>
            <a:r>
              <a:rPr b="1" lang="en-GB" sz="900">
                <a:solidFill>
                  <a:srgbClr val="FFFFFF"/>
                </a:solidFill>
                <a:latin typeface="Arial"/>
                <a:ea typeface="Arial"/>
                <a:cs typeface="Arial"/>
                <a:sym typeface="Arial"/>
              </a:rPr>
              <a:t>Delivery Note</a:t>
            </a:r>
            <a:endParaRPr sz="900">
              <a:solidFill>
                <a:schemeClr val="dk1"/>
              </a:solidFill>
              <a:latin typeface="Calibri"/>
              <a:ea typeface="Calibri"/>
              <a:cs typeface="Calibri"/>
              <a:sym typeface="Calibri"/>
            </a:endParaRPr>
          </a:p>
        </p:txBody>
      </p:sp>
      <p:sp>
        <p:nvSpPr>
          <p:cNvPr id="1063" name="Google Shape;1063;p43"/>
          <p:cNvSpPr/>
          <p:nvPr/>
        </p:nvSpPr>
        <p:spPr>
          <a:xfrm>
            <a:off x="5369345" y="1483645"/>
            <a:ext cx="2742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2A6BE"/>
              </a:buClr>
              <a:buSzPts val="2100"/>
              <a:buFont typeface="Arial"/>
              <a:buNone/>
            </a:pPr>
            <a:r>
              <a:rPr b="1" lang="en-GB" sz="2100">
                <a:solidFill>
                  <a:srgbClr val="92A6BE"/>
                </a:solidFill>
                <a:latin typeface="Arial"/>
                <a:ea typeface="Arial"/>
                <a:cs typeface="Arial"/>
                <a:sym typeface="Arial"/>
              </a:rPr>
              <a:t>›</a:t>
            </a:r>
            <a:endParaRPr sz="2100">
              <a:solidFill>
                <a:schemeClr val="dk1"/>
              </a:solidFill>
              <a:latin typeface="Calibri"/>
              <a:ea typeface="Calibri"/>
              <a:cs typeface="Calibri"/>
              <a:sym typeface="Calibri"/>
            </a:endParaRPr>
          </a:p>
        </p:txBody>
      </p:sp>
      <p:sp>
        <p:nvSpPr>
          <p:cNvPr id="1064" name="Google Shape;1064;p43"/>
          <p:cNvSpPr/>
          <p:nvPr/>
        </p:nvSpPr>
        <p:spPr>
          <a:xfrm>
            <a:off x="5695118" y="1072165"/>
            <a:ext cx="1484700" cy="1165800"/>
          </a:xfrm>
          <a:prstGeom prst="roundRect">
            <a:avLst>
              <a:gd fmla="val 5882" name="adj"/>
            </a:avLst>
          </a:prstGeom>
          <a:solidFill>
            <a:srgbClr val="27394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065" name="Google Shape;1065;p43"/>
          <p:cNvSpPr/>
          <p:nvPr/>
        </p:nvSpPr>
        <p:spPr>
          <a:xfrm>
            <a:off x="6264362" y="1329554"/>
            <a:ext cx="342900" cy="342900"/>
          </a:xfrm>
          <a:prstGeom prst="ellipse">
            <a:avLst/>
          </a:prstGeom>
          <a:solidFill>
            <a:srgbClr val="32495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Truck_white.png" id="1066" name="Google Shape;1066;p43"/>
          <p:cNvPicPr preferRelativeResize="0"/>
          <p:nvPr/>
        </p:nvPicPr>
        <p:blipFill rotWithShape="1">
          <a:blip r:embed="rId4">
            <a:alphaModFix/>
          </a:blip>
          <a:srcRect b="0" l="0" r="0" t="0"/>
          <a:stretch/>
        </p:blipFill>
        <p:spPr>
          <a:xfrm>
            <a:off x="6346662" y="1411850"/>
            <a:ext cx="171450" cy="171450"/>
          </a:xfrm>
          <a:prstGeom prst="rect">
            <a:avLst/>
          </a:prstGeom>
          <a:noFill/>
          <a:ln>
            <a:noFill/>
          </a:ln>
        </p:spPr>
      </p:pic>
      <p:sp>
        <p:nvSpPr>
          <p:cNvPr id="1067" name="Google Shape;1067;p43"/>
          <p:cNvSpPr/>
          <p:nvPr/>
        </p:nvSpPr>
        <p:spPr>
          <a:xfrm>
            <a:off x="5753415" y="1741034"/>
            <a:ext cx="13752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Arial"/>
              <a:buNone/>
            </a:pPr>
            <a:r>
              <a:rPr b="1" lang="en-GB" sz="900">
                <a:solidFill>
                  <a:srgbClr val="FFFFFF"/>
                </a:solidFill>
                <a:latin typeface="Arial"/>
                <a:ea typeface="Arial"/>
                <a:cs typeface="Arial"/>
                <a:sym typeface="Arial"/>
              </a:rPr>
              <a:t>Sales Invoice</a:t>
            </a:r>
            <a:endParaRPr sz="900">
              <a:solidFill>
                <a:schemeClr val="dk1"/>
              </a:solidFill>
              <a:latin typeface="Calibri"/>
              <a:ea typeface="Calibri"/>
              <a:cs typeface="Calibri"/>
              <a:sym typeface="Calibri"/>
            </a:endParaRPr>
          </a:p>
        </p:txBody>
      </p:sp>
      <p:sp>
        <p:nvSpPr>
          <p:cNvPr id="1068" name="Google Shape;1068;p43"/>
          <p:cNvSpPr txBox="1"/>
          <p:nvPr>
            <p:ph idx="12" type="sldNum"/>
          </p:nvPr>
        </p:nvSpPr>
        <p:spPr>
          <a:xfrm>
            <a:off x="8347216" y="4750189"/>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069" name="Google Shape;1069;p43"/>
          <p:cNvSpPr/>
          <p:nvPr/>
        </p:nvSpPr>
        <p:spPr>
          <a:xfrm>
            <a:off x="1012950" y="2560513"/>
            <a:ext cx="7118100" cy="15108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Clr>
                <a:srgbClr val="FFFFFF"/>
              </a:buClr>
              <a:buSzPts val="2700"/>
              <a:buFont typeface="Arial"/>
              <a:buNone/>
            </a:pPr>
            <a:r>
              <a:rPr b="1" lang="en-GB" sz="2400">
                <a:solidFill>
                  <a:srgbClr val="FFFFFF"/>
                </a:solidFill>
                <a:latin typeface="Poppins"/>
                <a:ea typeface="Poppins"/>
                <a:cs typeface="Poppins"/>
                <a:sym typeface="Poppins"/>
              </a:rPr>
              <a:t>The order has been approved.</a:t>
            </a:r>
            <a:endParaRPr b="1" sz="2400">
              <a:solidFill>
                <a:srgbClr val="FFFFFF"/>
              </a:solidFill>
              <a:latin typeface="Poppins"/>
              <a:ea typeface="Poppins"/>
              <a:cs typeface="Poppins"/>
              <a:sym typeface="Poppins"/>
            </a:endParaRPr>
          </a:p>
          <a:p>
            <a:pPr indent="0" lvl="0" marL="0" marR="0" rtl="0" algn="ctr">
              <a:spcBef>
                <a:spcPts val="0"/>
              </a:spcBef>
              <a:spcAft>
                <a:spcPts val="0"/>
              </a:spcAft>
              <a:buClr>
                <a:srgbClr val="FFFFFF"/>
              </a:buClr>
              <a:buSzPts val="2700"/>
              <a:buFont typeface="Arial"/>
              <a:buNone/>
            </a:pPr>
            <a:r>
              <a:rPr lang="en-GB" sz="2400">
                <a:solidFill>
                  <a:srgbClr val="FFFFFF"/>
                </a:solidFill>
                <a:latin typeface="Poppins Light"/>
                <a:ea typeface="Poppins Light"/>
                <a:cs typeface="Poppins Light"/>
                <a:sym typeface="Poppins Light"/>
              </a:rPr>
              <a:t>Watch MAIA moves</a:t>
            </a:r>
            <a:r>
              <a:rPr lang="en-GB" sz="2400">
                <a:solidFill>
                  <a:srgbClr val="FFFFFF"/>
                </a:solidFill>
                <a:latin typeface="Poppins Light"/>
                <a:ea typeface="Poppins Light"/>
                <a:cs typeface="Poppins Light"/>
                <a:sym typeface="Poppins Light"/>
              </a:rPr>
              <a:t> it</a:t>
            </a:r>
            <a:r>
              <a:rPr lang="en-GB" sz="2400">
                <a:solidFill>
                  <a:srgbClr val="FFFFFF"/>
                </a:solidFill>
                <a:latin typeface="Poppins Light"/>
                <a:ea typeface="Poppins Light"/>
                <a:cs typeface="Poppins Light"/>
                <a:sym typeface="Poppins Light"/>
              </a:rPr>
              <a:t> from Sales Order to Delivery and Billing.</a:t>
            </a:r>
            <a:endParaRPr sz="2400">
              <a:solidFill>
                <a:srgbClr val="FFFFFF"/>
              </a:solidFill>
              <a:latin typeface="Poppins Light"/>
              <a:ea typeface="Poppins Light"/>
              <a:cs typeface="Poppins Light"/>
              <a:sym typeface="Poppins Light"/>
            </a:endParaRPr>
          </a:p>
        </p:txBody>
      </p:sp>
      <p:pic>
        <p:nvPicPr>
          <p:cNvPr descr="/home/claude/maia/icons/FiShoppingCart_accent.png" id="1070" name="Google Shape;1070;p43"/>
          <p:cNvPicPr preferRelativeResize="0"/>
          <p:nvPr/>
        </p:nvPicPr>
        <p:blipFill rotWithShape="1">
          <a:blip r:embed="rId5">
            <a:alphaModFix/>
          </a:blip>
          <a:srcRect b="0" l="0" r="0" t="0"/>
          <a:stretch/>
        </p:blipFill>
        <p:spPr>
          <a:xfrm>
            <a:off x="2615701" y="1411847"/>
            <a:ext cx="171475" cy="17147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4" name="Shape 1074"/>
        <p:cNvGrpSpPr/>
        <p:nvPr/>
      </p:nvGrpSpPr>
      <p:grpSpPr>
        <a:xfrm>
          <a:off x="0" y="0"/>
          <a:ext cx="0" cy="0"/>
          <a:chOff x="0" y="0"/>
          <a:chExt cx="0" cy="0"/>
        </a:xfrm>
      </p:grpSpPr>
      <p:sp>
        <p:nvSpPr>
          <p:cNvPr id="1075" name="Google Shape;1075;p44"/>
          <p:cNvSpPr txBox="1"/>
          <p:nvPr>
            <p:ph idx="12" type="sldNum"/>
          </p:nvPr>
        </p:nvSpPr>
        <p:spPr>
          <a:xfrm>
            <a:off x="8347216" y="4750189"/>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id="1076" name="Google Shape;1076;p44" title="OrderProcess.mp4">
            <a:hlinkClick r:id="rId3"/>
          </p:cNvPr>
          <p:cNvPicPr preferRelativeResize="0"/>
          <p:nvPr/>
        </p:nvPicPr>
        <p:blipFill>
          <a:blip r:embed="rId4">
            <a:alphaModFix/>
          </a:blip>
          <a:stretch>
            <a:fillRect/>
          </a:stretch>
        </p:blipFill>
        <p:spPr>
          <a:xfrm>
            <a:off x="0" y="-467962"/>
            <a:ext cx="9144000" cy="607943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076"/>
                                        </p:tgtEl>
                                        <p:attrNameLst>
                                          <p:attrName>style.visibility</p:attrName>
                                        </p:attrNameLst>
                                      </p:cBhvr>
                                      <p:to>
                                        <p:strVal val="visible"/>
                                      </p:to>
                                    </p:set>
                                    <p:animEffect filter="fade" transition="in">
                                      <p:cBhvr>
                                        <p:cTn dur="1000"/>
                                        <p:tgtEl>
                                          <p:spTgt spid="107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C2B3E"/>
        </a:solidFill>
      </p:bgPr>
    </p:bg>
    <p:spTree>
      <p:nvGrpSpPr>
        <p:cNvPr id="1081" name="Shape 1081"/>
        <p:cNvGrpSpPr/>
        <p:nvPr/>
      </p:nvGrpSpPr>
      <p:grpSpPr>
        <a:xfrm>
          <a:off x="0" y="0"/>
          <a:ext cx="0" cy="0"/>
          <a:chOff x="0" y="0"/>
          <a:chExt cx="0" cy="0"/>
        </a:xfrm>
      </p:grpSpPr>
      <p:sp>
        <p:nvSpPr>
          <p:cNvPr id="1082" name="Google Shape;1082;p45"/>
          <p:cNvSpPr/>
          <p:nvPr/>
        </p:nvSpPr>
        <p:spPr>
          <a:xfrm>
            <a:off x="411502" y="342900"/>
            <a:ext cx="205751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21E"/>
              </a:buClr>
              <a:buSzPts val="1100"/>
              <a:buFont typeface="Arial"/>
              <a:buNone/>
            </a:pPr>
            <a:r>
              <a:rPr b="1" lang="en-GB" sz="1100">
                <a:solidFill>
                  <a:srgbClr val="E8821E"/>
                </a:solidFill>
                <a:latin typeface="Arial"/>
                <a:ea typeface="Arial"/>
                <a:cs typeface="Arial"/>
                <a:sym typeface="Arial"/>
              </a:rPr>
              <a:t>06 / 07</a:t>
            </a:r>
            <a:endParaRPr sz="1100">
              <a:solidFill>
                <a:schemeClr val="dk1"/>
              </a:solidFill>
              <a:latin typeface="Calibri"/>
              <a:ea typeface="Calibri"/>
              <a:cs typeface="Calibri"/>
              <a:sym typeface="Calibri"/>
            </a:endParaRPr>
          </a:p>
        </p:txBody>
      </p:sp>
      <p:sp>
        <p:nvSpPr>
          <p:cNvPr id="1083" name="Google Shape;1083;p45"/>
          <p:cNvSpPr txBox="1"/>
          <p:nvPr>
            <p:ph idx="12" type="sldNum"/>
          </p:nvPr>
        </p:nvSpPr>
        <p:spPr>
          <a:xfrm>
            <a:off x="8347216" y="4750189"/>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084" name="Google Shape;1084;p45"/>
          <p:cNvSpPr/>
          <p:nvPr/>
        </p:nvSpPr>
        <p:spPr>
          <a:xfrm>
            <a:off x="1012950" y="2669750"/>
            <a:ext cx="7118100" cy="15108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Clr>
                <a:schemeClr val="lt1"/>
              </a:buClr>
              <a:buSzPts val="2700"/>
              <a:buFont typeface="Arial"/>
              <a:buNone/>
            </a:pPr>
            <a:r>
              <a:rPr b="1" lang="en-GB" sz="2400">
                <a:solidFill>
                  <a:schemeClr val="lt1"/>
                </a:solidFill>
                <a:latin typeface="Poppins"/>
                <a:ea typeface="Poppins"/>
                <a:cs typeface="Poppins"/>
                <a:sym typeface="Poppins"/>
              </a:rPr>
              <a:t>A new customer comes in.</a:t>
            </a:r>
            <a:endParaRPr b="1" sz="2400">
              <a:solidFill>
                <a:schemeClr val="lt1"/>
              </a:solidFill>
              <a:latin typeface="Poppins"/>
              <a:ea typeface="Poppins"/>
              <a:cs typeface="Poppins"/>
              <a:sym typeface="Poppins"/>
            </a:endParaRPr>
          </a:p>
          <a:p>
            <a:pPr indent="0" lvl="0" marL="0" rtl="0" algn="ctr">
              <a:spcBef>
                <a:spcPts val="0"/>
              </a:spcBef>
              <a:spcAft>
                <a:spcPts val="0"/>
              </a:spcAft>
              <a:buClr>
                <a:schemeClr val="lt1"/>
              </a:buClr>
              <a:buSzPts val="2700"/>
              <a:buFont typeface="Arial"/>
              <a:buNone/>
            </a:pPr>
            <a:r>
              <a:rPr lang="en-GB" sz="2400">
                <a:solidFill>
                  <a:schemeClr val="lt1"/>
                </a:solidFill>
                <a:latin typeface="Poppins Light"/>
                <a:ea typeface="Poppins Light"/>
                <a:cs typeface="Poppins Light"/>
                <a:sym typeface="Poppins Light"/>
              </a:rPr>
              <a:t>Watch how you can create new customer </a:t>
            </a:r>
            <a:br>
              <a:rPr lang="en-GB" sz="2400">
                <a:solidFill>
                  <a:schemeClr val="lt1"/>
                </a:solidFill>
                <a:latin typeface="Poppins Light"/>
                <a:ea typeface="Poppins Light"/>
                <a:cs typeface="Poppins Light"/>
                <a:sym typeface="Poppins Light"/>
              </a:rPr>
            </a:br>
            <a:r>
              <a:rPr lang="en-GB" sz="2400">
                <a:solidFill>
                  <a:schemeClr val="lt1"/>
                </a:solidFill>
                <a:latin typeface="Poppins Light"/>
                <a:ea typeface="Poppins Light"/>
                <a:cs typeface="Poppins Light"/>
                <a:sym typeface="Poppins Light"/>
              </a:rPr>
              <a:t>in MAIA</a:t>
            </a:r>
            <a:endParaRPr b="1" sz="2400">
              <a:solidFill>
                <a:srgbClr val="FFFFFF"/>
              </a:solidFill>
              <a:latin typeface="Poppins"/>
              <a:ea typeface="Poppins"/>
              <a:cs typeface="Poppins"/>
              <a:sym typeface="Poppins"/>
            </a:endParaRPr>
          </a:p>
        </p:txBody>
      </p:sp>
      <p:pic>
        <p:nvPicPr>
          <p:cNvPr id="1085" name="Google Shape;1085;p45" title="follow (1).png"/>
          <p:cNvPicPr preferRelativeResize="0"/>
          <p:nvPr/>
        </p:nvPicPr>
        <p:blipFill rotWithShape="1">
          <a:blip r:embed="rId3">
            <a:alphaModFix/>
          </a:blip>
          <a:srcRect b="0" l="0" r="0" t="0"/>
          <a:stretch/>
        </p:blipFill>
        <p:spPr>
          <a:xfrm>
            <a:off x="3944850" y="1126663"/>
            <a:ext cx="1254324" cy="1254324"/>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9" name="Shape 1089"/>
        <p:cNvGrpSpPr/>
        <p:nvPr/>
      </p:nvGrpSpPr>
      <p:grpSpPr>
        <a:xfrm>
          <a:off x="0" y="0"/>
          <a:ext cx="0" cy="0"/>
          <a:chOff x="0" y="0"/>
          <a:chExt cx="0" cy="0"/>
        </a:xfrm>
      </p:grpSpPr>
      <p:sp>
        <p:nvSpPr>
          <p:cNvPr id="1090" name="Google Shape;1090;p46"/>
          <p:cNvSpPr txBox="1"/>
          <p:nvPr>
            <p:ph idx="12" type="sldNum"/>
          </p:nvPr>
        </p:nvSpPr>
        <p:spPr>
          <a:xfrm>
            <a:off x="8347216" y="4750189"/>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091" name="Google Shape;1091;p46"/>
          <p:cNvSpPr/>
          <p:nvPr/>
        </p:nvSpPr>
        <p:spPr>
          <a:xfrm>
            <a:off x="685837" y="1954530"/>
            <a:ext cx="7772700" cy="617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700"/>
              <a:buFont typeface="Arial"/>
              <a:buNone/>
            </a:pPr>
            <a:r>
              <a:rPr b="1" lang="en-GB" sz="4000">
                <a:solidFill>
                  <a:schemeClr val="dk1"/>
                </a:solidFill>
                <a:highlight>
                  <a:srgbClr val="FFFF00"/>
                </a:highlight>
              </a:rPr>
              <a:t>New customer (maia)</a:t>
            </a:r>
            <a:endParaRPr b="1" sz="4000">
              <a:solidFill>
                <a:schemeClr val="dk1"/>
              </a:solidFill>
              <a:highlight>
                <a:srgbClr val="FFFF00"/>
              </a:highlight>
              <a:latin typeface="Arial"/>
              <a:ea typeface="Arial"/>
              <a:cs typeface="Arial"/>
              <a:sym typeface="Arial"/>
            </a:endParaRPr>
          </a:p>
          <a:p>
            <a:pPr indent="0" lvl="0" marL="0" marR="0" rtl="0" algn="ctr">
              <a:spcBef>
                <a:spcPts val="0"/>
              </a:spcBef>
              <a:spcAft>
                <a:spcPts val="0"/>
              </a:spcAft>
              <a:buClr>
                <a:srgbClr val="FFFFFF"/>
              </a:buClr>
              <a:buSzPts val="2700"/>
              <a:buFont typeface="Arial"/>
              <a:buNone/>
            </a:pPr>
            <a:r>
              <a:rPr b="1" lang="en-GB" sz="4000">
                <a:solidFill>
                  <a:schemeClr val="dk1"/>
                </a:solidFill>
                <a:highlight>
                  <a:srgbClr val="FFFF00"/>
                </a:highlight>
              </a:rPr>
              <a:t>ATTACH VIDEO HERE</a:t>
            </a:r>
            <a:endParaRPr b="1" sz="4000">
              <a:solidFill>
                <a:schemeClr val="dk1"/>
              </a:solidFill>
              <a:highlight>
                <a:srgbClr val="FFFF00"/>
              </a:highlight>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1096" name="Shape 1096"/>
        <p:cNvGrpSpPr/>
        <p:nvPr/>
      </p:nvGrpSpPr>
      <p:grpSpPr>
        <a:xfrm>
          <a:off x="0" y="0"/>
          <a:ext cx="0" cy="0"/>
          <a:chOff x="0" y="0"/>
          <a:chExt cx="0" cy="0"/>
        </a:xfrm>
      </p:grpSpPr>
      <p:sp>
        <p:nvSpPr>
          <p:cNvPr id="1097" name="Google Shape;1097;p47"/>
          <p:cNvSpPr/>
          <p:nvPr/>
        </p:nvSpPr>
        <p:spPr>
          <a:xfrm>
            <a:off x="411502" y="260604"/>
            <a:ext cx="68583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 VIDEO · 06 / 07</a:t>
            </a:r>
            <a:endParaRPr sz="800">
              <a:solidFill>
                <a:schemeClr val="dk1"/>
              </a:solidFill>
              <a:latin typeface="Calibri"/>
              <a:ea typeface="Calibri"/>
              <a:cs typeface="Calibri"/>
              <a:sym typeface="Calibri"/>
            </a:endParaRPr>
          </a:p>
        </p:txBody>
      </p:sp>
      <p:sp>
        <p:nvSpPr>
          <p:cNvPr id="1098" name="Google Shape;1098;p47"/>
          <p:cNvSpPr/>
          <p:nvPr/>
        </p:nvSpPr>
        <p:spPr>
          <a:xfrm>
            <a:off x="411502" y="438912"/>
            <a:ext cx="8321400" cy="480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C2B3E"/>
              </a:buClr>
              <a:buSzPts val="2200"/>
              <a:buFont typeface="Arial"/>
              <a:buNone/>
            </a:pPr>
            <a:r>
              <a:rPr b="1" lang="en-GB" sz="2200">
                <a:solidFill>
                  <a:srgbClr val="1C2B3E"/>
                </a:solidFill>
                <a:latin typeface="Arial"/>
                <a:ea typeface="Arial"/>
                <a:cs typeface="Arial"/>
                <a:sym typeface="Arial"/>
              </a:rPr>
              <a:t>Add a new customer without breaking your flow</a:t>
            </a:r>
            <a:endParaRPr sz="2200">
              <a:solidFill>
                <a:schemeClr val="dk1"/>
              </a:solidFill>
              <a:latin typeface="Calibri"/>
              <a:ea typeface="Calibri"/>
              <a:cs typeface="Calibri"/>
              <a:sym typeface="Calibri"/>
            </a:endParaRPr>
          </a:p>
        </p:txBody>
      </p:sp>
      <p:sp>
        <p:nvSpPr>
          <p:cNvPr id="1099" name="Google Shape;1099;p47"/>
          <p:cNvSpPr/>
          <p:nvPr/>
        </p:nvSpPr>
        <p:spPr>
          <a:xfrm>
            <a:off x="411502" y="932688"/>
            <a:ext cx="8321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D"/>
              </a:buClr>
              <a:buSzPts val="1100"/>
              <a:buFont typeface="Arial"/>
              <a:buNone/>
            </a:pPr>
            <a:r>
              <a:rPr lang="en-GB" sz="1100">
                <a:solidFill>
                  <a:srgbClr val="5B6B7D"/>
                </a:solidFill>
                <a:latin typeface="Arial"/>
                <a:ea typeface="Arial"/>
                <a:cs typeface="Arial"/>
                <a:sym typeface="Arial"/>
              </a:rPr>
              <a:t>Screen recording — watch how it works.</a:t>
            </a:r>
            <a:endParaRPr sz="1100">
              <a:solidFill>
                <a:schemeClr val="dk1"/>
              </a:solidFill>
              <a:latin typeface="Calibri"/>
              <a:ea typeface="Calibri"/>
              <a:cs typeface="Calibri"/>
              <a:sym typeface="Calibri"/>
            </a:endParaRPr>
          </a:p>
        </p:txBody>
      </p:sp>
      <p:sp>
        <p:nvSpPr>
          <p:cNvPr id="1100" name="Google Shape;1100;p47"/>
          <p:cNvSpPr/>
          <p:nvPr/>
        </p:nvSpPr>
        <p:spPr>
          <a:xfrm>
            <a:off x="411502" y="1337310"/>
            <a:ext cx="5006700" cy="2434500"/>
          </a:xfrm>
          <a:prstGeom prst="roundRect">
            <a:avLst>
              <a:gd fmla="val 3380" name="adj"/>
            </a:avLst>
          </a:prstGeom>
          <a:solidFill>
            <a:srgbClr val="F5F7FA"/>
          </a:solidFill>
          <a:ln>
            <a:noFill/>
          </a:ln>
          <a:effectLst>
            <a:outerShdw blurRad="101600" rotWithShape="0" algn="bl" dir="5400000" dist="38100">
              <a:srgbClr val="1C2B3E">
                <a:alpha val="1019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101" name="Google Shape;1101;p47"/>
          <p:cNvSpPr/>
          <p:nvPr/>
        </p:nvSpPr>
        <p:spPr>
          <a:xfrm>
            <a:off x="411502" y="1337310"/>
            <a:ext cx="5006700" cy="342900"/>
          </a:xfrm>
          <a:prstGeom prst="roundRect">
            <a:avLst>
              <a:gd fmla="val 24000" name="adj"/>
            </a:avLst>
          </a:pr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102" name="Google Shape;1102;p47"/>
          <p:cNvSpPr/>
          <p:nvPr/>
        </p:nvSpPr>
        <p:spPr>
          <a:xfrm>
            <a:off x="411502" y="1508760"/>
            <a:ext cx="5006700" cy="171600"/>
          </a:xfrm>
          <a:prstGeom prst="rect">
            <a:avLst/>
          </a:pr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103" name="Google Shape;1103;p47"/>
          <p:cNvSpPr/>
          <p:nvPr/>
        </p:nvSpPr>
        <p:spPr>
          <a:xfrm>
            <a:off x="507519" y="1405890"/>
            <a:ext cx="205800" cy="205800"/>
          </a:xfrm>
          <a:prstGeom prst="ellipse">
            <a:avLst/>
          </a:prstGeom>
          <a:solidFill>
            <a:srgbClr val="1A9D5C"/>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MessageCircle_white.png" id="1104" name="Google Shape;1104;p47"/>
          <p:cNvPicPr preferRelativeResize="0"/>
          <p:nvPr/>
        </p:nvPicPr>
        <p:blipFill rotWithShape="1">
          <a:blip r:embed="rId3">
            <a:alphaModFix/>
          </a:blip>
          <a:srcRect b="0" l="0" r="0" t="0"/>
          <a:stretch/>
        </p:blipFill>
        <p:spPr>
          <a:xfrm>
            <a:off x="553813" y="1452181"/>
            <a:ext cx="113157" cy="113157"/>
          </a:xfrm>
          <a:prstGeom prst="rect">
            <a:avLst/>
          </a:prstGeom>
          <a:noFill/>
          <a:ln>
            <a:noFill/>
          </a:ln>
        </p:spPr>
      </p:pic>
      <p:sp>
        <p:nvSpPr>
          <p:cNvPr id="1105" name="Google Shape;1105;p47"/>
          <p:cNvSpPr/>
          <p:nvPr/>
        </p:nvSpPr>
        <p:spPr>
          <a:xfrm>
            <a:off x="781854" y="1337310"/>
            <a:ext cx="137160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900"/>
              <a:buFont typeface="Arial"/>
              <a:buNone/>
            </a:pPr>
            <a:r>
              <a:rPr b="1" lang="en-GB" sz="900">
                <a:solidFill>
                  <a:srgbClr val="1C2B3E"/>
                </a:solidFill>
                <a:latin typeface="Arial"/>
                <a:ea typeface="Arial"/>
                <a:cs typeface="Arial"/>
                <a:sym typeface="Arial"/>
              </a:rPr>
              <a:t>MAIA</a:t>
            </a:r>
            <a:endParaRPr sz="900">
              <a:solidFill>
                <a:schemeClr val="dk1"/>
              </a:solidFill>
              <a:latin typeface="Calibri"/>
              <a:ea typeface="Calibri"/>
              <a:cs typeface="Calibri"/>
              <a:sym typeface="Calibri"/>
            </a:endParaRPr>
          </a:p>
        </p:txBody>
      </p:sp>
      <p:sp>
        <p:nvSpPr>
          <p:cNvPr id="1106" name="Google Shape;1106;p47"/>
          <p:cNvSpPr/>
          <p:nvPr/>
        </p:nvSpPr>
        <p:spPr>
          <a:xfrm>
            <a:off x="4526521" y="1337310"/>
            <a:ext cx="788700" cy="3429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A9D5C"/>
              </a:buClr>
              <a:buSzPts val="700"/>
              <a:buFont typeface="Arial"/>
              <a:buNone/>
            </a:pPr>
            <a:r>
              <a:rPr lang="en-GB" sz="700">
                <a:solidFill>
                  <a:srgbClr val="1A9D5C"/>
                </a:solidFill>
                <a:latin typeface="Arial"/>
                <a:ea typeface="Arial"/>
                <a:cs typeface="Arial"/>
                <a:sym typeface="Arial"/>
              </a:rPr>
              <a:t>online</a:t>
            </a:r>
            <a:endParaRPr sz="700">
              <a:solidFill>
                <a:schemeClr val="dk1"/>
              </a:solidFill>
              <a:latin typeface="Calibri"/>
              <a:ea typeface="Calibri"/>
              <a:cs typeface="Calibri"/>
              <a:sym typeface="Calibri"/>
            </a:endParaRPr>
          </a:p>
        </p:txBody>
      </p:sp>
      <p:sp>
        <p:nvSpPr>
          <p:cNvPr id="1107" name="Google Shape;1107;p47"/>
          <p:cNvSpPr/>
          <p:nvPr/>
        </p:nvSpPr>
        <p:spPr>
          <a:xfrm>
            <a:off x="1256453" y="1789938"/>
            <a:ext cx="4010700" cy="370200"/>
          </a:xfrm>
          <a:prstGeom prst="roundRect">
            <a:avLst>
              <a:gd fmla="val 18519" name="adj"/>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108" name="Google Shape;1108;p47"/>
          <p:cNvSpPr/>
          <p:nvPr/>
        </p:nvSpPr>
        <p:spPr>
          <a:xfrm>
            <a:off x="1352470" y="1789938"/>
            <a:ext cx="3818700" cy="37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Arial"/>
              <a:buNone/>
            </a:pPr>
            <a:r>
              <a:rPr lang="en-GB" sz="900">
                <a:solidFill>
                  <a:srgbClr val="FFFFFF"/>
                </a:solidFill>
                <a:latin typeface="Arial"/>
                <a:ea typeface="Arial"/>
                <a:cs typeface="Arial"/>
                <a:sym typeface="Arial"/>
              </a:rPr>
              <a:t>new customer — Restoran Sri Melaka</a:t>
            </a:r>
            <a:endParaRPr sz="900">
              <a:solidFill>
                <a:schemeClr val="dk1"/>
              </a:solidFill>
              <a:latin typeface="Calibri"/>
              <a:ea typeface="Calibri"/>
              <a:cs typeface="Calibri"/>
              <a:sym typeface="Calibri"/>
            </a:endParaRPr>
          </a:p>
        </p:txBody>
      </p:sp>
      <p:sp>
        <p:nvSpPr>
          <p:cNvPr id="1109" name="Google Shape;1109;p47"/>
          <p:cNvSpPr/>
          <p:nvPr/>
        </p:nvSpPr>
        <p:spPr>
          <a:xfrm>
            <a:off x="562386" y="2290572"/>
            <a:ext cx="4704900" cy="720000"/>
          </a:xfrm>
          <a:prstGeom prst="roundRect">
            <a:avLst>
              <a:gd fmla="val 9524" name="adj"/>
            </a:avLst>
          </a:prstGeom>
          <a:solidFill>
            <a:srgbClr val="FFFFFF"/>
          </a:solidFill>
          <a:ln cap="flat" cmpd="sng" w="12700">
            <a:solidFill>
              <a:srgbClr val="E3E8EF"/>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110" name="Google Shape;1110;p47"/>
          <p:cNvSpPr/>
          <p:nvPr/>
        </p:nvSpPr>
        <p:spPr>
          <a:xfrm>
            <a:off x="658403" y="2393442"/>
            <a:ext cx="342900" cy="342900"/>
          </a:xfrm>
          <a:prstGeom prst="roundRect">
            <a:avLst>
              <a:gd fmla="val 22000"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FileText_white.png" id="1111" name="Google Shape;1111;p47"/>
          <p:cNvPicPr preferRelativeResize="0"/>
          <p:nvPr/>
        </p:nvPicPr>
        <p:blipFill rotWithShape="1">
          <a:blip r:embed="rId4">
            <a:alphaModFix/>
          </a:blip>
          <a:srcRect b="0" l="0" r="0" t="0"/>
          <a:stretch/>
        </p:blipFill>
        <p:spPr>
          <a:xfrm>
            <a:off x="744133" y="2479167"/>
            <a:ext cx="171450" cy="171450"/>
          </a:xfrm>
          <a:prstGeom prst="rect">
            <a:avLst/>
          </a:prstGeom>
          <a:noFill/>
          <a:ln>
            <a:noFill/>
          </a:ln>
        </p:spPr>
      </p:pic>
      <p:sp>
        <p:nvSpPr>
          <p:cNvPr id="1112" name="Google Shape;1112;p47"/>
          <p:cNvSpPr/>
          <p:nvPr/>
        </p:nvSpPr>
        <p:spPr>
          <a:xfrm>
            <a:off x="1097339" y="2379726"/>
            <a:ext cx="41151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1000"/>
              <a:buFont typeface="Arial"/>
              <a:buNone/>
            </a:pPr>
            <a:r>
              <a:rPr b="1" lang="en-GB" sz="1000">
                <a:solidFill>
                  <a:srgbClr val="1C2B3E"/>
                </a:solidFill>
                <a:latin typeface="Arial"/>
                <a:ea typeface="Arial"/>
                <a:cs typeface="Arial"/>
                <a:sym typeface="Arial"/>
              </a:rPr>
              <a:t>Duplicate check — no existing match found</a:t>
            </a:r>
            <a:endParaRPr sz="1000">
              <a:solidFill>
                <a:schemeClr val="dk1"/>
              </a:solidFill>
              <a:latin typeface="Calibri"/>
              <a:ea typeface="Calibri"/>
              <a:cs typeface="Calibri"/>
              <a:sym typeface="Calibri"/>
            </a:endParaRPr>
          </a:p>
        </p:txBody>
      </p:sp>
      <p:sp>
        <p:nvSpPr>
          <p:cNvPr id="1113" name="Google Shape;1113;p47"/>
          <p:cNvSpPr/>
          <p:nvPr/>
        </p:nvSpPr>
        <p:spPr>
          <a:xfrm>
            <a:off x="1097339" y="2599182"/>
            <a:ext cx="41151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900"/>
              <a:buFont typeface="Arial"/>
              <a:buNone/>
            </a:pPr>
            <a:r>
              <a:rPr lang="en-GB" sz="900">
                <a:solidFill>
                  <a:srgbClr val="94A3B8"/>
                </a:solidFill>
                <a:latin typeface="Arial"/>
                <a:ea typeface="Arial"/>
                <a:cs typeface="Arial"/>
                <a:sym typeface="Arial"/>
              </a:rPr>
              <a:t>Required: legal name · billing · terms · credit</a:t>
            </a:r>
            <a:endParaRPr sz="900">
              <a:solidFill>
                <a:schemeClr val="dk1"/>
              </a:solidFill>
              <a:latin typeface="Calibri"/>
              <a:ea typeface="Calibri"/>
              <a:cs typeface="Calibri"/>
              <a:sym typeface="Calibri"/>
            </a:endParaRPr>
          </a:p>
        </p:txBody>
      </p:sp>
      <p:sp>
        <p:nvSpPr>
          <p:cNvPr id="1114" name="Google Shape;1114;p47"/>
          <p:cNvSpPr/>
          <p:nvPr/>
        </p:nvSpPr>
        <p:spPr>
          <a:xfrm>
            <a:off x="4663689" y="2475738"/>
            <a:ext cx="548700" cy="246900"/>
          </a:xfrm>
          <a:prstGeom prst="roundRect">
            <a:avLst>
              <a:gd fmla="val 50000" name="adj"/>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115" name="Google Shape;1115;p47"/>
          <p:cNvSpPr/>
          <p:nvPr/>
        </p:nvSpPr>
        <p:spPr>
          <a:xfrm>
            <a:off x="4663689" y="2475738"/>
            <a:ext cx="548700" cy="246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Create</a:t>
            </a:r>
            <a:endParaRPr sz="800">
              <a:solidFill>
                <a:schemeClr val="dk1"/>
              </a:solidFill>
              <a:latin typeface="Calibri"/>
              <a:ea typeface="Calibri"/>
              <a:cs typeface="Calibri"/>
              <a:sym typeface="Calibri"/>
            </a:endParaRPr>
          </a:p>
        </p:txBody>
      </p:sp>
      <p:sp>
        <p:nvSpPr>
          <p:cNvPr id="1116" name="Google Shape;1116;p47"/>
          <p:cNvSpPr/>
          <p:nvPr/>
        </p:nvSpPr>
        <p:spPr>
          <a:xfrm>
            <a:off x="562386" y="3147822"/>
            <a:ext cx="47049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D"/>
              </a:buClr>
              <a:buSzPts val="900"/>
              <a:buFont typeface="Arial"/>
              <a:buNone/>
            </a:pPr>
            <a:r>
              <a:rPr i="1" lang="en-GB" sz="900">
                <a:solidFill>
                  <a:srgbClr val="5B6B7D"/>
                </a:solidFill>
                <a:latin typeface="Arial"/>
                <a:ea typeface="Arial"/>
                <a:cs typeface="Arial"/>
                <a:sym typeface="Arial"/>
              </a:rPr>
              <a:t>“who already buys from us?”  →  MAIA checks before creating, never blindly duplicates</a:t>
            </a:r>
            <a:endParaRPr sz="900">
              <a:solidFill>
                <a:schemeClr val="dk1"/>
              </a:solidFill>
              <a:latin typeface="Calibri"/>
              <a:ea typeface="Calibri"/>
              <a:cs typeface="Calibri"/>
              <a:sym typeface="Calibri"/>
            </a:endParaRPr>
          </a:p>
        </p:txBody>
      </p:sp>
      <p:sp>
        <p:nvSpPr>
          <p:cNvPr id="1117" name="Google Shape;1117;p47"/>
          <p:cNvSpPr/>
          <p:nvPr/>
        </p:nvSpPr>
        <p:spPr>
          <a:xfrm>
            <a:off x="5692443" y="1337310"/>
            <a:ext cx="3040200" cy="2434500"/>
          </a:xfrm>
          <a:prstGeom prst="roundRect">
            <a:avLst>
              <a:gd fmla="val 3380" name="adj"/>
            </a:avLst>
          </a:prstGeom>
          <a:solidFill>
            <a:srgbClr val="F5F7FA"/>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118" name="Google Shape;1118;p47"/>
          <p:cNvSpPr/>
          <p:nvPr/>
        </p:nvSpPr>
        <p:spPr>
          <a:xfrm>
            <a:off x="5843328" y="1460754"/>
            <a:ext cx="27384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800"/>
              <a:buFont typeface="Arial"/>
              <a:buNone/>
            </a:pPr>
            <a:r>
              <a:rPr b="1" lang="en-GB" sz="800">
                <a:solidFill>
                  <a:srgbClr val="94A3B8"/>
                </a:solidFill>
                <a:latin typeface="Arial"/>
                <a:ea typeface="Arial"/>
                <a:cs typeface="Arial"/>
                <a:sym typeface="Arial"/>
              </a:rPr>
              <a:t>WHAT YOU'LL SEE</a:t>
            </a:r>
            <a:endParaRPr sz="800">
              <a:solidFill>
                <a:schemeClr val="dk1"/>
              </a:solidFill>
              <a:latin typeface="Calibri"/>
              <a:ea typeface="Calibri"/>
              <a:cs typeface="Calibri"/>
              <a:sym typeface="Calibri"/>
            </a:endParaRPr>
          </a:p>
        </p:txBody>
      </p:sp>
      <p:sp>
        <p:nvSpPr>
          <p:cNvPr id="1119" name="Google Shape;1119;p47"/>
          <p:cNvSpPr/>
          <p:nvPr/>
        </p:nvSpPr>
        <p:spPr>
          <a:xfrm>
            <a:off x="5843328" y="1762506"/>
            <a:ext cx="219600" cy="219600"/>
          </a:xfrm>
          <a:prstGeom prst="ellipse">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120" name="Google Shape;1120;p47"/>
          <p:cNvSpPr/>
          <p:nvPr/>
        </p:nvSpPr>
        <p:spPr>
          <a:xfrm>
            <a:off x="5843328" y="1762506"/>
            <a:ext cx="219600" cy="2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1</a:t>
            </a:r>
            <a:endParaRPr sz="800">
              <a:solidFill>
                <a:schemeClr val="dk1"/>
              </a:solidFill>
              <a:latin typeface="Calibri"/>
              <a:ea typeface="Calibri"/>
              <a:cs typeface="Calibri"/>
              <a:sym typeface="Calibri"/>
            </a:endParaRPr>
          </a:p>
        </p:txBody>
      </p:sp>
      <p:sp>
        <p:nvSpPr>
          <p:cNvPr id="1121" name="Google Shape;1121;p47"/>
          <p:cNvSpPr/>
          <p:nvPr/>
        </p:nvSpPr>
        <p:spPr>
          <a:xfrm>
            <a:off x="6145096" y="1735074"/>
            <a:ext cx="2423100" cy="41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B3E"/>
              </a:buClr>
              <a:buSzPts val="900"/>
              <a:buFont typeface="Arial"/>
              <a:buNone/>
            </a:pPr>
            <a:r>
              <a:rPr lang="en-GB" sz="900">
                <a:solidFill>
                  <a:srgbClr val="1C2B3E"/>
                </a:solidFill>
                <a:latin typeface="Arial"/>
                <a:ea typeface="Arial"/>
                <a:cs typeface="Arial"/>
                <a:sym typeface="Arial"/>
              </a:rPr>
              <a:t>“new customer …” → MAIA runs a duplicate check first — protects the master list</a:t>
            </a:r>
            <a:endParaRPr sz="900">
              <a:solidFill>
                <a:schemeClr val="dk1"/>
              </a:solidFill>
              <a:latin typeface="Calibri"/>
              <a:ea typeface="Calibri"/>
              <a:cs typeface="Calibri"/>
              <a:sym typeface="Calibri"/>
            </a:endParaRPr>
          </a:p>
        </p:txBody>
      </p:sp>
      <p:sp>
        <p:nvSpPr>
          <p:cNvPr id="1122" name="Google Shape;1122;p47"/>
          <p:cNvSpPr/>
          <p:nvPr/>
        </p:nvSpPr>
        <p:spPr>
          <a:xfrm>
            <a:off x="5843328" y="2173986"/>
            <a:ext cx="219600" cy="219600"/>
          </a:xfrm>
          <a:prstGeom prst="ellipse">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123" name="Google Shape;1123;p47"/>
          <p:cNvSpPr/>
          <p:nvPr/>
        </p:nvSpPr>
        <p:spPr>
          <a:xfrm>
            <a:off x="5843328" y="2173986"/>
            <a:ext cx="219600" cy="2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2</a:t>
            </a:r>
            <a:endParaRPr sz="800">
              <a:solidFill>
                <a:schemeClr val="dk1"/>
              </a:solidFill>
              <a:latin typeface="Calibri"/>
              <a:ea typeface="Calibri"/>
              <a:cs typeface="Calibri"/>
              <a:sym typeface="Calibri"/>
            </a:endParaRPr>
          </a:p>
        </p:txBody>
      </p:sp>
      <p:sp>
        <p:nvSpPr>
          <p:cNvPr id="1124" name="Google Shape;1124;p47"/>
          <p:cNvSpPr/>
          <p:nvPr/>
        </p:nvSpPr>
        <p:spPr>
          <a:xfrm>
            <a:off x="6145096" y="2146554"/>
            <a:ext cx="2423100" cy="41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B3E"/>
              </a:buClr>
              <a:buSzPts val="900"/>
              <a:buFont typeface="Arial"/>
              <a:buNone/>
            </a:pPr>
            <a:r>
              <a:rPr lang="en-GB" sz="900">
                <a:solidFill>
                  <a:srgbClr val="1C2B3E"/>
                </a:solidFill>
                <a:latin typeface="Arial"/>
                <a:ea typeface="Arial"/>
                <a:cs typeface="Arial"/>
                <a:sym typeface="Arial"/>
              </a:rPr>
              <a:t>Required fields prompted — legal name, billing, payment terms, credit; then back to the SO/QT</a:t>
            </a:r>
            <a:endParaRPr sz="900">
              <a:solidFill>
                <a:schemeClr val="dk1"/>
              </a:solidFill>
              <a:latin typeface="Calibri"/>
              <a:ea typeface="Calibri"/>
              <a:cs typeface="Calibri"/>
              <a:sym typeface="Calibri"/>
            </a:endParaRPr>
          </a:p>
        </p:txBody>
      </p:sp>
      <p:sp>
        <p:nvSpPr>
          <p:cNvPr id="1125" name="Google Shape;1125;p47"/>
          <p:cNvSpPr/>
          <p:nvPr/>
        </p:nvSpPr>
        <p:spPr>
          <a:xfrm>
            <a:off x="411502" y="3943350"/>
            <a:ext cx="8321400" cy="720000"/>
          </a:xfrm>
          <a:prstGeom prst="roundRect">
            <a:avLst>
              <a:gd fmla="val 11429" name="adj"/>
            </a:avLst>
          </a:prstGeom>
          <a:solidFill>
            <a:srgbClr val="FBEBD9"/>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126" name="Google Shape;1126;p47"/>
          <p:cNvSpPr/>
          <p:nvPr/>
        </p:nvSpPr>
        <p:spPr>
          <a:xfrm>
            <a:off x="562386" y="4094226"/>
            <a:ext cx="342900" cy="342900"/>
          </a:xfrm>
          <a:prstGeom prst="roundRect">
            <a:avLst>
              <a:gd fmla="val 22000" name="adj"/>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MessageCircle_white.png" id="1127" name="Google Shape;1127;p47"/>
          <p:cNvPicPr preferRelativeResize="0"/>
          <p:nvPr/>
        </p:nvPicPr>
        <p:blipFill rotWithShape="1">
          <a:blip r:embed="rId3">
            <a:alphaModFix/>
          </a:blip>
          <a:srcRect b="0" l="0" r="0" t="0"/>
          <a:stretch/>
        </p:blipFill>
        <p:spPr>
          <a:xfrm>
            <a:off x="639543" y="4171379"/>
            <a:ext cx="188595" cy="188595"/>
          </a:xfrm>
          <a:prstGeom prst="rect">
            <a:avLst/>
          </a:prstGeom>
          <a:noFill/>
          <a:ln>
            <a:noFill/>
          </a:ln>
        </p:spPr>
      </p:pic>
      <p:sp>
        <p:nvSpPr>
          <p:cNvPr id="1128" name="Google Shape;1128;p47"/>
          <p:cNvSpPr/>
          <p:nvPr/>
        </p:nvSpPr>
        <p:spPr>
          <a:xfrm>
            <a:off x="1028755" y="4039362"/>
            <a:ext cx="7532400" cy="5280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1C2B3E"/>
              </a:buClr>
              <a:buSzPts val="1000"/>
              <a:buFont typeface="Arial"/>
              <a:buNone/>
            </a:pPr>
            <a:r>
              <a:rPr i="1" lang="en-GB" sz="1000">
                <a:solidFill>
                  <a:srgbClr val="1C2B3E"/>
                </a:solidFill>
                <a:latin typeface="Arial"/>
                <a:ea typeface="Arial"/>
                <a:cs typeface="Arial"/>
                <a:sym typeface="Arial"/>
              </a:rPr>
              <a:t>A new customer is created from the order context — with a duplicate check, required fields, and credit set — without leaving the flow.</a:t>
            </a:r>
            <a:endParaRPr sz="1000">
              <a:solidFill>
                <a:schemeClr val="dk1"/>
              </a:solidFill>
              <a:latin typeface="Calibri"/>
              <a:ea typeface="Calibri"/>
              <a:cs typeface="Calibri"/>
              <a:sym typeface="Calibri"/>
            </a:endParaRPr>
          </a:p>
        </p:txBody>
      </p:sp>
      <p:sp>
        <p:nvSpPr>
          <p:cNvPr id="1129" name="Google Shape;1129;p47"/>
          <p:cNvSpPr/>
          <p:nvPr/>
        </p:nvSpPr>
        <p:spPr>
          <a:xfrm>
            <a:off x="411502" y="4869180"/>
            <a:ext cx="54867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700"/>
              <a:buFont typeface="Arial"/>
              <a:buNone/>
            </a:pPr>
            <a:r>
              <a:rPr lang="en-GB" sz="700">
                <a:solidFill>
                  <a:srgbClr val="94A3B8"/>
                </a:solidFill>
                <a:latin typeface="Arial"/>
                <a:ea typeface="Arial"/>
                <a:cs typeface="Arial"/>
                <a:sym typeface="Arial"/>
              </a:rPr>
              <a:t>SECTION 2</a:t>
            </a:r>
            <a:endParaRPr sz="700">
              <a:solidFill>
                <a:schemeClr val="dk1"/>
              </a:solidFill>
              <a:latin typeface="Calibri"/>
              <a:ea typeface="Calibri"/>
              <a:cs typeface="Calibri"/>
              <a:sym typeface="Calibri"/>
            </a:endParaRPr>
          </a:p>
        </p:txBody>
      </p:sp>
      <p:sp>
        <p:nvSpPr>
          <p:cNvPr id="1130" name="Google Shape;1130;p47"/>
          <p:cNvSpPr/>
          <p:nvPr/>
        </p:nvSpPr>
        <p:spPr>
          <a:xfrm>
            <a:off x="7361084" y="4869180"/>
            <a:ext cx="1371600" cy="205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700"/>
              <a:buFont typeface="Arial"/>
              <a:buNone/>
            </a:pPr>
            <a:r>
              <a:rPr lang="en-GB" sz="700">
                <a:solidFill>
                  <a:srgbClr val="94A3B8"/>
                </a:solidFill>
                <a:latin typeface="Arial"/>
                <a:ea typeface="Arial"/>
                <a:cs typeface="Arial"/>
                <a:sym typeface="Arial"/>
              </a:rPr>
              <a:t>33 / 82</a:t>
            </a:r>
            <a:endParaRPr sz="700">
              <a:solidFill>
                <a:schemeClr val="dk1"/>
              </a:solidFill>
              <a:latin typeface="Calibri"/>
              <a:ea typeface="Calibri"/>
              <a:cs typeface="Calibri"/>
              <a:sym typeface="Calibri"/>
            </a:endParaRPr>
          </a:p>
        </p:txBody>
      </p:sp>
      <p:sp>
        <p:nvSpPr>
          <p:cNvPr id="1131" name="Google Shape;1131;p47"/>
          <p:cNvSpPr txBox="1"/>
          <p:nvPr>
            <p:ph idx="12" type="sldNum"/>
          </p:nvPr>
        </p:nvSpPr>
        <p:spPr>
          <a:xfrm>
            <a:off x="8347216" y="4750189"/>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C2B3E"/>
        </a:solidFill>
      </p:bgPr>
    </p:bg>
    <p:spTree>
      <p:nvGrpSpPr>
        <p:cNvPr id="1136" name="Shape 1136"/>
        <p:cNvGrpSpPr/>
        <p:nvPr/>
      </p:nvGrpSpPr>
      <p:grpSpPr>
        <a:xfrm>
          <a:off x="0" y="0"/>
          <a:ext cx="0" cy="0"/>
          <a:chOff x="0" y="0"/>
          <a:chExt cx="0" cy="0"/>
        </a:xfrm>
      </p:grpSpPr>
      <p:sp>
        <p:nvSpPr>
          <p:cNvPr id="1137" name="Google Shape;1137;p48"/>
          <p:cNvSpPr/>
          <p:nvPr/>
        </p:nvSpPr>
        <p:spPr>
          <a:xfrm>
            <a:off x="411502" y="342900"/>
            <a:ext cx="205751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21E"/>
              </a:buClr>
              <a:buSzPts val="1100"/>
              <a:buFont typeface="Arial"/>
              <a:buNone/>
            </a:pPr>
            <a:r>
              <a:rPr b="1" lang="en-GB" sz="1100">
                <a:solidFill>
                  <a:srgbClr val="E8821E"/>
                </a:solidFill>
                <a:latin typeface="Arial"/>
                <a:ea typeface="Arial"/>
                <a:cs typeface="Arial"/>
                <a:sym typeface="Arial"/>
              </a:rPr>
              <a:t>07 / 07</a:t>
            </a:r>
            <a:endParaRPr sz="1100">
              <a:solidFill>
                <a:schemeClr val="dk1"/>
              </a:solidFill>
              <a:latin typeface="Calibri"/>
              <a:ea typeface="Calibri"/>
              <a:cs typeface="Calibri"/>
              <a:sym typeface="Calibri"/>
            </a:endParaRPr>
          </a:p>
        </p:txBody>
      </p:sp>
      <p:sp>
        <p:nvSpPr>
          <p:cNvPr id="1138" name="Google Shape;1138;p48"/>
          <p:cNvSpPr txBox="1"/>
          <p:nvPr>
            <p:ph idx="12" type="sldNum"/>
          </p:nvPr>
        </p:nvSpPr>
        <p:spPr>
          <a:xfrm>
            <a:off x="8347216" y="4750189"/>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139" name="Google Shape;1139;p48"/>
          <p:cNvSpPr/>
          <p:nvPr/>
        </p:nvSpPr>
        <p:spPr>
          <a:xfrm>
            <a:off x="1012950" y="2669750"/>
            <a:ext cx="7118100" cy="15108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Clr>
                <a:srgbClr val="FFFFFF"/>
              </a:buClr>
              <a:buSzPts val="2700"/>
              <a:buFont typeface="Arial"/>
              <a:buNone/>
            </a:pPr>
            <a:r>
              <a:rPr b="1" lang="en-GB" sz="2400">
                <a:solidFill>
                  <a:srgbClr val="FFFFFF"/>
                </a:solidFill>
                <a:latin typeface="Poppins"/>
                <a:ea typeface="Poppins"/>
                <a:cs typeface="Poppins"/>
                <a:sym typeface="Poppins"/>
              </a:rPr>
              <a:t>A new item comes in.</a:t>
            </a:r>
            <a:endParaRPr b="1" sz="2400">
              <a:solidFill>
                <a:srgbClr val="FFFFFF"/>
              </a:solidFill>
              <a:latin typeface="Poppins"/>
              <a:ea typeface="Poppins"/>
              <a:cs typeface="Poppins"/>
              <a:sym typeface="Poppins"/>
            </a:endParaRPr>
          </a:p>
          <a:p>
            <a:pPr indent="0" lvl="0" marL="0" marR="0" rtl="0" algn="ctr">
              <a:spcBef>
                <a:spcPts val="0"/>
              </a:spcBef>
              <a:spcAft>
                <a:spcPts val="0"/>
              </a:spcAft>
              <a:buClr>
                <a:srgbClr val="FFFFFF"/>
              </a:buClr>
              <a:buSzPts val="2700"/>
              <a:buFont typeface="Arial"/>
              <a:buNone/>
            </a:pPr>
            <a:r>
              <a:rPr lang="en-GB" sz="2400">
                <a:solidFill>
                  <a:srgbClr val="FFFFFF"/>
                </a:solidFill>
                <a:latin typeface="Poppins Light"/>
                <a:ea typeface="Poppins Light"/>
                <a:cs typeface="Poppins Light"/>
                <a:sym typeface="Poppins Light"/>
              </a:rPr>
              <a:t>Watch how you can create new SKU </a:t>
            </a:r>
            <a:br>
              <a:rPr lang="en-GB" sz="2400">
                <a:solidFill>
                  <a:srgbClr val="FFFFFF"/>
                </a:solidFill>
                <a:latin typeface="Poppins Light"/>
                <a:ea typeface="Poppins Light"/>
                <a:cs typeface="Poppins Light"/>
                <a:sym typeface="Poppins Light"/>
              </a:rPr>
            </a:br>
            <a:r>
              <a:rPr lang="en-GB" sz="2400">
                <a:solidFill>
                  <a:srgbClr val="FFFFFF"/>
                </a:solidFill>
                <a:latin typeface="Poppins Light"/>
                <a:ea typeface="Poppins Light"/>
                <a:cs typeface="Poppins Light"/>
                <a:sym typeface="Poppins Light"/>
              </a:rPr>
              <a:t>in MAIA</a:t>
            </a:r>
            <a:endParaRPr sz="2400">
              <a:solidFill>
                <a:srgbClr val="FFFFFF"/>
              </a:solidFill>
              <a:latin typeface="Poppins Light"/>
              <a:ea typeface="Poppins Light"/>
              <a:cs typeface="Poppins Light"/>
              <a:sym typeface="Poppins Light"/>
            </a:endParaRPr>
          </a:p>
        </p:txBody>
      </p:sp>
      <p:pic>
        <p:nvPicPr>
          <p:cNvPr id="1140" name="Google Shape;1140;p48" title="box-add (2).png"/>
          <p:cNvPicPr preferRelativeResize="0"/>
          <p:nvPr/>
        </p:nvPicPr>
        <p:blipFill>
          <a:blip r:embed="rId3">
            <a:alphaModFix/>
          </a:blip>
          <a:stretch>
            <a:fillRect/>
          </a:stretch>
        </p:blipFill>
        <p:spPr>
          <a:xfrm>
            <a:off x="3944850" y="1126663"/>
            <a:ext cx="1254324" cy="1254324"/>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4" name="Shape 1144"/>
        <p:cNvGrpSpPr/>
        <p:nvPr/>
      </p:nvGrpSpPr>
      <p:grpSpPr>
        <a:xfrm>
          <a:off x="0" y="0"/>
          <a:ext cx="0" cy="0"/>
          <a:chOff x="0" y="0"/>
          <a:chExt cx="0" cy="0"/>
        </a:xfrm>
      </p:grpSpPr>
      <p:sp>
        <p:nvSpPr>
          <p:cNvPr id="1145" name="Google Shape;1145;p49"/>
          <p:cNvSpPr txBox="1"/>
          <p:nvPr>
            <p:ph idx="12" type="sldNum"/>
          </p:nvPr>
        </p:nvSpPr>
        <p:spPr>
          <a:xfrm>
            <a:off x="8347216" y="4750189"/>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146" name="Google Shape;1146;p49"/>
          <p:cNvSpPr/>
          <p:nvPr/>
        </p:nvSpPr>
        <p:spPr>
          <a:xfrm>
            <a:off x="685837" y="1954530"/>
            <a:ext cx="7772700" cy="617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700"/>
              <a:buFont typeface="Arial"/>
              <a:buNone/>
            </a:pPr>
            <a:r>
              <a:rPr b="1" lang="en-GB" sz="4000">
                <a:solidFill>
                  <a:schemeClr val="dk1"/>
                </a:solidFill>
                <a:highlight>
                  <a:srgbClr val="FFFF00"/>
                </a:highlight>
              </a:rPr>
              <a:t>New item (maia)</a:t>
            </a:r>
            <a:endParaRPr b="1" sz="4000">
              <a:solidFill>
                <a:schemeClr val="dk1"/>
              </a:solidFill>
              <a:highlight>
                <a:srgbClr val="FFFF00"/>
              </a:highlight>
              <a:latin typeface="Arial"/>
              <a:ea typeface="Arial"/>
              <a:cs typeface="Arial"/>
              <a:sym typeface="Arial"/>
            </a:endParaRPr>
          </a:p>
          <a:p>
            <a:pPr indent="0" lvl="0" marL="0" marR="0" rtl="0" algn="ctr">
              <a:spcBef>
                <a:spcPts val="0"/>
              </a:spcBef>
              <a:spcAft>
                <a:spcPts val="0"/>
              </a:spcAft>
              <a:buClr>
                <a:srgbClr val="FFFFFF"/>
              </a:buClr>
              <a:buSzPts val="2700"/>
              <a:buFont typeface="Arial"/>
              <a:buNone/>
            </a:pPr>
            <a:r>
              <a:rPr b="1" lang="en-GB" sz="4000">
                <a:solidFill>
                  <a:schemeClr val="dk1"/>
                </a:solidFill>
                <a:highlight>
                  <a:srgbClr val="FFFF00"/>
                </a:highlight>
              </a:rPr>
              <a:t>ATTACH VIDEO HERE</a:t>
            </a:r>
            <a:endParaRPr b="1" sz="4000">
              <a:solidFill>
                <a:schemeClr val="dk1"/>
              </a:solidFill>
              <a:highlight>
                <a:srgbClr val="FFFF00"/>
              </a:highlight>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1151" name="Shape 1151"/>
        <p:cNvGrpSpPr/>
        <p:nvPr/>
      </p:nvGrpSpPr>
      <p:grpSpPr>
        <a:xfrm>
          <a:off x="0" y="0"/>
          <a:ext cx="0" cy="0"/>
          <a:chOff x="0" y="0"/>
          <a:chExt cx="0" cy="0"/>
        </a:xfrm>
      </p:grpSpPr>
      <p:sp>
        <p:nvSpPr>
          <p:cNvPr id="1152" name="Google Shape;1152;p50"/>
          <p:cNvSpPr/>
          <p:nvPr/>
        </p:nvSpPr>
        <p:spPr>
          <a:xfrm>
            <a:off x="411502" y="260604"/>
            <a:ext cx="68583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 VIDEO · 07 / 07</a:t>
            </a:r>
            <a:endParaRPr sz="800">
              <a:solidFill>
                <a:schemeClr val="dk1"/>
              </a:solidFill>
              <a:latin typeface="Calibri"/>
              <a:ea typeface="Calibri"/>
              <a:cs typeface="Calibri"/>
              <a:sym typeface="Calibri"/>
            </a:endParaRPr>
          </a:p>
        </p:txBody>
      </p:sp>
      <p:sp>
        <p:nvSpPr>
          <p:cNvPr id="1153" name="Google Shape;1153;p50"/>
          <p:cNvSpPr/>
          <p:nvPr/>
        </p:nvSpPr>
        <p:spPr>
          <a:xfrm>
            <a:off x="411502" y="438912"/>
            <a:ext cx="8321400" cy="480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C2B3E"/>
              </a:buClr>
              <a:buSzPts val="2200"/>
              <a:buFont typeface="Arial"/>
              <a:buNone/>
            </a:pPr>
            <a:r>
              <a:rPr b="1" lang="en-GB" sz="2200">
                <a:solidFill>
                  <a:srgbClr val="1C2B3E"/>
                </a:solidFill>
                <a:latin typeface="Arial"/>
                <a:ea typeface="Arial"/>
                <a:cs typeface="Arial"/>
                <a:sym typeface="Arial"/>
              </a:rPr>
              <a:t>Create a new item the safe way</a:t>
            </a:r>
            <a:endParaRPr sz="2200">
              <a:solidFill>
                <a:schemeClr val="dk1"/>
              </a:solidFill>
              <a:latin typeface="Calibri"/>
              <a:ea typeface="Calibri"/>
              <a:cs typeface="Calibri"/>
              <a:sym typeface="Calibri"/>
            </a:endParaRPr>
          </a:p>
        </p:txBody>
      </p:sp>
      <p:sp>
        <p:nvSpPr>
          <p:cNvPr id="1154" name="Google Shape;1154;p50"/>
          <p:cNvSpPr/>
          <p:nvPr/>
        </p:nvSpPr>
        <p:spPr>
          <a:xfrm>
            <a:off x="411502" y="932688"/>
            <a:ext cx="8321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D"/>
              </a:buClr>
              <a:buSzPts val="1100"/>
              <a:buFont typeface="Arial"/>
              <a:buNone/>
            </a:pPr>
            <a:r>
              <a:rPr lang="en-GB" sz="1100">
                <a:solidFill>
                  <a:srgbClr val="5B6B7D"/>
                </a:solidFill>
                <a:latin typeface="Arial"/>
                <a:ea typeface="Arial"/>
                <a:cs typeface="Arial"/>
                <a:sym typeface="Arial"/>
              </a:rPr>
              <a:t>Screen recording — watch how it works.</a:t>
            </a:r>
            <a:endParaRPr sz="1100">
              <a:solidFill>
                <a:schemeClr val="dk1"/>
              </a:solidFill>
              <a:latin typeface="Calibri"/>
              <a:ea typeface="Calibri"/>
              <a:cs typeface="Calibri"/>
              <a:sym typeface="Calibri"/>
            </a:endParaRPr>
          </a:p>
        </p:txBody>
      </p:sp>
      <p:sp>
        <p:nvSpPr>
          <p:cNvPr id="1155" name="Google Shape;1155;p50"/>
          <p:cNvSpPr/>
          <p:nvPr/>
        </p:nvSpPr>
        <p:spPr>
          <a:xfrm>
            <a:off x="411502" y="1337310"/>
            <a:ext cx="5006700" cy="2434500"/>
          </a:xfrm>
          <a:prstGeom prst="roundRect">
            <a:avLst>
              <a:gd fmla="val 3380" name="adj"/>
            </a:avLst>
          </a:prstGeom>
          <a:solidFill>
            <a:srgbClr val="F5F7FA"/>
          </a:solidFill>
          <a:ln>
            <a:noFill/>
          </a:ln>
          <a:effectLst>
            <a:outerShdw blurRad="101600" rotWithShape="0" algn="bl" dir="5400000" dist="38100">
              <a:srgbClr val="1C2B3E">
                <a:alpha val="1019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156" name="Google Shape;1156;p50"/>
          <p:cNvSpPr/>
          <p:nvPr/>
        </p:nvSpPr>
        <p:spPr>
          <a:xfrm>
            <a:off x="411502" y="1337310"/>
            <a:ext cx="5006700" cy="342900"/>
          </a:xfrm>
          <a:prstGeom prst="roundRect">
            <a:avLst>
              <a:gd fmla="val 24000" name="adj"/>
            </a:avLst>
          </a:pr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157" name="Google Shape;1157;p50"/>
          <p:cNvSpPr/>
          <p:nvPr/>
        </p:nvSpPr>
        <p:spPr>
          <a:xfrm>
            <a:off x="411502" y="1508760"/>
            <a:ext cx="5006700" cy="171600"/>
          </a:xfrm>
          <a:prstGeom prst="rect">
            <a:avLst/>
          </a:pr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158" name="Google Shape;1158;p50"/>
          <p:cNvSpPr/>
          <p:nvPr/>
        </p:nvSpPr>
        <p:spPr>
          <a:xfrm>
            <a:off x="507519" y="1405890"/>
            <a:ext cx="205800" cy="205800"/>
          </a:xfrm>
          <a:prstGeom prst="ellipse">
            <a:avLst/>
          </a:prstGeom>
          <a:solidFill>
            <a:srgbClr val="1A9D5C"/>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MessageCircle_white.png" id="1159" name="Google Shape;1159;p50"/>
          <p:cNvPicPr preferRelativeResize="0"/>
          <p:nvPr/>
        </p:nvPicPr>
        <p:blipFill rotWithShape="1">
          <a:blip r:embed="rId3">
            <a:alphaModFix/>
          </a:blip>
          <a:srcRect b="0" l="0" r="0" t="0"/>
          <a:stretch/>
        </p:blipFill>
        <p:spPr>
          <a:xfrm>
            <a:off x="553813" y="1452181"/>
            <a:ext cx="113157" cy="113157"/>
          </a:xfrm>
          <a:prstGeom prst="rect">
            <a:avLst/>
          </a:prstGeom>
          <a:noFill/>
          <a:ln>
            <a:noFill/>
          </a:ln>
        </p:spPr>
      </p:pic>
      <p:sp>
        <p:nvSpPr>
          <p:cNvPr id="1160" name="Google Shape;1160;p50"/>
          <p:cNvSpPr/>
          <p:nvPr/>
        </p:nvSpPr>
        <p:spPr>
          <a:xfrm>
            <a:off x="781854" y="1337310"/>
            <a:ext cx="137160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900"/>
              <a:buFont typeface="Arial"/>
              <a:buNone/>
            </a:pPr>
            <a:r>
              <a:rPr b="1" lang="en-GB" sz="900">
                <a:solidFill>
                  <a:srgbClr val="1C2B3E"/>
                </a:solidFill>
                <a:latin typeface="Arial"/>
                <a:ea typeface="Arial"/>
                <a:cs typeface="Arial"/>
                <a:sym typeface="Arial"/>
              </a:rPr>
              <a:t>MAIA</a:t>
            </a:r>
            <a:endParaRPr sz="900">
              <a:solidFill>
                <a:schemeClr val="dk1"/>
              </a:solidFill>
              <a:latin typeface="Calibri"/>
              <a:ea typeface="Calibri"/>
              <a:cs typeface="Calibri"/>
              <a:sym typeface="Calibri"/>
            </a:endParaRPr>
          </a:p>
        </p:txBody>
      </p:sp>
      <p:sp>
        <p:nvSpPr>
          <p:cNvPr id="1161" name="Google Shape;1161;p50"/>
          <p:cNvSpPr/>
          <p:nvPr/>
        </p:nvSpPr>
        <p:spPr>
          <a:xfrm>
            <a:off x="4526521" y="1337310"/>
            <a:ext cx="788700" cy="3429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A9D5C"/>
              </a:buClr>
              <a:buSzPts val="700"/>
              <a:buFont typeface="Arial"/>
              <a:buNone/>
            </a:pPr>
            <a:r>
              <a:rPr lang="en-GB" sz="700">
                <a:solidFill>
                  <a:srgbClr val="1A9D5C"/>
                </a:solidFill>
                <a:latin typeface="Arial"/>
                <a:ea typeface="Arial"/>
                <a:cs typeface="Arial"/>
                <a:sym typeface="Arial"/>
              </a:rPr>
              <a:t>online</a:t>
            </a:r>
            <a:endParaRPr sz="700">
              <a:solidFill>
                <a:schemeClr val="dk1"/>
              </a:solidFill>
              <a:latin typeface="Calibri"/>
              <a:ea typeface="Calibri"/>
              <a:cs typeface="Calibri"/>
              <a:sym typeface="Calibri"/>
            </a:endParaRPr>
          </a:p>
        </p:txBody>
      </p:sp>
      <p:sp>
        <p:nvSpPr>
          <p:cNvPr id="1162" name="Google Shape;1162;p50"/>
          <p:cNvSpPr/>
          <p:nvPr/>
        </p:nvSpPr>
        <p:spPr>
          <a:xfrm>
            <a:off x="1256453" y="1789938"/>
            <a:ext cx="4010700" cy="370200"/>
          </a:xfrm>
          <a:prstGeom prst="roundRect">
            <a:avLst>
              <a:gd fmla="val 18519" name="adj"/>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163" name="Google Shape;1163;p50"/>
          <p:cNvSpPr/>
          <p:nvPr/>
        </p:nvSpPr>
        <p:spPr>
          <a:xfrm>
            <a:off x="1352470" y="1789938"/>
            <a:ext cx="3818700" cy="37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Arial"/>
              <a:buNone/>
            </a:pPr>
            <a:r>
              <a:rPr lang="en-GB" sz="900">
                <a:solidFill>
                  <a:srgbClr val="FFFFFF"/>
                </a:solidFill>
                <a:latin typeface="Arial"/>
                <a:ea typeface="Arial"/>
                <a:cs typeface="Arial"/>
                <a:sym typeface="Arial"/>
              </a:rPr>
              <a:t>unknown item — “Sambal Hijau 500g”</a:t>
            </a:r>
            <a:endParaRPr sz="900">
              <a:solidFill>
                <a:schemeClr val="dk1"/>
              </a:solidFill>
              <a:latin typeface="Calibri"/>
              <a:ea typeface="Calibri"/>
              <a:cs typeface="Calibri"/>
              <a:sym typeface="Calibri"/>
            </a:endParaRPr>
          </a:p>
        </p:txBody>
      </p:sp>
      <p:sp>
        <p:nvSpPr>
          <p:cNvPr id="1164" name="Google Shape;1164;p50"/>
          <p:cNvSpPr/>
          <p:nvPr/>
        </p:nvSpPr>
        <p:spPr>
          <a:xfrm>
            <a:off x="562386" y="2290572"/>
            <a:ext cx="4704900" cy="720000"/>
          </a:xfrm>
          <a:prstGeom prst="roundRect">
            <a:avLst>
              <a:gd fmla="val 9524" name="adj"/>
            </a:avLst>
          </a:prstGeom>
          <a:solidFill>
            <a:srgbClr val="FFFFFF"/>
          </a:solidFill>
          <a:ln cap="flat" cmpd="sng" w="12700">
            <a:solidFill>
              <a:srgbClr val="E3E8EF"/>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165" name="Google Shape;1165;p50"/>
          <p:cNvSpPr/>
          <p:nvPr/>
        </p:nvSpPr>
        <p:spPr>
          <a:xfrm>
            <a:off x="658403" y="2393442"/>
            <a:ext cx="342900" cy="342900"/>
          </a:xfrm>
          <a:prstGeom prst="roundRect">
            <a:avLst>
              <a:gd fmla="val 22000"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FileText_white.png" id="1166" name="Google Shape;1166;p50"/>
          <p:cNvPicPr preferRelativeResize="0"/>
          <p:nvPr/>
        </p:nvPicPr>
        <p:blipFill rotWithShape="1">
          <a:blip r:embed="rId4">
            <a:alphaModFix/>
          </a:blip>
          <a:srcRect b="0" l="0" r="0" t="0"/>
          <a:stretch/>
        </p:blipFill>
        <p:spPr>
          <a:xfrm>
            <a:off x="744133" y="2479167"/>
            <a:ext cx="171450" cy="171450"/>
          </a:xfrm>
          <a:prstGeom prst="rect">
            <a:avLst/>
          </a:prstGeom>
          <a:noFill/>
          <a:ln>
            <a:noFill/>
          </a:ln>
        </p:spPr>
      </p:pic>
      <p:sp>
        <p:nvSpPr>
          <p:cNvPr id="1167" name="Google Shape;1167;p50"/>
          <p:cNvSpPr/>
          <p:nvPr/>
        </p:nvSpPr>
        <p:spPr>
          <a:xfrm>
            <a:off x="1097339" y="2379726"/>
            <a:ext cx="41151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1000"/>
              <a:buFont typeface="Arial"/>
              <a:buNone/>
            </a:pPr>
            <a:r>
              <a:rPr b="1" lang="en-GB" sz="1000">
                <a:solidFill>
                  <a:srgbClr val="1C2B3E"/>
                </a:solidFill>
                <a:latin typeface="Arial"/>
                <a:ea typeface="Arial"/>
                <a:cs typeface="Arial"/>
                <a:sym typeface="Arial"/>
              </a:rPr>
              <a:t>Review first — no silent auto-create</a:t>
            </a:r>
            <a:endParaRPr sz="1000">
              <a:solidFill>
                <a:schemeClr val="dk1"/>
              </a:solidFill>
              <a:latin typeface="Calibri"/>
              <a:ea typeface="Calibri"/>
              <a:cs typeface="Calibri"/>
              <a:sym typeface="Calibri"/>
            </a:endParaRPr>
          </a:p>
        </p:txBody>
      </p:sp>
      <p:sp>
        <p:nvSpPr>
          <p:cNvPr id="1168" name="Google Shape;1168;p50"/>
          <p:cNvSpPr/>
          <p:nvPr/>
        </p:nvSpPr>
        <p:spPr>
          <a:xfrm>
            <a:off x="1097339" y="2599182"/>
            <a:ext cx="41151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900"/>
              <a:buFont typeface="Arial"/>
              <a:buNone/>
            </a:pPr>
            <a:r>
              <a:rPr lang="en-GB" sz="900">
                <a:solidFill>
                  <a:srgbClr val="94A3B8"/>
                </a:solidFill>
                <a:latin typeface="Arial"/>
                <a:ea typeface="Arial"/>
                <a:cs typeface="Arial"/>
                <a:sym typeface="Arial"/>
              </a:rPr>
              <a:t>Required: name · UOM · item type (locked)</a:t>
            </a:r>
            <a:endParaRPr sz="900">
              <a:solidFill>
                <a:schemeClr val="dk1"/>
              </a:solidFill>
              <a:latin typeface="Calibri"/>
              <a:ea typeface="Calibri"/>
              <a:cs typeface="Calibri"/>
              <a:sym typeface="Calibri"/>
            </a:endParaRPr>
          </a:p>
        </p:txBody>
      </p:sp>
      <p:sp>
        <p:nvSpPr>
          <p:cNvPr id="1169" name="Google Shape;1169;p50"/>
          <p:cNvSpPr/>
          <p:nvPr/>
        </p:nvSpPr>
        <p:spPr>
          <a:xfrm>
            <a:off x="4663689" y="2475738"/>
            <a:ext cx="548700" cy="246900"/>
          </a:xfrm>
          <a:prstGeom prst="roundRect">
            <a:avLst>
              <a:gd fmla="val 50000" name="adj"/>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170" name="Google Shape;1170;p50"/>
          <p:cNvSpPr/>
          <p:nvPr/>
        </p:nvSpPr>
        <p:spPr>
          <a:xfrm>
            <a:off x="4663689" y="2475738"/>
            <a:ext cx="548700" cy="246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Review</a:t>
            </a:r>
            <a:endParaRPr sz="800">
              <a:solidFill>
                <a:schemeClr val="dk1"/>
              </a:solidFill>
              <a:latin typeface="Calibri"/>
              <a:ea typeface="Calibri"/>
              <a:cs typeface="Calibri"/>
              <a:sym typeface="Calibri"/>
            </a:endParaRPr>
          </a:p>
        </p:txBody>
      </p:sp>
      <p:sp>
        <p:nvSpPr>
          <p:cNvPr id="1171" name="Google Shape;1171;p50"/>
          <p:cNvSpPr/>
          <p:nvPr/>
        </p:nvSpPr>
        <p:spPr>
          <a:xfrm>
            <a:off x="562386" y="3147822"/>
            <a:ext cx="47049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D"/>
              </a:buClr>
              <a:buSzPts val="900"/>
              <a:buFont typeface="Arial"/>
              <a:buNone/>
            </a:pPr>
            <a:r>
              <a:rPr i="1" lang="en-GB" sz="900">
                <a:solidFill>
                  <a:srgbClr val="5B6B7D"/>
                </a:solidFill>
                <a:latin typeface="Arial"/>
                <a:ea typeface="Arial"/>
                <a:cs typeface="Arial"/>
                <a:sym typeface="Arial"/>
              </a:rPr>
              <a:t>“is this a product or a service?”  →  item type is set once, then locked — wrong type means delete &amp; recreate</a:t>
            </a:r>
            <a:endParaRPr sz="900">
              <a:solidFill>
                <a:schemeClr val="dk1"/>
              </a:solidFill>
              <a:latin typeface="Calibri"/>
              <a:ea typeface="Calibri"/>
              <a:cs typeface="Calibri"/>
              <a:sym typeface="Calibri"/>
            </a:endParaRPr>
          </a:p>
        </p:txBody>
      </p:sp>
      <p:sp>
        <p:nvSpPr>
          <p:cNvPr id="1172" name="Google Shape;1172;p50"/>
          <p:cNvSpPr/>
          <p:nvPr/>
        </p:nvSpPr>
        <p:spPr>
          <a:xfrm>
            <a:off x="5692443" y="1337310"/>
            <a:ext cx="3040200" cy="2434500"/>
          </a:xfrm>
          <a:prstGeom prst="roundRect">
            <a:avLst>
              <a:gd fmla="val 3380" name="adj"/>
            </a:avLst>
          </a:prstGeom>
          <a:solidFill>
            <a:srgbClr val="F5F7FA"/>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173" name="Google Shape;1173;p50"/>
          <p:cNvSpPr/>
          <p:nvPr/>
        </p:nvSpPr>
        <p:spPr>
          <a:xfrm>
            <a:off x="5843328" y="1460754"/>
            <a:ext cx="27384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800"/>
              <a:buFont typeface="Arial"/>
              <a:buNone/>
            </a:pPr>
            <a:r>
              <a:rPr b="1" lang="en-GB" sz="800">
                <a:solidFill>
                  <a:srgbClr val="94A3B8"/>
                </a:solidFill>
                <a:latin typeface="Arial"/>
                <a:ea typeface="Arial"/>
                <a:cs typeface="Arial"/>
                <a:sym typeface="Arial"/>
              </a:rPr>
              <a:t>WHAT YOU'LL SEE</a:t>
            </a:r>
            <a:endParaRPr sz="800">
              <a:solidFill>
                <a:schemeClr val="dk1"/>
              </a:solidFill>
              <a:latin typeface="Calibri"/>
              <a:ea typeface="Calibri"/>
              <a:cs typeface="Calibri"/>
              <a:sym typeface="Calibri"/>
            </a:endParaRPr>
          </a:p>
        </p:txBody>
      </p:sp>
      <p:sp>
        <p:nvSpPr>
          <p:cNvPr id="1174" name="Google Shape;1174;p50"/>
          <p:cNvSpPr/>
          <p:nvPr/>
        </p:nvSpPr>
        <p:spPr>
          <a:xfrm>
            <a:off x="5843328" y="1762506"/>
            <a:ext cx="219600" cy="219600"/>
          </a:xfrm>
          <a:prstGeom prst="ellipse">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175" name="Google Shape;1175;p50"/>
          <p:cNvSpPr/>
          <p:nvPr/>
        </p:nvSpPr>
        <p:spPr>
          <a:xfrm>
            <a:off x="5843328" y="1762506"/>
            <a:ext cx="219600" cy="2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1</a:t>
            </a:r>
            <a:endParaRPr sz="800">
              <a:solidFill>
                <a:schemeClr val="dk1"/>
              </a:solidFill>
              <a:latin typeface="Calibri"/>
              <a:ea typeface="Calibri"/>
              <a:cs typeface="Calibri"/>
              <a:sym typeface="Calibri"/>
            </a:endParaRPr>
          </a:p>
        </p:txBody>
      </p:sp>
      <p:sp>
        <p:nvSpPr>
          <p:cNvPr id="1176" name="Google Shape;1176;p50"/>
          <p:cNvSpPr/>
          <p:nvPr/>
        </p:nvSpPr>
        <p:spPr>
          <a:xfrm>
            <a:off x="6145096" y="1735074"/>
            <a:ext cx="2423100" cy="41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B3E"/>
              </a:buClr>
              <a:buSzPts val="900"/>
              <a:buFont typeface="Arial"/>
              <a:buNone/>
            </a:pPr>
            <a:r>
              <a:rPr lang="en-GB" sz="900">
                <a:solidFill>
                  <a:srgbClr val="1C2B3E"/>
                </a:solidFill>
                <a:latin typeface="Arial"/>
                <a:ea typeface="Arial"/>
                <a:cs typeface="Arial"/>
                <a:sym typeface="Arial"/>
              </a:rPr>
              <a:t>“unknown item …” → MAIA flags it for review — it never silently creates items from a PO</a:t>
            </a:r>
            <a:endParaRPr sz="900">
              <a:solidFill>
                <a:schemeClr val="dk1"/>
              </a:solidFill>
              <a:latin typeface="Calibri"/>
              <a:ea typeface="Calibri"/>
              <a:cs typeface="Calibri"/>
              <a:sym typeface="Calibri"/>
            </a:endParaRPr>
          </a:p>
        </p:txBody>
      </p:sp>
      <p:sp>
        <p:nvSpPr>
          <p:cNvPr id="1177" name="Google Shape;1177;p50"/>
          <p:cNvSpPr/>
          <p:nvPr/>
        </p:nvSpPr>
        <p:spPr>
          <a:xfrm>
            <a:off x="5843328" y="2173986"/>
            <a:ext cx="219600" cy="219600"/>
          </a:xfrm>
          <a:prstGeom prst="ellipse">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178" name="Google Shape;1178;p50"/>
          <p:cNvSpPr/>
          <p:nvPr/>
        </p:nvSpPr>
        <p:spPr>
          <a:xfrm>
            <a:off x="5843328" y="2173986"/>
            <a:ext cx="219600" cy="2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2</a:t>
            </a:r>
            <a:endParaRPr sz="800">
              <a:solidFill>
                <a:schemeClr val="dk1"/>
              </a:solidFill>
              <a:latin typeface="Calibri"/>
              <a:ea typeface="Calibri"/>
              <a:cs typeface="Calibri"/>
              <a:sym typeface="Calibri"/>
            </a:endParaRPr>
          </a:p>
        </p:txBody>
      </p:sp>
      <p:sp>
        <p:nvSpPr>
          <p:cNvPr id="1179" name="Google Shape;1179;p50"/>
          <p:cNvSpPr/>
          <p:nvPr/>
        </p:nvSpPr>
        <p:spPr>
          <a:xfrm>
            <a:off x="6145096" y="2146554"/>
            <a:ext cx="2423100" cy="41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B3E"/>
              </a:buClr>
              <a:buSzPts val="900"/>
              <a:buFont typeface="Arial"/>
              <a:buNone/>
            </a:pPr>
            <a:r>
              <a:rPr lang="en-GB" sz="900">
                <a:solidFill>
                  <a:srgbClr val="1C2B3E"/>
                </a:solidFill>
                <a:latin typeface="Arial"/>
                <a:ea typeface="Arial"/>
                <a:cs typeface="Arial"/>
                <a:sym typeface="Arial"/>
              </a:rPr>
              <a:t>Required fields prompted — name, UOM, and item type; type is locked after creation</a:t>
            </a:r>
            <a:endParaRPr sz="900">
              <a:solidFill>
                <a:schemeClr val="dk1"/>
              </a:solidFill>
              <a:latin typeface="Calibri"/>
              <a:ea typeface="Calibri"/>
              <a:cs typeface="Calibri"/>
              <a:sym typeface="Calibri"/>
            </a:endParaRPr>
          </a:p>
        </p:txBody>
      </p:sp>
      <p:sp>
        <p:nvSpPr>
          <p:cNvPr id="1180" name="Google Shape;1180;p50"/>
          <p:cNvSpPr/>
          <p:nvPr/>
        </p:nvSpPr>
        <p:spPr>
          <a:xfrm>
            <a:off x="411502" y="3943350"/>
            <a:ext cx="8321400" cy="720000"/>
          </a:xfrm>
          <a:prstGeom prst="roundRect">
            <a:avLst>
              <a:gd fmla="val 11429" name="adj"/>
            </a:avLst>
          </a:prstGeom>
          <a:solidFill>
            <a:srgbClr val="FBEBD9"/>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181" name="Google Shape;1181;p50"/>
          <p:cNvSpPr/>
          <p:nvPr/>
        </p:nvSpPr>
        <p:spPr>
          <a:xfrm>
            <a:off x="562386" y="4094226"/>
            <a:ext cx="342900" cy="342900"/>
          </a:xfrm>
          <a:prstGeom prst="roundRect">
            <a:avLst>
              <a:gd fmla="val 22000" name="adj"/>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MessageCircle_white.png" id="1182" name="Google Shape;1182;p50"/>
          <p:cNvPicPr preferRelativeResize="0"/>
          <p:nvPr/>
        </p:nvPicPr>
        <p:blipFill rotWithShape="1">
          <a:blip r:embed="rId3">
            <a:alphaModFix/>
          </a:blip>
          <a:srcRect b="0" l="0" r="0" t="0"/>
          <a:stretch/>
        </p:blipFill>
        <p:spPr>
          <a:xfrm>
            <a:off x="639543" y="4171379"/>
            <a:ext cx="188595" cy="188595"/>
          </a:xfrm>
          <a:prstGeom prst="rect">
            <a:avLst/>
          </a:prstGeom>
          <a:noFill/>
          <a:ln>
            <a:noFill/>
          </a:ln>
        </p:spPr>
      </p:pic>
      <p:sp>
        <p:nvSpPr>
          <p:cNvPr id="1183" name="Google Shape;1183;p50"/>
          <p:cNvSpPr/>
          <p:nvPr/>
        </p:nvSpPr>
        <p:spPr>
          <a:xfrm>
            <a:off x="1028755" y="4039362"/>
            <a:ext cx="7532400" cy="5280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1C2B3E"/>
              </a:buClr>
              <a:buSzPts val="1000"/>
              <a:buFont typeface="Arial"/>
              <a:buNone/>
            </a:pPr>
            <a:r>
              <a:rPr i="1" lang="en-GB" sz="1000">
                <a:solidFill>
                  <a:srgbClr val="1C2B3E"/>
                </a:solidFill>
                <a:latin typeface="Arial"/>
                <a:ea typeface="Arial"/>
                <a:cs typeface="Arial"/>
                <a:sym typeface="Arial"/>
              </a:rPr>
              <a:t>An unknown item is routed to review before it becomes a bad order line — name, UOM, and item type set correctly, with the type locked at creation.</a:t>
            </a:r>
            <a:endParaRPr sz="1000">
              <a:solidFill>
                <a:schemeClr val="dk1"/>
              </a:solidFill>
              <a:latin typeface="Calibri"/>
              <a:ea typeface="Calibri"/>
              <a:cs typeface="Calibri"/>
              <a:sym typeface="Calibri"/>
            </a:endParaRPr>
          </a:p>
        </p:txBody>
      </p:sp>
      <p:sp>
        <p:nvSpPr>
          <p:cNvPr id="1184" name="Google Shape;1184;p50"/>
          <p:cNvSpPr/>
          <p:nvPr/>
        </p:nvSpPr>
        <p:spPr>
          <a:xfrm>
            <a:off x="411502" y="4869180"/>
            <a:ext cx="54867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700"/>
              <a:buFont typeface="Arial"/>
              <a:buNone/>
            </a:pPr>
            <a:r>
              <a:rPr lang="en-GB" sz="700">
                <a:solidFill>
                  <a:srgbClr val="94A3B8"/>
                </a:solidFill>
                <a:latin typeface="Arial"/>
                <a:ea typeface="Arial"/>
                <a:cs typeface="Arial"/>
                <a:sym typeface="Arial"/>
              </a:rPr>
              <a:t>SECTION 2</a:t>
            </a:r>
            <a:endParaRPr sz="700">
              <a:solidFill>
                <a:schemeClr val="dk1"/>
              </a:solidFill>
              <a:latin typeface="Calibri"/>
              <a:ea typeface="Calibri"/>
              <a:cs typeface="Calibri"/>
              <a:sym typeface="Calibri"/>
            </a:endParaRPr>
          </a:p>
        </p:txBody>
      </p:sp>
      <p:sp>
        <p:nvSpPr>
          <p:cNvPr id="1185" name="Google Shape;1185;p50"/>
          <p:cNvSpPr/>
          <p:nvPr/>
        </p:nvSpPr>
        <p:spPr>
          <a:xfrm>
            <a:off x="7361084" y="4869180"/>
            <a:ext cx="1371600" cy="205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700"/>
              <a:buFont typeface="Arial"/>
              <a:buNone/>
            </a:pPr>
            <a:r>
              <a:rPr lang="en-GB" sz="700">
                <a:solidFill>
                  <a:srgbClr val="94A3B8"/>
                </a:solidFill>
                <a:latin typeface="Arial"/>
                <a:ea typeface="Arial"/>
                <a:cs typeface="Arial"/>
                <a:sym typeface="Arial"/>
              </a:rPr>
              <a:t>35 / 82</a:t>
            </a:r>
            <a:endParaRPr sz="700">
              <a:solidFill>
                <a:schemeClr val="dk1"/>
              </a:solidFill>
              <a:latin typeface="Calibri"/>
              <a:ea typeface="Calibri"/>
              <a:cs typeface="Calibri"/>
              <a:sym typeface="Calibri"/>
            </a:endParaRPr>
          </a:p>
        </p:txBody>
      </p:sp>
      <p:sp>
        <p:nvSpPr>
          <p:cNvPr id="1186" name="Google Shape;1186;p50"/>
          <p:cNvSpPr txBox="1"/>
          <p:nvPr>
            <p:ph idx="12" type="sldNum"/>
          </p:nvPr>
        </p:nvSpPr>
        <p:spPr>
          <a:xfrm>
            <a:off x="8347216" y="4750189"/>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C2B3E"/>
        </a:solidFill>
      </p:bgPr>
    </p:bg>
    <p:spTree>
      <p:nvGrpSpPr>
        <p:cNvPr id="1191" name="Shape 1191"/>
        <p:cNvGrpSpPr/>
        <p:nvPr/>
      </p:nvGrpSpPr>
      <p:grpSpPr>
        <a:xfrm>
          <a:off x="0" y="0"/>
          <a:ext cx="0" cy="0"/>
          <a:chOff x="0" y="0"/>
          <a:chExt cx="0" cy="0"/>
        </a:xfrm>
      </p:grpSpPr>
      <p:sp>
        <p:nvSpPr>
          <p:cNvPr id="1192" name="Google Shape;1192;p51"/>
          <p:cNvSpPr/>
          <p:nvPr/>
        </p:nvSpPr>
        <p:spPr>
          <a:xfrm>
            <a:off x="1988700" y="4056997"/>
            <a:ext cx="5166600" cy="393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400"/>
              <a:buFont typeface="Arial"/>
              <a:buNone/>
            </a:pPr>
            <a:r>
              <a:rPr lang="en-GB">
                <a:solidFill>
                  <a:srgbClr val="FFFFFF"/>
                </a:solidFill>
                <a:latin typeface="Poppins Light"/>
                <a:ea typeface="Poppins Light"/>
                <a:cs typeface="Poppins Light"/>
                <a:sym typeface="Poppins Light"/>
              </a:rPr>
              <a:t>Open up to 3 questions.</a:t>
            </a:r>
            <a:endParaRPr>
              <a:solidFill>
                <a:srgbClr val="FFFFFF"/>
              </a:solidFill>
              <a:latin typeface="Poppins Light"/>
              <a:ea typeface="Poppins Light"/>
              <a:cs typeface="Poppins Light"/>
              <a:sym typeface="Poppins Light"/>
            </a:endParaRPr>
          </a:p>
        </p:txBody>
      </p:sp>
      <p:sp>
        <p:nvSpPr>
          <p:cNvPr id="1193" name="Google Shape;1193;p51"/>
          <p:cNvSpPr txBox="1"/>
          <p:nvPr>
            <p:ph idx="12" type="sldNum"/>
          </p:nvPr>
        </p:nvSpPr>
        <p:spPr>
          <a:xfrm>
            <a:off x="8347216" y="4750189"/>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id="1194" name="Google Shape;1194;p51" title="qa.png"/>
          <p:cNvPicPr preferRelativeResize="0"/>
          <p:nvPr/>
        </p:nvPicPr>
        <p:blipFill>
          <a:blip r:embed="rId3">
            <a:alphaModFix/>
          </a:blip>
          <a:stretch>
            <a:fillRect/>
          </a:stretch>
        </p:blipFill>
        <p:spPr>
          <a:xfrm>
            <a:off x="3003937" y="777338"/>
            <a:ext cx="3136119" cy="3136119"/>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C2B3E"/>
        </a:solidFill>
      </p:bgPr>
    </p:bg>
    <p:spTree>
      <p:nvGrpSpPr>
        <p:cNvPr id="1199" name="Shape 1199"/>
        <p:cNvGrpSpPr/>
        <p:nvPr/>
      </p:nvGrpSpPr>
      <p:grpSpPr>
        <a:xfrm>
          <a:off x="0" y="0"/>
          <a:ext cx="0" cy="0"/>
          <a:chOff x="0" y="0"/>
          <a:chExt cx="0" cy="0"/>
        </a:xfrm>
      </p:grpSpPr>
      <p:sp>
        <p:nvSpPr>
          <p:cNvPr id="1200" name="Google Shape;1200;p52"/>
          <p:cNvSpPr/>
          <p:nvPr/>
        </p:nvSpPr>
        <p:spPr>
          <a:xfrm>
            <a:off x="1988700" y="3440919"/>
            <a:ext cx="5166600" cy="929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Clr>
                <a:srgbClr val="FFFFFF"/>
              </a:buClr>
              <a:buSzPts val="2400"/>
              <a:buFont typeface="Arial"/>
              <a:buNone/>
            </a:pPr>
            <a:r>
              <a:rPr b="1" lang="en-GB" sz="2400">
                <a:solidFill>
                  <a:srgbClr val="FFFFFF"/>
                </a:solidFill>
                <a:latin typeface="Poppins"/>
                <a:ea typeface="Poppins"/>
                <a:cs typeface="Poppins"/>
                <a:sym typeface="Poppins"/>
              </a:rPr>
              <a:t>Run real orders.</a:t>
            </a:r>
            <a:endParaRPr b="1" sz="2400">
              <a:solidFill>
                <a:srgbClr val="FFFFFF"/>
              </a:solidFill>
              <a:latin typeface="Poppins"/>
              <a:ea typeface="Poppins"/>
              <a:cs typeface="Poppins"/>
              <a:sym typeface="Poppins"/>
            </a:endParaRPr>
          </a:p>
          <a:p>
            <a:pPr indent="0" lvl="0" marL="0" marR="0" rtl="0" algn="ctr">
              <a:spcBef>
                <a:spcPts val="0"/>
              </a:spcBef>
              <a:spcAft>
                <a:spcPts val="0"/>
              </a:spcAft>
              <a:buClr>
                <a:srgbClr val="FFFFFF"/>
              </a:buClr>
              <a:buSzPts val="2400"/>
              <a:buFont typeface="Arial"/>
              <a:buNone/>
            </a:pPr>
            <a:r>
              <a:rPr lang="en-GB" sz="2200">
                <a:solidFill>
                  <a:srgbClr val="FFFFFF"/>
                </a:solidFill>
                <a:latin typeface="Poppins Light"/>
                <a:ea typeface="Poppins Light"/>
                <a:cs typeface="Poppins Light"/>
                <a:sym typeface="Poppins Light"/>
              </a:rPr>
              <a:t>Team with the highest score wins.</a:t>
            </a:r>
            <a:endParaRPr sz="2200">
              <a:solidFill>
                <a:srgbClr val="FFFFFF"/>
              </a:solidFill>
              <a:latin typeface="Poppins Light"/>
              <a:ea typeface="Poppins Light"/>
              <a:cs typeface="Poppins Light"/>
              <a:sym typeface="Poppins Light"/>
            </a:endParaRPr>
          </a:p>
        </p:txBody>
      </p:sp>
      <p:sp>
        <p:nvSpPr>
          <p:cNvPr id="1201" name="Google Shape;1201;p52"/>
          <p:cNvSpPr txBox="1"/>
          <p:nvPr>
            <p:ph idx="12" type="sldNum"/>
          </p:nvPr>
        </p:nvSpPr>
        <p:spPr>
          <a:xfrm>
            <a:off x="8347216" y="4750189"/>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202" name="Google Shape;1202;p52"/>
          <p:cNvSpPr/>
          <p:nvPr/>
        </p:nvSpPr>
        <p:spPr>
          <a:xfrm>
            <a:off x="3353725" y="772891"/>
            <a:ext cx="2436000" cy="2436000"/>
          </a:xfrm>
          <a:prstGeom prst="ellipse">
            <a:avLst/>
          </a:prstGeom>
          <a:solidFill>
            <a:srgbClr val="E8821E">
              <a:alpha val="12160"/>
            </a:srgbClr>
          </a:solidFill>
          <a:ln>
            <a:noFill/>
          </a:ln>
        </p:spPr>
        <p:txBody>
          <a:bodyPr anchorCtr="0" anchor="t" bIns="40600" lIns="81200" spcFirstLastPara="1" rIns="81200" wrap="square" tIns="40600">
            <a:noAutofit/>
          </a:bodyPr>
          <a:lstStyle/>
          <a:p>
            <a:pPr indent="0" lvl="0" marL="0" marR="0" rtl="0" algn="l">
              <a:spcBef>
                <a:spcPts val="0"/>
              </a:spcBef>
              <a:spcAft>
                <a:spcPts val="0"/>
              </a:spcAft>
              <a:buNone/>
            </a:pPr>
            <a:r>
              <a:t/>
            </a:r>
            <a:endParaRPr sz="1658">
              <a:solidFill>
                <a:schemeClr val="dk1"/>
              </a:solidFill>
              <a:latin typeface="Calibri"/>
              <a:ea typeface="Calibri"/>
              <a:cs typeface="Calibri"/>
              <a:sym typeface="Calibri"/>
            </a:endParaRPr>
          </a:p>
        </p:txBody>
      </p:sp>
      <p:sp>
        <p:nvSpPr>
          <p:cNvPr id="1203" name="Google Shape;1203;p52"/>
          <p:cNvSpPr/>
          <p:nvPr/>
        </p:nvSpPr>
        <p:spPr>
          <a:xfrm>
            <a:off x="3678588" y="1097737"/>
            <a:ext cx="1786800" cy="1786800"/>
          </a:xfrm>
          <a:prstGeom prst="ellipse">
            <a:avLst/>
          </a:prstGeom>
          <a:solidFill>
            <a:srgbClr val="E8821E">
              <a:alpha val="21960"/>
            </a:srgbClr>
          </a:solidFill>
          <a:ln>
            <a:noFill/>
          </a:ln>
        </p:spPr>
        <p:txBody>
          <a:bodyPr anchorCtr="0" anchor="t" bIns="40600" lIns="81200" spcFirstLastPara="1" rIns="81200" wrap="square" tIns="40600">
            <a:noAutofit/>
          </a:bodyPr>
          <a:lstStyle/>
          <a:p>
            <a:pPr indent="0" lvl="0" marL="0" marR="0" rtl="0" algn="l">
              <a:spcBef>
                <a:spcPts val="0"/>
              </a:spcBef>
              <a:spcAft>
                <a:spcPts val="0"/>
              </a:spcAft>
              <a:buNone/>
            </a:pPr>
            <a:r>
              <a:t/>
            </a:r>
            <a:endParaRPr sz="1658">
              <a:solidFill>
                <a:schemeClr val="dk1"/>
              </a:solidFill>
              <a:latin typeface="Calibri"/>
              <a:ea typeface="Calibri"/>
              <a:cs typeface="Calibri"/>
              <a:sym typeface="Calibri"/>
            </a:endParaRPr>
          </a:p>
        </p:txBody>
      </p:sp>
      <p:sp>
        <p:nvSpPr>
          <p:cNvPr id="1204" name="Google Shape;1204;p52"/>
          <p:cNvSpPr/>
          <p:nvPr/>
        </p:nvSpPr>
        <p:spPr>
          <a:xfrm>
            <a:off x="4044060" y="1463189"/>
            <a:ext cx="1055700" cy="1055700"/>
          </a:xfrm>
          <a:prstGeom prst="ellipse">
            <a:avLst/>
          </a:prstGeom>
          <a:solidFill>
            <a:srgbClr val="E8821E"/>
          </a:solidFill>
          <a:ln>
            <a:noFill/>
          </a:ln>
        </p:spPr>
        <p:txBody>
          <a:bodyPr anchorCtr="0" anchor="t" bIns="40600" lIns="81200" spcFirstLastPara="1" rIns="81200" wrap="square" tIns="40600">
            <a:noAutofit/>
          </a:bodyPr>
          <a:lstStyle/>
          <a:p>
            <a:pPr indent="0" lvl="0" marL="0" marR="0" rtl="0" algn="l">
              <a:spcBef>
                <a:spcPts val="0"/>
              </a:spcBef>
              <a:spcAft>
                <a:spcPts val="0"/>
              </a:spcAft>
              <a:buNone/>
            </a:pPr>
            <a:r>
              <a:t/>
            </a:r>
            <a:endParaRPr sz="1658">
              <a:solidFill>
                <a:schemeClr val="dk1"/>
              </a:solidFill>
              <a:latin typeface="Calibri"/>
              <a:ea typeface="Calibri"/>
              <a:cs typeface="Calibri"/>
              <a:sym typeface="Calibri"/>
            </a:endParaRPr>
          </a:p>
        </p:txBody>
      </p:sp>
      <p:pic>
        <p:nvPicPr>
          <p:cNvPr descr="/home/claude/maia/icons/FiAward_white.png" id="1205" name="Google Shape;1205;p52"/>
          <p:cNvPicPr preferRelativeResize="0"/>
          <p:nvPr/>
        </p:nvPicPr>
        <p:blipFill rotWithShape="1">
          <a:blip r:embed="rId3">
            <a:alphaModFix/>
          </a:blip>
          <a:srcRect b="0" l="0" r="0" t="0"/>
          <a:stretch/>
        </p:blipFill>
        <p:spPr>
          <a:xfrm>
            <a:off x="4329127" y="1748241"/>
            <a:ext cx="485645" cy="485645"/>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C2B3E"/>
        </a:solidFill>
      </p:bgPr>
    </p:bg>
    <p:spTree>
      <p:nvGrpSpPr>
        <p:cNvPr id="1210" name="Shape 1210"/>
        <p:cNvGrpSpPr/>
        <p:nvPr/>
      </p:nvGrpSpPr>
      <p:grpSpPr>
        <a:xfrm>
          <a:off x="0" y="0"/>
          <a:ext cx="0" cy="0"/>
          <a:chOff x="0" y="0"/>
          <a:chExt cx="0" cy="0"/>
        </a:xfrm>
      </p:grpSpPr>
      <p:sp>
        <p:nvSpPr>
          <p:cNvPr id="1211" name="Google Shape;1211;p53"/>
          <p:cNvSpPr/>
          <p:nvPr/>
        </p:nvSpPr>
        <p:spPr>
          <a:xfrm>
            <a:off x="379350" y="943972"/>
            <a:ext cx="8385300" cy="1925100"/>
          </a:xfrm>
          <a:prstGeom prst="rect">
            <a:avLst/>
          </a:prstGeom>
          <a:noFill/>
          <a:ln>
            <a:noFill/>
          </a:ln>
        </p:spPr>
        <p:txBody>
          <a:bodyPr anchorCtr="0" anchor="ctr" bIns="0" lIns="0" spcFirstLastPara="1" rIns="0" wrap="square" tIns="0">
            <a:noAutofit/>
          </a:bodyPr>
          <a:lstStyle/>
          <a:p>
            <a:pPr indent="0" lvl="0" marL="0" marR="0" rtl="0" algn="ctr">
              <a:lnSpc>
                <a:spcPct val="150000"/>
              </a:lnSpc>
              <a:spcBef>
                <a:spcPts val="0"/>
              </a:spcBef>
              <a:spcAft>
                <a:spcPts val="0"/>
              </a:spcAft>
              <a:buClr>
                <a:srgbClr val="FFFFFF"/>
              </a:buClr>
              <a:buSzPts val="2400"/>
              <a:buFont typeface="Arial"/>
              <a:buNone/>
            </a:pPr>
            <a:r>
              <a:rPr b="1" lang="en-GB" sz="2700">
                <a:solidFill>
                  <a:srgbClr val="FFFFFF"/>
                </a:solidFill>
                <a:latin typeface="Poppins"/>
                <a:ea typeface="Poppins"/>
                <a:cs typeface="Poppins"/>
                <a:sym typeface="Poppins"/>
              </a:rPr>
              <a:t>You</a:t>
            </a:r>
            <a:r>
              <a:rPr b="1" lang="en-GB" sz="2700">
                <a:solidFill>
                  <a:srgbClr val="FFFFFF"/>
                </a:solidFill>
                <a:latin typeface="Poppins"/>
                <a:ea typeface="Poppins"/>
                <a:cs typeface="Poppins"/>
                <a:sym typeface="Poppins"/>
              </a:rPr>
              <a:t>r team </a:t>
            </a:r>
            <a:r>
              <a:rPr b="1" lang="en-GB" sz="2700">
                <a:solidFill>
                  <a:srgbClr val="FFFFFF"/>
                </a:solidFill>
                <a:latin typeface="Poppins"/>
                <a:ea typeface="Poppins"/>
                <a:cs typeface="Poppins"/>
                <a:sym typeface="Poppins"/>
              </a:rPr>
              <a:t>has a job to do.</a:t>
            </a:r>
            <a:endParaRPr b="1" sz="2700">
              <a:solidFill>
                <a:srgbClr val="FFFFFF"/>
              </a:solidFill>
              <a:latin typeface="Poppins"/>
              <a:ea typeface="Poppins"/>
              <a:cs typeface="Poppins"/>
              <a:sym typeface="Poppins"/>
            </a:endParaRPr>
          </a:p>
          <a:p>
            <a:pPr indent="0" lvl="0" marL="0" rtl="0" algn="ctr">
              <a:lnSpc>
                <a:spcPct val="115000"/>
              </a:lnSpc>
              <a:spcBef>
                <a:spcPts val="1000"/>
              </a:spcBef>
              <a:spcAft>
                <a:spcPts val="0"/>
              </a:spcAft>
              <a:buNone/>
            </a:pPr>
            <a:r>
              <a:rPr lang="en-GB" sz="1800">
                <a:solidFill>
                  <a:srgbClr val="92A6BE"/>
                </a:solidFill>
              </a:rPr>
              <a:t>A customer has sent an order.</a:t>
            </a:r>
            <a:endParaRPr sz="1800">
              <a:solidFill>
                <a:srgbClr val="92A6BE"/>
              </a:solidFill>
            </a:endParaRPr>
          </a:p>
          <a:p>
            <a:pPr indent="0" lvl="0" marL="0" rtl="0" algn="ctr">
              <a:lnSpc>
                <a:spcPct val="115000"/>
              </a:lnSpc>
              <a:spcBef>
                <a:spcPts val="0"/>
              </a:spcBef>
              <a:spcAft>
                <a:spcPts val="0"/>
              </a:spcAft>
              <a:buNone/>
            </a:pPr>
            <a:r>
              <a:rPr lang="en-GB" sz="1800">
                <a:solidFill>
                  <a:srgbClr val="92A6BE"/>
                </a:solidFill>
              </a:rPr>
              <a:t>Your team must process it from request to completion.</a:t>
            </a:r>
            <a:endParaRPr sz="1800">
              <a:solidFill>
                <a:srgbClr val="92A6BE"/>
              </a:solidFill>
            </a:endParaRPr>
          </a:p>
        </p:txBody>
      </p:sp>
      <p:sp>
        <p:nvSpPr>
          <p:cNvPr id="1212" name="Google Shape;1212;p53"/>
          <p:cNvSpPr txBox="1"/>
          <p:nvPr>
            <p:ph idx="12" type="sldNum"/>
          </p:nvPr>
        </p:nvSpPr>
        <p:spPr>
          <a:xfrm>
            <a:off x="8347216" y="4750189"/>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213" name="Google Shape;1213;p53"/>
          <p:cNvSpPr/>
          <p:nvPr/>
        </p:nvSpPr>
        <p:spPr>
          <a:xfrm>
            <a:off x="3650488" y="3420780"/>
            <a:ext cx="2742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2A6BE"/>
              </a:buClr>
              <a:buSzPts val="2000"/>
              <a:buFont typeface="Arial"/>
              <a:buNone/>
            </a:pPr>
            <a:r>
              <a:rPr b="1" lang="en-GB" sz="2000">
                <a:solidFill>
                  <a:srgbClr val="92A6BE"/>
                </a:solidFill>
                <a:latin typeface="Arial"/>
                <a:ea typeface="Arial"/>
                <a:cs typeface="Arial"/>
                <a:sym typeface="Arial"/>
              </a:rPr>
              <a:t>›</a:t>
            </a:r>
            <a:endParaRPr sz="2000">
              <a:solidFill>
                <a:schemeClr val="dk1"/>
              </a:solidFill>
              <a:latin typeface="Calibri"/>
              <a:ea typeface="Calibri"/>
              <a:cs typeface="Calibri"/>
              <a:sym typeface="Calibri"/>
            </a:endParaRPr>
          </a:p>
        </p:txBody>
      </p:sp>
      <p:sp>
        <p:nvSpPr>
          <p:cNvPr id="1214" name="Google Shape;1214;p53"/>
          <p:cNvSpPr/>
          <p:nvPr/>
        </p:nvSpPr>
        <p:spPr>
          <a:xfrm>
            <a:off x="5219313" y="3420780"/>
            <a:ext cx="2742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2A6BE"/>
              </a:buClr>
              <a:buSzPts val="2000"/>
              <a:buFont typeface="Arial"/>
              <a:buNone/>
            </a:pPr>
            <a:r>
              <a:rPr b="1" lang="en-GB" sz="2000">
                <a:solidFill>
                  <a:srgbClr val="92A6BE"/>
                </a:solidFill>
                <a:latin typeface="Arial"/>
                <a:ea typeface="Arial"/>
                <a:cs typeface="Arial"/>
                <a:sym typeface="Arial"/>
              </a:rPr>
              <a:t>›</a:t>
            </a:r>
            <a:endParaRPr sz="2000">
              <a:solidFill>
                <a:schemeClr val="dk1"/>
              </a:solidFill>
              <a:latin typeface="Calibri"/>
              <a:ea typeface="Calibri"/>
              <a:cs typeface="Calibri"/>
              <a:sym typeface="Calibri"/>
            </a:endParaRPr>
          </a:p>
        </p:txBody>
      </p:sp>
      <p:grpSp>
        <p:nvGrpSpPr>
          <p:cNvPr id="1215" name="Google Shape;1215;p53"/>
          <p:cNvGrpSpPr/>
          <p:nvPr/>
        </p:nvGrpSpPr>
        <p:grpSpPr>
          <a:xfrm>
            <a:off x="2441725" y="3269904"/>
            <a:ext cx="1122900" cy="929615"/>
            <a:chOff x="2330325" y="3566160"/>
            <a:chExt cx="1122900" cy="929615"/>
          </a:xfrm>
        </p:grpSpPr>
        <p:sp>
          <p:nvSpPr>
            <p:cNvPr id="1216" name="Google Shape;1216;p53"/>
            <p:cNvSpPr/>
            <p:nvPr/>
          </p:nvSpPr>
          <p:spPr>
            <a:xfrm>
              <a:off x="2651787" y="3566160"/>
              <a:ext cx="480000" cy="480000"/>
            </a:xfrm>
            <a:prstGeom prst="ellipse">
              <a:avLst/>
            </a:prstGeom>
            <a:solidFill>
              <a:srgbClr val="27394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ShoppingCart_white.png" id="1217" name="Google Shape;1217;p53"/>
            <p:cNvPicPr preferRelativeResize="0"/>
            <p:nvPr/>
          </p:nvPicPr>
          <p:blipFill rotWithShape="1">
            <a:blip r:embed="rId3">
              <a:alphaModFix/>
            </a:blip>
            <a:srcRect b="0" l="0" r="0" t="0"/>
            <a:stretch/>
          </p:blipFill>
          <p:spPr>
            <a:xfrm>
              <a:off x="2771125" y="3715120"/>
              <a:ext cx="205800" cy="205800"/>
            </a:xfrm>
            <a:prstGeom prst="rect">
              <a:avLst/>
            </a:prstGeom>
            <a:noFill/>
            <a:ln>
              <a:noFill/>
            </a:ln>
          </p:spPr>
        </p:pic>
        <p:sp>
          <p:nvSpPr>
            <p:cNvPr id="1218" name="Google Shape;1218;p53"/>
            <p:cNvSpPr/>
            <p:nvPr/>
          </p:nvSpPr>
          <p:spPr>
            <a:xfrm>
              <a:off x="2330325" y="4195475"/>
              <a:ext cx="1122900" cy="300300"/>
            </a:xfrm>
            <a:prstGeom prst="roundRect">
              <a:avLst>
                <a:gd fmla="val 50000" name="adj"/>
              </a:avLst>
            </a:prstGeom>
            <a:noFill/>
            <a:ln cap="flat" cmpd="sng" w="9525">
              <a:solidFill>
                <a:srgbClr val="94A3B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solidFill>
                    <a:srgbClr val="92A6BE"/>
                  </a:solidFill>
                </a:rPr>
                <a:t>Customer Request</a:t>
              </a:r>
              <a:endParaRPr/>
            </a:p>
          </p:txBody>
        </p:sp>
      </p:grpSp>
      <p:grpSp>
        <p:nvGrpSpPr>
          <p:cNvPr id="1219" name="Google Shape;1219;p53"/>
          <p:cNvGrpSpPr/>
          <p:nvPr/>
        </p:nvGrpSpPr>
        <p:grpSpPr>
          <a:xfrm>
            <a:off x="4010550" y="3269904"/>
            <a:ext cx="1122900" cy="929615"/>
            <a:chOff x="3839175" y="3566160"/>
            <a:chExt cx="1122900" cy="929615"/>
          </a:xfrm>
        </p:grpSpPr>
        <p:sp>
          <p:nvSpPr>
            <p:cNvPr id="1220" name="Google Shape;1220;p53"/>
            <p:cNvSpPr/>
            <p:nvPr/>
          </p:nvSpPr>
          <p:spPr>
            <a:xfrm>
              <a:off x="4160628" y="3566160"/>
              <a:ext cx="480000" cy="480000"/>
            </a:xfrm>
            <a:prstGeom prst="ellipse">
              <a:avLst/>
            </a:prstGeom>
            <a:solidFill>
              <a:srgbClr val="27394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Smartphone_white.png" id="1221" name="Google Shape;1221;p53"/>
            <p:cNvPicPr preferRelativeResize="0"/>
            <p:nvPr/>
          </p:nvPicPr>
          <p:blipFill rotWithShape="1">
            <a:blip r:embed="rId4">
              <a:alphaModFix/>
            </a:blip>
            <a:srcRect b="0" l="0" r="0" t="0"/>
            <a:stretch/>
          </p:blipFill>
          <p:spPr>
            <a:xfrm>
              <a:off x="4280649" y="3686175"/>
              <a:ext cx="240030" cy="240030"/>
            </a:xfrm>
            <a:prstGeom prst="rect">
              <a:avLst/>
            </a:prstGeom>
            <a:noFill/>
            <a:ln>
              <a:noFill/>
            </a:ln>
          </p:spPr>
        </p:pic>
        <p:sp>
          <p:nvSpPr>
            <p:cNvPr id="1222" name="Google Shape;1222;p53"/>
            <p:cNvSpPr/>
            <p:nvPr/>
          </p:nvSpPr>
          <p:spPr>
            <a:xfrm>
              <a:off x="3839175" y="4195475"/>
              <a:ext cx="1122900" cy="300300"/>
            </a:xfrm>
            <a:prstGeom prst="roundRect">
              <a:avLst>
                <a:gd fmla="val 50000" name="adj"/>
              </a:avLst>
            </a:prstGeom>
            <a:noFill/>
            <a:ln cap="flat" cmpd="sng" w="9525">
              <a:solidFill>
                <a:srgbClr val="94A3B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solidFill>
                    <a:srgbClr val="92A6BE"/>
                  </a:solidFill>
                </a:rPr>
                <a:t>MAIA · WhatsApp</a:t>
              </a:r>
              <a:endParaRPr sz="800">
                <a:solidFill>
                  <a:srgbClr val="92A6BE"/>
                </a:solidFill>
              </a:endParaRPr>
            </a:p>
          </p:txBody>
        </p:sp>
      </p:grpSp>
      <p:grpSp>
        <p:nvGrpSpPr>
          <p:cNvPr id="1223" name="Google Shape;1223;p53"/>
          <p:cNvGrpSpPr/>
          <p:nvPr/>
        </p:nvGrpSpPr>
        <p:grpSpPr>
          <a:xfrm>
            <a:off x="5579375" y="3269904"/>
            <a:ext cx="1122900" cy="929615"/>
            <a:chOff x="5467975" y="3566160"/>
            <a:chExt cx="1122900" cy="929615"/>
          </a:xfrm>
        </p:grpSpPr>
        <p:sp>
          <p:nvSpPr>
            <p:cNvPr id="1224" name="Google Shape;1224;p53"/>
            <p:cNvSpPr/>
            <p:nvPr/>
          </p:nvSpPr>
          <p:spPr>
            <a:xfrm>
              <a:off x="5789387" y="3566160"/>
              <a:ext cx="480000" cy="480000"/>
            </a:xfrm>
            <a:prstGeom prst="ellipse">
              <a:avLst/>
            </a:prstGeom>
            <a:solidFill>
              <a:srgbClr val="1A9D5C"/>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FileText_white.png" id="1225" name="Google Shape;1225;p53"/>
            <p:cNvPicPr preferRelativeResize="0"/>
            <p:nvPr/>
          </p:nvPicPr>
          <p:blipFill rotWithShape="1">
            <a:blip r:embed="rId5">
              <a:alphaModFix/>
            </a:blip>
            <a:srcRect b="0" l="0" r="0" t="0"/>
            <a:stretch/>
          </p:blipFill>
          <p:spPr>
            <a:xfrm>
              <a:off x="5909409" y="3686175"/>
              <a:ext cx="240030" cy="240030"/>
            </a:xfrm>
            <a:prstGeom prst="rect">
              <a:avLst/>
            </a:prstGeom>
            <a:noFill/>
            <a:ln>
              <a:noFill/>
            </a:ln>
          </p:spPr>
        </p:pic>
        <p:sp>
          <p:nvSpPr>
            <p:cNvPr id="1226" name="Google Shape;1226;p53"/>
            <p:cNvSpPr/>
            <p:nvPr/>
          </p:nvSpPr>
          <p:spPr>
            <a:xfrm>
              <a:off x="5467975" y="4195475"/>
              <a:ext cx="1122900" cy="300300"/>
            </a:xfrm>
            <a:prstGeom prst="roundRect">
              <a:avLst>
                <a:gd fmla="val 50000" name="adj"/>
              </a:avLst>
            </a:prstGeom>
            <a:solidFill>
              <a:srgbClr val="1A9D5C"/>
            </a:solidFill>
            <a:ln cap="flat" cmpd="sng" w="9525">
              <a:solidFill>
                <a:srgbClr val="1A9D5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800">
                  <a:solidFill>
                    <a:schemeClr val="lt1"/>
                  </a:solidFill>
                </a:rPr>
                <a:t>SO ✓  +  DN ✓</a:t>
              </a:r>
              <a:endParaRPr b="1" sz="800">
                <a:solidFill>
                  <a:schemeClr val="lt1"/>
                </a:solidFill>
              </a:endParaRPr>
            </a:p>
          </p:txBody>
        </p:sp>
      </p:gr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C2B3E"/>
        </a:solidFill>
      </p:bgPr>
    </p:bg>
    <p:spTree>
      <p:nvGrpSpPr>
        <p:cNvPr id="1231" name="Shape 1231"/>
        <p:cNvGrpSpPr/>
        <p:nvPr/>
      </p:nvGrpSpPr>
      <p:grpSpPr>
        <a:xfrm>
          <a:off x="0" y="0"/>
          <a:ext cx="0" cy="0"/>
          <a:chOff x="0" y="0"/>
          <a:chExt cx="0" cy="0"/>
        </a:xfrm>
      </p:grpSpPr>
      <p:sp>
        <p:nvSpPr>
          <p:cNvPr id="1232" name="Google Shape;1232;p54"/>
          <p:cNvSpPr/>
          <p:nvPr/>
        </p:nvSpPr>
        <p:spPr>
          <a:xfrm>
            <a:off x="404727" y="1556443"/>
            <a:ext cx="617400" cy="617100"/>
          </a:xfrm>
          <a:prstGeom prst="roundRect">
            <a:avLst>
              <a:gd fmla="val 22000" name="adj"/>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Award_white.png" id="1233" name="Google Shape;1233;p54"/>
          <p:cNvPicPr preferRelativeResize="0"/>
          <p:nvPr/>
        </p:nvPicPr>
        <p:blipFill rotWithShape="1">
          <a:blip r:embed="rId3">
            <a:alphaModFix/>
          </a:blip>
          <a:srcRect b="0" l="0" r="0" t="0"/>
          <a:stretch/>
        </p:blipFill>
        <p:spPr>
          <a:xfrm>
            <a:off x="543609" y="1695317"/>
            <a:ext cx="339471" cy="339471"/>
          </a:xfrm>
          <a:prstGeom prst="rect">
            <a:avLst/>
          </a:prstGeom>
          <a:noFill/>
          <a:ln>
            <a:noFill/>
          </a:ln>
        </p:spPr>
      </p:pic>
      <p:sp>
        <p:nvSpPr>
          <p:cNvPr id="1234" name="Google Shape;1234;p54"/>
          <p:cNvSpPr/>
          <p:nvPr/>
        </p:nvSpPr>
        <p:spPr>
          <a:xfrm>
            <a:off x="404727" y="2387023"/>
            <a:ext cx="3840600" cy="61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300"/>
              <a:buFont typeface="Arial"/>
              <a:buNone/>
            </a:pPr>
            <a:r>
              <a:rPr b="1" lang="en-GB" sz="3300">
                <a:solidFill>
                  <a:srgbClr val="FFFFFF"/>
                </a:solidFill>
                <a:latin typeface="Poppins"/>
                <a:ea typeface="Poppins"/>
                <a:cs typeface="Poppins"/>
                <a:sym typeface="Poppins"/>
              </a:rPr>
              <a:t>47 minutes.</a:t>
            </a:r>
            <a:endParaRPr sz="3300">
              <a:solidFill>
                <a:schemeClr val="dk1"/>
              </a:solidFill>
              <a:latin typeface="Poppins"/>
              <a:ea typeface="Poppins"/>
              <a:cs typeface="Poppins"/>
              <a:sym typeface="Poppins"/>
            </a:endParaRPr>
          </a:p>
        </p:txBody>
      </p:sp>
      <p:sp>
        <p:nvSpPr>
          <p:cNvPr id="1235" name="Google Shape;1235;p54"/>
          <p:cNvSpPr/>
          <p:nvPr/>
        </p:nvSpPr>
        <p:spPr>
          <a:xfrm>
            <a:off x="404727" y="2969953"/>
            <a:ext cx="3840600" cy="61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21E"/>
              </a:buClr>
              <a:buSzPts val="3300"/>
              <a:buFont typeface="Arial"/>
              <a:buNone/>
            </a:pPr>
            <a:r>
              <a:rPr b="1" lang="en-GB" sz="3300">
                <a:solidFill>
                  <a:srgbClr val="E8821E"/>
                </a:solidFill>
                <a:latin typeface="Poppins"/>
                <a:ea typeface="Poppins"/>
                <a:cs typeface="Poppins"/>
                <a:sym typeface="Poppins"/>
              </a:rPr>
              <a:t>10 missions.</a:t>
            </a:r>
            <a:endParaRPr sz="3300">
              <a:solidFill>
                <a:schemeClr val="dk1"/>
              </a:solidFill>
              <a:latin typeface="Poppins"/>
              <a:ea typeface="Poppins"/>
              <a:cs typeface="Poppins"/>
              <a:sym typeface="Poppins"/>
            </a:endParaRPr>
          </a:p>
        </p:txBody>
      </p:sp>
      <p:sp>
        <p:nvSpPr>
          <p:cNvPr id="1236" name="Google Shape;1236;p54"/>
          <p:cNvSpPr/>
          <p:nvPr/>
        </p:nvSpPr>
        <p:spPr>
          <a:xfrm>
            <a:off x="4503729" y="1123360"/>
            <a:ext cx="716400" cy="1062900"/>
          </a:xfrm>
          <a:prstGeom prst="roundRect">
            <a:avLst>
              <a:gd fmla="val 9573" name="adj"/>
            </a:avLst>
          </a:prstGeom>
          <a:solidFill>
            <a:srgbClr val="E8821E"/>
          </a:solidFill>
          <a:ln cap="flat" cmpd="sng" w="25400">
            <a:solidFill>
              <a:srgbClr val="E8821E"/>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37" name="Google Shape;1237;p54"/>
          <p:cNvSpPr/>
          <p:nvPr/>
        </p:nvSpPr>
        <p:spPr>
          <a:xfrm>
            <a:off x="4586030" y="1191940"/>
            <a:ext cx="5793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M1</a:t>
            </a:r>
            <a:endParaRPr sz="800">
              <a:solidFill>
                <a:schemeClr val="dk1"/>
              </a:solidFill>
              <a:latin typeface="Calibri"/>
              <a:ea typeface="Calibri"/>
              <a:cs typeface="Calibri"/>
              <a:sym typeface="Calibri"/>
            </a:endParaRPr>
          </a:p>
        </p:txBody>
      </p:sp>
      <p:sp>
        <p:nvSpPr>
          <p:cNvPr id="1238" name="Google Shape;1238;p54"/>
          <p:cNvSpPr/>
          <p:nvPr/>
        </p:nvSpPr>
        <p:spPr>
          <a:xfrm>
            <a:off x="4586030" y="1411396"/>
            <a:ext cx="551700" cy="48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900"/>
              <a:buFont typeface="Arial"/>
              <a:buNone/>
            </a:pPr>
            <a:r>
              <a:rPr b="1" lang="en-GB" sz="900">
                <a:solidFill>
                  <a:srgbClr val="FFFFFF"/>
                </a:solidFill>
                <a:latin typeface="Arial"/>
                <a:ea typeface="Arial"/>
                <a:cs typeface="Arial"/>
                <a:sym typeface="Arial"/>
              </a:rPr>
              <a:t>Restoran Maju</a:t>
            </a:r>
            <a:endParaRPr sz="900">
              <a:solidFill>
                <a:schemeClr val="dk1"/>
              </a:solidFill>
              <a:latin typeface="Calibri"/>
              <a:ea typeface="Calibri"/>
              <a:cs typeface="Calibri"/>
              <a:sym typeface="Calibri"/>
            </a:endParaRPr>
          </a:p>
        </p:txBody>
      </p:sp>
      <p:sp>
        <p:nvSpPr>
          <p:cNvPr id="1239" name="Google Shape;1239;p54"/>
          <p:cNvSpPr/>
          <p:nvPr/>
        </p:nvSpPr>
        <p:spPr>
          <a:xfrm>
            <a:off x="4586030" y="1953178"/>
            <a:ext cx="551700" cy="164700"/>
          </a:xfrm>
          <a:prstGeom prst="roundRect">
            <a:avLst>
              <a:gd fmla="val 50000" name="adj"/>
            </a:avLst>
          </a:pr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40" name="Google Shape;1240;p54"/>
          <p:cNvSpPr/>
          <p:nvPr/>
        </p:nvSpPr>
        <p:spPr>
          <a:xfrm>
            <a:off x="4586030" y="1953178"/>
            <a:ext cx="551700" cy="164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821E"/>
              </a:buClr>
              <a:buSzPts val="600"/>
              <a:buFont typeface="Arial"/>
              <a:buNone/>
            </a:pPr>
            <a:r>
              <a:rPr b="1" lang="en-GB" sz="600">
                <a:solidFill>
                  <a:srgbClr val="E8821E"/>
                </a:solidFill>
                <a:latin typeface="Arial"/>
                <a:ea typeface="Arial"/>
                <a:cs typeface="Arial"/>
                <a:sym typeface="Arial"/>
              </a:rPr>
              <a:t>WARM-UP</a:t>
            </a:r>
            <a:endParaRPr sz="600">
              <a:solidFill>
                <a:schemeClr val="dk1"/>
              </a:solidFill>
              <a:latin typeface="Calibri"/>
              <a:ea typeface="Calibri"/>
              <a:cs typeface="Calibri"/>
              <a:sym typeface="Calibri"/>
            </a:endParaRPr>
          </a:p>
        </p:txBody>
      </p:sp>
      <p:sp>
        <p:nvSpPr>
          <p:cNvPr id="1241" name="Google Shape;1241;p54"/>
          <p:cNvSpPr/>
          <p:nvPr/>
        </p:nvSpPr>
        <p:spPr>
          <a:xfrm>
            <a:off x="5384755" y="1123360"/>
            <a:ext cx="716400" cy="1062900"/>
          </a:xfrm>
          <a:prstGeom prst="roundRect">
            <a:avLst>
              <a:gd fmla="val 9573" name="adj"/>
            </a:avLst>
          </a:prstGeom>
          <a:solidFill>
            <a:srgbClr val="27394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42" name="Google Shape;1242;p54"/>
          <p:cNvSpPr/>
          <p:nvPr/>
        </p:nvSpPr>
        <p:spPr>
          <a:xfrm>
            <a:off x="5467055" y="1191940"/>
            <a:ext cx="5793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2A6BE"/>
              </a:buClr>
              <a:buSzPts val="800"/>
              <a:buFont typeface="Arial"/>
              <a:buNone/>
            </a:pPr>
            <a:r>
              <a:rPr b="1" lang="en-GB" sz="800">
                <a:solidFill>
                  <a:srgbClr val="92A6BE"/>
                </a:solidFill>
                <a:latin typeface="Arial"/>
                <a:ea typeface="Arial"/>
                <a:cs typeface="Arial"/>
                <a:sym typeface="Arial"/>
              </a:rPr>
              <a:t>M2</a:t>
            </a:r>
            <a:endParaRPr sz="800">
              <a:solidFill>
                <a:schemeClr val="dk1"/>
              </a:solidFill>
              <a:latin typeface="Calibri"/>
              <a:ea typeface="Calibri"/>
              <a:cs typeface="Calibri"/>
              <a:sym typeface="Calibri"/>
            </a:endParaRPr>
          </a:p>
        </p:txBody>
      </p:sp>
      <p:sp>
        <p:nvSpPr>
          <p:cNvPr id="1243" name="Google Shape;1243;p54"/>
          <p:cNvSpPr/>
          <p:nvPr/>
        </p:nvSpPr>
        <p:spPr>
          <a:xfrm>
            <a:off x="5467055" y="1411396"/>
            <a:ext cx="551700" cy="48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900"/>
              <a:buFont typeface="Arial"/>
              <a:buNone/>
            </a:pPr>
            <a:r>
              <a:rPr b="1" lang="en-GB" sz="900">
                <a:solidFill>
                  <a:srgbClr val="FFFFFF"/>
                </a:solidFill>
                <a:latin typeface="Arial"/>
                <a:ea typeface="Arial"/>
                <a:cs typeface="Arial"/>
                <a:sym typeface="Arial"/>
              </a:rPr>
              <a:t>Warung Pak Din</a:t>
            </a:r>
            <a:endParaRPr sz="900">
              <a:solidFill>
                <a:schemeClr val="dk1"/>
              </a:solidFill>
              <a:latin typeface="Calibri"/>
              <a:ea typeface="Calibri"/>
              <a:cs typeface="Calibri"/>
              <a:sym typeface="Calibri"/>
            </a:endParaRPr>
          </a:p>
        </p:txBody>
      </p:sp>
      <p:sp>
        <p:nvSpPr>
          <p:cNvPr id="1244" name="Google Shape;1244;p54"/>
          <p:cNvSpPr/>
          <p:nvPr/>
        </p:nvSpPr>
        <p:spPr>
          <a:xfrm>
            <a:off x="6265780" y="1123360"/>
            <a:ext cx="716400" cy="1062900"/>
          </a:xfrm>
          <a:prstGeom prst="roundRect">
            <a:avLst>
              <a:gd fmla="val 9573" name="adj"/>
            </a:avLst>
          </a:prstGeom>
          <a:solidFill>
            <a:srgbClr val="27394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45" name="Google Shape;1245;p54"/>
          <p:cNvSpPr/>
          <p:nvPr/>
        </p:nvSpPr>
        <p:spPr>
          <a:xfrm>
            <a:off x="6348081" y="1191940"/>
            <a:ext cx="5793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2A6BE"/>
              </a:buClr>
              <a:buSzPts val="800"/>
              <a:buFont typeface="Arial"/>
              <a:buNone/>
            </a:pPr>
            <a:r>
              <a:rPr b="1" lang="en-GB" sz="800">
                <a:solidFill>
                  <a:srgbClr val="92A6BE"/>
                </a:solidFill>
                <a:latin typeface="Arial"/>
                <a:ea typeface="Arial"/>
                <a:cs typeface="Arial"/>
                <a:sym typeface="Arial"/>
              </a:rPr>
              <a:t>M3</a:t>
            </a:r>
            <a:endParaRPr sz="800">
              <a:solidFill>
                <a:schemeClr val="dk1"/>
              </a:solidFill>
              <a:latin typeface="Calibri"/>
              <a:ea typeface="Calibri"/>
              <a:cs typeface="Calibri"/>
              <a:sym typeface="Calibri"/>
            </a:endParaRPr>
          </a:p>
        </p:txBody>
      </p:sp>
      <p:sp>
        <p:nvSpPr>
          <p:cNvPr id="1246" name="Google Shape;1246;p54"/>
          <p:cNvSpPr/>
          <p:nvPr/>
        </p:nvSpPr>
        <p:spPr>
          <a:xfrm>
            <a:off x="6348081" y="1411396"/>
            <a:ext cx="551700" cy="48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900"/>
              <a:buFont typeface="Arial"/>
              <a:buNone/>
            </a:pPr>
            <a:r>
              <a:rPr b="1" lang="en-GB" sz="900">
                <a:solidFill>
                  <a:srgbClr val="FFFFFF"/>
                </a:solidFill>
                <a:latin typeface="Arial"/>
                <a:ea typeface="Arial"/>
                <a:cs typeface="Arial"/>
                <a:sym typeface="Arial"/>
              </a:rPr>
              <a:t>Lim Heng Trading</a:t>
            </a:r>
            <a:endParaRPr sz="900">
              <a:solidFill>
                <a:schemeClr val="dk1"/>
              </a:solidFill>
              <a:latin typeface="Calibri"/>
              <a:ea typeface="Calibri"/>
              <a:cs typeface="Calibri"/>
              <a:sym typeface="Calibri"/>
            </a:endParaRPr>
          </a:p>
        </p:txBody>
      </p:sp>
      <p:sp>
        <p:nvSpPr>
          <p:cNvPr id="1247" name="Google Shape;1247;p54"/>
          <p:cNvSpPr/>
          <p:nvPr/>
        </p:nvSpPr>
        <p:spPr>
          <a:xfrm>
            <a:off x="7146807" y="1123360"/>
            <a:ext cx="716400" cy="1062900"/>
          </a:xfrm>
          <a:prstGeom prst="roundRect">
            <a:avLst>
              <a:gd fmla="val 9573" name="adj"/>
            </a:avLst>
          </a:prstGeom>
          <a:solidFill>
            <a:srgbClr val="27394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48" name="Google Shape;1248;p54"/>
          <p:cNvSpPr/>
          <p:nvPr/>
        </p:nvSpPr>
        <p:spPr>
          <a:xfrm>
            <a:off x="7229107" y="1191940"/>
            <a:ext cx="5793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2A6BE"/>
              </a:buClr>
              <a:buSzPts val="800"/>
              <a:buFont typeface="Arial"/>
              <a:buNone/>
            </a:pPr>
            <a:r>
              <a:rPr b="1" lang="en-GB" sz="800">
                <a:solidFill>
                  <a:srgbClr val="92A6BE"/>
                </a:solidFill>
                <a:latin typeface="Arial"/>
                <a:ea typeface="Arial"/>
                <a:cs typeface="Arial"/>
                <a:sym typeface="Arial"/>
              </a:rPr>
              <a:t>M4</a:t>
            </a:r>
            <a:endParaRPr sz="800">
              <a:solidFill>
                <a:schemeClr val="dk1"/>
              </a:solidFill>
              <a:latin typeface="Calibri"/>
              <a:ea typeface="Calibri"/>
              <a:cs typeface="Calibri"/>
              <a:sym typeface="Calibri"/>
            </a:endParaRPr>
          </a:p>
        </p:txBody>
      </p:sp>
      <p:sp>
        <p:nvSpPr>
          <p:cNvPr id="1249" name="Google Shape;1249;p54"/>
          <p:cNvSpPr/>
          <p:nvPr/>
        </p:nvSpPr>
        <p:spPr>
          <a:xfrm>
            <a:off x="7229107" y="1411396"/>
            <a:ext cx="551700" cy="48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900"/>
              <a:buFont typeface="Arial"/>
              <a:buNone/>
            </a:pPr>
            <a:r>
              <a:rPr b="1" lang="en-GB" sz="900">
                <a:solidFill>
                  <a:srgbClr val="FFFFFF"/>
                </a:solidFill>
                <a:latin typeface="Arial"/>
                <a:ea typeface="Arial"/>
                <a:cs typeface="Arial"/>
                <a:sym typeface="Arial"/>
              </a:rPr>
              <a:t>Selera Catering</a:t>
            </a:r>
            <a:endParaRPr sz="900">
              <a:solidFill>
                <a:schemeClr val="dk1"/>
              </a:solidFill>
              <a:latin typeface="Calibri"/>
              <a:ea typeface="Calibri"/>
              <a:cs typeface="Calibri"/>
              <a:sym typeface="Calibri"/>
            </a:endParaRPr>
          </a:p>
        </p:txBody>
      </p:sp>
      <p:sp>
        <p:nvSpPr>
          <p:cNvPr id="1250" name="Google Shape;1250;p54"/>
          <p:cNvSpPr/>
          <p:nvPr/>
        </p:nvSpPr>
        <p:spPr>
          <a:xfrm>
            <a:off x="8027832" y="1123360"/>
            <a:ext cx="716400" cy="1062900"/>
          </a:xfrm>
          <a:prstGeom prst="roundRect">
            <a:avLst>
              <a:gd fmla="val 9573" name="adj"/>
            </a:avLst>
          </a:prstGeom>
          <a:solidFill>
            <a:srgbClr val="27394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51" name="Google Shape;1251;p54"/>
          <p:cNvSpPr/>
          <p:nvPr/>
        </p:nvSpPr>
        <p:spPr>
          <a:xfrm>
            <a:off x="8110133" y="1191940"/>
            <a:ext cx="5793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2A6BE"/>
              </a:buClr>
              <a:buSzPts val="800"/>
              <a:buFont typeface="Arial"/>
              <a:buNone/>
            </a:pPr>
            <a:r>
              <a:rPr b="1" lang="en-GB" sz="800">
                <a:solidFill>
                  <a:srgbClr val="92A6BE"/>
                </a:solidFill>
                <a:latin typeface="Arial"/>
                <a:ea typeface="Arial"/>
                <a:cs typeface="Arial"/>
                <a:sym typeface="Arial"/>
              </a:rPr>
              <a:t>M5</a:t>
            </a:r>
            <a:endParaRPr sz="800">
              <a:solidFill>
                <a:schemeClr val="dk1"/>
              </a:solidFill>
              <a:latin typeface="Calibri"/>
              <a:ea typeface="Calibri"/>
              <a:cs typeface="Calibri"/>
              <a:sym typeface="Calibri"/>
            </a:endParaRPr>
          </a:p>
        </p:txBody>
      </p:sp>
      <p:sp>
        <p:nvSpPr>
          <p:cNvPr id="1252" name="Google Shape;1252;p54"/>
          <p:cNvSpPr/>
          <p:nvPr/>
        </p:nvSpPr>
        <p:spPr>
          <a:xfrm>
            <a:off x="8110133" y="1411396"/>
            <a:ext cx="551700" cy="48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900"/>
              <a:buFont typeface="Arial"/>
              <a:buNone/>
            </a:pPr>
            <a:r>
              <a:rPr b="1" lang="en-GB" sz="900">
                <a:solidFill>
                  <a:srgbClr val="FFFFFF"/>
                </a:solidFill>
                <a:latin typeface="Arial"/>
                <a:ea typeface="Arial"/>
                <a:cs typeface="Arial"/>
                <a:sym typeface="Arial"/>
              </a:rPr>
              <a:t>Kafe Santai</a:t>
            </a:r>
            <a:endParaRPr sz="900">
              <a:solidFill>
                <a:schemeClr val="dk1"/>
              </a:solidFill>
              <a:latin typeface="Calibri"/>
              <a:ea typeface="Calibri"/>
              <a:cs typeface="Calibri"/>
              <a:sym typeface="Calibri"/>
            </a:endParaRPr>
          </a:p>
        </p:txBody>
      </p:sp>
      <p:sp>
        <p:nvSpPr>
          <p:cNvPr id="1253" name="Google Shape;1253;p54"/>
          <p:cNvSpPr/>
          <p:nvPr/>
        </p:nvSpPr>
        <p:spPr>
          <a:xfrm>
            <a:off x="4503729" y="2350942"/>
            <a:ext cx="716400" cy="1062900"/>
          </a:xfrm>
          <a:prstGeom prst="roundRect">
            <a:avLst>
              <a:gd fmla="val 9573" name="adj"/>
            </a:avLst>
          </a:prstGeom>
          <a:solidFill>
            <a:srgbClr val="27394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54" name="Google Shape;1254;p54"/>
          <p:cNvSpPr/>
          <p:nvPr/>
        </p:nvSpPr>
        <p:spPr>
          <a:xfrm>
            <a:off x="4586030" y="2419522"/>
            <a:ext cx="5793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2A6BE"/>
              </a:buClr>
              <a:buSzPts val="800"/>
              <a:buFont typeface="Arial"/>
              <a:buNone/>
            </a:pPr>
            <a:r>
              <a:rPr b="1" lang="en-GB" sz="800">
                <a:solidFill>
                  <a:srgbClr val="92A6BE"/>
                </a:solidFill>
                <a:latin typeface="Arial"/>
                <a:ea typeface="Arial"/>
                <a:cs typeface="Arial"/>
                <a:sym typeface="Arial"/>
              </a:rPr>
              <a:t>M6</a:t>
            </a:r>
            <a:endParaRPr sz="800">
              <a:solidFill>
                <a:schemeClr val="dk1"/>
              </a:solidFill>
              <a:latin typeface="Calibri"/>
              <a:ea typeface="Calibri"/>
              <a:cs typeface="Calibri"/>
              <a:sym typeface="Calibri"/>
            </a:endParaRPr>
          </a:p>
        </p:txBody>
      </p:sp>
      <p:sp>
        <p:nvSpPr>
          <p:cNvPr id="1255" name="Google Shape;1255;p54"/>
          <p:cNvSpPr/>
          <p:nvPr/>
        </p:nvSpPr>
        <p:spPr>
          <a:xfrm>
            <a:off x="4586030" y="2638978"/>
            <a:ext cx="551700" cy="48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900"/>
              <a:buFont typeface="Arial"/>
              <a:buNone/>
            </a:pPr>
            <a:r>
              <a:rPr b="1" lang="en-GB" sz="900">
                <a:solidFill>
                  <a:srgbClr val="FFFFFF"/>
                </a:solidFill>
                <a:latin typeface="Arial"/>
                <a:ea typeface="Arial"/>
                <a:cs typeface="Arial"/>
                <a:sym typeface="Arial"/>
              </a:rPr>
              <a:t>Hotel Permai</a:t>
            </a:r>
            <a:endParaRPr sz="900">
              <a:solidFill>
                <a:schemeClr val="dk1"/>
              </a:solidFill>
              <a:latin typeface="Calibri"/>
              <a:ea typeface="Calibri"/>
              <a:cs typeface="Calibri"/>
              <a:sym typeface="Calibri"/>
            </a:endParaRPr>
          </a:p>
        </p:txBody>
      </p:sp>
      <p:sp>
        <p:nvSpPr>
          <p:cNvPr id="1256" name="Google Shape;1256;p54"/>
          <p:cNvSpPr/>
          <p:nvPr/>
        </p:nvSpPr>
        <p:spPr>
          <a:xfrm>
            <a:off x="5384755" y="2350942"/>
            <a:ext cx="716400" cy="1062900"/>
          </a:xfrm>
          <a:prstGeom prst="roundRect">
            <a:avLst>
              <a:gd fmla="val 9573" name="adj"/>
            </a:avLst>
          </a:prstGeom>
          <a:solidFill>
            <a:srgbClr val="27394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57" name="Google Shape;1257;p54"/>
          <p:cNvSpPr/>
          <p:nvPr/>
        </p:nvSpPr>
        <p:spPr>
          <a:xfrm>
            <a:off x="5467055" y="2419522"/>
            <a:ext cx="5793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2A6BE"/>
              </a:buClr>
              <a:buSzPts val="800"/>
              <a:buFont typeface="Arial"/>
              <a:buNone/>
            </a:pPr>
            <a:r>
              <a:rPr b="1" lang="en-GB" sz="800">
                <a:solidFill>
                  <a:srgbClr val="92A6BE"/>
                </a:solidFill>
                <a:latin typeface="Arial"/>
                <a:ea typeface="Arial"/>
                <a:cs typeface="Arial"/>
                <a:sym typeface="Arial"/>
              </a:rPr>
              <a:t>M7</a:t>
            </a:r>
            <a:endParaRPr sz="800">
              <a:solidFill>
                <a:schemeClr val="dk1"/>
              </a:solidFill>
              <a:latin typeface="Calibri"/>
              <a:ea typeface="Calibri"/>
              <a:cs typeface="Calibri"/>
              <a:sym typeface="Calibri"/>
            </a:endParaRPr>
          </a:p>
        </p:txBody>
      </p:sp>
      <p:sp>
        <p:nvSpPr>
          <p:cNvPr id="1258" name="Google Shape;1258;p54"/>
          <p:cNvSpPr/>
          <p:nvPr/>
        </p:nvSpPr>
        <p:spPr>
          <a:xfrm>
            <a:off x="5467055" y="2638978"/>
            <a:ext cx="551700" cy="48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900"/>
              <a:buFont typeface="Arial"/>
              <a:buNone/>
            </a:pPr>
            <a:r>
              <a:rPr b="1" lang="en-GB" sz="900">
                <a:solidFill>
                  <a:srgbClr val="FFFFFF"/>
                </a:solidFill>
                <a:latin typeface="Arial"/>
                <a:ea typeface="Arial"/>
                <a:cs typeface="Arial"/>
                <a:sym typeface="Arial"/>
              </a:rPr>
              <a:t>The Brew Lab</a:t>
            </a:r>
            <a:endParaRPr sz="900">
              <a:solidFill>
                <a:schemeClr val="dk1"/>
              </a:solidFill>
              <a:latin typeface="Calibri"/>
              <a:ea typeface="Calibri"/>
              <a:cs typeface="Calibri"/>
              <a:sym typeface="Calibri"/>
            </a:endParaRPr>
          </a:p>
        </p:txBody>
      </p:sp>
      <p:sp>
        <p:nvSpPr>
          <p:cNvPr id="1259" name="Google Shape;1259;p54"/>
          <p:cNvSpPr/>
          <p:nvPr/>
        </p:nvSpPr>
        <p:spPr>
          <a:xfrm>
            <a:off x="6265780" y="2350942"/>
            <a:ext cx="716400" cy="1062900"/>
          </a:xfrm>
          <a:prstGeom prst="roundRect">
            <a:avLst>
              <a:gd fmla="val 9573" name="adj"/>
            </a:avLst>
          </a:prstGeom>
          <a:solidFill>
            <a:srgbClr val="27394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60" name="Google Shape;1260;p54"/>
          <p:cNvSpPr/>
          <p:nvPr/>
        </p:nvSpPr>
        <p:spPr>
          <a:xfrm>
            <a:off x="6348081" y="2419522"/>
            <a:ext cx="5793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2A6BE"/>
              </a:buClr>
              <a:buSzPts val="800"/>
              <a:buFont typeface="Arial"/>
              <a:buNone/>
            </a:pPr>
            <a:r>
              <a:rPr b="1" lang="en-GB" sz="800">
                <a:solidFill>
                  <a:srgbClr val="92A6BE"/>
                </a:solidFill>
                <a:latin typeface="Arial"/>
                <a:ea typeface="Arial"/>
                <a:cs typeface="Arial"/>
                <a:sym typeface="Arial"/>
              </a:rPr>
              <a:t>M8</a:t>
            </a:r>
            <a:endParaRPr sz="800">
              <a:solidFill>
                <a:schemeClr val="dk1"/>
              </a:solidFill>
              <a:latin typeface="Calibri"/>
              <a:ea typeface="Calibri"/>
              <a:cs typeface="Calibri"/>
              <a:sym typeface="Calibri"/>
            </a:endParaRPr>
          </a:p>
        </p:txBody>
      </p:sp>
      <p:sp>
        <p:nvSpPr>
          <p:cNvPr id="1261" name="Google Shape;1261;p54"/>
          <p:cNvSpPr/>
          <p:nvPr/>
        </p:nvSpPr>
        <p:spPr>
          <a:xfrm>
            <a:off x="6348081" y="2638978"/>
            <a:ext cx="551700" cy="48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900"/>
              <a:buFont typeface="Arial"/>
              <a:buNone/>
            </a:pPr>
            <a:r>
              <a:rPr b="1" lang="en-GB" sz="900">
                <a:solidFill>
                  <a:srgbClr val="FFFFFF"/>
                </a:solidFill>
                <a:latin typeface="Arial"/>
                <a:ea typeface="Arial"/>
                <a:cs typeface="Arial"/>
                <a:sym typeface="Arial"/>
              </a:rPr>
              <a:t>Grand Ballroom</a:t>
            </a:r>
            <a:endParaRPr sz="900">
              <a:solidFill>
                <a:schemeClr val="dk1"/>
              </a:solidFill>
              <a:latin typeface="Calibri"/>
              <a:ea typeface="Calibri"/>
              <a:cs typeface="Calibri"/>
              <a:sym typeface="Calibri"/>
            </a:endParaRPr>
          </a:p>
        </p:txBody>
      </p:sp>
      <p:sp>
        <p:nvSpPr>
          <p:cNvPr id="1262" name="Google Shape;1262;p54"/>
          <p:cNvSpPr/>
          <p:nvPr/>
        </p:nvSpPr>
        <p:spPr>
          <a:xfrm>
            <a:off x="7146807" y="2350942"/>
            <a:ext cx="716400" cy="1062900"/>
          </a:xfrm>
          <a:prstGeom prst="roundRect">
            <a:avLst>
              <a:gd fmla="val 9573" name="adj"/>
            </a:avLst>
          </a:prstGeom>
          <a:solidFill>
            <a:srgbClr val="27394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63" name="Google Shape;1263;p54"/>
          <p:cNvSpPr/>
          <p:nvPr/>
        </p:nvSpPr>
        <p:spPr>
          <a:xfrm>
            <a:off x="7229107" y="2419522"/>
            <a:ext cx="5793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2A6BE"/>
              </a:buClr>
              <a:buSzPts val="800"/>
              <a:buFont typeface="Arial"/>
              <a:buNone/>
            </a:pPr>
            <a:r>
              <a:rPr b="1" lang="en-GB" sz="800">
                <a:solidFill>
                  <a:srgbClr val="92A6BE"/>
                </a:solidFill>
                <a:latin typeface="Arial"/>
                <a:ea typeface="Arial"/>
                <a:cs typeface="Arial"/>
                <a:sym typeface="Arial"/>
              </a:rPr>
              <a:t>M9</a:t>
            </a:r>
            <a:endParaRPr sz="800">
              <a:solidFill>
                <a:schemeClr val="dk1"/>
              </a:solidFill>
              <a:latin typeface="Calibri"/>
              <a:ea typeface="Calibri"/>
              <a:cs typeface="Calibri"/>
              <a:sym typeface="Calibri"/>
            </a:endParaRPr>
          </a:p>
        </p:txBody>
      </p:sp>
      <p:sp>
        <p:nvSpPr>
          <p:cNvPr id="1264" name="Google Shape;1264;p54"/>
          <p:cNvSpPr/>
          <p:nvPr/>
        </p:nvSpPr>
        <p:spPr>
          <a:xfrm>
            <a:off x="7229107" y="2638978"/>
            <a:ext cx="551700" cy="48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900"/>
              <a:buFont typeface="Arial"/>
              <a:buNone/>
            </a:pPr>
            <a:r>
              <a:rPr b="1" lang="en-GB" sz="900">
                <a:solidFill>
                  <a:srgbClr val="FFFFFF"/>
                </a:solidFill>
                <a:latin typeface="Arial"/>
                <a:ea typeface="Arial"/>
                <a:cs typeface="Arial"/>
                <a:sym typeface="Arial"/>
              </a:rPr>
              <a:t>Encik Rahman</a:t>
            </a:r>
            <a:endParaRPr sz="900">
              <a:solidFill>
                <a:schemeClr val="dk1"/>
              </a:solidFill>
              <a:latin typeface="Calibri"/>
              <a:ea typeface="Calibri"/>
              <a:cs typeface="Calibri"/>
              <a:sym typeface="Calibri"/>
            </a:endParaRPr>
          </a:p>
        </p:txBody>
      </p:sp>
      <p:sp>
        <p:nvSpPr>
          <p:cNvPr id="1265" name="Google Shape;1265;p54"/>
          <p:cNvSpPr/>
          <p:nvPr/>
        </p:nvSpPr>
        <p:spPr>
          <a:xfrm>
            <a:off x="8027832" y="2350942"/>
            <a:ext cx="716400" cy="1062900"/>
          </a:xfrm>
          <a:prstGeom prst="roundRect">
            <a:avLst>
              <a:gd fmla="val 9573" name="adj"/>
            </a:avLst>
          </a:prstGeom>
          <a:solidFill>
            <a:srgbClr val="32495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66" name="Google Shape;1266;p54"/>
          <p:cNvSpPr/>
          <p:nvPr/>
        </p:nvSpPr>
        <p:spPr>
          <a:xfrm>
            <a:off x="8110133" y="2419522"/>
            <a:ext cx="5793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2A6BE"/>
              </a:buClr>
              <a:buSzPts val="800"/>
              <a:buFont typeface="Arial"/>
              <a:buNone/>
            </a:pPr>
            <a:r>
              <a:rPr b="1" lang="en-GB" sz="800">
                <a:solidFill>
                  <a:srgbClr val="92A6BE"/>
                </a:solidFill>
                <a:latin typeface="Arial"/>
                <a:ea typeface="Arial"/>
                <a:cs typeface="Arial"/>
                <a:sym typeface="Arial"/>
              </a:rPr>
              <a:t>M10</a:t>
            </a:r>
            <a:endParaRPr sz="800">
              <a:solidFill>
                <a:schemeClr val="dk1"/>
              </a:solidFill>
              <a:latin typeface="Calibri"/>
              <a:ea typeface="Calibri"/>
              <a:cs typeface="Calibri"/>
              <a:sym typeface="Calibri"/>
            </a:endParaRPr>
          </a:p>
        </p:txBody>
      </p:sp>
      <p:sp>
        <p:nvSpPr>
          <p:cNvPr id="1267" name="Google Shape;1267;p54"/>
          <p:cNvSpPr/>
          <p:nvPr/>
        </p:nvSpPr>
        <p:spPr>
          <a:xfrm>
            <a:off x="8110133" y="2638978"/>
            <a:ext cx="551700" cy="48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900"/>
              <a:buFont typeface="Arial"/>
              <a:buNone/>
            </a:pPr>
            <a:r>
              <a:rPr b="1" lang="en-GB" sz="900">
                <a:solidFill>
                  <a:srgbClr val="FFFFFF"/>
                </a:solidFill>
                <a:latin typeface="Arial"/>
                <a:ea typeface="Arial"/>
                <a:cs typeface="Arial"/>
                <a:sym typeface="Arial"/>
              </a:rPr>
              <a:t>Bintang Mart</a:t>
            </a:r>
            <a:endParaRPr sz="900">
              <a:solidFill>
                <a:schemeClr val="dk1"/>
              </a:solidFill>
              <a:latin typeface="Calibri"/>
              <a:ea typeface="Calibri"/>
              <a:cs typeface="Calibri"/>
              <a:sym typeface="Calibri"/>
            </a:endParaRPr>
          </a:p>
        </p:txBody>
      </p:sp>
      <p:pic>
        <p:nvPicPr>
          <p:cNvPr descr="/home/claude/maia/icons/FiAward_accent.png" id="1268" name="Google Shape;1268;p54"/>
          <p:cNvPicPr preferRelativeResize="0"/>
          <p:nvPr/>
        </p:nvPicPr>
        <p:blipFill rotWithShape="1">
          <a:blip r:embed="rId4">
            <a:alphaModFix/>
          </a:blip>
          <a:srcRect b="0" l="0" r="0" t="0"/>
          <a:stretch/>
        </p:blipFill>
        <p:spPr>
          <a:xfrm>
            <a:off x="8497356" y="3180760"/>
            <a:ext cx="164592" cy="164592"/>
          </a:xfrm>
          <a:prstGeom prst="rect">
            <a:avLst/>
          </a:prstGeom>
          <a:noFill/>
          <a:ln>
            <a:noFill/>
          </a:ln>
        </p:spPr>
      </p:pic>
      <p:sp>
        <p:nvSpPr>
          <p:cNvPr id="1269" name="Google Shape;1269;p54"/>
          <p:cNvSpPr/>
          <p:nvPr/>
        </p:nvSpPr>
        <p:spPr>
          <a:xfrm>
            <a:off x="8110133" y="3180760"/>
            <a:ext cx="551700" cy="1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21E"/>
              </a:buClr>
              <a:buSzPts val="600"/>
              <a:buFont typeface="Arial"/>
              <a:buNone/>
            </a:pPr>
            <a:r>
              <a:rPr b="1" lang="en-GB" sz="600">
                <a:solidFill>
                  <a:srgbClr val="E8821E"/>
                </a:solidFill>
                <a:latin typeface="Arial"/>
                <a:ea typeface="Arial"/>
                <a:cs typeface="Arial"/>
                <a:sym typeface="Arial"/>
              </a:rPr>
              <a:t>BOSS</a:t>
            </a:r>
            <a:endParaRPr sz="600">
              <a:solidFill>
                <a:schemeClr val="dk1"/>
              </a:solidFill>
              <a:latin typeface="Calibri"/>
              <a:ea typeface="Calibri"/>
              <a:cs typeface="Calibri"/>
              <a:sym typeface="Calibri"/>
            </a:endParaRPr>
          </a:p>
        </p:txBody>
      </p:sp>
      <p:sp>
        <p:nvSpPr>
          <p:cNvPr id="1270" name="Google Shape;1270;p54"/>
          <p:cNvSpPr/>
          <p:nvPr/>
        </p:nvSpPr>
        <p:spPr>
          <a:xfrm>
            <a:off x="4503725" y="3523650"/>
            <a:ext cx="4238400" cy="496500"/>
          </a:xfrm>
          <a:prstGeom prst="roundRect">
            <a:avLst>
              <a:gd fmla="val 9573" name="adj"/>
            </a:avLst>
          </a:prstGeom>
          <a:noFill/>
          <a:ln cap="flat" cmpd="sng" w="12700">
            <a:solidFill>
              <a:srgbClr val="E8821E"/>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71" name="Google Shape;1271;p54"/>
          <p:cNvSpPr/>
          <p:nvPr/>
        </p:nvSpPr>
        <p:spPr>
          <a:xfrm>
            <a:off x="4640897" y="3626530"/>
            <a:ext cx="754500" cy="178200"/>
          </a:xfrm>
          <a:prstGeom prst="roundRect">
            <a:avLst>
              <a:gd fmla="val 50000" name="adj"/>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72" name="Google Shape;1272;p54"/>
          <p:cNvSpPr/>
          <p:nvPr/>
        </p:nvSpPr>
        <p:spPr>
          <a:xfrm>
            <a:off x="4640897" y="3626530"/>
            <a:ext cx="754500" cy="178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600"/>
              <a:buFont typeface="Arial"/>
              <a:buNone/>
            </a:pPr>
            <a:r>
              <a:rPr b="1" lang="en-GB" sz="600">
                <a:solidFill>
                  <a:srgbClr val="FFFFFF"/>
                </a:solidFill>
                <a:latin typeface="Arial"/>
                <a:ea typeface="Arial"/>
                <a:cs typeface="Arial"/>
                <a:sym typeface="Arial"/>
              </a:rPr>
              <a:t>🔒 SPECIAL</a:t>
            </a:r>
            <a:endParaRPr sz="600">
              <a:solidFill>
                <a:schemeClr val="dk1"/>
              </a:solidFill>
              <a:latin typeface="Calibri"/>
              <a:ea typeface="Calibri"/>
              <a:cs typeface="Calibri"/>
              <a:sym typeface="Calibri"/>
            </a:endParaRPr>
          </a:p>
        </p:txBody>
      </p:sp>
      <p:sp>
        <p:nvSpPr>
          <p:cNvPr id="1273" name="Google Shape;1273;p54"/>
          <p:cNvSpPr/>
          <p:nvPr/>
        </p:nvSpPr>
        <p:spPr>
          <a:xfrm>
            <a:off x="5532484" y="3612814"/>
            <a:ext cx="3086400" cy="24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100"/>
              <a:buFont typeface="Arial"/>
              <a:buNone/>
            </a:pPr>
            <a:r>
              <a:rPr b="1" lang="en-GB" sz="1100">
                <a:solidFill>
                  <a:srgbClr val="FFFFFF"/>
                </a:solidFill>
              </a:rPr>
              <a:t>Special Mission</a:t>
            </a:r>
            <a:endParaRPr sz="900">
              <a:solidFill>
                <a:schemeClr val="dk1"/>
              </a:solidFill>
              <a:latin typeface="Calibri"/>
              <a:ea typeface="Calibri"/>
              <a:cs typeface="Calibri"/>
              <a:sym typeface="Calibri"/>
            </a:endParaRPr>
          </a:p>
        </p:txBody>
      </p:sp>
      <p:sp>
        <p:nvSpPr>
          <p:cNvPr id="1274" name="Google Shape;1274;p54"/>
          <p:cNvSpPr/>
          <p:nvPr/>
        </p:nvSpPr>
        <p:spPr>
          <a:xfrm>
            <a:off x="5532475" y="3814348"/>
            <a:ext cx="3086400" cy="164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94A3B8"/>
              </a:buClr>
              <a:buSzPts val="800"/>
              <a:buFont typeface="Arial"/>
              <a:buNone/>
            </a:pPr>
            <a:r>
              <a:rPr b="0" lang="en-GB" sz="800">
                <a:solidFill>
                  <a:srgbClr val="94A3B8"/>
                </a:solidFill>
                <a:latin typeface="Arial"/>
                <a:ea typeface="Arial"/>
                <a:cs typeface="Arial"/>
                <a:sym typeface="Arial"/>
              </a:rPr>
              <a:t>Unlocks when your team clears the board </a:t>
            </a:r>
            <a:endParaRPr sz="900">
              <a:solidFill>
                <a:schemeClr val="dk1"/>
              </a:solidFill>
              <a:latin typeface="Calibri"/>
              <a:ea typeface="Calibri"/>
              <a:cs typeface="Calibri"/>
              <a:sym typeface="Calibri"/>
            </a:endParaRPr>
          </a:p>
        </p:txBody>
      </p:sp>
      <p:sp>
        <p:nvSpPr>
          <p:cNvPr id="1275" name="Google Shape;1275;p54"/>
          <p:cNvSpPr txBox="1"/>
          <p:nvPr>
            <p:ph idx="12" type="sldNum"/>
          </p:nvPr>
        </p:nvSpPr>
        <p:spPr>
          <a:xfrm>
            <a:off x="8347216" y="4750189"/>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80" name="Shape 1280"/>
        <p:cNvGrpSpPr/>
        <p:nvPr/>
      </p:nvGrpSpPr>
      <p:grpSpPr>
        <a:xfrm>
          <a:off x="0" y="0"/>
          <a:ext cx="0" cy="0"/>
          <a:chOff x="0" y="0"/>
          <a:chExt cx="0" cy="0"/>
        </a:xfrm>
      </p:grpSpPr>
      <p:sp>
        <p:nvSpPr>
          <p:cNvPr id="1281" name="Google Shape;1281;p55"/>
          <p:cNvSpPr/>
          <p:nvPr/>
        </p:nvSpPr>
        <p:spPr>
          <a:xfrm>
            <a:off x="411502" y="260604"/>
            <a:ext cx="6858366"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GAME</a:t>
            </a:r>
            <a:endParaRPr sz="800">
              <a:solidFill>
                <a:schemeClr val="dk1"/>
              </a:solidFill>
              <a:latin typeface="Calibri"/>
              <a:ea typeface="Calibri"/>
              <a:cs typeface="Calibri"/>
              <a:sym typeface="Calibri"/>
            </a:endParaRPr>
          </a:p>
        </p:txBody>
      </p:sp>
      <p:sp>
        <p:nvSpPr>
          <p:cNvPr id="1282" name="Google Shape;1282;p55"/>
          <p:cNvSpPr/>
          <p:nvPr/>
        </p:nvSpPr>
        <p:spPr>
          <a:xfrm>
            <a:off x="411502" y="438912"/>
            <a:ext cx="8321255" cy="4800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C2B3E"/>
              </a:buClr>
              <a:buSzPts val="2200"/>
              <a:buFont typeface="Arial"/>
              <a:buNone/>
            </a:pPr>
            <a:r>
              <a:rPr b="1" lang="en-GB" sz="2200">
                <a:solidFill>
                  <a:srgbClr val="1C2B3E"/>
                </a:solidFill>
                <a:latin typeface="Poppins"/>
                <a:ea typeface="Poppins"/>
                <a:cs typeface="Poppins"/>
                <a:sym typeface="Poppins"/>
              </a:rPr>
              <a:t>How to score points?</a:t>
            </a:r>
            <a:endParaRPr sz="2200">
              <a:solidFill>
                <a:schemeClr val="dk1"/>
              </a:solidFill>
              <a:latin typeface="Poppins"/>
              <a:ea typeface="Poppins"/>
              <a:cs typeface="Poppins"/>
              <a:sym typeface="Poppins"/>
            </a:endParaRPr>
          </a:p>
        </p:txBody>
      </p:sp>
      <p:sp>
        <p:nvSpPr>
          <p:cNvPr id="1283" name="Google Shape;1283;p55"/>
          <p:cNvSpPr/>
          <p:nvPr/>
        </p:nvSpPr>
        <p:spPr>
          <a:xfrm>
            <a:off x="411502" y="1108710"/>
            <a:ext cx="1565100" cy="1268700"/>
          </a:xfrm>
          <a:prstGeom prst="roundRect">
            <a:avLst>
              <a:gd fmla="val 6486" name="adj"/>
            </a:avLst>
          </a:prstGeom>
          <a:solidFill>
            <a:srgbClr val="F5F7FA"/>
          </a:solidFill>
          <a:ln>
            <a:noFill/>
          </a:ln>
          <a:effectLst>
            <a:outerShdw blurRad="101600" rotWithShape="0" algn="bl" dir="5400000" dist="38100">
              <a:srgbClr val="1C2B3E">
                <a:alpha val="10196"/>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84" name="Google Shape;1284;p55"/>
          <p:cNvSpPr/>
          <p:nvPr/>
        </p:nvSpPr>
        <p:spPr>
          <a:xfrm>
            <a:off x="548669" y="1245870"/>
            <a:ext cx="315600" cy="315600"/>
          </a:xfrm>
          <a:prstGeom prst="ellipse">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85" name="Google Shape;1285;p55"/>
          <p:cNvSpPr/>
          <p:nvPr/>
        </p:nvSpPr>
        <p:spPr>
          <a:xfrm>
            <a:off x="548669" y="1245870"/>
            <a:ext cx="315600" cy="31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lang="en-GB" sz="1100">
                <a:solidFill>
                  <a:srgbClr val="FFFFFF"/>
                </a:solidFill>
                <a:latin typeface="Arial"/>
                <a:ea typeface="Arial"/>
                <a:cs typeface="Arial"/>
                <a:sym typeface="Arial"/>
              </a:rPr>
              <a:t>01</a:t>
            </a:r>
            <a:endParaRPr sz="1100">
              <a:solidFill>
                <a:schemeClr val="dk1"/>
              </a:solidFill>
              <a:latin typeface="Calibri"/>
              <a:ea typeface="Calibri"/>
              <a:cs typeface="Calibri"/>
              <a:sym typeface="Calibri"/>
            </a:endParaRPr>
          </a:p>
        </p:txBody>
      </p:sp>
      <p:sp>
        <p:nvSpPr>
          <p:cNvPr id="1286" name="Google Shape;1286;p55"/>
          <p:cNvSpPr/>
          <p:nvPr/>
        </p:nvSpPr>
        <p:spPr>
          <a:xfrm>
            <a:off x="1523928" y="1245870"/>
            <a:ext cx="315600" cy="315600"/>
          </a:xfrm>
          <a:prstGeom prst="roundRect">
            <a:avLst>
              <a:gd fmla="val 22000" name="adj"/>
            </a:avLst>
          </a:prstGeom>
          <a:solidFill>
            <a:srgbClr val="94A3B8"/>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Clipboard_navy.png" id="1287" name="Google Shape;1287;p55"/>
          <p:cNvPicPr preferRelativeResize="0"/>
          <p:nvPr/>
        </p:nvPicPr>
        <p:blipFill rotWithShape="1">
          <a:blip r:embed="rId3">
            <a:alphaModFix/>
          </a:blip>
          <a:srcRect b="0" l="0" r="0" t="0"/>
          <a:stretch/>
        </p:blipFill>
        <p:spPr>
          <a:xfrm>
            <a:off x="1599370" y="1328166"/>
            <a:ext cx="157734" cy="157734"/>
          </a:xfrm>
          <a:prstGeom prst="rect">
            <a:avLst/>
          </a:prstGeom>
          <a:noFill/>
          <a:ln>
            <a:noFill/>
          </a:ln>
        </p:spPr>
      </p:pic>
      <p:sp>
        <p:nvSpPr>
          <p:cNvPr id="1288" name="Google Shape;1288;p55"/>
          <p:cNvSpPr/>
          <p:nvPr/>
        </p:nvSpPr>
        <p:spPr>
          <a:xfrm>
            <a:off x="548669" y="1760220"/>
            <a:ext cx="1290600" cy="548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B3E"/>
              </a:buClr>
              <a:buSzPts val="1100"/>
              <a:buFont typeface="Arial"/>
              <a:buNone/>
            </a:pPr>
            <a:r>
              <a:rPr b="1" lang="en-GB" sz="1100">
                <a:solidFill>
                  <a:srgbClr val="1C2B3E"/>
                </a:solidFill>
              </a:rPr>
              <a:t>Read the mission card carefully.</a:t>
            </a:r>
            <a:endParaRPr sz="1100">
              <a:solidFill>
                <a:schemeClr val="dk1"/>
              </a:solidFill>
              <a:latin typeface="Calibri"/>
              <a:ea typeface="Calibri"/>
              <a:cs typeface="Calibri"/>
              <a:sym typeface="Calibri"/>
            </a:endParaRPr>
          </a:p>
        </p:txBody>
      </p:sp>
      <p:sp>
        <p:nvSpPr>
          <p:cNvPr id="1289" name="Google Shape;1289;p55"/>
          <p:cNvSpPr/>
          <p:nvPr/>
        </p:nvSpPr>
        <p:spPr>
          <a:xfrm>
            <a:off x="2100031" y="1108710"/>
            <a:ext cx="1565100" cy="1268700"/>
          </a:xfrm>
          <a:prstGeom prst="roundRect">
            <a:avLst>
              <a:gd fmla="val 6486" name="adj"/>
            </a:avLst>
          </a:prstGeom>
          <a:solidFill>
            <a:srgbClr val="F5F7FA"/>
          </a:solidFill>
          <a:ln>
            <a:noFill/>
          </a:ln>
          <a:effectLst>
            <a:outerShdw blurRad="101600" rotWithShape="0" algn="bl" dir="5400000" dist="38100">
              <a:srgbClr val="1C2B3E">
                <a:alpha val="10196"/>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90" name="Google Shape;1290;p55"/>
          <p:cNvSpPr/>
          <p:nvPr/>
        </p:nvSpPr>
        <p:spPr>
          <a:xfrm>
            <a:off x="2237198" y="1245870"/>
            <a:ext cx="315600" cy="315600"/>
          </a:xfrm>
          <a:prstGeom prst="ellipse">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91" name="Google Shape;1291;p55"/>
          <p:cNvSpPr/>
          <p:nvPr/>
        </p:nvSpPr>
        <p:spPr>
          <a:xfrm>
            <a:off x="2237198" y="1245870"/>
            <a:ext cx="315600" cy="31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lang="en-GB" sz="1100">
                <a:solidFill>
                  <a:srgbClr val="FFFFFF"/>
                </a:solidFill>
                <a:latin typeface="Arial"/>
                <a:ea typeface="Arial"/>
                <a:cs typeface="Arial"/>
                <a:sym typeface="Arial"/>
              </a:rPr>
              <a:t>02</a:t>
            </a:r>
            <a:endParaRPr sz="1100">
              <a:solidFill>
                <a:schemeClr val="dk1"/>
              </a:solidFill>
              <a:latin typeface="Calibri"/>
              <a:ea typeface="Calibri"/>
              <a:cs typeface="Calibri"/>
              <a:sym typeface="Calibri"/>
            </a:endParaRPr>
          </a:p>
        </p:txBody>
      </p:sp>
      <p:sp>
        <p:nvSpPr>
          <p:cNvPr id="1292" name="Google Shape;1292;p55"/>
          <p:cNvSpPr/>
          <p:nvPr/>
        </p:nvSpPr>
        <p:spPr>
          <a:xfrm>
            <a:off x="3212458" y="1245870"/>
            <a:ext cx="315600" cy="315600"/>
          </a:xfrm>
          <a:prstGeom prst="roundRect">
            <a:avLst>
              <a:gd fmla="val 22000" name="adj"/>
            </a:avLst>
          </a:prstGeom>
          <a:solidFill>
            <a:srgbClr val="94A3B8"/>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FileText_navy.png" id="1293" name="Google Shape;1293;p55"/>
          <p:cNvPicPr preferRelativeResize="0"/>
          <p:nvPr/>
        </p:nvPicPr>
        <p:blipFill rotWithShape="1">
          <a:blip r:embed="rId4">
            <a:alphaModFix/>
          </a:blip>
          <a:srcRect b="0" l="0" r="0" t="0"/>
          <a:stretch/>
        </p:blipFill>
        <p:spPr>
          <a:xfrm>
            <a:off x="3287900" y="1328166"/>
            <a:ext cx="157734" cy="157734"/>
          </a:xfrm>
          <a:prstGeom prst="rect">
            <a:avLst/>
          </a:prstGeom>
          <a:noFill/>
          <a:ln>
            <a:noFill/>
          </a:ln>
        </p:spPr>
      </p:pic>
      <p:sp>
        <p:nvSpPr>
          <p:cNvPr id="1294" name="Google Shape;1294;p55"/>
          <p:cNvSpPr/>
          <p:nvPr/>
        </p:nvSpPr>
        <p:spPr>
          <a:xfrm>
            <a:off x="2237198" y="1760220"/>
            <a:ext cx="1290600" cy="548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B3E"/>
              </a:buClr>
              <a:buSzPts val="1100"/>
              <a:buFont typeface="Arial"/>
              <a:buNone/>
            </a:pPr>
            <a:r>
              <a:rPr b="1" lang="en-GB" sz="1100">
                <a:solidFill>
                  <a:srgbClr val="1C2B3E"/>
                </a:solidFill>
              </a:rPr>
              <a:t>Understand</a:t>
            </a:r>
            <a:r>
              <a:rPr b="1" lang="en-GB" sz="1100">
                <a:solidFill>
                  <a:srgbClr val="1C2B3E"/>
                </a:solidFill>
                <a:latin typeface="Arial"/>
                <a:ea typeface="Arial"/>
                <a:cs typeface="Arial"/>
                <a:sym typeface="Arial"/>
              </a:rPr>
              <a:t> the customer request</a:t>
            </a:r>
            <a:endParaRPr sz="1100">
              <a:solidFill>
                <a:schemeClr val="dk1"/>
              </a:solidFill>
              <a:latin typeface="Calibri"/>
              <a:ea typeface="Calibri"/>
              <a:cs typeface="Calibri"/>
              <a:sym typeface="Calibri"/>
            </a:endParaRPr>
          </a:p>
        </p:txBody>
      </p:sp>
      <p:sp>
        <p:nvSpPr>
          <p:cNvPr id="1295" name="Google Shape;1295;p55"/>
          <p:cNvSpPr/>
          <p:nvPr/>
        </p:nvSpPr>
        <p:spPr>
          <a:xfrm>
            <a:off x="3788561" y="1108710"/>
            <a:ext cx="1565100" cy="1268700"/>
          </a:xfrm>
          <a:prstGeom prst="roundRect">
            <a:avLst>
              <a:gd fmla="val 6486" name="adj"/>
            </a:avLst>
          </a:prstGeom>
          <a:solidFill>
            <a:srgbClr val="F5F7FA"/>
          </a:solidFill>
          <a:ln>
            <a:noFill/>
          </a:ln>
          <a:effectLst>
            <a:outerShdw blurRad="101600" rotWithShape="0" algn="bl" dir="5400000" dist="38100">
              <a:srgbClr val="1C2B3E">
                <a:alpha val="10196"/>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96" name="Google Shape;1296;p55"/>
          <p:cNvSpPr/>
          <p:nvPr/>
        </p:nvSpPr>
        <p:spPr>
          <a:xfrm>
            <a:off x="3925728" y="1245870"/>
            <a:ext cx="315600" cy="315600"/>
          </a:xfrm>
          <a:prstGeom prst="ellipse">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97" name="Google Shape;1297;p55"/>
          <p:cNvSpPr/>
          <p:nvPr/>
        </p:nvSpPr>
        <p:spPr>
          <a:xfrm>
            <a:off x="3925728" y="1245870"/>
            <a:ext cx="315600" cy="31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lang="en-GB" sz="1100">
                <a:solidFill>
                  <a:srgbClr val="FFFFFF"/>
                </a:solidFill>
                <a:latin typeface="Arial"/>
                <a:ea typeface="Arial"/>
                <a:cs typeface="Arial"/>
                <a:sym typeface="Arial"/>
              </a:rPr>
              <a:t>03</a:t>
            </a:r>
            <a:endParaRPr sz="1100">
              <a:solidFill>
                <a:schemeClr val="dk1"/>
              </a:solidFill>
              <a:latin typeface="Calibri"/>
              <a:ea typeface="Calibri"/>
              <a:cs typeface="Calibri"/>
              <a:sym typeface="Calibri"/>
            </a:endParaRPr>
          </a:p>
        </p:txBody>
      </p:sp>
      <p:sp>
        <p:nvSpPr>
          <p:cNvPr id="1298" name="Google Shape;1298;p55"/>
          <p:cNvSpPr/>
          <p:nvPr/>
        </p:nvSpPr>
        <p:spPr>
          <a:xfrm>
            <a:off x="4900988" y="1245870"/>
            <a:ext cx="315600" cy="315600"/>
          </a:xfrm>
          <a:prstGeom prst="roundRect">
            <a:avLst>
              <a:gd fmla="val 22000" name="adj"/>
            </a:avLst>
          </a:prstGeom>
          <a:solidFill>
            <a:srgbClr val="94A3B8"/>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Truck_navy.png" id="1299" name="Google Shape;1299;p55"/>
          <p:cNvPicPr preferRelativeResize="0"/>
          <p:nvPr/>
        </p:nvPicPr>
        <p:blipFill rotWithShape="1">
          <a:blip r:embed="rId5">
            <a:alphaModFix/>
          </a:blip>
          <a:srcRect b="0" l="0" r="0" t="0"/>
          <a:stretch/>
        </p:blipFill>
        <p:spPr>
          <a:xfrm>
            <a:off x="4976430" y="1328166"/>
            <a:ext cx="157734" cy="157734"/>
          </a:xfrm>
          <a:prstGeom prst="rect">
            <a:avLst/>
          </a:prstGeom>
          <a:noFill/>
          <a:ln>
            <a:noFill/>
          </a:ln>
        </p:spPr>
      </p:pic>
      <p:sp>
        <p:nvSpPr>
          <p:cNvPr id="1300" name="Google Shape;1300;p55"/>
          <p:cNvSpPr/>
          <p:nvPr/>
        </p:nvSpPr>
        <p:spPr>
          <a:xfrm>
            <a:off x="3925728" y="1760220"/>
            <a:ext cx="1290600" cy="548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B3E"/>
              </a:buClr>
              <a:buSzPts val="1100"/>
              <a:buFont typeface="Arial"/>
              <a:buNone/>
            </a:pPr>
            <a:r>
              <a:rPr b="1" lang="en-GB" sz="1100">
                <a:solidFill>
                  <a:srgbClr val="1C2B3E"/>
                </a:solidFill>
                <a:latin typeface="Arial"/>
                <a:ea typeface="Arial"/>
                <a:cs typeface="Arial"/>
                <a:sym typeface="Arial"/>
              </a:rPr>
              <a:t>Build the SO / QT correctly</a:t>
            </a:r>
            <a:endParaRPr sz="1100">
              <a:solidFill>
                <a:schemeClr val="dk1"/>
              </a:solidFill>
              <a:latin typeface="Calibri"/>
              <a:ea typeface="Calibri"/>
              <a:cs typeface="Calibri"/>
              <a:sym typeface="Calibri"/>
            </a:endParaRPr>
          </a:p>
        </p:txBody>
      </p:sp>
      <p:sp>
        <p:nvSpPr>
          <p:cNvPr id="1301" name="Google Shape;1301;p55"/>
          <p:cNvSpPr/>
          <p:nvPr/>
        </p:nvSpPr>
        <p:spPr>
          <a:xfrm>
            <a:off x="5477091" y="1108710"/>
            <a:ext cx="1565100" cy="1268700"/>
          </a:xfrm>
          <a:prstGeom prst="roundRect">
            <a:avLst>
              <a:gd fmla="val 6486" name="adj"/>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302" name="Google Shape;1302;p55"/>
          <p:cNvSpPr/>
          <p:nvPr/>
        </p:nvSpPr>
        <p:spPr>
          <a:xfrm>
            <a:off x="5614258" y="1245870"/>
            <a:ext cx="315600" cy="315600"/>
          </a:xfrm>
          <a:prstGeom prst="ellipse">
            <a:avLst/>
          </a:pr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303" name="Google Shape;1303;p55"/>
          <p:cNvSpPr/>
          <p:nvPr/>
        </p:nvSpPr>
        <p:spPr>
          <a:xfrm>
            <a:off x="5614258" y="1245870"/>
            <a:ext cx="315600" cy="31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821E"/>
              </a:buClr>
              <a:buSzPts val="1100"/>
              <a:buFont typeface="Arial"/>
              <a:buNone/>
            </a:pPr>
            <a:r>
              <a:rPr b="1" lang="en-GB" sz="1100">
                <a:solidFill>
                  <a:srgbClr val="E8821E"/>
                </a:solidFill>
                <a:latin typeface="Arial"/>
                <a:ea typeface="Arial"/>
                <a:cs typeface="Arial"/>
                <a:sym typeface="Arial"/>
              </a:rPr>
              <a:t>04</a:t>
            </a:r>
            <a:endParaRPr sz="1100">
              <a:solidFill>
                <a:schemeClr val="dk1"/>
              </a:solidFill>
              <a:latin typeface="Calibri"/>
              <a:ea typeface="Calibri"/>
              <a:cs typeface="Calibri"/>
              <a:sym typeface="Calibri"/>
            </a:endParaRPr>
          </a:p>
        </p:txBody>
      </p:sp>
      <p:sp>
        <p:nvSpPr>
          <p:cNvPr id="1304" name="Google Shape;1304;p55"/>
          <p:cNvSpPr/>
          <p:nvPr/>
        </p:nvSpPr>
        <p:spPr>
          <a:xfrm>
            <a:off x="6589518" y="1245870"/>
            <a:ext cx="315600" cy="315600"/>
          </a:xfrm>
          <a:prstGeom prst="roundRect">
            <a:avLst>
              <a:gd fmla="val 22000" name="adj"/>
            </a:avLst>
          </a:pr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Edit3_accent.png" id="1305" name="Google Shape;1305;p55"/>
          <p:cNvPicPr preferRelativeResize="0"/>
          <p:nvPr/>
        </p:nvPicPr>
        <p:blipFill rotWithShape="1">
          <a:blip r:embed="rId6">
            <a:alphaModFix/>
          </a:blip>
          <a:srcRect b="0" l="0" r="0" t="0"/>
          <a:stretch/>
        </p:blipFill>
        <p:spPr>
          <a:xfrm>
            <a:off x="6664960" y="1328166"/>
            <a:ext cx="157734" cy="157734"/>
          </a:xfrm>
          <a:prstGeom prst="rect">
            <a:avLst/>
          </a:prstGeom>
          <a:noFill/>
          <a:ln>
            <a:noFill/>
          </a:ln>
        </p:spPr>
      </p:pic>
      <p:sp>
        <p:nvSpPr>
          <p:cNvPr id="1306" name="Google Shape;1306;p55"/>
          <p:cNvSpPr/>
          <p:nvPr/>
        </p:nvSpPr>
        <p:spPr>
          <a:xfrm>
            <a:off x="5614258" y="1760220"/>
            <a:ext cx="1290600" cy="548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100"/>
              <a:buFont typeface="Arial"/>
              <a:buNone/>
            </a:pPr>
            <a:r>
              <a:rPr b="1" lang="en-GB" sz="1100">
                <a:solidFill>
                  <a:srgbClr val="FFFFFF"/>
                </a:solidFill>
              </a:rPr>
              <a:t>Process</a:t>
            </a:r>
            <a:r>
              <a:rPr b="1" lang="en-GB" sz="1100">
                <a:solidFill>
                  <a:srgbClr val="FFFFFF"/>
                </a:solidFill>
                <a:latin typeface="Arial"/>
                <a:ea typeface="Arial"/>
                <a:cs typeface="Arial"/>
                <a:sym typeface="Arial"/>
              </a:rPr>
              <a:t> it into DN / SI / </a:t>
            </a:r>
            <a:r>
              <a:rPr b="1" lang="en-GB" sz="1100">
                <a:solidFill>
                  <a:srgbClr val="FFFFFF"/>
                </a:solidFill>
              </a:rPr>
              <a:t>SWO</a:t>
            </a:r>
            <a:endParaRPr sz="1100">
              <a:solidFill>
                <a:schemeClr val="dk1"/>
              </a:solidFill>
              <a:latin typeface="Calibri"/>
              <a:ea typeface="Calibri"/>
              <a:cs typeface="Calibri"/>
              <a:sym typeface="Calibri"/>
            </a:endParaRPr>
          </a:p>
        </p:txBody>
      </p:sp>
      <p:sp>
        <p:nvSpPr>
          <p:cNvPr id="1307" name="Google Shape;1307;p55"/>
          <p:cNvSpPr/>
          <p:nvPr/>
        </p:nvSpPr>
        <p:spPr>
          <a:xfrm>
            <a:off x="-609848" y="-850405"/>
            <a:ext cx="8321400" cy="480000"/>
          </a:xfrm>
          <a:prstGeom prst="roundRect">
            <a:avLst>
              <a:gd fmla="val 14286"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308" name="Google Shape;1308;p55"/>
          <p:cNvSpPr/>
          <p:nvPr/>
        </p:nvSpPr>
        <p:spPr>
          <a:xfrm>
            <a:off x="-609848" y="-850405"/>
            <a:ext cx="1386900" cy="48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Arial"/>
              <a:buNone/>
            </a:pPr>
            <a:r>
              <a:rPr b="1" lang="en-GB" sz="1000">
                <a:solidFill>
                  <a:srgbClr val="FFFFFF"/>
                </a:solidFill>
                <a:latin typeface="Arial"/>
                <a:ea typeface="Arial"/>
                <a:cs typeface="Arial"/>
                <a:sym typeface="Arial"/>
              </a:rPr>
              <a:t>Team A</a:t>
            </a:r>
            <a:endParaRPr sz="1000">
              <a:solidFill>
                <a:schemeClr val="dk1"/>
              </a:solidFill>
              <a:latin typeface="Calibri"/>
              <a:ea typeface="Calibri"/>
              <a:cs typeface="Calibri"/>
              <a:sym typeface="Calibri"/>
            </a:endParaRPr>
          </a:p>
        </p:txBody>
      </p:sp>
      <p:sp>
        <p:nvSpPr>
          <p:cNvPr id="1309" name="Google Shape;1309;p55"/>
          <p:cNvSpPr/>
          <p:nvPr/>
        </p:nvSpPr>
        <p:spPr>
          <a:xfrm>
            <a:off x="777028" y="-850405"/>
            <a:ext cx="1386900" cy="48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Arial"/>
              <a:buNone/>
            </a:pPr>
            <a:r>
              <a:rPr b="1" lang="en-GB" sz="1000">
                <a:solidFill>
                  <a:srgbClr val="FFFFFF"/>
                </a:solidFill>
                <a:latin typeface="Arial"/>
                <a:ea typeface="Arial"/>
                <a:cs typeface="Arial"/>
                <a:sym typeface="Arial"/>
              </a:rPr>
              <a:t>M1</a:t>
            </a:r>
            <a:endParaRPr sz="1000">
              <a:solidFill>
                <a:schemeClr val="dk1"/>
              </a:solidFill>
              <a:latin typeface="Calibri"/>
              <a:ea typeface="Calibri"/>
              <a:cs typeface="Calibri"/>
              <a:sym typeface="Calibri"/>
            </a:endParaRPr>
          </a:p>
        </p:txBody>
      </p:sp>
      <p:cxnSp>
        <p:nvCxnSpPr>
          <p:cNvPr id="1310" name="Google Shape;1310;p55"/>
          <p:cNvCxnSpPr/>
          <p:nvPr/>
        </p:nvCxnSpPr>
        <p:spPr>
          <a:xfrm>
            <a:off x="777028" y="-768109"/>
            <a:ext cx="0" cy="315600"/>
          </a:xfrm>
          <a:prstGeom prst="straightConnector1">
            <a:avLst/>
          </a:prstGeom>
          <a:noFill/>
          <a:ln cap="flat" cmpd="sng" w="12700">
            <a:solidFill>
              <a:srgbClr val="32495F"/>
            </a:solidFill>
            <a:prstDash val="solid"/>
            <a:round/>
            <a:headEnd len="sm" w="sm" type="none"/>
            <a:tailEnd len="sm" w="sm" type="none"/>
          </a:ln>
        </p:spPr>
      </p:cxnSp>
      <p:sp>
        <p:nvSpPr>
          <p:cNvPr id="1311" name="Google Shape;1311;p55"/>
          <p:cNvSpPr/>
          <p:nvPr/>
        </p:nvSpPr>
        <p:spPr>
          <a:xfrm>
            <a:off x="2163903" y="-850405"/>
            <a:ext cx="1386900" cy="48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Arial"/>
              <a:buNone/>
            </a:pPr>
            <a:r>
              <a:rPr b="1" lang="en-GB" sz="1000">
                <a:solidFill>
                  <a:srgbClr val="FFFFFF"/>
                </a:solidFill>
                <a:latin typeface="Arial"/>
                <a:ea typeface="Arial"/>
                <a:cs typeface="Arial"/>
                <a:sym typeface="Arial"/>
              </a:rPr>
              <a:t>SO-2026-00041</a:t>
            </a:r>
            <a:endParaRPr sz="1000">
              <a:solidFill>
                <a:schemeClr val="dk1"/>
              </a:solidFill>
              <a:latin typeface="Calibri"/>
              <a:ea typeface="Calibri"/>
              <a:cs typeface="Calibri"/>
              <a:sym typeface="Calibri"/>
            </a:endParaRPr>
          </a:p>
        </p:txBody>
      </p:sp>
      <p:cxnSp>
        <p:nvCxnSpPr>
          <p:cNvPr id="1312" name="Google Shape;1312;p55"/>
          <p:cNvCxnSpPr/>
          <p:nvPr/>
        </p:nvCxnSpPr>
        <p:spPr>
          <a:xfrm>
            <a:off x="2163903" y="-768109"/>
            <a:ext cx="0" cy="315600"/>
          </a:xfrm>
          <a:prstGeom prst="straightConnector1">
            <a:avLst/>
          </a:prstGeom>
          <a:noFill/>
          <a:ln cap="flat" cmpd="sng" w="12700">
            <a:solidFill>
              <a:srgbClr val="32495F"/>
            </a:solidFill>
            <a:prstDash val="solid"/>
            <a:round/>
            <a:headEnd len="sm" w="sm" type="none"/>
            <a:tailEnd len="sm" w="sm" type="none"/>
          </a:ln>
        </p:spPr>
      </p:cxnSp>
      <p:sp>
        <p:nvSpPr>
          <p:cNvPr id="1313" name="Google Shape;1313;p55"/>
          <p:cNvSpPr/>
          <p:nvPr/>
        </p:nvSpPr>
        <p:spPr>
          <a:xfrm>
            <a:off x="3550780" y="-850405"/>
            <a:ext cx="1386900" cy="48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Arial"/>
              <a:buNone/>
            </a:pPr>
            <a:r>
              <a:rPr b="1" lang="en-GB" sz="1000">
                <a:solidFill>
                  <a:srgbClr val="FFFFFF"/>
                </a:solidFill>
                <a:latin typeface="Arial"/>
                <a:ea typeface="Arial"/>
                <a:cs typeface="Arial"/>
                <a:sym typeface="Arial"/>
              </a:rPr>
              <a:t>DN-2026-00018</a:t>
            </a:r>
            <a:endParaRPr sz="1000">
              <a:solidFill>
                <a:schemeClr val="dk1"/>
              </a:solidFill>
              <a:latin typeface="Calibri"/>
              <a:ea typeface="Calibri"/>
              <a:cs typeface="Calibri"/>
              <a:sym typeface="Calibri"/>
            </a:endParaRPr>
          </a:p>
        </p:txBody>
      </p:sp>
      <p:cxnSp>
        <p:nvCxnSpPr>
          <p:cNvPr id="1314" name="Google Shape;1314;p55"/>
          <p:cNvCxnSpPr/>
          <p:nvPr/>
        </p:nvCxnSpPr>
        <p:spPr>
          <a:xfrm>
            <a:off x="3550780" y="-768109"/>
            <a:ext cx="0" cy="315600"/>
          </a:xfrm>
          <a:prstGeom prst="straightConnector1">
            <a:avLst/>
          </a:prstGeom>
          <a:noFill/>
          <a:ln cap="flat" cmpd="sng" w="12700">
            <a:solidFill>
              <a:srgbClr val="32495F"/>
            </a:solidFill>
            <a:prstDash val="solid"/>
            <a:round/>
            <a:headEnd len="sm" w="sm" type="none"/>
            <a:tailEnd len="sm" w="sm" type="none"/>
          </a:ln>
        </p:spPr>
      </p:cxnSp>
      <p:sp>
        <p:nvSpPr>
          <p:cNvPr id="1315" name="Google Shape;1315;p55"/>
          <p:cNvSpPr/>
          <p:nvPr/>
        </p:nvSpPr>
        <p:spPr>
          <a:xfrm>
            <a:off x="4937655" y="-850405"/>
            <a:ext cx="1386900" cy="48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9D5C"/>
              </a:buClr>
              <a:buSzPts val="1000"/>
              <a:buFont typeface="Arial"/>
              <a:buNone/>
            </a:pPr>
            <a:r>
              <a:rPr b="1" lang="en-GB" sz="1000">
                <a:solidFill>
                  <a:srgbClr val="1A9D5C"/>
                </a:solidFill>
                <a:latin typeface="Arial"/>
                <a:ea typeface="Arial"/>
                <a:cs typeface="Arial"/>
                <a:sym typeface="Arial"/>
              </a:rPr>
              <a:t>Trap ✓</a:t>
            </a:r>
            <a:endParaRPr sz="1000">
              <a:solidFill>
                <a:schemeClr val="dk1"/>
              </a:solidFill>
              <a:latin typeface="Calibri"/>
              <a:ea typeface="Calibri"/>
              <a:cs typeface="Calibri"/>
              <a:sym typeface="Calibri"/>
            </a:endParaRPr>
          </a:p>
        </p:txBody>
      </p:sp>
      <p:cxnSp>
        <p:nvCxnSpPr>
          <p:cNvPr id="1316" name="Google Shape;1316;p55"/>
          <p:cNvCxnSpPr/>
          <p:nvPr/>
        </p:nvCxnSpPr>
        <p:spPr>
          <a:xfrm>
            <a:off x="4937655" y="-768109"/>
            <a:ext cx="0" cy="315600"/>
          </a:xfrm>
          <a:prstGeom prst="straightConnector1">
            <a:avLst/>
          </a:prstGeom>
          <a:noFill/>
          <a:ln cap="flat" cmpd="sng" w="12700">
            <a:solidFill>
              <a:srgbClr val="32495F"/>
            </a:solidFill>
            <a:prstDash val="solid"/>
            <a:round/>
            <a:headEnd len="sm" w="sm" type="none"/>
            <a:tailEnd len="sm" w="sm" type="none"/>
          </a:ln>
        </p:spPr>
      </p:cxnSp>
      <p:sp>
        <p:nvSpPr>
          <p:cNvPr id="1317" name="Google Shape;1317;p55"/>
          <p:cNvSpPr/>
          <p:nvPr/>
        </p:nvSpPr>
        <p:spPr>
          <a:xfrm>
            <a:off x="6324531" y="-850405"/>
            <a:ext cx="1386900" cy="48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9D5C"/>
              </a:buClr>
              <a:buSzPts val="1000"/>
              <a:buFont typeface="Arial"/>
              <a:buNone/>
            </a:pPr>
            <a:r>
              <a:rPr b="1" lang="en-GB" sz="1000">
                <a:solidFill>
                  <a:srgbClr val="1A9D5C"/>
                </a:solidFill>
                <a:latin typeface="Arial"/>
                <a:ea typeface="Arial"/>
                <a:cs typeface="Arial"/>
                <a:sym typeface="Arial"/>
              </a:rPr>
              <a:t>QC ✓</a:t>
            </a:r>
            <a:endParaRPr sz="1000">
              <a:solidFill>
                <a:schemeClr val="dk1"/>
              </a:solidFill>
              <a:latin typeface="Calibri"/>
              <a:ea typeface="Calibri"/>
              <a:cs typeface="Calibri"/>
              <a:sym typeface="Calibri"/>
            </a:endParaRPr>
          </a:p>
        </p:txBody>
      </p:sp>
      <p:cxnSp>
        <p:nvCxnSpPr>
          <p:cNvPr id="1318" name="Google Shape;1318;p55"/>
          <p:cNvCxnSpPr/>
          <p:nvPr/>
        </p:nvCxnSpPr>
        <p:spPr>
          <a:xfrm>
            <a:off x="6324531" y="-768109"/>
            <a:ext cx="0" cy="315600"/>
          </a:xfrm>
          <a:prstGeom prst="straightConnector1">
            <a:avLst/>
          </a:prstGeom>
          <a:noFill/>
          <a:ln cap="flat" cmpd="sng" w="12700">
            <a:solidFill>
              <a:srgbClr val="32495F"/>
            </a:solidFill>
            <a:prstDash val="solid"/>
            <a:round/>
            <a:headEnd len="sm" w="sm" type="none"/>
            <a:tailEnd len="sm" w="sm" type="none"/>
          </a:ln>
        </p:spPr>
      </p:cxnSp>
      <p:sp>
        <p:nvSpPr>
          <p:cNvPr id="1319" name="Google Shape;1319;p55"/>
          <p:cNvSpPr/>
          <p:nvPr/>
        </p:nvSpPr>
        <p:spPr>
          <a:xfrm>
            <a:off x="7165620" y="1108710"/>
            <a:ext cx="1565100" cy="1268700"/>
          </a:xfrm>
          <a:prstGeom prst="roundRect">
            <a:avLst>
              <a:gd fmla="val 6486" name="adj"/>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320" name="Google Shape;1320;p55"/>
          <p:cNvSpPr/>
          <p:nvPr/>
        </p:nvSpPr>
        <p:spPr>
          <a:xfrm>
            <a:off x="7302788" y="1245870"/>
            <a:ext cx="315600" cy="315600"/>
          </a:xfrm>
          <a:prstGeom prst="ellipse">
            <a:avLst/>
          </a:pr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321" name="Google Shape;1321;p55"/>
          <p:cNvSpPr/>
          <p:nvPr/>
        </p:nvSpPr>
        <p:spPr>
          <a:xfrm>
            <a:off x="7302788" y="1245870"/>
            <a:ext cx="315600" cy="31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821E"/>
              </a:buClr>
              <a:buSzPts val="1100"/>
              <a:buFont typeface="Arial"/>
              <a:buNone/>
            </a:pPr>
            <a:r>
              <a:rPr b="1" lang="en-GB" sz="1100">
                <a:solidFill>
                  <a:srgbClr val="E8821E"/>
                </a:solidFill>
                <a:latin typeface="Arial"/>
                <a:ea typeface="Arial"/>
                <a:cs typeface="Arial"/>
                <a:sym typeface="Arial"/>
              </a:rPr>
              <a:t>05</a:t>
            </a:r>
            <a:endParaRPr sz="1100">
              <a:solidFill>
                <a:schemeClr val="dk1"/>
              </a:solidFill>
              <a:latin typeface="Calibri"/>
              <a:ea typeface="Calibri"/>
              <a:cs typeface="Calibri"/>
              <a:sym typeface="Calibri"/>
            </a:endParaRPr>
          </a:p>
        </p:txBody>
      </p:sp>
      <p:sp>
        <p:nvSpPr>
          <p:cNvPr id="1322" name="Google Shape;1322;p55"/>
          <p:cNvSpPr/>
          <p:nvPr/>
        </p:nvSpPr>
        <p:spPr>
          <a:xfrm>
            <a:off x="8278047" y="1245870"/>
            <a:ext cx="315600" cy="315600"/>
          </a:xfrm>
          <a:prstGeom prst="roundRect">
            <a:avLst>
              <a:gd fmla="val 22000" name="adj"/>
            </a:avLst>
          </a:pr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Edit3_accent.png" id="1323" name="Google Shape;1323;p55"/>
          <p:cNvPicPr preferRelativeResize="0"/>
          <p:nvPr/>
        </p:nvPicPr>
        <p:blipFill rotWithShape="1">
          <a:blip r:embed="rId6">
            <a:alphaModFix/>
          </a:blip>
          <a:srcRect b="0" l="0" r="0" t="0"/>
          <a:stretch/>
        </p:blipFill>
        <p:spPr>
          <a:xfrm>
            <a:off x="8353489" y="1328166"/>
            <a:ext cx="157734" cy="157734"/>
          </a:xfrm>
          <a:prstGeom prst="rect">
            <a:avLst/>
          </a:prstGeom>
          <a:noFill/>
          <a:ln>
            <a:noFill/>
          </a:ln>
        </p:spPr>
      </p:pic>
      <p:sp>
        <p:nvSpPr>
          <p:cNvPr id="1324" name="Google Shape;1324;p55"/>
          <p:cNvSpPr/>
          <p:nvPr/>
        </p:nvSpPr>
        <p:spPr>
          <a:xfrm>
            <a:off x="7302788" y="1760220"/>
            <a:ext cx="1290600" cy="548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100"/>
              <a:buFont typeface="Arial"/>
              <a:buNone/>
            </a:pPr>
            <a:r>
              <a:rPr b="1" lang="en-GB" sz="1100">
                <a:solidFill>
                  <a:srgbClr val="FFFFFF"/>
                </a:solidFill>
                <a:latin typeface="Arial"/>
                <a:ea typeface="Arial"/>
                <a:cs typeface="Arial"/>
                <a:sym typeface="Arial"/>
              </a:rPr>
              <a:t>Write your IDs on the board</a:t>
            </a:r>
            <a:endParaRPr sz="1100">
              <a:solidFill>
                <a:schemeClr val="dk1"/>
              </a:solidFill>
              <a:latin typeface="Calibri"/>
              <a:ea typeface="Calibri"/>
              <a:cs typeface="Calibri"/>
              <a:sym typeface="Calibri"/>
            </a:endParaRPr>
          </a:p>
        </p:txBody>
      </p:sp>
      <p:sp>
        <p:nvSpPr>
          <p:cNvPr id="1325" name="Google Shape;1325;p55"/>
          <p:cNvSpPr/>
          <p:nvPr/>
        </p:nvSpPr>
        <p:spPr>
          <a:xfrm>
            <a:off x="-609848" y="-322339"/>
            <a:ext cx="83193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D"/>
              </a:buClr>
              <a:buSzPts val="800"/>
              <a:buFont typeface="Arial"/>
              <a:buNone/>
            </a:pPr>
            <a:r>
              <a:rPr i="1" lang="en-GB" sz="800">
                <a:solidFill>
                  <a:srgbClr val="5B6B7D"/>
                </a:solidFill>
                <a:latin typeface="Arial"/>
                <a:ea typeface="Arial"/>
                <a:cs typeface="Arial"/>
                <a:sym typeface="Arial"/>
              </a:rPr>
              <a:t>Exceptions: M7 ends at a Quotation (no SO). M8 is a Service Work Order (SWO), not a Delivery Note.</a:t>
            </a:r>
            <a:endParaRPr sz="1100">
              <a:solidFill>
                <a:schemeClr val="dk1"/>
              </a:solidFill>
              <a:latin typeface="Calibri"/>
              <a:ea typeface="Calibri"/>
              <a:cs typeface="Calibri"/>
              <a:sym typeface="Calibri"/>
            </a:endParaRPr>
          </a:p>
        </p:txBody>
      </p:sp>
      <p:sp>
        <p:nvSpPr>
          <p:cNvPr id="1326" name="Google Shape;1326;p55"/>
          <p:cNvSpPr txBox="1"/>
          <p:nvPr>
            <p:ph idx="12" type="sldNum"/>
          </p:nvPr>
        </p:nvSpPr>
        <p:spPr>
          <a:xfrm>
            <a:off x="8347216" y="4750189"/>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327" name="Google Shape;1327;p55"/>
          <p:cNvSpPr/>
          <p:nvPr/>
        </p:nvSpPr>
        <p:spPr>
          <a:xfrm>
            <a:off x="411500" y="4079925"/>
            <a:ext cx="4111200" cy="3936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360001" rtl="0" algn="l">
              <a:spcBef>
                <a:spcPts val="0"/>
              </a:spcBef>
              <a:spcAft>
                <a:spcPts val="0"/>
              </a:spcAft>
              <a:buNone/>
            </a:pPr>
            <a:r>
              <a:rPr b="1" lang="en-GB" sz="1200">
                <a:solidFill>
                  <a:schemeClr val="dk2"/>
                </a:solidFill>
              </a:rPr>
              <a:t>No ID = no score</a:t>
            </a:r>
            <a:endParaRPr b="1" sz="1200">
              <a:solidFill>
                <a:schemeClr val="dk2"/>
              </a:solidFill>
            </a:endParaRPr>
          </a:p>
        </p:txBody>
      </p:sp>
      <p:pic>
        <p:nvPicPr>
          <p:cNvPr id="1328" name="Google Shape;1328;p55" title="warning.png"/>
          <p:cNvPicPr preferRelativeResize="0"/>
          <p:nvPr/>
        </p:nvPicPr>
        <p:blipFill>
          <a:blip r:embed="rId7">
            <a:alphaModFix/>
          </a:blip>
          <a:stretch>
            <a:fillRect/>
          </a:stretch>
        </p:blipFill>
        <p:spPr>
          <a:xfrm>
            <a:off x="548068" y="4173825"/>
            <a:ext cx="205800" cy="205800"/>
          </a:xfrm>
          <a:prstGeom prst="rect">
            <a:avLst/>
          </a:prstGeom>
          <a:noFill/>
          <a:ln>
            <a:noFill/>
          </a:ln>
        </p:spPr>
      </p:pic>
      <p:grpSp>
        <p:nvGrpSpPr>
          <p:cNvPr id="1329" name="Google Shape;1329;p55"/>
          <p:cNvGrpSpPr/>
          <p:nvPr/>
        </p:nvGrpSpPr>
        <p:grpSpPr>
          <a:xfrm>
            <a:off x="405337" y="3311338"/>
            <a:ext cx="2646000" cy="582913"/>
            <a:chOff x="399337" y="3570463"/>
            <a:chExt cx="2646000" cy="582913"/>
          </a:xfrm>
        </p:grpSpPr>
        <p:sp>
          <p:nvSpPr>
            <p:cNvPr id="1330" name="Google Shape;1330;p55"/>
            <p:cNvSpPr/>
            <p:nvPr/>
          </p:nvSpPr>
          <p:spPr>
            <a:xfrm>
              <a:off x="399337" y="3570475"/>
              <a:ext cx="2646000" cy="582900"/>
            </a:xfrm>
            <a:prstGeom prst="roundRect">
              <a:avLst>
                <a:gd fmla="val 11765" name="adj"/>
              </a:avLst>
            </a:prstGeom>
            <a:solidFill>
              <a:srgbClr val="F5F7FA"/>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331" name="Google Shape;1331;p55"/>
            <p:cNvSpPr/>
            <p:nvPr/>
          </p:nvSpPr>
          <p:spPr>
            <a:xfrm>
              <a:off x="536494" y="3693896"/>
              <a:ext cx="342900" cy="342900"/>
            </a:xfrm>
            <a:prstGeom prst="ellipse">
              <a:avLst/>
            </a:prstGeom>
            <a:solidFill>
              <a:srgbClr val="1A9D5C"/>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CheckCircle_white.png" id="1332" name="Google Shape;1332;p55"/>
            <p:cNvPicPr preferRelativeResize="0"/>
            <p:nvPr/>
          </p:nvPicPr>
          <p:blipFill rotWithShape="1">
            <a:blip r:embed="rId8">
              <a:alphaModFix/>
            </a:blip>
            <a:srcRect b="0" l="0" r="0" t="0"/>
            <a:stretch/>
          </p:blipFill>
          <p:spPr>
            <a:xfrm>
              <a:off x="622224" y="3779622"/>
              <a:ext cx="171450" cy="171450"/>
            </a:xfrm>
            <a:prstGeom prst="rect">
              <a:avLst/>
            </a:prstGeom>
            <a:noFill/>
            <a:ln>
              <a:noFill/>
            </a:ln>
          </p:spPr>
        </p:pic>
        <p:sp>
          <p:nvSpPr>
            <p:cNvPr id="1333" name="Google Shape;1333;p55"/>
            <p:cNvSpPr/>
            <p:nvPr/>
          </p:nvSpPr>
          <p:spPr>
            <a:xfrm>
              <a:off x="1039530" y="3570463"/>
              <a:ext cx="1290600" cy="58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1200"/>
                <a:buFont typeface="Arial"/>
                <a:buNone/>
              </a:pPr>
              <a:r>
                <a:rPr b="1" lang="en-GB" sz="1200">
                  <a:solidFill>
                    <a:srgbClr val="1C2B3E"/>
                  </a:solidFill>
                  <a:latin typeface="Arial"/>
                  <a:ea typeface="Arial"/>
                  <a:cs typeface="Arial"/>
                  <a:sym typeface="Arial"/>
                </a:rPr>
                <a:t>QC pass</a:t>
              </a:r>
              <a:endParaRPr sz="1200">
                <a:solidFill>
                  <a:schemeClr val="dk1"/>
                </a:solidFill>
                <a:latin typeface="Calibri"/>
                <a:ea typeface="Calibri"/>
                <a:cs typeface="Calibri"/>
                <a:sym typeface="Calibri"/>
              </a:endParaRPr>
            </a:p>
          </p:txBody>
        </p:sp>
        <p:sp>
          <p:nvSpPr>
            <p:cNvPr id="1334" name="Google Shape;1334;p55"/>
            <p:cNvSpPr/>
            <p:nvPr/>
          </p:nvSpPr>
          <p:spPr>
            <a:xfrm>
              <a:off x="1791540" y="3570475"/>
              <a:ext cx="1104600" cy="5829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A9D5C"/>
                </a:buClr>
                <a:buSzPts val="1200"/>
                <a:buFont typeface="Arial"/>
                <a:buNone/>
              </a:pPr>
              <a:r>
                <a:rPr b="1" lang="en-GB" sz="1200">
                  <a:solidFill>
                    <a:srgbClr val="1A9D5C"/>
                  </a:solidFill>
                </a:rPr>
                <a:t>+</a:t>
              </a:r>
              <a:r>
                <a:rPr b="1" lang="en-GB" sz="1200">
                  <a:solidFill>
                    <a:srgbClr val="1A9D5C"/>
                  </a:solidFill>
                  <a:latin typeface="Arial"/>
                  <a:ea typeface="Arial"/>
                  <a:cs typeface="Arial"/>
                  <a:sym typeface="Arial"/>
                </a:rPr>
                <a:t>1 point</a:t>
              </a:r>
              <a:endParaRPr sz="1200">
                <a:solidFill>
                  <a:schemeClr val="dk1"/>
                </a:solidFill>
                <a:latin typeface="Calibri"/>
                <a:ea typeface="Calibri"/>
                <a:cs typeface="Calibri"/>
                <a:sym typeface="Calibri"/>
              </a:endParaRPr>
            </a:p>
          </p:txBody>
        </p:sp>
      </p:grpSp>
      <p:grpSp>
        <p:nvGrpSpPr>
          <p:cNvPr id="1335" name="Google Shape;1335;p55"/>
          <p:cNvGrpSpPr/>
          <p:nvPr/>
        </p:nvGrpSpPr>
        <p:grpSpPr>
          <a:xfrm>
            <a:off x="3248037" y="3311338"/>
            <a:ext cx="2646000" cy="582913"/>
            <a:chOff x="3253437" y="3572313"/>
            <a:chExt cx="2646000" cy="582913"/>
          </a:xfrm>
        </p:grpSpPr>
        <p:sp>
          <p:nvSpPr>
            <p:cNvPr id="1336" name="Google Shape;1336;p55"/>
            <p:cNvSpPr/>
            <p:nvPr/>
          </p:nvSpPr>
          <p:spPr>
            <a:xfrm>
              <a:off x="3253437" y="3572325"/>
              <a:ext cx="2646000" cy="582900"/>
            </a:xfrm>
            <a:prstGeom prst="roundRect">
              <a:avLst>
                <a:gd fmla="val 11765" name="adj"/>
              </a:avLst>
            </a:prstGeom>
            <a:solidFill>
              <a:srgbClr val="F5F7FA"/>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337" name="Google Shape;1337;p55"/>
            <p:cNvSpPr/>
            <p:nvPr/>
          </p:nvSpPr>
          <p:spPr>
            <a:xfrm>
              <a:off x="3390593" y="3695746"/>
              <a:ext cx="342900" cy="342900"/>
            </a:xfrm>
            <a:prstGeom prst="ellipse">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Star_white.png" id="1338" name="Google Shape;1338;p55"/>
            <p:cNvPicPr preferRelativeResize="0"/>
            <p:nvPr/>
          </p:nvPicPr>
          <p:blipFill rotWithShape="1">
            <a:blip r:embed="rId9">
              <a:alphaModFix/>
            </a:blip>
            <a:srcRect b="0" l="0" r="0" t="0"/>
            <a:stretch/>
          </p:blipFill>
          <p:spPr>
            <a:xfrm>
              <a:off x="3476323" y="3781472"/>
              <a:ext cx="171450" cy="171450"/>
            </a:xfrm>
            <a:prstGeom prst="rect">
              <a:avLst/>
            </a:prstGeom>
            <a:noFill/>
            <a:ln>
              <a:noFill/>
            </a:ln>
          </p:spPr>
        </p:pic>
        <p:sp>
          <p:nvSpPr>
            <p:cNvPr id="1339" name="Google Shape;1339;p55"/>
            <p:cNvSpPr/>
            <p:nvPr/>
          </p:nvSpPr>
          <p:spPr>
            <a:xfrm>
              <a:off x="3893629" y="3572313"/>
              <a:ext cx="1290600" cy="58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1200"/>
                <a:buFont typeface="Arial"/>
                <a:buNone/>
              </a:pPr>
              <a:r>
                <a:rPr b="1" lang="en-GB" sz="1200">
                  <a:solidFill>
                    <a:srgbClr val="1C2B3E"/>
                  </a:solidFill>
                  <a:latin typeface="Arial"/>
                  <a:ea typeface="Arial"/>
                  <a:cs typeface="Arial"/>
                  <a:sym typeface="Arial"/>
                </a:rPr>
                <a:t>Trap caught</a:t>
              </a:r>
              <a:endParaRPr sz="1200">
                <a:solidFill>
                  <a:schemeClr val="dk1"/>
                </a:solidFill>
                <a:latin typeface="Calibri"/>
                <a:ea typeface="Calibri"/>
                <a:cs typeface="Calibri"/>
                <a:sym typeface="Calibri"/>
              </a:endParaRPr>
            </a:p>
          </p:txBody>
        </p:sp>
        <p:sp>
          <p:nvSpPr>
            <p:cNvPr id="1340" name="Google Shape;1340;p55"/>
            <p:cNvSpPr/>
            <p:nvPr/>
          </p:nvSpPr>
          <p:spPr>
            <a:xfrm>
              <a:off x="4645646" y="3572325"/>
              <a:ext cx="1104600" cy="5829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8821E"/>
                </a:buClr>
                <a:buSzPts val="1200"/>
                <a:buFont typeface="Arial"/>
                <a:buNone/>
              </a:pPr>
              <a:r>
                <a:rPr b="1" lang="en-GB" sz="1200">
                  <a:solidFill>
                    <a:srgbClr val="E8821E"/>
                  </a:solidFill>
                  <a:latin typeface="Arial"/>
                  <a:ea typeface="Arial"/>
                  <a:cs typeface="Arial"/>
                  <a:sym typeface="Arial"/>
                </a:rPr>
                <a:t>+1 bonus</a:t>
              </a:r>
              <a:endParaRPr sz="1200">
                <a:solidFill>
                  <a:schemeClr val="dk1"/>
                </a:solidFill>
                <a:latin typeface="Calibri"/>
                <a:ea typeface="Calibri"/>
                <a:cs typeface="Calibri"/>
                <a:sym typeface="Calibri"/>
              </a:endParaRPr>
            </a:p>
          </p:txBody>
        </p:sp>
      </p:grpSp>
      <p:grpSp>
        <p:nvGrpSpPr>
          <p:cNvPr id="1341" name="Google Shape;1341;p55"/>
          <p:cNvGrpSpPr/>
          <p:nvPr/>
        </p:nvGrpSpPr>
        <p:grpSpPr>
          <a:xfrm>
            <a:off x="6090737" y="3311338"/>
            <a:ext cx="2646000" cy="582913"/>
            <a:chOff x="6107537" y="3570463"/>
            <a:chExt cx="2646000" cy="582913"/>
          </a:xfrm>
        </p:grpSpPr>
        <p:sp>
          <p:nvSpPr>
            <p:cNvPr id="1342" name="Google Shape;1342;p55"/>
            <p:cNvSpPr/>
            <p:nvPr/>
          </p:nvSpPr>
          <p:spPr>
            <a:xfrm>
              <a:off x="6107537" y="3570475"/>
              <a:ext cx="2646000" cy="582900"/>
            </a:xfrm>
            <a:prstGeom prst="roundRect">
              <a:avLst>
                <a:gd fmla="val 11765" name="adj"/>
              </a:avLst>
            </a:prstGeom>
            <a:solidFill>
              <a:srgbClr val="F5F7FA"/>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343" name="Google Shape;1343;p55"/>
            <p:cNvSpPr/>
            <p:nvPr/>
          </p:nvSpPr>
          <p:spPr>
            <a:xfrm>
              <a:off x="6244694" y="3693896"/>
              <a:ext cx="342900" cy="342900"/>
            </a:xfrm>
            <a:prstGeom prst="ellipse">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Clock_white.png" id="1344" name="Google Shape;1344;p55"/>
            <p:cNvPicPr preferRelativeResize="0"/>
            <p:nvPr/>
          </p:nvPicPr>
          <p:blipFill rotWithShape="1">
            <a:blip r:embed="rId10">
              <a:alphaModFix/>
            </a:blip>
            <a:srcRect b="0" l="0" r="0" t="0"/>
            <a:stretch/>
          </p:blipFill>
          <p:spPr>
            <a:xfrm>
              <a:off x="6330424" y="3779622"/>
              <a:ext cx="171450" cy="171450"/>
            </a:xfrm>
            <a:prstGeom prst="rect">
              <a:avLst/>
            </a:prstGeom>
            <a:noFill/>
            <a:ln>
              <a:noFill/>
            </a:ln>
          </p:spPr>
        </p:pic>
        <p:sp>
          <p:nvSpPr>
            <p:cNvPr id="1345" name="Google Shape;1345;p55"/>
            <p:cNvSpPr/>
            <p:nvPr/>
          </p:nvSpPr>
          <p:spPr>
            <a:xfrm>
              <a:off x="6747730" y="3570463"/>
              <a:ext cx="1290600" cy="58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1200"/>
                <a:buFont typeface="Arial"/>
                <a:buNone/>
              </a:pPr>
              <a:r>
                <a:rPr b="1" lang="en-GB" sz="1200">
                  <a:solidFill>
                    <a:srgbClr val="1C2B3E"/>
                  </a:solidFill>
                  <a:latin typeface="Arial"/>
                  <a:ea typeface="Arial"/>
                  <a:cs typeface="Arial"/>
                  <a:sym typeface="Arial"/>
                </a:rPr>
                <a:t>Speed</a:t>
              </a:r>
              <a:endParaRPr sz="1200">
                <a:solidFill>
                  <a:schemeClr val="dk1"/>
                </a:solidFill>
                <a:latin typeface="Calibri"/>
                <a:ea typeface="Calibri"/>
                <a:cs typeface="Calibri"/>
                <a:sym typeface="Calibri"/>
              </a:endParaRPr>
            </a:p>
          </p:txBody>
        </p:sp>
        <p:sp>
          <p:nvSpPr>
            <p:cNvPr id="1346" name="Google Shape;1346;p55"/>
            <p:cNvSpPr/>
            <p:nvPr/>
          </p:nvSpPr>
          <p:spPr>
            <a:xfrm>
              <a:off x="7499740" y="3570475"/>
              <a:ext cx="1104600" cy="5829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C2B3E"/>
                </a:buClr>
                <a:buSzPts val="1200"/>
                <a:buFont typeface="Arial"/>
                <a:buNone/>
              </a:pPr>
              <a:r>
                <a:rPr b="1" lang="en-GB" sz="1200">
                  <a:solidFill>
                    <a:srgbClr val="1C2B3E"/>
                  </a:solidFill>
                  <a:latin typeface="Arial"/>
                  <a:ea typeface="Arial"/>
                  <a:cs typeface="Arial"/>
                  <a:sym typeface="Arial"/>
                </a:rPr>
                <a:t>tie-break</a:t>
              </a:r>
              <a:endParaRPr sz="1200">
                <a:solidFill>
                  <a:schemeClr val="dk1"/>
                </a:solidFill>
                <a:latin typeface="Calibri"/>
                <a:ea typeface="Calibri"/>
                <a:cs typeface="Calibri"/>
                <a:sym typeface="Calibri"/>
              </a:endParaRPr>
            </a:p>
          </p:txBody>
        </p:sp>
      </p:grpSp>
      <p:sp>
        <p:nvSpPr>
          <p:cNvPr id="1347" name="Google Shape;1347;p55"/>
          <p:cNvSpPr/>
          <p:nvPr/>
        </p:nvSpPr>
        <p:spPr>
          <a:xfrm>
            <a:off x="411427" y="2543118"/>
            <a:ext cx="83214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800"/>
              <a:buFont typeface="Arial"/>
              <a:buNone/>
            </a:pPr>
            <a:r>
              <a:rPr b="1" lang="en-GB" sz="800">
                <a:solidFill>
                  <a:srgbClr val="94A3B8"/>
                </a:solidFill>
                <a:latin typeface="Arial"/>
                <a:ea typeface="Arial"/>
                <a:cs typeface="Arial"/>
                <a:sym typeface="Arial"/>
              </a:rPr>
              <a:t>SCOREBOARD HEADER</a:t>
            </a:r>
            <a:endParaRPr sz="800">
              <a:solidFill>
                <a:schemeClr val="dk1"/>
              </a:solidFill>
              <a:latin typeface="Calibri"/>
              <a:ea typeface="Calibri"/>
              <a:cs typeface="Calibri"/>
              <a:sym typeface="Calibri"/>
            </a:endParaRPr>
          </a:p>
        </p:txBody>
      </p:sp>
      <p:sp>
        <p:nvSpPr>
          <p:cNvPr id="1348" name="Google Shape;1348;p55"/>
          <p:cNvSpPr/>
          <p:nvPr/>
        </p:nvSpPr>
        <p:spPr>
          <a:xfrm>
            <a:off x="411427" y="2783148"/>
            <a:ext cx="8321400" cy="342900"/>
          </a:xfrm>
          <a:prstGeom prst="roundRect">
            <a:avLst>
              <a:gd fmla="val 16000"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349" name="Google Shape;1349;p55"/>
          <p:cNvSpPr/>
          <p:nvPr/>
        </p:nvSpPr>
        <p:spPr>
          <a:xfrm>
            <a:off x="411427" y="2783148"/>
            <a:ext cx="16644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Arial"/>
              <a:buNone/>
            </a:pPr>
            <a:r>
              <a:rPr b="1" lang="en-GB" sz="900">
                <a:solidFill>
                  <a:srgbClr val="FFFFFF"/>
                </a:solidFill>
                <a:latin typeface="Arial"/>
                <a:ea typeface="Arial"/>
                <a:cs typeface="Arial"/>
                <a:sym typeface="Arial"/>
              </a:rPr>
              <a:t>Mission #</a:t>
            </a:r>
            <a:endParaRPr sz="900">
              <a:solidFill>
                <a:schemeClr val="dk1"/>
              </a:solidFill>
              <a:latin typeface="Calibri"/>
              <a:ea typeface="Calibri"/>
              <a:cs typeface="Calibri"/>
              <a:sym typeface="Calibri"/>
            </a:endParaRPr>
          </a:p>
        </p:txBody>
      </p:sp>
      <p:sp>
        <p:nvSpPr>
          <p:cNvPr id="1350" name="Google Shape;1350;p55"/>
          <p:cNvSpPr/>
          <p:nvPr/>
        </p:nvSpPr>
        <p:spPr>
          <a:xfrm>
            <a:off x="2075678" y="2783148"/>
            <a:ext cx="16644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Arial"/>
              <a:buNone/>
            </a:pPr>
            <a:r>
              <a:rPr b="1" lang="en-GB" sz="900">
                <a:solidFill>
                  <a:srgbClr val="FFFFFF"/>
                </a:solidFill>
                <a:latin typeface="Arial"/>
                <a:ea typeface="Arial"/>
                <a:cs typeface="Arial"/>
                <a:sym typeface="Arial"/>
              </a:rPr>
              <a:t>SO / </a:t>
            </a:r>
            <a:r>
              <a:rPr b="1" lang="en-GB" sz="900">
                <a:solidFill>
                  <a:srgbClr val="FFFFFF"/>
                </a:solidFill>
              </a:rPr>
              <a:t>QT</a:t>
            </a:r>
            <a:r>
              <a:rPr b="1" lang="en-GB" sz="900">
                <a:solidFill>
                  <a:srgbClr val="FFFFFF"/>
                </a:solidFill>
                <a:latin typeface="Arial"/>
                <a:ea typeface="Arial"/>
                <a:cs typeface="Arial"/>
                <a:sym typeface="Arial"/>
              </a:rPr>
              <a:t> ID</a:t>
            </a:r>
            <a:endParaRPr sz="900">
              <a:solidFill>
                <a:schemeClr val="dk1"/>
              </a:solidFill>
              <a:latin typeface="Calibri"/>
              <a:ea typeface="Calibri"/>
              <a:cs typeface="Calibri"/>
              <a:sym typeface="Calibri"/>
            </a:endParaRPr>
          </a:p>
        </p:txBody>
      </p:sp>
      <p:cxnSp>
        <p:nvCxnSpPr>
          <p:cNvPr id="1351" name="Google Shape;1351;p55"/>
          <p:cNvCxnSpPr/>
          <p:nvPr/>
        </p:nvCxnSpPr>
        <p:spPr>
          <a:xfrm>
            <a:off x="2075678" y="2838012"/>
            <a:ext cx="0" cy="233100"/>
          </a:xfrm>
          <a:prstGeom prst="straightConnector1">
            <a:avLst/>
          </a:prstGeom>
          <a:noFill/>
          <a:ln cap="flat" cmpd="sng" w="12700">
            <a:solidFill>
              <a:srgbClr val="32495F"/>
            </a:solidFill>
            <a:prstDash val="solid"/>
            <a:round/>
            <a:headEnd len="sm" w="sm" type="none"/>
            <a:tailEnd len="sm" w="sm" type="none"/>
          </a:ln>
        </p:spPr>
      </p:cxnSp>
      <p:sp>
        <p:nvSpPr>
          <p:cNvPr id="1352" name="Google Shape;1352;p55"/>
          <p:cNvSpPr/>
          <p:nvPr/>
        </p:nvSpPr>
        <p:spPr>
          <a:xfrm>
            <a:off x="3739929" y="2783148"/>
            <a:ext cx="16644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Arial"/>
              <a:buNone/>
            </a:pPr>
            <a:r>
              <a:rPr b="1" lang="en-GB" sz="900">
                <a:solidFill>
                  <a:srgbClr val="FFFFFF"/>
                </a:solidFill>
                <a:latin typeface="Arial"/>
                <a:ea typeface="Arial"/>
                <a:cs typeface="Arial"/>
                <a:sym typeface="Arial"/>
              </a:rPr>
              <a:t>DN / SWO ID</a:t>
            </a:r>
            <a:endParaRPr sz="900">
              <a:solidFill>
                <a:schemeClr val="dk1"/>
              </a:solidFill>
              <a:latin typeface="Calibri"/>
              <a:ea typeface="Calibri"/>
              <a:cs typeface="Calibri"/>
              <a:sym typeface="Calibri"/>
            </a:endParaRPr>
          </a:p>
        </p:txBody>
      </p:sp>
      <p:cxnSp>
        <p:nvCxnSpPr>
          <p:cNvPr id="1353" name="Google Shape;1353;p55"/>
          <p:cNvCxnSpPr/>
          <p:nvPr/>
        </p:nvCxnSpPr>
        <p:spPr>
          <a:xfrm>
            <a:off x="3739929" y="2838012"/>
            <a:ext cx="0" cy="233100"/>
          </a:xfrm>
          <a:prstGeom prst="straightConnector1">
            <a:avLst/>
          </a:prstGeom>
          <a:noFill/>
          <a:ln cap="flat" cmpd="sng" w="12700">
            <a:solidFill>
              <a:srgbClr val="32495F"/>
            </a:solidFill>
            <a:prstDash val="solid"/>
            <a:round/>
            <a:headEnd len="sm" w="sm" type="none"/>
            <a:tailEnd len="sm" w="sm" type="none"/>
          </a:ln>
        </p:spPr>
      </p:cxnSp>
      <p:sp>
        <p:nvSpPr>
          <p:cNvPr id="1354" name="Google Shape;1354;p55"/>
          <p:cNvSpPr/>
          <p:nvPr/>
        </p:nvSpPr>
        <p:spPr>
          <a:xfrm>
            <a:off x="5404180" y="2783148"/>
            <a:ext cx="16644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Arial"/>
              <a:buNone/>
            </a:pPr>
            <a:r>
              <a:rPr b="1" lang="en-GB" sz="900">
                <a:solidFill>
                  <a:srgbClr val="FFFFFF"/>
                </a:solidFill>
                <a:latin typeface="Arial"/>
                <a:ea typeface="Arial"/>
                <a:cs typeface="Arial"/>
                <a:sym typeface="Arial"/>
              </a:rPr>
              <a:t>Trap caught?</a:t>
            </a:r>
            <a:endParaRPr sz="900">
              <a:solidFill>
                <a:schemeClr val="dk1"/>
              </a:solidFill>
              <a:latin typeface="Calibri"/>
              <a:ea typeface="Calibri"/>
              <a:cs typeface="Calibri"/>
              <a:sym typeface="Calibri"/>
            </a:endParaRPr>
          </a:p>
        </p:txBody>
      </p:sp>
      <p:cxnSp>
        <p:nvCxnSpPr>
          <p:cNvPr id="1355" name="Google Shape;1355;p55"/>
          <p:cNvCxnSpPr/>
          <p:nvPr/>
        </p:nvCxnSpPr>
        <p:spPr>
          <a:xfrm>
            <a:off x="5404180" y="2838012"/>
            <a:ext cx="0" cy="233100"/>
          </a:xfrm>
          <a:prstGeom prst="straightConnector1">
            <a:avLst/>
          </a:prstGeom>
          <a:noFill/>
          <a:ln cap="flat" cmpd="sng" w="12700">
            <a:solidFill>
              <a:srgbClr val="32495F"/>
            </a:solidFill>
            <a:prstDash val="solid"/>
            <a:round/>
            <a:headEnd len="sm" w="sm" type="none"/>
            <a:tailEnd len="sm" w="sm" type="none"/>
          </a:ln>
        </p:spPr>
      </p:cxnSp>
      <p:sp>
        <p:nvSpPr>
          <p:cNvPr id="1356" name="Google Shape;1356;p55"/>
          <p:cNvSpPr/>
          <p:nvPr/>
        </p:nvSpPr>
        <p:spPr>
          <a:xfrm>
            <a:off x="7068431" y="2783148"/>
            <a:ext cx="16644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Arial"/>
              <a:buNone/>
            </a:pPr>
            <a:r>
              <a:rPr b="1" lang="en-GB" sz="900">
                <a:solidFill>
                  <a:srgbClr val="FFFFFF"/>
                </a:solidFill>
                <a:latin typeface="Arial"/>
                <a:ea typeface="Arial"/>
                <a:cs typeface="Arial"/>
                <a:sym typeface="Arial"/>
              </a:rPr>
              <a:t>QC ✓ / ✗</a:t>
            </a:r>
            <a:endParaRPr sz="900">
              <a:solidFill>
                <a:schemeClr val="dk1"/>
              </a:solidFill>
              <a:latin typeface="Calibri"/>
              <a:ea typeface="Calibri"/>
              <a:cs typeface="Calibri"/>
              <a:sym typeface="Calibri"/>
            </a:endParaRPr>
          </a:p>
        </p:txBody>
      </p:sp>
      <p:cxnSp>
        <p:nvCxnSpPr>
          <p:cNvPr id="1357" name="Google Shape;1357;p55"/>
          <p:cNvCxnSpPr/>
          <p:nvPr/>
        </p:nvCxnSpPr>
        <p:spPr>
          <a:xfrm>
            <a:off x="7068431" y="2838012"/>
            <a:ext cx="0" cy="233100"/>
          </a:xfrm>
          <a:prstGeom prst="straightConnector1">
            <a:avLst/>
          </a:prstGeom>
          <a:noFill/>
          <a:ln cap="flat" cmpd="sng" w="12700">
            <a:solidFill>
              <a:srgbClr val="32495F"/>
            </a:solidFill>
            <a:prstDash val="solid"/>
            <a:round/>
            <a:headEnd len="sm" w="sm" type="none"/>
            <a:tailEnd len="sm" w="sm" type="none"/>
          </a:ln>
        </p:spPr>
      </p:cxnSp>
      <p:sp>
        <p:nvSpPr>
          <p:cNvPr id="1358" name="Google Shape;1358;p55"/>
          <p:cNvSpPr/>
          <p:nvPr/>
        </p:nvSpPr>
        <p:spPr>
          <a:xfrm>
            <a:off x="4625525" y="4079550"/>
            <a:ext cx="4111200" cy="3936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360001" rtl="0" algn="l">
              <a:spcBef>
                <a:spcPts val="0"/>
              </a:spcBef>
              <a:spcAft>
                <a:spcPts val="0"/>
              </a:spcAft>
              <a:buNone/>
            </a:pPr>
            <a:r>
              <a:rPr b="1" lang="en-GB" sz="1200">
                <a:solidFill>
                  <a:schemeClr val="dk2"/>
                </a:solidFill>
              </a:rPr>
              <a:t>Looks done but wrong = no score</a:t>
            </a:r>
            <a:endParaRPr b="1" sz="1200">
              <a:solidFill>
                <a:schemeClr val="dk2"/>
              </a:solidFill>
            </a:endParaRPr>
          </a:p>
        </p:txBody>
      </p:sp>
      <p:pic>
        <p:nvPicPr>
          <p:cNvPr id="1359" name="Google Shape;1359;p55" title="warning.png"/>
          <p:cNvPicPr preferRelativeResize="0"/>
          <p:nvPr/>
        </p:nvPicPr>
        <p:blipFill>
          <a:blip r:embed="rId7">
            <a:alphaModFix/>
          </a:blip>
          <a:stretch>
            <a:fillRect/>
          </a:stretch>
        </p:blipFill>
        <p:spPr>
          <a:xfrm>
            <a:off x="4762093" y="4173450"/>
            <a:ext cx="205800" cy="20580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64" name="Shape 1364"/>
        <p:cNvGrpSpPr/>
        <p:nvPr/>
      </p:nvGrpSpPr>
      <p:grpSpPr>
        <a:xfrm>
          <a:off x="0" y="0"/>
          <a:ext cx="0" cy="0"/>
          <a:chOff x="0" y="0"/>
          <a:chExt cx="0" cy="0"/>
        </a:xfrm>
      </p:grpSpPr>
      <p:sp>
        <p:nvSpPr>
          <p:cNvPr id="1365" name="Google Shape;1365;p56"/>
          <p:cNvSpPr/>
          <p:nvPr/>
        </p:nvSpPr>
        <p:spPr>
          <a:xfrm>
            <a:off x="411502" y="260604"/>
            <a:ext cx="6858366"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GAME</a:t>
            </a:r>
            <a:endParaRPr sz="800">
              <a:solidFill>
                <a:schemeClr val="dk1"/>
              </a:solidFill>
              <a:latin typeface="Calibri"/>
              <a:ea typeface="Calibri"/>
              <a:cs typeface="Calibri"/>
              <a:sym typeface="Calibri"/>
            </a:endParaRPr>
          </a:p>
        </p:txBody>
      </p:sp>
      <p:sp>
        <p:nvSpPr>
          <p:cNvPr id="1366" name="Google Shape;1366;p56"/>
          <p:cNvSpPr/>
          <p:nvPr/>
        </p:nvSpPr>
        <p:spPr>
          <a:xfrm>
            <a:off x="411502" y="438912"/>
            <a:ext cx="8321255" cy="4800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C2B3E"/>
              </a:buClr>
              <a:buSzPts val="2200"/>
              <a:buFont typeface="Arial"/>
              <a:buNone/>
            </a:pPr>
            <a:r>
              <a:rPr b="1" lang="en-GB" sz="2200">
                <a:solidFill>
                  <a:srgbClr val="1C2B3E"/>
                </a:solidFill>
                <a:latin typeface="Poppins"/>
                <a:ea typeface="Poppins"/>
                <a:cs typeface="Poppins"/>
                <a:sym typeface="Poppins"/>
              </a:rPr>
              <a:t>Your team, your role.</a:t>
            </a:r>
            <a:endParaRPr sz="2200">
              <a:solidFill>
                <a:schemeClr val="dk1"/>
              </a:solidFill>
              <a:latin typeface="Poppins"/>
              <a:ea typeface="Poppins"/>
              <a:cs typeface="Poppins"/>
              <a:sym typeface="Poppins"/>
            </a:endParaRPr>
          </a:p>
        </p:txBody>
      </p:sp>
      <p:sp>
        <p:nvSpPr>
          <p:cNvPr id="1367" name="Google Shape;1367;p56"/>
          <p:cNvSpPr/>
          <p:nvPr/>
        </p:nvSpPr>
        <p:spPr>
          <a:xfrm>
            <a:off x="411350" y="1298913"/>
            <a:ext cx="8321400" cy="2132100"/>
          </a:xfrm>
          <a:prstGeom prst="roundRect">
            <a:avLst>
              <a:gd fmla="val 3529" name="adj"/>
            </a:avLst>
          </a:prstGeom>
          <a:solidFill>
            <a:srgbClr val="F5F7FA"/>
          </a:solidFill>
          <a:ln>
            <a:noFill/>
          </a:ln>
          <a:effectLst>
            <a:outerShdw blurRad="101600" rotWithShape="0" algn="bl" dir="5400000" dist="38100">
              <a:srgbClr val="1C2B3E">
                <a:alpha val="10196"/>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368" name="Google Shape;1368;p56"/>
          <p:cNvSpPr/>
          <p:nvPr/>
        </p:nvSpPr>
        <p:spPr>
          <a:xfrm>
            <a:off x="1593921" y="1483324"/>
            <a:ext cx="1626900" cy="20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B7D"/>
              </a:buClr>
              <a:buSzPts val="800"/>
              <a:buFont typeface="Arial"/>
              <a:buNone/>
            </a:pPr>
            <a:r>
              <a:rPr b="1" lang="en-GB" sz="800">
                <a:solidFill>
                  <a:srgbClr val="5B6B7D"/>
                </a:solidFill>
                <a:latin typeface="Arial"/>
                <a:ea typeface="Arial"/>
                <a:cs typeface="Arial"/>
                <a:sym typeface="Arial"/>
              </a:rPr>
              <a:t>Sales</a:t>
            </a:r>
            <a:endParaRPr sz="800">
              <a:solidFill>
                <a:schemeClr val="dk1"/>
              </a:solidFill>
              <a:latin typeface="Calibri"/>
              <a:ea typeface="Calibri"/>
              <a:cs typeface="Calibri"/>
              <a:sym typeface="Calibri"/>
            </a:endParaRPr>
          </a:p>
        </p:txBody>
      </p:sp>
      <p:sp>
        <p:nvSpPr>
          <p:cNvPr id="1369" name="Google Shape;1369;p56"/>
          <p:cNvSpPr/>
          <p:nvPr/>
        </p:nvSpPr>
        <p:spPr>
          <a:xfrm>
            <a:off x="3220950" y="1483324"/>
            <a:ext cx="1626900" cy="20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B7D"/>
              </a:buClr>
              <a:buSzPts val="800"/>
              <a:buFont typeface="Arial"/>
              <a:buNone/>
            </a:pPr>
            <a:r>
              <a:rPr b="1" lang="en-GB" sz="800">
                <a:solidFill>
                  <a:srgbClr val="5B6B7D"/>
                </a:solidFill>
                <a:latin typeface="Arial"/>
                <a:ea typeface="Arial"/>
                <a:cs typeface="Arial"/>
                <a:sym typeface="Arial"/>
              </a:rPr>
              <a:t>Credit</a:t>
            </a:r>
            <a:endParaRPr sz="800">
              <a:solidFill>
                <a:schemeClr val="dk1"/>
              </a:solidFill>
              <a:latin typeface="Calibri"/>
              <a:ea typeface="Calibri"/>
              <a:cs typeface="Calibri"/>
              <a:sym typeface="Calibri"/>
            </a:endParaRPr>
          </a:p>
        </p:txBody>
      </p:sp>
      <p:sp>
        <p:nvSpPr>
          <p:cNvPr id="1370" name="Google Shape;1370;p56"/>
          <p:cNvSpPr/>
          <p:nvPr/>
        </p:nvSpPr>
        <p:spPr>
          <a:xfrm>
            <a:off x="4847979" y="1483324"/>
            <a:ext cx="1626900" cy="20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B7D"/>
              </a:buClr>
              <a:buSzPts val="800"/>
              <a:buFont typeface="Arial"/>
              <a:buNone/>
            </a:pPr>
            <a:r>
              <a:rPr b="1" lang="en-GB" sz="800">
                <a:solidFill>
                  <a:srgbClr val="5B6B7D"/>
                </a:solidFill>
                <a:latin typeface="Arial"/>
                <a:ea typeface="Arial"/>
                <a:cs typeface="Arial"/>
                <a:sym typeface="Arial"/>
              </a:rPr>
              <a:t>Logistics</a:t>
            </a:r>
            <a:endParaRPr sz="800">
              <a:solidFill>
                <a:schemeClr val="dk1"/>
              </a:solidFill>
              <a:latin typeface="Calibri"/>
              <a:ea typeface="Calibri"/>
              <a:cs typeface="Calibri"/>
              <a:sym typeface="Calibri"/>
            </a:endParaRPr>
          </a:p>
        </p:txBody>
      </p:sp>
      <p:sp>
        <p:nvSpPr>
          <p:cNvPr id="1371" name="Google Shape;1371;p56"/>
          <p:cNvSpPr/>
          <p:nvPr/>
        </p:nvSpPr>
        <p:spPr>
          <a:xfrm>
            <a:off x="6475007" y="1483324"/>
            <a:ext cx="1626900" cy="20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B7D"/>
              </a:buClr>
              <a:buSzPts val="800"/>
              <a:buFont typeface="Arial"/>
              <a:buNone/>
            </a:pPr>
            <a:r>
              <a:rPr b="1" lang="en-GB" sz="800">
                <a:solidFill>
                  <a:srgbClr val="5B6B7D"/>
                </a:solidFill>
                <a:latin typeface="Arial"/>
                <a:ea typeface="Arial"/>
                <a:cs typeface="Arial"/>
                <a:sym typeface="Arial"/>
              </a:rPr>
              <a:t>Driver</a:t>
            </a:r>
            <a:endParaRPr sz="800">
              <a:solidFill>
                <a:schemeClr val="dk1"/>
              </a:solidFill>
              <a:latin typeface="Calibri"/>
              <a:ea typeface="Calibri"/>
              <a:cs typeface="Calibri"/>
              <a:sym typeface="Calibri"/>
            </a:endParaRPr>
          </a:p>
        </p:txBody>
      </p:sp>
      <p:sp>
        <p:nvSpPr>
          <p:cNvPr id="1372" name="Google Shape;1372;p56"/>
          <p:cNvSpPr/>
          <p:nvPr/>
        </p:nvSpPr>
        <p:spPr>
          <a:xfrm>
            <a:off x="647859" y="1730212"/>
            <a:ext cx="7848300" cy="342900"/>
          </a:xfrm>
          <a:prstGeom prst="roundRect">
            <a:avLst>
              <a:gd fmla="val 12000" name="adj"/>
            </a:avLst>
          </a:pr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373" name="Google Shape;1373;p56"/>
          <p:cNvSpPr/>
          <p:nvPr/>
        </p:nvSpPr>
        <p:spPr>
          <a:xfrm>
            <a:off x="805536" y="1730212"/>
            <a:ext cx="91980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800"/>
              <a:buFont typeface="Arial"/>
              <a:buNone/>
            </a:pPr>
            <a:r>
              <a:rPr b="1" lang="en-GB" sz="800">
                <a:solidFill>
                  <a:srgbClr val="1C2B3E"/>
                </a:solidFill>
                <a:latin typeface="Arial"/>
                <a:ea typeface="Arial"/>
                <a:cs typeface="Arial"/>
                <a:sym typeface="Arial"/>
              </a:rPr>
              <a:t>Team A</a:t>
            </a:r>
            <a:endParaRPr sz="800">
              <a:solidFill>
                <a:schemeClr val="dk1"/>
              </a:solidFill>
              <a:latin typeface="Calibri"/>
              <a:ea typeface="Calibri"/>
              <a:cs typeface="Calibri"/>
              <a:sym typeface="Calibri"/>
            </a:endParaRPr>
          </a:p>
        </p:txBody>
      </p:sp>
      <p:sp>
        <p:nvSpPr>
          <p:cNvPr id="1374" name="Google Shape;1374;p56"/>
          <p:cNvSpPr/>
          <p:nvPr/>
        </p:nvSpPr>
        <p:spPr>
          <a:xfrm>
            <a:off x="1593921" y="1730212"/>
            <a:ext cx="16269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800"/>
              <a:buFont typeface="Arial"/>
              <a:buNone/>
            </a:pPr>
            <a:r>
              <a:rPr i="1" lang="en-GB" sz="800">
                <a:solidFill>
                  <a:srgbClr val="94A3B8"/>
                </a:solidFill>
                <a:latin typeface="Arial"/>
                <a:ea typeface="Arial"/>
                <a:cs typeface="Arial"/>
                <a:sym typeface="Arial"/>
              </a:rPr>
              <a:t>[ Name ]</a:t>
            </a:r>
            <a:endParaRPr sz="800">
              <a:solidFill>
                <a:schemeClr val="dk1"/>
              </a:solidFill>
              <a:latin typeface="Calibri"/>
              <a:ea typeface="Calibri"/>
              <a:cs typeface="Calibri"/>
              <a:sym typeface="Calibri"/>
            </a:endParaRPr>
          </a:p>
        </p:txBody>
      </p:sp>
      <p:sp>
        <p:nvSpPr>
          <p:cNvPr id="1375" name="Google Shape;1375;p56"/>
          <p:cNvSpPr/>
          <p:nvPr/>
        </p:nvSpPr>
        <p:spPr>
          <a:xfrm>
            <a:off x="3220950" y="1730212"/>
            <a:ext cx="16269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800"/>
              <a:buFont typeface="Arial"/>
              <a:buNone/>
            </a:pPr>
            <a:r>
              <a:rPr i="1" lang="en-GB" sz="800">
                <a:solidFill>
                  <a:srgbClr val="94A3B8"/>
                </a:solidFill>
                <a:latin typeface="Arial"/>
                <a:ea typeface="Arial"/>
                <a:cs typeface="Arial"/>
                <a:sym typeface="Arial"/>
              </a:rPr>
              <a:t>[ Name ]</a:t>
            </a:r>
            <a:endParaRPr sz="800">
              <a:solidFill>
                <a:schemeClr val="dk1"/>
              </a:solidFill>
              <a:latin typeface="Calibri"/>
              <a:ea typeface="Calibri"/>
              <a:cs typeface="Calibri"/>
              <a:sym typeface="Calibri"/>
            </a:endParaRPr>
          </a:p>
        </p:txBody>
      </p:sp>
      <p:sp>
        <p:nvSpPr>
          <p:cNvPr id="1376" name="Google Shape;1376;p56"/>
          <p:cNvSpPr/>
          <p:nvPr/>
        </p:nvSpPr>
        <p:spPr>
          <a:xfrm>
            <a:off x="4847979" y="1730212"/>
            <a:ext cx="16269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800"/>
              <a:buFont typeface="Arial"/>
              <a:buNone/>
            </a:pPr>
            <a:r>
              <a:rPr i="1" lang="en-GB" sz="800">
                <a:solidFill>
                  <a:srgbClr val="94A3B8"/>
                </a:solidFill>
                <a:latin typeface="Arial"/>
                <a:ea typeface="Arial"/>
                <a:cs typeface="Arial"/>
                <a:sym typeface="Arial"/>
              </a:rPr>
              <a:t>[ Name ]</a:t>
            </a:r>
            <a:endParaRPr sz="800">
              <a:solidFill>
                <a:schemeClr val="dk1"/>
              </a:solidFill>
              <a:latin typeface="Calibri"/>
              <a:ea typeface="Calibri"/>
              <a:cs typeface="Calibri"/>
              <a:sym typeface="Calibri"/>
            </a:endParaRPr>
          </a:p>
        </p:txBody>
      </p:sp>
      <p:sp>
        <p:nvSpPr>
          <p:cNvPr id="1377" name="Google Shape;1377;p56"/>
          <p:cNvSpPr/>
          <p:nvPr/>
        </p:nvSpPr>
        <p:spPr>
          <a:xfrm>
            <a:off x="6475007" y="1730212"/>
            <a:ext cx="16269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800"/>
              <a:buFont typeface="Arial"/>
              <a:buNone/>
            </a:pPr>
            <a:r>
              <a:rPr i="1" lang="en-GB" sz="800">
                <a:solidFill>
                  <a:srgbClr val="94A3B8"/>
                </a:solidFill>
                <a:latin typeface="Arial"/>
                <a:ea typeface="Arial"/>
                <a:cs typeface="Arial"/>
                <a:sym typeface="Arial"/>
              </a:rPr>
              <a:t>[ Name ]</a:t>
            </a:r>
            <a:endParaRPr sz="800">
              <a:solidFill>
                <a:schemeClr val="dk1"/>
              </a:solidFill>
              <a:latin typeface="Calibri"/>
              <a:ea typeface="Calibri"/>
              <a:cs typeface="Calibri"/>
              <a:sym typeface="Calibri"/>
            </a:endParaRPr>
          </a:p>
        </p:txBody>
      </p:sp>
      <p:sp>
        <p:nvSpPr>
          <p:cNvPr id="1378" name="Google Shape;1378;p56"/>
          <p:cNvSpPr/>
          <p:nvPr/>
        </p:nvSpPr>
        <p:spPr>
          <a:xfrm>
            <a:off x="805536" y="2114261"/>
            <a:ext cx="91980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800"/>
              <a:buFont typeface="Arial"/>
              <a:buNone/>
            </a:pPr>
            <a:r>
              <a:rPr b="1" lang="en-GB" sz="800">
                <a:solidFill>
                  <a:srgbClr val="1C2B3E"/>
                </a:solidFill>
                <a:latin typeface="Arial"/>
                <a:ea typeface="Arial"/>
                <a:cs typeface="Arial"/>
                <a:sym typeface="Arial"/>
              </a:rPr>
              <a:t>Team B</a:t>
            </a:r>
            <a:endParaRPr sz="800">
              <a:solidFill>
                <a:schemeClr val="dk1"/>
              </a:solidFill>
              <a:latin typeface="Calibri"/>
              <a:ea typeface="Calibri"/>
              <a:cs typeface="Calibri"/>
              <a:sym typeface="Calibri"/>
            </a:endParaRPr>
          </a:p>
        </p:txBody>
      </p:sp>
      <p:sp>
        <p:nvSpPr>
          <p:cNvPr id="1379" name="Google Shape;1379;p56"/>
          <p:cNvSpPr/>
          <p:nvPr/>
        </p:nvSpPr>
        <p:spPr>
          <a:xfrm>
            <a:off x="1593921" y="2114261"/>
            <a:ext cx="16269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800"/>
              <a:buFont typeface="Arial"/>
              <a:buNone/>
            </a:pPr>
            <a:r>
              <a:rPr i="1" lang="en-GB" sz="800">
                <a:solidFill>
                  <a:srgbClr val="94A3B8"/>
                </a:solidFill>
                <a:latin typeface="Arial"/>
                <a:ea typeface="Arial"/>
                <a:cs typeface="Arial"/>
                <a:sym typeface="Arial"/>
              </a:rPr>
              <a:t>[ Name ]</a:t>
            </a:r>
            <a:endParaRPr sz="800">
              <a:solidFill>
                <a:schemeClr val="dk1"/>
              </a:solidFill>
              <a:latin typeface="Calibri"/>
              <a:ea typeface="Calibri"/>
              <a:cs typeface="Calibri"/>
              <a:sym typeface="Calibri"/>
            </a:endParaRPr>
          </a:p>
        </p:txBody>
      </p:sp>
      <p:sp>
        <p:nvSpPr>
          <p:cNvPr id="1380" name="Google Shape;1380;p56"/>
          <p:cNvSpPr/>
          <p:nvPr/>
        </p:nvSpPr>
        <p:spPr>
          <a:xfrm>
            <a:off x="3220950" y="2114261"/>
            <a:ext cx="16269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800"/>
              <a:buFont typeface="Arial"/>
              <a:buNone/>
            </a:pPr>
            <a:r>
              <a:rPr i="1" lang="en-GB" sz="800">
                <a:solidFill>
                  <a:srgbClr val="94A3B8"/>
                </a:solidFill>
                <a:latin typeface="Arial"/>
                <a:ea typeface="Arial"/>
                <a:cs typeface="Arial"/>
                <a:sym typeface="Arial"/>
              </a:rPr>
              <a:t>[ Name ]</a:t>
            </a:r>
            <a:endParaRPr sz="800">
              <a:solidFill>
                <a:schemeClr val="dk1"/>
              </a:solidFill>
              <a:latin typeface="Calibri"/>
              <a:ea typeface="Calibri"/>
              <a:cs typeface="Calibri"/>
              <a:sym typeface="Calibri"/>
            </a:endParaRPr>
          </a:p>
        </p:txBody>
      </p:sp>
      <p:sp>
        <p:nvSpPr>
          <p:cNvPr id="1381" name="Google Shape;1381;p56"/>
          <p:cNvSpPr/>
          <p:nvPr/>
        </p:nvSpPr>
        <p:spPr>
          <a:xfrm>
            <a:off x="4847979" y="2114261"/>
            <a:ext cx="16269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800"/>
              <a:buFont typeface="Arial"/>
              <a:buNone/>
            </a:pPr>
            <a:r>
              <a:rPr i="1" lang="en-GB" sz="800">
                <a:solidFill>
                  <a:srgbClr val="94A3B8"/>
                </a:solidFill>
                <a:latin typeface="Arial"/>
                <a:ea typeface="Arial"/>
                <a:cs typeface="Arial"/>
                <a:sym typeface="Arial"/>
              </a:rPr>
              <a:t>[ Name ]</a:t>
            </a:r>
            <a:endParaRPr sz="800">
              <a:solidFill>
                <a:schemeClr val="dk1"/>
              </a:solidFill>
              <a:latin typeface="Calibri"/>
              <a:ea typeface="Calibri"/>
              <a:cs typeface="Calibri"/>
              <a:sym typeface="Calibri"/>
            </a:endParaRPr>
          </a:p>
        </p:txBody>
      </p:sp>
      <p:sp>
        <p:nvSpPr>
          <p:cNvPr id="1382" name="Google Shape;1382;p56"/>
          <p:cNvSpPr/>
          <p:nvPr/>
        </p:nvSpPr>
        <p:spPr>
          <a:xfrm>
            <a:off x="6475007" y="2114261"/>
            <a:ext cx="16269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800"/>
              <a:buFont typeface="Arial"/>
              <a:buNone/>
            </a:pPr>
            <a:r>
              <a:rPr i="1" lang="en-GB" sz="800">
                <a:solidFill>
                  <a:srgbClr val="94A3B8"/>
                </a:solidFill>
                <a:latin typeface="Arial"/>
                <a:ea typeface="Arial"/>
                <a:cs typeface="Arial"/>
                <a:sym typeface="Arial"/>
              </a:rPr>
              <a:t>[ Name ]</a:t>
            </a:r>
            <a:endParaRPr sz="800">
              <a:solidFill>
                <a:schemeClr val="dk1"/>
              </a:solidFill>
              <a:latin typeface="Calibri"/>
              <a:ea typeface="Calibri"/>
              <a:cs typeface="Calibri"/>
              <a:sym typeface="Calibri"/>
            </a:endParaRPr>
          </a:p>
        </p:txBody>
      </p:sp>
      <p:sp>
        <p:nvSpPr>
          <p:cNvPr id="1383" name="Google Shape;1383;p56"/>
          <p:cNvSpPr/>
          <p:nvPr/>
        </p:nvSpPr>
        <p:spPr>
          <a:xfrm>
            <a:off x="647859" y="2498310"/>
            <a:ext cx="7848300" cy="342900"/>
          </a:xfrm>
          <a:prstGeom prst="roundRect">
            <a:avLst>
              <a:gd fmla="val 12000" name="adj"/>
            </a:avLst>
          </a:pr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384" name="Google Shape;1384;p56"/>
          <p:cNvSpPr/>
          <p:nvPr/>
        </p:nvSpPr>
        <p:spPr>
          <a:xfrm>
            <a:off x="805536" y="2498310"/>
            <a:ext cx="91980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800"/>
              <a:buFont typeface="Arial"/>
              <a:buNone/>
            </a:pPr>
            <a:r>
              <a:rPr b="1" lang="en-GB" sz="800">
                <a:solidFill>
                  <a:srgbClr val="1C2B3E"/>
                </a:solidFill>
                <a:latin typeface="Arial"/>
                <a:ea typeface="Arial"/>
                <a:cs typeface="Arial"/>
                <a:sym typeface="Arial"/>
              </a:rPr>
              <a:t>Team C</a:t>
            </a:r>
            <a:endParaRPr sz="800">
              <a:solidFill>
                <a:schemeClr val="dk1"/>
              </a:solidFill>
              <a:latin typeface="Calibri"/>
              <a:ea typeface="Calibri"/>
              <a:cs typeface="Calibri"/>
              <a:sym typeface="Calibri"/>
            </a:endParaRPr>
          </a:p>
        </p:txBody>
      </p:sp>
      <p:sp>
        <p:nvSpPr>
          <p:cNvPr id="1385" name="Google Shape;1385;p56"/>
          <p:cNvSpPr/>
          <p:nvPr/>
        </p:nvSpPr>
        <p:spPr>
          <a:xfrm>
            <a:off x="1593921" y="2498310"/>
            <a:ext cx="16269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800"/>
              <a:buFont typeface="Arial"/>
              <a:buNone/>
            </a:pPr>
            <a:r>
              <a:rPr i="1" lang="en-GB" sz="800">
                <a:solidFill>
                  <a:srgbClr val="94A3B8"/>
                </a:solidFill>
                <a:latin typeface="Arial"/>
                <a:ea typeface="Arial"/>
                <a:cs typeface="Arial"/>
                <a:sym typeface="Arial"/>
              </a:rPr>
              <a:t>[ Name ]</a:t>
            </a:r>
            <a:endParaRPr sz="800">
              <a:solidFill>
                <a:schemeClr val="dk1"/>
              </a:solidFill>
              <a:latin typeface="Calibri"/>
              <a:ea typeface="Calibri"/>
              <a:cs typeface="Calibri"/>
              <a:sym typeface="Calibri"/>
            </a:endParaRPr>
          </a:p>
        </p:txBody>
      </p:sp>
      <p:sp>
        <p:nvSpPr>
          <p:cNvPr id="1386" name="Google Shape;1386;p56"/>
          <p:cNvSpPr/>
          <p:nvPr/>
        </p:nvSpPr>
        <p:spPr>
          <a:xfrm>
            <a:off x="3220950" y="2498310"/>
            <a:ext cx="16269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800"/>
              <a:buFont typeface="Arial"/>
              <a:buNone/>
            </a:pPr>
            <a:r>
              <a:rPr i="1" lang="en-GB" sz="800">
                <a:solidFill>
                  <a:srgbClr val="94A3B8"/>
                </a:solidFill>
                <a:latin typeface="Arial"/>
                <a:ea typeface="Arial"/>
                <a:cs typeface="Arial"/>
                <a:sym typeface="Arial"/>
              </a:rPr>
              <a:t>[ Name ]</a:t>
            </a:r>
            <a:endParaRPr sz="800">
              <a:solidFill>
                <a:schemeClr val="dk1"/>
              </a:solidFill>
              <a:latin typeface="Calibri"/>
              <a:ea typeface="Calibri"/>
              <a:cs typeface="Calibri"/>
              <a:sym typeface="Calibri"/>
            </a:endParaRPr>
          </a:p>
        </p:txBody>
      </p:sp>
      <p:sp>
        <p:nvSpPr>
          <p:cNvPr id="1387" name="Google Shape;1387;p56"/>
          <p:cNvSpPr/>
          <p:nvPr/>
        </p:nvSpPr>
        <p:spPr>
          <a:xfrm>
            <a:off x="4847979" y="2498310"/>
            <a:ext cx="16269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800"/>
              <a:buFont typeface="Arial"/>
              <a:buNone/>
            </a:pPr>
            <a:r>
              <a:rPr i="1" lang="en-GB" sz="800">
                <a:solidFill>
                  <a:srgbClr val="94A3B8"/>
                </a:solidFill>
                <a:latin typeface="Arial"/>
                <a:ea typeface="Arial"/>
                <a:cs typeface="Arial"/>
                <a:sym typeface="Arial"/>
              </a:rPr>
              <a:t>[ Name ]</a:t>
            </a:r>
            <a:endParaRPr sz="800">
              <a:solidFill>
                <a:schemeClr val="dk1"/>
              </a:solidFill>
              <a:latin typeface="Calibri"/>
              <a:ea typeface="Calibri"/>
              <a:cs typeface="Calibri"/>
              <a:sym typeface="Calibri"/>
            </a:endParaRPr>
          </a:p>
        </p:txBody>
      </p:sp>
      <p:sp>
        <p:nvSpPr>
          <p:cNvPr id="1388" name="Google Shape;1388;p56"/>
          <p:cNvSpPr/>
          <p:nvPr/>
        </p:nvSpPr>
        <p:spPr>
          <a:xfrm>
            <a:off x="6475007" y="2498310"/>
            <a:ext cx="16269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800"/>
              <a:buFont typeface="Arial"/>
              <a:buNone/>
            </a:pPr>
            <a:r>
              <a:rPr i="1" lang="en-GB" sz="800">
                <a:solidFill>
                  <a:srgbClr val="94A3B8"/>
                </a:solidFill>
                <a:latin typeface="Arial"/>
                <a:ea typeface="Arial"/>
                <a:cs typeface="Arial"/>
                <a:sym typeface="Arial"/>
              </a:rPr>
              <a:t>[ Name ]</a:t>
            </a:r>
            <a:endParaRPr sz="800">
              <a:solidFill>
                <a:schemeClr val="dk1"/>
              </a:solidFill>
              <a:latin typeface="Calibri"/>
              <a:ea typeface="Calibri"/>
              <a:cs typeface="Calibri"/>
              <a:sym typeface="Calibri"/>
            </a:endParaRPr>
          </a:p>
        </p:txBody>
      </p:sp>
      <p:sp>
        <p:nvSpPr>
          <p:cNvPr id="1389" name="Google Shape;1389;p56"/>
          <p:cNvSpPr/>
          <p:nvPr/>
        </p:nvSpPr>
        <p:spPr>
          <a:xfrm>
            <a:off x="805536" y="2882359"/>
            <a:ext cx="91980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800"/>
              <a:buFont typeface="Arial"/>
              <a:buNone/>
            </a:pPr>
            <a:r>
              <a:rPr b="1" lang="en-GB" sz="800">
                <a:solidFill>
                  <a:srgbClr val="1C2B3E"/>
                </a:solidFill>
                <a:latin typeface="Arial"/>
                <a:ea typeface="Arial"/>
                <a:cs typeface="Arial"/>
                <a:sym typeface="Arial"/>
              </a:rPr>
              <a:t>Team D</a:t>
            </a:r>
            <a:endParaRPr sz="800">
              <a:solidFill>
                <a:schemeClr val="dk1"/>
              </a:solidFill>
              <a:latin typeface="Calibri"/>
              <a:ea typeface="Calibri"/>
              <a:cs typeface="Calibri"/>
              <a:sym typeface="Calibri"/>
            </a:endParaRPr>
          </a:p>
        </p:txBody>
      </p:sp>
      <p:sp>
        <p:nvSpPr>
          <p:cNvPr id="1390" name="Google Shape;1390;p56"/>
          <p:cNvSpPr/>
          <p:nvPr/>
        </p:nvSpPr>
        <p:spPr>
          <a:xfrm>
            <a:off x="1593921" y="2882359"/>
            <a:ext cx="16269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800"/>
              <a:buFont typeface="Arial"/>
              <a:buNone/>
            </a:pPr>
            <a:r>
              <a:rPr i="1" lang="en-GB" sz="800">
                <a:solidFill>
                  <a:srgbClr val="94A3B8"/>
                </a:solidFill>
                <a:latin typeface="Arial"/>
                <a:ea typeface="Arial"/>
                <a:cs typeface="Arial"/>
                <a:sym typeface="Arial"/>
              </a:rPr>
              <a:t>[ Name ]</a:t>
            </a:r>
            <a:endParaRPr sz="800">
              <a:solidFill>
                <a:schemeClr val="dk1"/>
              </a:solidFill>
              <a:latin typeface="Calibri"/>
              <a:ea typeface="Calibri"/>
              <a:cs typeface="Calibri"/>
              <a:sym typeface="Calibri"/>
            </a:endParaRPr>
          </a:p>
        </p:txBody>
      </p:sp>
      <p:sp>
        <p:nvSpPr>
          <p:cNvPr id="1391" name="Google Shape;1391;p56"/>
          <p:cNvSpPr/>
          <p:nvPr/>
        </p:nvSpPr>
        <p:spPr>
          <a:xfrm>
            <a:off x="3220950" y="2882359"/>
            <a:ext cx="16269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800"/>
              <a:buFont typeface="Arial"/>
              <a:buNone/>
            </a:pPr>
            <a:r>
              <a:rPr i="1" lang="en-GB" sz="800">
                <a:solidFill>
                  <a:srgbClr val="94A3B8"/>
                </a:solidFill>
                <a:latin typeface="Arial"/>
                <a:ea typeface="Arial"/>
                <a:cs typeface="Arial"/>
                <a:sym typeface="Arial"/>
              </a:rPr>
              <a:t>[ Name ]</a:t>
            </a:r>
            <a:endParaRPr sz="800">
              <a:solidFill>
                <a:schemeClr val="dk1"/>
              </a:solidFill>
              <a:latin typeface="Calibri"/>
              <a:ea typeface="Calibri"/>
              <a:cs typeface="Calibri"/>
              <a:sym typeface="Calibri"/>
            </a:endParaRPr>
          </a:p>
        </p:txBody>
      </p:sp>
      <p:sp>
        <p:nvSpPr>
          <p:cNvPr id="1392" name="Google Shape;1392;p56"/>
          <p:cNvSpPr/>
          <p:nvPr/>
        </p:nvSpPr>
        <p:spPr>
          <a:xfrm>
            <a:off x="4847979" y="2882359"/>
            <a:ext cx="16269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800"/>
              <a:buFont typeface="Arial"/>
              <a:buNone/>
            </a:pPr>
            <a:r>
              <a:rPr i="1" lang="en-GB" sz="800">
                <a:solidFill>
                  <a:srgbClr val="94A3B8"/>
                </a:solidFill>
                <a:latin typeface="Arial"/>
                <a:ea typeface="Arial"/>
                <a:cs typeface="Arial"/>
                <a:sym typeface="Arial"/>
              </a:rPr>
              <a:t>[ Name ]</a:t>
            </a:r>
            <a:endParaRPr sz="800">
              <a:solidFill>
                <a:schemeClr val="dk1"/>
              </a:solidFill>
              <a:latin typeface="Calibri"/>
              <a:ea typeface="Calibri"/>
              <a:cs typeface="Calibri"/>
              <a:sym typeface="Calibri"/>
            </a:endParaRPr>
          </a:p>
        </p:txBody>
      </p:sp>
      <p:sp>
        <p:nvSpPr>
          <p:cNvPr id="1393" name="Google Shape;1393;p56"/>
          <p:cNvSpPr/>
          <p:nvPr/>
        </p:nvSpPr>
        <p:spPr>
          <a:xfrm>
            <a:off x="6475007" y="2882359"/>
            <a:ext cx="16269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800"/>
              <a:buFont typeface="Arial"/>
              <a:buNone/>
            </a:pPr>
            <a:r>
              <a:rPr i="1" lang="en-GB" sz="800">
                <a:solidFill>
                  <a:srgbClr val="94A3B8"/>
                </a:solidFill>
                <a:latin typeface="Arial"/>
                <a:ea typeface="Arial"/>
                <a:cs typeface="Arial"/>
                <a:sym typeface="Arial"/>
              </a:rPr>
              <a:t>[ Name ]</a:t>
            </a:r>
            <a:endParaRPr sz="800">
              <a:solidFill>
                <a:schemeClr val="dk1"/>
              </a:solidFill>
              <a:latin typeface="Calibri"/>
              <a:ea typeface="Calibri"/>
              <a:cs typeface="Calibri"/>
              <a:sym typeface="Calibri"/>
            </a:endParaRPr>
          </a:p>
        </p:txBody>
      </p:sp>
      <p:sp>
        <p:nvSpPr>
          <p:cNvPr id="1394" name="Google Shape;1394;p56"/>
          <p:cNvSpPr/>
          <p:nvPr/>
        </p:nvSpPr>
        <p:spPr>
          <a:xfrm>
            <a:off x="411500" y="3636749"/>
            <a:ext cx="8321400" cy="733500"/>
          </a:xfrm>
          <a:prstGeom prst="roundRect">
            <a:avLst>
              <a:gd fmla="val 8571" name="adj"/>
            </a:avLst>
          </a:prstGeom>
          <a:solidFill>
            <a:srgbClr val="FBEBD9"/>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395" name="Google Shape;1395;p56"/>
          <p:cNvSpPr/>
          <p:nvPr/>
        </p:nvSpPr>
        <p:spPr>
          <a:xfrm>
            <a:off x="562376" y="3773900"/>
            <a:ext cx="205800" cy="205800"/>
          </a:xfrm>
          <a:prstGeom prst="roundRect">
            <a:avLst>
              <a:gd fmla="val 22000" name="adj"/>
            </a:avLst>
          </a:prstGeom>
          <a:solidFill>
            <a:srgbClr val="E8821E"/>
          </a:solidFill>
          <a:ln>
            <a:noFill/>
          </a:ln>
        </p:spPr>
        <p:txBody>
          <a:bodyPr anchorCtr="0" anchor="t" bIns="22350" lIns="44750" spcFirstLastPara="1" rIns="44750" wrap="square" tIns="22350">
            <a:noAutofit/>
          </a:bodyPr>
          <a:lstStyle/>
          <a:p>
            <a:pPr indent="0" lvl="0" marL="0" marR="0" rtl="0" algn="l">
              <a:spcBef>
                <a:spcPts val="0"/>
              </a:spcBef>
              <a:spcAft>
                <a:spcPts val="0"/>
              </a:spcAft>
              <a:buNone/>
            </a:pPr>
            <a:r>
              <a:t/>
            </a:r>
            <a:endParaRPr sz="913">
              <a:solidFill>
                <a:schemeClr val="dk1"/>
              </a:solidFill>
              <a:latin typeface="Calibri"/>
              <a:ea typeface="Calibri"/>
              <a:cs typeface="Calibri"/>
              <a:sym typeface="Calibri"/>
            </a:endParaRPr>
          </a:p>
        </p:txBody>
      </p:sp>
      <p:pic>
        <p:nvPicPr>
          <p:cNvPr descr="/home/claude/maia/icons/FiHash_white.png" id="1396" name="Google Shape;1396;p56"/>
          <p:cNvPicPr preferRelativeResize="0"/>
          <p:nvPr/>
        </p:nvPicPr>
        <p:blipFill rotWithShape="1">
          <a:blip r:embed="rId3">
            <a:alphaModFix/>
          </a:blip>
          <a:srcRect b="0" l="0" r="0" t="0"/>
          <a:stretch/>
        </p:blipFill>
        <p:spPr>
          <a:xfrm>
            <a:off x="608690" y="3820211"/>
            <a:ext cx="113203" cy="113203"/>
          </a:xfrm>
          <a:prstGeom prst="rect">
            <a:avLst/>
          </a:prstGeom>
          <a:noFill/>
          <a:ln>
            <a:noFill/>
          </a:ln>
        </p:spPr>
      </p:pic>
      <p:sp>
        <p:nvSpPr>
          <p:cNvPr id="1397" name="Google Shape;1397;p56"/>
          <p:cNvSpPr/>
          <p:nvPr/>
        </p:nvSpPr>
        <p:spPr>
          <a:xfrm>
            <a:off x="828004" y="3760189"/>
            <a:ext cx="7566900" cy="233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1000"/>
              <a:buFont typeface="Arial"/>
              <a:buNone/>
            </a:pPr>
            <a:r>
              <a:rPr b="1" lang="en-GB" sz="1000">
                <a:solidFill>
                  <a:srgbClr val="1C2B3E"/>
                </a:solidFill>
              </a:rPr>
              <a:t>N</a:t>
            </a:r>
            <a:r>
              <a:rPr b="1" lang="en-GB" sz="1000">
                <a:solidFill>
                  <a:srgbClr val="1C2B3E"/>
                </a:solidFill>
                <a:latin typeface="Arial"/>
                <a:ea typeface="Arial"/>
                <a:cs typeface="Arial"/>
                <a:sym typeface="Arial"/>
              </a:rPr>
              <a:t>aming convention</a:t>
            </a:r>
            <a:endParaRPr sz="1000">
              <a:solidFill>
                <a:schemeClr val="dk1"/>
              </a:solidFill>
              <a:latin typeface="Calibri"/>
              <a:ea typeface="Calibri"/>
              <a:cs typeface="Calibri"/>
              <a:sym typeface="Calibri"/>
            </a:endParaRPr>
          </a:p>
        </p:txBody>
      </p:sp>
      <p:sp>
        <p:nvSpPr>
          <p:cNvPr id="1398" name="Google Shape;1398;p56"/>
          <p:cNvSpPr/>
          <p:nvPr/>
        </p:nvSpPr>
        <p:spPr>
          <a:xfrm>
            <a:off x="562375" y="4069605"/>
            <a:ext cx="8019600" cy="233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B3E"/>
              </a:buClr>
              <a:buSzPts val="900"/>
              <a:buFont typeface="Arial"/>
              <a:buNone/>
            </a:pPr>
            <a:r>
              <a:rPr lang="en-GB" sz="900">
                <a:solidFill>
                  <a:srgbClr val="1C2B3E"/>
                </a:solidFill>
                <a:latin typeface="Arial"/>
                <a:ea typeface="Arial"/>
                <a:cs typeface="Arial"/>
                <a:sym typeface="Arial"/>
              </a:rPr>
              <a:t>Type your team letter (A, B, C…) into the customer reference / notes field when confirming the SO — it hel</a:t>
            </a:r>
            <a:r>
              <a:rPr lang="en-GB" sz="900">
                <a:solidFill>
                  <a:srgbClr val="1C2B3E"/>
                </a:solidFill>
                <a:latin typeface="Arial"/>
                <a:ea typeface="Arial"/>
                <a:cs typeface="Arial"/>
                <a:sym typeface="Arial"/>
              </a:rPr>
              <a:t>p</a:t>
            </a:r>
            <a:r>
              <a:rPr lang="en-GB" sz="900">
                <a:solidFill>
                  <a:srgbClr val="1C2B3E"/>
                </a:solidFill>
                <a:latin typeface="Arial"/>
                <a:ea typeface="Arial"/>
                <a:cs typeface="Arial"/>
                <a:sym typeface="Arial"/>
              </a:rPr>
              <a:t>s the facilitator filter documents</a:t>
            </a:r>
            <a:r>
              <a:rPr lang="en-GB" sz="900">
                <a:solidFill>
                  <a:srgbClr val="1C2B3E"/>
                </a:solidFill>
              </a:rPr>
              <a:t>.</a:t>
            </a:r>
            <a:endParaRPr sz="900">
              <a:solidFill>
                <a:schemeClr val="dk1"/>
              </a:solidFill>
              <a:latin typeface="Calibri"/>
              <a:ea typeface="Calibri"/>
              <a:cs typeface="Calibri"/>
              <a:sym typeface="Calibri"/>
            </a:endParaRPr>
          </a:p>
        </p:txBody>
      </p:sp>
      <p:sp>
        <p:nvSpPr>
          <p:cNvPr id="1399" name="Google Shape;1399;p56"/>
          <p:cNvSpPr txBox="1"/>
          <p:nvPr>
            <p:ph idx="12" type="sldNum"/>
          </p:nvPr>
        </p:nvSpPr>
        <p:spPr>
          <a:xfrm>
            <a:off x="8347216" y="4750189"/>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04" name="Shape 1404"/>
        <p:cNvGrpSpPr/>
        <p:nvPr/>
      </p:nvGrpSpPr>
      <p:grpSpPr>
        <a:xfrm>
          <a:off x="0" y="0"/>
          <a:ext cx="0" cy="0"/>
          <a:chOff x="0" y="0"/>
          <a:chExt cx="0" cy="0"/>
        </a:xfrm>
      </p:grpSpPr>
      <p:sp>
        <p:nvSpPr>
          <p:cNvPr id="1405" name="Google Shape;1405;p57"/>
          <p:cNvSpPr/>
          <p:nvPr/>
        </p:nvSpPr>
        <p:spPr>
          <a:xfrm>
            <a:off x="411502" y="260604"/>
            <a:ext cx="6858366"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GAME</a:t>
            </a:r>
            <a:endParaRPr sz="800">
              <a:solidFill>
                <a:schemeClr val="dk1"/>
              </a:solidFill>
              <a:latin typeface="Calibri"/>
              <a:ea typeface="Calibri"/>
              <a:cs typeface="Calibri"/>
              <a:sym typeface="Calibri"/>
            </a:endParaRPr>
          </a:p>
        </p:txBody>
      </p:sp>
      <p:sp>
        <p:nvSpPr>
          <p:cNvPr id="1406" name="Google Shape;1406;p57"/>
          <p:cNvSpPr/>
          <p:nvPr/>
        </p:nvSpPr>
        <p:spPr>
          <a:xfrm>
            <a:off x="411502" y="438912"/>
            <a:ext cx="8321255" cy="4800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C2B3E"/>
              </a:buClr>
              <a:buSzPts val="2200"/>
              <a:buFont typeface="Arial"/>
              <a:buNone/>
            </a:pPr>
            <a:r>
              <a:rPr b="1" lang="en-GB" sz="2200">
                <a:solidFill>
                  <a:srgbClr val="1C2B3E"/>
                </a:solidFill>
                <a:latin typeface="Poppins"/>
                <a:ea typeface="Poppins"/>
                <a:cs typeface="Poppins"/>
                <a:sym typeface="Poppins"/>
              </a:rPr>
              <a:t>Make sure you are connected.</a:t>
            </a:r>
            <a:endParaRPr sz="2200">
              <a:solidFill>
                <a:schemeClr val="dk1"/>
              </a:solidFill>
              <a:latin typeface="Poppins"/>
              <a:ea typeface="Poppins"/>
              <a:cs typeface="Poppins"/>
              <a:sym typeface="Poppins"/>
            </a:endParaRPr>
          </a:p>
        </p:txBody>
      </p:sp>
      <p:sp>
        <p:nvSpPr>
          <p:cNvPr id="1407" name="Google Shape;1407;p57"/>
          <p:cNvSpPr txBox="1"/>
          <p:nvPr>
            <p:ph idx="12" type="sldNum"/>
          </p:nvPr>
        </p:nvSpPr>
        <p:spPr>
          <a:xfrm>
            <a:off x="8347216" y="4750189"/>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408" name="Google Shape;1408;p57"/>
          <p:cNvSpPr/>
          <p:nvPr/>
        </p:nvSpPr>
        <p:spPr>
          <a:xfrm>
            <a:off x="5056750" y="1349700"/>
            <a:ext cx="2331900" cy="3031500"/>
          </a:xfrm>
          <a:prstGeom prst="roundRect">
            <a:avLst>
              <a:gd fmla="val 5876" name="adj"/>
            </a:avLst>
          </a:prstGeom>
          <a:solidFill>
            <a:srgbClr val="FFFFFF"/>
          </a:solidFill>
          <a:ln cap="flat" cmpd="sng" w="12700">
            <a:solidFill>
              <a:srgbClr val="E3E8EF"/>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rgbClr val="1B2B3E"/>
              </a:solidFill>
              <a:latin typeface="Calibri"/>
              <a:ea typeface="Calibri"/>
              <a:cs typeface="Calibri"/>
              <a:sym typeface="Calibri"/>
            </a:endParaRPr>
          </a:p>
        </p:txBody>
      </p:sp>
      <p:sp>
        <p:nvSpPr>
          <p:cNvPr id="1409" name="Google Shape;1409;p57"/>
          <p:cNvSpPr/>
          <p:nvPr/>
        </p:nvSpPr>
        <p:spPr>
          <a:xfrm>
            <a:off x="1755350" y="1349700"/>
            <a:ext cx="2331900" cy="3031500"/>
          </a:xfrm>
          <a:prstGeom prst="roundRect">
            <a:avLst>
              <a:gd fmla="val 5876" name="adj"/>
            </a:avLst>
          </a:prstGeom>
          <a:solidFill>
            <a:srgbClr val="FFFFFF"/>
          </a:solidFill>
          <a:ln cap="flat" cmpd="sng" w="12700">
            <a:solidFill>
              <a:srgbClr val="E3E8EF"/>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rgbClr val="1B2B3E"/>
              </a:solidFill>
              <a:latin typeface="Calibri"/>
              <a:ea typeface="Calibri"/>
              <a:cs typeface="Calibri"/>
              <a:sym typeface="Calibri"/>
            </a:endParaRPr>
          </a:p>
        </p:txBody>
      </p:sp>
      <p:pic>
        <p:nvPicPr>
          <p:cNvPr id="1410" name="Google Shape;1410;p57"/>
          <p:cNvPicPr preferRelativeResize="0"/>
          <p:nvPr/>
        </p:nvPicPr>
        <p:blipFill rotWithShape="1">
          <a:blip r:embed="rId3">
            <a:alphaModFix/>
          </a:blip>
          <a:srcRect b="35536" l="26013" r="26046" t="39398"/>
          <a:stretch/>
        </p:blipFill>
        <p:spPr>
          <a:xfrm>
            <a:off x="5211650" y="1500550"/>
            <a:ext cx="2022100" cy="2029901"/>
          </a:xfrm>
          <a:prstGeom prst="rect">
            <a:avLst/>
          </a:prstGeom>
          <a:noFill/>
          <a:ln>
            <a:noFill/>
          </a:ln>
        </p:spPr>
      </p:pic>
      <p:sp>
        <p:nvSpPr>
          <p:cNvPr id="1411" name="Google Shape;1411;p57"/>
          <p:cNvSpPr txBox="1"/>
          <p:nvPr/>
        </p:nvSpPr>
        <p:spPr>
          <a:xfrm>
            <a:off x="1919000" y="3712127"/>
            <a:ext cx="2004600" cy="4800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GB" sz="1200">
                <a:solidFill>
                  <a:srgbClr val="76889B"/>
                </a:solidFill>
              </a:rPr>
              <a:t>WhatsApp</a:t>
            </a:r>
            <a:endParaRPr sz="1200">
              <a:solidFill>
                <a:srgbClr val="76889B"/>
              </a:solidFill>
            </a:endParaRPr>
          </a:p>
          <a:p>
            <a:pPr indent="0" lvl="0" marL="0" rtl="0" algn="ctr">
              <a:spcBef>
                <a:spcPts val="0"/>
              </a:spcBef>
              <a:spcAft>
                <a:spcPts val="0"/>
              </a:spcAft>
              <a:buNone/>
            </a:pPr>
            <a:r>
              <a:rPr b="1" lang="en-GB">
                <a:solidFill>
                  <a:srgbClr val="44546A"/>
                </a:solidFill>
              </a:rPr>
              <a:t>+6011-1987 6806</a:t>
            </a:r>
            <a:endParaRPr b="1">
              <a:solidFill>
                <a:srgbClr val="44546A"/>
              </a:solidFill>
            </a:endParaRPr>
          </a:p>
        </p:txBody>
      </p:sp>
      <p:pic>
        <p:nvPicPr>
          <p:cNvPr id="1412" name="Google Shape;1412;p57" title="MAIA Demo - Hi.png"/>
          <p:cNvPicPr preferRelativeResize="0"/>
          <p:nvPr/>
        </p:nvPicPr>
        <p:blipFill rotWithShape="1">
          <a:blip r:embed="rId4">
            <a:alphaModFix/>
          </a:blip>
          <a:srcRect b="2896" l="4065" r="3128" t="4297"/>
          <a:stretch/>
        </p:blipFill>
        <p:spPr>
          <a:xfrm>
            <a:off x="1910251" y="1504463"/>
            <a:ext cx="2022100" cy="2022073"/>
          </a:xfrm>
          <a:prstGeom prst="rect">
            <a:avLst/>
          </a:prstGeom>
          <a:noFill/>
          <a:ln>
            <a:noFill/>
          </a:ln>
        </p:spPr>
      </p:pic>
      <p:sp>
        <p:nvSpPr>
          <p:cNvPr id="1413" name="Google Shape;1413;p57"/>
          <p:cNvSpPr txBox="1"/>
          <p:nvPr/>
        </p:nvSpPr>
        <p:spPr>
          <a:xfrm>
            <a:off x="5220400" y="3712127"/>
            <a:ext cx="2004600" cy="4800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GB" sz="1200">
                <a:solidFill>
                  <a:srgbClr val="76889B"/>
                </a:solidFill>
              </a:rPr>
              <a:t>Telegram</a:t>
            </a:r>
            <a:endParaRPr sz="1200">
              <a:solidFill>
                <a:srgbClr val="76889B"/>
              </a:solidFill>
            </a:endParaRPr>
          </a:p>
          <a:p>
            <a:pPr indent="0" lvl="0" marL="0" rtl="0" algn="ctr">
              <a:spcBef>
                <a:spcPts val="0"/>
              </a:spcBef>
              <a:spcAft>
                <a:spcPts val="0"/>
              </a:spcAft>
              <a:buNone/>
            </a:pPr>
            <a:r>
              <a:rPr b="1" lang="en-GB">
                <a:solidFill>
                  <a:schemeClr val="dk2"/>
                </a:solidFill>
              </a:rPr>
              <a:t>@maia_demo_bot</a:t>
            </a:r>
            <a:endParaRPr b="1">
              <a:solidFill>
                <a:srgbClr val="44546A"/>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18" name="Shape 1418"/>
        <p:cNvGrpSpPr/>
        <p:nvPr/>
      </p:nvGrpSpPr>
      <p:grpSpPr>
        <a:xfrm>
          <a:off x="0" y="0"/>
          <a:ext cx="0" cy="0"/>
          <a:chOff x="0" y="0"/>
          <a:chExt cx="0" cy="0"/>
        </a:xfrm>
      </p:grpSpPr>
      <p:graphicFrame>
        <p:nvGraphicFramePr>
          <p:cNvPr id="1419" name="Google Shape;1419;p58"/>
          <p:cNvGraphicFramePr/>
          <p:nvPr/>
        </p:nvGraphicFramePr>
        <p:xfrm>
          <a:off x="411488" y="1200525"/>
          <a:ext cx="3000000" cy="3000000"/>
        </p:xfrm>
        <a:graphic>
          <a:graphicData uri="http://schemas.openxmlformats.org/drawingml/2006/table">
            <a:tbl>
              <a:tblPr>
                <a:noFill/>
                <a:tableStyleId>{EBF32AB1-0267-494F-B4B6-53FBB97378B1}</a:tableStyleId>
              </a:tblPr>
              <a:tblGrid>
                <a:gridCol w="750975"/>
                <a:gridCol w="2315375"/>
                <a:gridCol w="3927050"/>
              </a:tblGrid>
              <a:tr h="647575">
                <a:tc>
                  <a:txBody>
                    <a:bodyPr/>
                    <a:lstStyle/>
                    <a:p>
                      <a:pPr indent="0" lvl="0" marL="0" rtl="0" algn="l">
                        <a:spcBef>
                          <a:spcPts val="0"/>
                        </a:spcBef>
                        <a:spcAft>
                          <a:spcPts val="0"/>
                        </a:spcAft>
                        <a:buNone/>
                      </a:pPr>
                      <a:r>
                        <a:t/>
                      </a:r>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rgbClr val="E3E8EF"/>
                      </a:solidFill>
                      <a:prstDash val="solid"/>
                      <a:round/>
                      <a:headEnd len="sm" w="sm" type="none"/>
                      <a:tailEnd len="sm" w="sm" type="none"/>
                    </a:lnB>
                  </a:tcPr>
                </a:tc>
                <a:tc>
                  <a:txBody>
                    <a:bodyPr/>
                    <a:lstStyle/>
                    <a:p>
                      <a:pPr indent="0" lvl="0" marL="0" rtl="0" algn="l">
                        <a:spcBef>
                          <a:spcPts val="0"/>
                        </a:spcBef>
                        <a:spcAft>
                          <a:spcPts val="0"/>
                        </a:spcAft>
                        <a:buNone/>
                      </a:pPr>
                      <a:r>
                        <a:rPr b="1" lang="en-GB" sz="1300">
                          <a:solidFill>
                            <a:srgbClr val="1C2B3E"/>
                          </a:solidFill>
                        </a:rPr>
                        <a:t>Work as a team</a:t>
                      </a:r>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rgbClr val="E3E8EF"/>
                      </a:solidFill>
                      <a:prstDash val="solid"/>
                      <a:round/>
                      <a:headEnd len="sm" w="sm" type="none"/>
                      <a:tailEnd len="sm" w="sm" type="none"/>
                    </a:lnB>
                  </a:tcPr>
                </a:tc>
                <a:tc>
                  <a:txBody>
                    <a:bodyPr/>
                    <a:lstStyle/>
                    <a:p>
                      <a:pPr indent="0" lvl="0" marL="0" rtl="0" algn="l">
                        <a:spcBef>
                          <a:spcPts val="0"/>
                        </a:spcBef>
                        <a:spcAft>
                          <a:spcPts val="0"/>
                        </a:spcAft>
                        <a:buNone/>
                      </a:pPr>
                      <a:r>
                        <a:rPr lang="en-GB" sz="1100">
                          <a:solidFill>
                            <a:srgbClr val="5B6B7D"/>
                          </a:solidFill>
                        </a:rPr>
                        <a:t>Cross-role handoffs within your team, not to other tables.</a:t>
                      </a:r>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rgbClr val="E3E8EF"/>
                      </a:solidFill>
                      <a:prstDash val="solid"/>
                      <a:round/>
                      <a:headEnd len="sm" w="sm" type="none"/>
                      <a:tailEnd len="sm" w="sm" type="none"/>
                    </a:lnB>
                  </a:tcPr>
                </a:tc>
              </a:tr>
              <a:tr h="622725">
                <a:tc>
                  <a:txBody>
                    <a:bodyPr/>
                    <a:lstStyle/>
                    <a:p>
                      <a:pPr indent="0" lvl="0" marL="0" rtl="0" algn="l">
                        <a:spcBef>
                          <a:spcPts val="0"/>
                        </a:spcBef>
                        <a:spcAft>
                          <a:spcPts val="0"/>
                        </a:spcAft>
                        <a:buNone/>
                      </a:pPr>
                      <a:r>
                        <a:t/>
                      </a:r>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rgbClr val="E3E8EF"/>
                      </a:solidFill>
                      <a:prstDash val="solid"/>
                      <a:round/>
                      <a:headEnd len="sm" w="sm" type="none"/>
                      <a:tailEnd len="sm" w="sm" type="none"/>
                    </a:lnT>
                    <a:lnB cap="flat" cmpd="sng" w="9525">
                      <a:solidFill>
                        <a:srgbClr val="E3E8EF"/>
                      </a:solidFill>
                      <a:prstDash val="solid"/>
                      <a:round/>
                      <a:headEnd len="sm" w="sm" type="none"/>
                      <a:tailEnd len="sm" w="sm" type="none"/>
                    </a:lnB>
                  </a:tcPr>
                </a:tc>
                <a:tc>
                  <a:txBody>
                    <a:bodyPr/>
                    <a:lstStyle/>
                    <a:p>
                      <a:pPr indent="0" lvl="0" marL="0" rtl="0" algn="l">
                        <a:spcBef>
                          <a:spcPts val="0"/>
                        </a:spcBef>
                        <a:spcAft>
                          <a:spcPts val="0"/>
                        </a:spcAft>
                        <a:buNone/>
                      </a:pPr>
                      <a:r>
                        <a:rPr b="1" lang="en-GB" sz="1300">
                          <a:solidFill>
                            <a:srgbClr val="1C2B3E"/>
                          </a:solidFill>
                        </a:rPr>
                        <a:t>Record every doc ID</a:t>
                      </a:r>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rgbClr val="E3E8EF"/>
                      </a:solidFill>
                      <a:prstDash val="solid"/>
                      <a:round/>
                      <a:headEnd len="sm" w="sm" type="none"/>
                      <a:tailEnd len="sm" w="sm" type="none"/>
                    </a:lnT>
                    <a:lnB cap="flat" cmpd="sng" w="9525">
                      <a:solidFill>
                        <a:srgbClr val="E3E8EF"/>
                      </a:solidFill>
                      <a:prstDash val="solid"/>
                      <a:round/>
                      <a:headEnd len="sm" w="sm" type="none"/>
                      <a:tailEnd len="sm" w="sm" type="none"/>
                    </a:lnB>
                  </a:tcPr>
                </a:tc>
                <a:tc>
                  <a:txBody>
                    <a:bodyPr/>
                    <a:lstStyle/>
                    <a:p>
                      <a:pPr indent="0" lvl="0" marL="0" rtl="0" algn="l">
                        <a:spcBef>
                          <a:spcPts val="0"/>
                        </a:spcBef>
                        <a:spcAft>
                          <a:spcPts val="0"/>
                        </a:spcAft>
                        <a:buNone/>
                      </a:pPr>
                      <a:r>
                        <a:rPr lang="en-GB" sz="1100">
                          <a:solidFill>
                            <a:srgbClr val="5B6B7D"/>
                          </a:solidFill>
                        </a:rPr>
                        <a:t>SO + DN on the board. No ID = no score.</a:t>
                      </a:r>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rgbClr val="E3E8EF"/>
                      </a:solidFill>
                      <a:prstDash val="solid"/>
                      <a:round/>
                      <a:headEnd len="sm" w="sm" type="none"/>
                      <a:tailEnd len="sm" w="sm" type="none"/>
                    </a:lnT>
                    <a:lnB cap="flat" cmpd="sng" w="9525">
                      <a:solidFill>
                        <a:srgbClr val="E3E8EF"/>
                      </a:solidFill>
                      <a:prstDash val="solid"/>
                      <a:round/>
                      <a:headEnd len="sm" w="sm" type="none"/>
                      <a:tailEnd len="sm" w="sm" type="none"/>
                    </a:lnB>
                  </a:tcPr>
                </a:tc>
              </a:tr>
              <a:tr h="647575">
                <a:tc>
                  <a:txBody>
                    <a:bodyPr/>
                    <a:lstStyle/>
                    <a:p>
                      <a:pPr indent="0" lvl="0" marL="0" rtl="0" algn="l">
                        <a:spcBef>
                          <a:spcPts val="0"/>
                        </a:spcBef>
                        <a:spcAft>
                          <a:spcPts val="0"/>
                        </a:spcAft>
                        <a:buNone/>
                      </a:pPr>
                      <a:r>
                        <a:t/>
                      </a:r>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rgbClr val="E3E8EF"/>
                      </a:solidFill>
                      <a:prstDash val="solid"/>
                      <a:round/>
                      <a:headEnd len="sm" w="sm" type="none"/>
                      <a:tailEnd len="sm" w="sm" type="none"/>
                    </a:lnT>
                    <a:lnB cap="flat" cmpd="sng" w="9525">
                      <a:solidFill>
                        <a:srgbClr val="E3E8EF"/>
                      </a:solidFill>
                      <a:prstDash val="solid"/>
                      <a:round/>
                      <a:headEnd len="sm" w="sm" type="none"/>
                      <a:tailEnd len="sm" w="sm" type="none"/>
                    </a:lnB>
                  </a:tcPr>
                </a:tc>
                <a:tc>
                  <a:txBody>
                    <a:bodyPr/>
                    <a:lstStyle/>
                    <a:p>
                      <a:pPr indent="0" lvl="0" marL="0" rtl="0" algn="l">
                        <a:spcBef>
                          <a:spcPts val="0"/>
                        </a:spcBef>
                        <a:spcAft>
                          <a:spcPts val="0"/>
                        </a:spcAft>
                        <a:buNone/>
                      </a:pPr>
                      <a:r>
                        <a:rPr b="1" lang="en-GB" sz="1300">
                          <a:solidFill>
                            <a:srgbClr val="1C2B3E"/>
                          </a:solidFill>
                        </a:rPr>
                        <a:t>Stuck? Raise a hand</a:t>
                      </a:r>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rgbClr val="E3E8EF"/>
                      </a:solidFill>
                      <a:prstDash val="solid"/>
                      <a:round/>
                      <a:headEnd len="sm" w="sm" type="none"/>
                      <a:tailEnd len="sm" w="sm" type="none"/>
                    </a:lnT>
                    <a:lnB cap="flat" cmpd="sng" w="9525">
                      <a:solidFill>
                        <a:srgbClr val="E3E8EF"/>
                      </a:solidFill>
                      <a:prstDash val="solid"/>
                      <a:round/>
                      <a:headEnd len="sm" w="sm" type="none"/>
                      <a:tailEnd len="sm" w="sm" type="none"/>
                    </a:lnB>
                  </a:tcPr>
                </a:tc>
                <a:tc>
                  <a:txBody>
                    <a:bodyPr/>
                    <a:lstStyle/>
                    <a:p>
                      <a:pPr indent="0" lvl="0" marL="0" rtl="0" algn="l">
                        <a:spcBef>
                          <a:spcPts val="0"/>
                        </a:spcBef>
                        <a:spcAft>
                          <a:spcPts val="0"/>
                        </a:spcAft>
                        <a:buNone/>
                      </a:pPr>
                      <a:r>
                        <a:rPr lang="en-GB" sz="1100">
                          <a:solidFill>
                            <a:srgbClr val="5B6B7D"/>
                          </a:solidFill>
                        </a:rPr>
                        <a:t>You get one hint per team per mission.</a:t>
                      </a:r>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rgbClr val="E3E8EF"/>
                      </a:solidFill>
                      <a:prstDash val="solid"/>
                      <a:round/>
                      <a:headEnd len="sm" w="sm" type="none"/>
                      <a:tailEnd len="sm" w="sm" type="none"/>
                    </a:lnT>
                    <a:lnB cap="flat" cmpd="sng" w="9525">
                      <a:solidFill>
                        <a:srgbClr val="E3E8EF"/>
                      </a:solidFill>
                      <a:prstDash val="solid"/>
                      <a:round/>
                      <a:headEnd len="sm" w="sm" type="none"/>
                      <a:tailEnd len="sm" w="sm" type="none"/>
                    </a:lnB>
                  </a:tcPr>
                </a:tc>
              </a:tr>
              <a:tr h="622725">
                <a:tc>
                  <a:txBody>
                    <a:bodyPr/>
                    <a:lstStyle/>
                    <a:p>
                      <a:pPr indent="0" lvl="0" marL="0" rtl="0" algn="l">
                        <a:spcBef>
                          <a:spcPts val="0"/>
                        </a:spcBef>
                        <a:spcAft>
                          <a:spcPts val="0"/>
                        </a:spcAft>
                        <a:buNone/>
                      </a:pPr>
                      <a:r>
                        <a:t/>
                      </a:r>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rgbClr val="E3E8EF"/>
                      </a:solidFill>
                      <a:prstDash val="solid"/>
                      <a:round/>
                      <a:headEnd len="sm" w="sm" type="none"/>
                      <a:tailEnd len="sm" w="sm" type="none"/>
                    </a:lnT>
                    <a:lnB cap="flat" cmpd="sng" w="9525">
                      <a:solidFill>
                        <a:srgbClr val="E3E8EF"/>
                      </a:solidFill>
                      <a:prstDash val="solid"/>
                      <a:round/>
                      <a:headEnd len="sm" w="sm" type="none"/>
                      <a:tailEnd len="sm" w="sm" type="none"/>
                    </a:lnB>
                  </a:tcPr>
                </a:tc>
                <a:tc>
                  <a:txBody>
                    <a:bodyPr/>
                    <a:lstStyle/>
                    <a:p>
                      <a:pPr indent="0" lvl="0" marL="0" rtl="0" algn="l">
                        <a:spcBef>
                          <a:spcPts val="0"/>
                        </a:spcBef>
                        <a:spcAft>
                          <a:spcPts val="0"/>
                        </a:spcAft>
                        <a:buNone/>
                      </a:pPr>
                      <a:r>
                        <a:rPr b="1" lang="en-GB" sz="1300">
                          <a:solidFill>
                            <a:srgbClr val="1C2B3E"/>
                          </a:solidFill>
                        </a:rPr>
                        <a:t>Move on after 5 min</a:t>
                      </a:r>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rgbClr val="E3E8EF"/>
                      </a:solidFill>
                      <a:prstDash val="solid"/>
                      <a:round/>
                      <a:headEnd len="sm" w="sm" type="none"/>
                      <a:tailEnd len="sm" w="sm" type="none"/>
                    </a:lnT>
                    <a:lnB cap="flat" cmpd="sng" w="9525">
                      <a:solidFill>
                        <a:srgbClr val="E3E8EF"/>
                      </a:solidFill>
                      <a:prstDash val="solid"/>
                      <a:round/>
                      <a:headEnd len="sm" w="sm" type="none"/>
                      <a:tailEnd len="sm" w="sm" type="none"/>
                    </a:lnB>
                  </a:tcPr>
                </a:tc>
                <a:tc>
                  <a:txBody>
                    <a:bodyPr/>
                    <a:lstStyle/>
                    <a:p>
                      <a:pPr indent="0" lvl="0" marL="0" rtl="0" algn="l">
                        <a:spcBef>
                          <a:spcPts val="0"/>
                        </a:spcBef>
                        <a:spcAft>
                          <a:spcPts val="0"/>
                        </a:spcAft>
                        <a:buNone/>
                      </a:pPr>
                      <a:r>
                        <a:rPr lang="en-GB" sz="1100">
                          <a:solidFill>
                            <a:srgbClr val="5B6B7D"/>
                          </a:solidFill>
                        </a:rPr>
                        <a:t>Skip and come back if truly stuck.</a:t>
                      </a:r>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rgbClr val="E3E8EF"/>
                      </a:solidFill>
                      <a:prstDash val="solid"/>
                      <a:round/>
                      <a:headEnd len="sm" w="sm" type="none"/>
                      <a:tailEnd len="sm" w="sm" type="none"/>
                    </a:lnT>
                    <a:lnB cap="flat" cmpd="sng" w="9525">
                      <a:solidFill>
                        <a:srgbClr val="E3E8EF"/>
                      </a:solidFill>
                      <a:prstDash val="solid"/>
                      <a:round/>
                      <a:headEnd len="sm" w="sm" type="none"/>
                      <a:tailEnd len="sm" w="sm" type="none"/>
                    </a:lnB>
                  </a:tcPr>
                </a:tc>
              </a:tr>
              <a:tr h="622725">
                <a:tc>
                  <a:txBody>
                    <a:bodyPr/>
                    <a:lstStyle/>
                    <a:p>
                      <a:pPr indent="0" lvl="0" marL="0" rtl="0" algn="l">
                        <a:spcBef>
                          <a:spcPts val="0"/>
                        </a:spcBef>
                        <a:spcAft>
                          <a:spcPts val="0"/>
                        </a:spcAft>
                        <a:buNone/>
                      </a:pPr>
                      <a:r>
                        <a:t/>
                      </a:r>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rgbClr val="E3E8EF"/>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b="1" lang="en-GB" sz="1300">
                          <a:solidFill>
                            <a:srgbClr val="1C2B3E"/>
                          </a:solidFill>
                        </a:rPr>
                        <a:t>Your login, your docs</a:t>
                      </a:r>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rgbClr val="E3E8EF"/>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lang="en-GB" sz="1100">
                          <a:solidFill>
                            <a:srgbClr val="5B6B7D"/>
                          </a:solidFill>
                        </a:rPr>
                        <a:t>No credential sharing.</a:t>
                      </a:r>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rgbClr val="E3E8EF"/>
                      </a:solidFill>
                      <a:prstDash val="solid"/>
                      <a:round/>
                      <a:headEnd len="sm" w="sm" type="none"/>
                      <a:tailEnd len="sm" w="sm" type="none"/>
                    </a:lnT>
                    <a:lnB cap="flat" cmpd="sng" w="9525">
                      <a:solidFill>
                        <a:schemeClr val="lt1"/>
                      </a:solidFill>
                      <a:prstDash val="solid"/>
                      <a:round/>
                      <a:headEnd len="sm" w="sm" type="none"/>
                      <a:tailEnd len="sm" w="sm" type="none"/>
                    </a:lnB>
                  </a:tcPr>
                </a:tc>
              </a:tr>
            </a:tbl>
          </a:graphicData>
        </a:graphic>
      </p:graphicFrame>
      <p:sp>
        <p:nvSpPr>
          <p:cNvPr id="1420" name="Google Shape;1420;p58"/>
          <p:cNvSpPr/>
          <p:nvPr/>
        </p:nvSpPr>
        <p:spPr>
          <a:xfrm>
            <a:off x="411502" y="260604"/>
            <a:ext cx="6858366"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GAME</a:t>
            </a:r>
            <a:endParaRPr sz="800">
              <a:solidFill>
                <a:schemeClr val="dk1"/>
              </a:solidFill>
              <a:latin typeface="Calibri"/>
              <a:ea typeface="Calibri"/>
              <a:cs typeface="Calibri"/>
              <a:sym typeface="Calibri"/>
            </a:endParaRPr>
          </a:p>
        </p:txBody>
      </p:sp>
      <p:sp>
        <p:nvSpPr>
          <p:cNvPr id="1421" name="Google Shape;1421;p58"/>
          <p:cNvSpPr/>
          <p:nvPr/>
        </p:nvSpPr>
        <p:spPr>
          <a:xfrm>
            <a:off x="411502" y="438912"/>
            <a:ext cx="8321255" cy="4800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C2B3E"/>
              </a:buClr>
              <a:buSzPts val="2200"/>
              <a:buFont typeface="Arial"/>
              <a:buNone/>
            </a:pPr>
            <a:r>
              <a:rPr b="1" lang="en-GB" sz="2200">
                <a:solidFill>
                  <a:srgbClr val="1C2B3E"/>
                </a:solidFill>
                <a:latin typeface="Poppins"/>
                <a:ea typeface="Poppins"/>
                <a:cs typeface="Poppins"/>
                <a:sym typeface="Poppins"/>
              </a:rPr>
              <a:t>Game rules.</a:t>
            </a:r>
            <a:endParaRPr sz="2200">
              <a:solidFill>
                <a:schemeClr val="dk1"/>
              </a:solidFill>
              <a:latin typeface="Poppins"/>
              <a:ea typeface="Poppins"/>
              <a:cs typeface="Poppins"/>
              <a:sym typeface="Poppins"/>
            </a:endParaRPr>
          </a:p>
        </p:txBody>
      </p:sp>
      <p:grpSp>
        <p:nvGrpSpPr>
          <p:cNvPr id="1422" name="Google Shape;1422;p58"/>
          <p:cNvGrpSpPr/>
          <p:nvPr/>
        </p:nvGrpSpPr>
        <p:grpSpPr>
          <a:xfrm>
            <a:off x="491833" y="1348625"/>
            <a:ext cx="329202" cy="329184"/>
            <a:chOff x="411502" y="1371600"/>
            <a:chExt cx="329202" cy="329184"/>
          </a:xfrm>
        </p:grpSpPr>
        <p:sp>
          <p:nvSpPr>
            <p:cNvPr id="1423" name="Google Shape;1423;p58"/>
            <p:cNvSpPr/>
            <p:nvPr/>
          </p:nvSpPr>
          <p:spPr>
            <a:xfrm>
              <a:off x="411502" y="1371600"/>
              <a:ext cx="329202" cy="329184"/>
            </a:xfrm>
            <a:prstGeom prst="ellipse">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24" name="Google Shape;1424;p58"/>
            <p:cNvSpPr/>
            <p:nvPr/>
          </p:nvSpPr>
          <p:spPr>
            <a:xfrm>
              <a:off x="411502" y="1371600"/>
              <a:ext cx="329100" cy="329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Arial"/>
                <a:buNone/>
              </a:pPr>
              <a:r>
                <a:rPr b="1" lang="en-GB" sz="1200">
                  <a:solidFill>
                    <a:srgbClr val="FFFFFF"/>
                  </a:solidFill>
                  <a:latin typeface="Arial"/>
                  <a:ea typeface="Arial"/>
                  <a:cs typeface="Arial"/>
                  <a:sym typeface="Arial"/>
                </a:rPr>
                <a:t>1</a:t>
              </a:r>
              <a:endParaRPr sz="1200">
                <a:solidFill>
                  <a:schemeClr val="dk1"/>
                </a:solidFill>
                <a:latin typeface="Calibri"/>
                <a:ea typeface="Calibri"/>
                <a:cs typeface="Calibri"/>
                <a:sym typeface="Calibri"/>
              </a:endParaRPr>
            </a:p>
          </p:txBody>
        </p:sp>
      </p:grpSp>
      <p:grpSp>
        <p:nvGrpSpPr>
          <p:cNvPr id="1425" name="Google Shape;1425;p58"/>
          <p:cNvGrpSpPr/>
          <p:nvPr/>
        </p:nvGrpSpPr>
        <p:grpSpPr>
          <a:xfrm>
            <a:off x="491833" y="1983132"/>
            <a:ext cx="329202" cy="329184"/>
            <a:chOff x="411502" y="2002536"/>
            <a:chExt cx="329202" cy="329184"/>
          </a:xfrm>
        </p:grpSpPr>
        <p:sp>
          <p:nvSpPr>
            <p:cNvPr id="1426" name="Google Shape;1426;p58"/>
            <p:cNvSpPr/>
            <p:nvPr/>
          </p:nvSpPr>
          <p:spPr>
            <a:xfrm>
              <a:off x="411502" y="2002536"/>
              <a:ext cx="329202" cy="329184"/>
            </a:xfrm>
            <a:prstGeom prst="ellipse">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27" name="Google Shape;1427;p58"/>
            <p:cNvSpPr/>
            <p:nvPr/>
          </p:nvSpPr>
          <p:spPr>
            <a:xfrm>
              <a:off x="411502" y="2002536"/>
              <a:ext cx="329202"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Arial"/>
                <a:buNone/>
              </a:pPr>
              <a:r>
                <a:rPr b="1" lang="en-GB" sz="1200">
                  <a:solidFill>
                    <a:srgbClr val="FFFFFF"/>
                  </a:solidFill>
                  <a:latin typeface="Arial"/>
                  <a:ea typeface="Arial"/>
                  <a:cs typeface="Arial"/>
                  <a:sym typeface="Arial"/>
                </a:rPr>
                <a:t>2</a:t>
              </a:r>
              <a:endParaRPr sz="1200">
                <a:solidFill>
                  <a:schemeClr val="dk1"/>
                </a:solidFill>
                <a:latin typeface="Calibri"/>
                <a:ea typeface="Calibri"/>
                <a:cs typeface="Calibri"/>
                <a:sym typeface="Calibri"/>
              </a:endParaRPr>
            </a:p>
          </p:txBody>
        </p:sp>
      </p:grpSp>
      <p:grpSp>
        <p:nvGrpSpPr>
          <p:cNvPr id="1428" name="Google Shape;1428;p58"/>
          <p:cNvGrpSpPr/>
          <p:nvPr/>
        </p:nvGrpSpPr>
        <p:grpSpPr>
          <a:xfrm>
            <a:off x="491833" y="2617639"/>
            <a:ext cx="329202" cy="329184"/>
            <a:chOff x="411502" y="2633472"/>
            <a:chExt cx="329202" cy="329184"/>
          </a:xfrm>
        </p:grpSpPr>
        <p:sp>
          <p:nvSpPr>
            <p:cNvPr id="1429" name="Google Shape;1429;p58"/>
            <p:cNvSpPr/>
            <p:nvPr/>
          </p:nvSpPr>
          <p:spPr>
            <a:xfrm>
              <a:off x="411502" y="2633472"/>
              <a:ext cx="329202" cy="329184"/>
            </a:xfrm>
            <a:prstGeom prst="ellipse">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30" name="Google Shape;1430;p58"/>
            <p:cNvSpPr/>
            <p:nvPr/>
          </p:nvSpPr>
          <p:spPr>
            <a:xfrm>
              <a:off x="411502" y="2633472"/>
              <a:ext cx="329202"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Arial"/>
                <a:buNone/>
              </a:pPr>
              <a:r>
                <a:rPr b="1" lang="en-GB" sz="1200">
                  <a:solidFill>
                    <a:srgbClr val="FFFFFF"/>
                  </a:solidFill>
                  <a:latin typeface="Arial"/>
                  <a:ea typeface="Arial"/>
                  <a:cs typeface="Arial"/>
                  <a:sym typeface="Arial"/>
                </a:rPr>
                <a:t>3</a:t>
              </a:r>
              <a:endParaRPr sz="1200">
                <a:solidFill>
                  <a:schemeClr val="dk1"/>
                </a:solidFill>
                <a:latin typeface="Calibri"/>
                <a:ea typeface="Calibri"/>
                <a:cs typeface="Calibri"/>
                <a:sym typeface="Calibri"/>
              </a:endParaRPr>
            </a:p>
          </p:txBody>
        </p:sp>
      </p:grpSp>
      <p:grpSp>
        <p:nvGrpSpPr>
          <p:cNvPr id="1431" name="Google Shape;1431;p58"/>
          <p:cNvGrpSpPr/>
          <p:nvPr/>
        </p:nvGrpSpPr>
        <p:grpSpPr>
          <a:xfrm>
            <a:off x="491883" y="3252146"/>
            <a:ext cx="329100" cy="329100"/>
            <a:chOff x="411502" y="3250692"/>
            <a:chExt cx="329100" cy="329100"/>
          </a:xfrm>
        </p:grpSpPr>
        <p:sp>
          <p:nvSpPr>
            <p:cNvPr id="1432" name="Google Shape;1432;p58"/>
            <p:cNvSpPr/>
            <p:nvPr/>
          </p:nvSpPr>
          <p:spPr>
            <a:xfrm>
              <a:off x="411502" y="3250692"/>
              <a:ext cx="329100" cy="329100"/>
            </a:xfrm>
            <a:prstGeom prst="ellipse">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33" name="Google Shape;1433;p58"/>
            <p:cNvSpPr/>
            <p:nvPr/>
          </p:nvSpPr>
          <p:spPr>
            <a:xfrm>
              <a:off x="411502" y="3250692"/>
              <a:ext cx="329100" cy="329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Arial"/>
                <a:buNone/>
              </a:pPr>
              <a:r>
                <a:rPr b="1" lang="en-GB" sz="1200">
                  <a:solidFill>
                    <a:srgbClr val="FFFFFF"/>
                  </a:solidFill>
                  <a:latin typeface="Arial"/>
                  <a:ea typeface="Arial"/>
                  <a:cs typeface="Arial"/>
                  <a:sym typeface="Arial"/>
                </a:rPr>
                <a:t>4</a:t>
              </a:r>
              <a:endParaRPr sz="1200">
                <a:solidFill>
                  <a:schemeClr val="dk1"/>
                </a:solidFill>
                <a:latin typeface="Calibri"/>
                <a:ea typeface="Calibri"/>
                <a:cs typeface="Calibri"/>
                <a:sym typeface="Calibri"/>
              </a:endParaRPr>
            </a:p>
          </p:txBody>
        </p:sp>
      </p:grpSp>
      <p:grpSp>
        <p:nvGrpSpPr>
          <p:cNvPr id="1434" name="Google Shape;1434;p58"/>
          <p:cNvGrpSpPr/>
          <p:nvPr/>
        </p:nvGrpSpPr>
        <p:grpSpPr>
          <a:xfrm>
            <a:off x="491833" y="3886569"/>
            <a:ext cx="329202" cy="329184"/>
            <a:chOff x="411502" y="3895344"/>
            <a:chExt cx="329202" cy="329184"/>
          </a:xfrm>
        </p:grpSpPr>
        <p:sp>
          <p:nvSpPr>
            <p:cNvPr id="1435" name="Google Shape;1435;p58"/>
            <p:cNvSpPr/>
            <p:nvPr/>
          </p:nvSpPr>
          <p:spPr>
            <a:xfrm>
              <a:off x="411502" y="3895344"/>
              <a:ext cx="329202" cy="329184"/>
            </a:xfrm>
            <a:prstGeom prst="ellipse">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36" name="Google Shape;1436;p58"/>
            <p:cNvSpPr/>
            <p:nvPr/>
          </p:nvSpPr>
          <p:spPr>
            <a:xfrm>
              <a:off x="411502" y="3895344"/>
              <a:ext cx="329202"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Arial"/>
                <a:buNone/>
              </a:pPr>
              <a:r>
                <a:rPr b="1" lang="en-GB" sz="1200">
                  <a:solidFill>
                    <a:srgbClr val="FFFFFF"/>
                  </a:solidFill>
                  <a:latin typeface="Arial"/>
                  <a:ea typeface="Arial"/>
                  <a:cs typeface="Arial"/>
                  <a:sym typeface="Arial"/>
                </a:rPr>
                <a:t>5</a:t>
              </a:r>
              <a:endParaRPr sz="1200">
                <a:solidFill>
                  <a:schemeClr val="dk1"/>
                </a:solidFill>
                <a:latin typeface="Calibri"/>
                <a:ea typeface="Calibri"/>
                <a:cs typeface="Calibri"/>
                <a:sym typeface="Calibri"/>
              </a:endParaRPr>
            </a:p>
          </p:txBody>
        </p:sp>
      </p:grpSp>
      <p:sp>
        <p:nvSpPr>
          <p:cNvPr id="1437" name="Google Shape;1437;p58"/>
          <p:cNvSpPr txBox="1"/>
          <p:nvPr>
            <p:ph idx="12" type="sldNum"/>
          </p:nvPr>
        </p:nvSpPr>
        <p:spPr>
          <a:xfrm>
            <a:off x="8347216" y="4750189"/>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42" name="Shape 1442"/>
        <p:cNvGrpSpPr/>
        <p:nvPr/>
      </p:nvGrpSpPr>
      <p:grpSpPr>
        <a:xfrm>
          <a:off x="0" y="0"/>
          <a:ext cx="0" cy="0"/>
          <a:chOff x="0" y="0"/>
          <a:chExt cx="0" cy="0"/>
        </a:xfrm>
      </p:grpSpPr>
      <p:sp>
        <p:nvSpPr>
          <p:cNvPr id="1443" name="Google Shape;1443;p59"/>
          <p:cNvSpPr/>
          <p:nvPr/>
        </p:nvSpPr>
        <p:spPr>
          <a:xfrm>
            <a:off x="411502" y="260604"/>
            <a:ext cx="6858366"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GAME</a:t>
            </a:r>
            <a:endParaRPr sz="800">
              <a:solidFill>
                <a:schemeClr val="dk1"/>
              </a:solidFill>
              <a:latin typeface="Calibri"/>
              <a:ea typeface="Calibri"/>
              <a:cs typeface="Calibri"/>
              <a:sym typeface="Calibri"/>
            </a:endParaRPr>
          </a:p>
        </p:txBody>
      </p:sp>
      <p:sp>
        <p:nvSpPr>
          <p:cNvPr id="1444" name="Google Shape;1444;p59"/>
          <p:cNvSpPr/>
          <p:nvPr/>
        </p:nvSpPr>
        <p:spPr>
          <a:xfrm>
            <a:off x="411502" y="438912"/>
            <a:ext cx="8321255" cy="4800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C2B3E"/>
              </a:buClr>
              <a:buSzPts val="2200"/>
              <a:buFont typeface="Arial"/>
              <a:buNone/>
            </a:pPr>
            <a:r>
              <a:rPr b="1" lang="en-GB" sz="2200">
                <a:solidFill>
                  <a:srgbClr val="1C2B3E"/>
                </a:solidFill>
                <a:latin typeface="Poppins"/>
                <a:ea typeface="Poppins"/>
                <a:cs typeface="Poppins"/>
                <a:sym typeface="Poppins"/>
              </a:rPr>
              <a:t>10 missions. Start on M1.</a:t>
            </a:r>
            <a:endParaRPr sz="2200">
              <a:solidFill>
                <a:schemeClr val="dk1"/>
              </a:solidFill>
              <a:latin typeface="Poppins"/>
              <a:ea typeface="Poppins"/>
              <a:cs typeface="Poppins"/>
              <a:sym typeface="Poppins"/>
            </a:endParaRPr>
          </a:p>
        </p:txBody>
      </p:sp>
      <p:sp>
        <p:nvSpPr>
          <p:cNvPr id="1445" name="Google Shape;1445;p59"/>
          <p:cNvSpPr/>
          <p:nvPr/>
        </p:nvSpPr>
        <p:spPr>
          <a:xfrm>
            <a:off x="411502" y="1337310"/>
            <a:ext cx="1532570" cy="1371600"/>
          </a:xfrm>
          <a:prstGeom prst="roundRect">
            <a:avLst>
              <a:gd fmla="val 6000" name="adj"/>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46" name="Google Shape;1446;p59"/>
          <p:cNvSpPr/>
          <p:nvPr/>
        </p:nvSpPr>
        <p:spPr>
          <a:xfrm>
            <a:off x="534953" y="1447038"/>
            <a:ext cx="1285669" cy="2331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Arial"/>
              <a:buNone/>
            </a:pPr>
            <a:r>
              <a:rPr b="1" lang="en-GB" sz="1000">
                <a:solidFill>
                  <a:srgbClr val="FFFFFF"/>
                </a:solidFill>
                <a:latin typeface="Arial"/>
                <a:ea typeface="Arial"/>
                <a:cs typeface="Arial"/>
                <a:sym typeface="Arial"/>
              </a:rPr>
              <a:t>M1</a:t>
            </a:r>
            <a:endParaRPr sz="1000">
              <a:solidFill>
                <a:schemeClr val="dk1"/>
              </a:solidFill>
              <a:latin typeface="Calibri"/>
              <a:ea typeface="Calibri"/>
              <a:cs typeface="Calibri"/>
              <a:sym typeface="Calibri"/>
            </a:endParaRPr>
          </a:p>
        </p:txBody>
      </p:sp>
      <p:sp>
        <p:nvSpPr>
          <p:cNvPr id="1447" name="Google Shape;1447;p59"/>
          <p:cNvSpPr/>
          <p:nvPr/>
        </p:nvSpPr>
        <p:spPr>
          <a:xfrm>
            <a:off x="534953" y="1693926"/>
            <a:ext cx="1285669" cy="4800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200"/>
              <a:buFont typeface="Arial"/>
              <a:buNone/>
            </a:pPr>
            <a:r>
              <a:rPr b="1" lang="en-GB" sz="1200">
                <a:solidFill>
                  <a:srgbClr val="FFFFFF"/>
                </a:solidFill>
                <a:latin typeface="Arial"/>
                <a:ea typeface="Arial"/>
                <a:cs typeface="Arial"/>
                <a:sym typeface="Arial"/>
              </a:rPr>
              <a:t>Restoran Maju</a:t>
            </a:r>
            <a:endParaRPr sz="1200">
              <a:solidFill>
                <a:schemeClr val="dk1"/>
              </a:solidFill>
              <a:latin typeface="Calibri"/>
              <a:ea typeface="Calibri"/>
              <a:cs typeface="Calibri"/>
              <a:sym typeface="Calibri"/>
            </a:endParaRPr>
          </a:p>
        </p:txBody>
      </p:sp>
      <p:sp>
        <p:nvSpPr>
          <p:cNvPr id="1448" name="Google Shape;1448;p59"/>
          <p:cNvSpPr/>
          <p:nvPr/>
        </p:nvSpPr>
        <p:spPr>
          <a:xfrm>
            <a:off x="534953" y="2462022"/>
            <a:ext cx="96017" cy="96012"/>
          </a:xfrm>
          <a:prstGeom prst="ellipse">
            <a:avLst/>
          </a:pr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49" name="Google Shape;1449;p59"/>
          <p:cNvSpPr/>
          <p:nvPr/>
        </p:nvSpPr>
        <p:spPr>
          <a:xfrm>
            <a:off x="1155360" y="2434590"/>
            <a:ext cx="685837" cy="192024"/>
          </a:xfrm>
          <a:prstGeom prst="roundRect">
            <a:avLst>
              <a:gd fmla="val 50000" name="adj"/>
            </a:avLst>
          </a:pr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50" name="Google Shape;1450;p59"/>
          <p:cNvSpPr/>
          <p:nvPr/>
        </p:nvSpPr>
        <p:spPr>
          <a:xfrm>
            <a:off x="1155360" y="2434590"/>
            <a:ext cx="685837" cy="1920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821E"/>
              </a:buClr>
              <a:buSzPts val="700"/>
              <a:buFont typeface="Arial"/>
              <a:buNone/>
            </a:pPr>
            <a:r>
              <a:rPr b="1" lang="en-GB" sz="700">
                <a:solidFill>
                  <a:srgbClr val="E8821E"/>
                </a:solidFill>
                <a:latin typeface="Arial"/>
                <a:ea typeface="Arial"/>
                <a:cs typeface="Arial"/>
                <a:sym typeface="Arial"/>
              </a:rPr>
              <a:t>WARM-UP</a:t>
            </a:r>
            <a:endParaRPr sz="700">
              <a:solidFill>
                <a:schemeClr val="dk1"/>
              </a:solidFill>
              <a:latin typeface="Calibri"/>
              <a:ea typeface="Calibri"/>
              <a:cs typeface="Calibri"/>
              <a:sym typeface="Calibri"/>
            </a:endParaRPr>
          </a:p>
        </p:txBody>
      </p:sp>
      <p:sp>
        <p:nvSpPr>
          <p:cNvPr id="1451" name="Google Shape;1451;p59"/>
          <p:cNvSpPr/>
          <p:nvPr/>
        </p:nvSpPr>
        <p:spPr>
          <a:xfrm>
            <a:off x="2108673" y="1337310"/>
            <a:ext cx="1532570" cy="1371600"/>
          </a:xfrm>
          <a:prstGeom prst="roundRect">
            <a:avLst>
              <a:gd fmla="val 6000" name="adj"/>
            </a:avLst>
          </a:prstGeom>
          <a:solidFill>
            <a:srgbClr val="F5F7FA"/>
          </a:solidFill>
          <a:ln>
            <a:noFill/>
          </a:ln>
          <a:effectLst>
            <a:outerShdw blurRad="101600" rotWithShape="0" algn="bl" dir="5400000" dist="38100">
              <a:srgbClr val="1C2B3E">
                <a:alpha val="10196"/>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52" name="Google Shape;1452;p59"/>
          <p:cNvSpPr/>
          <p:nvPr/>
        </p:nvSpPr>
        <p:spPr>
          <a:xfrm>
            <a:off x="2232124" y="1447038"/>
            <a:ext cx="1285669" cy="2331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000"/>
              <a:buFont typeface="Arial"/>
              <a:buNone/>
            </a:pPr>
            <a:r>
              <a:rPr b="1" lang="en-GB" sz="1000">
                <a:solidFill>
                  <a:srgbClr val="94A3B8"/>
                </a:solidFill>
                <a:latin typeface="Arial"/>
                <a:ea typeface="Arial"/>
                <a:cs typeface="Arial"/>
                <a:sym typeface="Arial"/>
              </a:rPr>
              <a:t>M2</a:t>
            </a:r>
            <a:endParaRPr sz="1000">
              <a:solidFill>
                <a:schemeClr val="dk1"/>
              </a:solidFill>
              <a:latin typeface="Calibri"/>
              <a:ea typeface="Calibri"/>
              <a:cs typeface="Calibri"/>
              <a:sym typeface="Calibri"/>
            </a:endParaRPr>
          </a:p>
        </p:txBody>
      </p:sp>
      <p:sp>
        <p:nvSpPr>
          <p:cNvPr id="1453" name="Google Shape;1453;p59"/>
          <p:cNvSpPr/>
          <p:nvPr/>
        </p:nvSpPr>
        <p:spPr>
          <a:xfrm>
            <a:off x="2232124" y="1693926"/>
            <a:ext cx="1285669" cy="4800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B3E"/>
              </a:buClr>
              <a:buSzPts val="1200"/>
              <a:buFont typeface="Arial"/>
              <a:buNone/>
            </a:pPr>
            <a:r>
              <a:rPr b="1" lang="en-GB" sz="1200">
                <a:solidFill>
                  <a:srgbClr val="1C2B3E"/>
                </a:solidFill>
                <a:latin typeface="Arial"/>
                <a:ea typeface="Arial"/>
                <a:cs typeface="Arial"/>
                <a:sym typeface="Arial"/>
              </a:rPr>
              <a:t>Warung Pak Din</a:t>
            </a:r>
            <a:endParaRPr sz="1200">
              <a:solidFill>
                <a:schemeClr val="dk1"/>
              </a:solidFill>
              <a:latin typeface="Calibri"/>
              <a:ea typeface="Calibri"/>
              <a:cs typeface="Calibri"/>
              <a:sym typeface="Calibri"/>
            </a:endParaRPr>
          </a:p>
        </p:txBody>
      </p:sp>
      <p:sp>
        <p:nvSpPr>
          <p:cNvPr id="1454" name="Google Shape;1454;p59"/>
          <p:cNvSpPr/>
          <p:nvPr/>
        </p:nvSpPr>
        <p:spPr>
          <a:xfrm>
            <a:off x="2232124" y="2462022"/>
            <a:ext cx="96017" cy="96012"/>
          </a:xfrm>
          <a:prstGeom prst="ellipse">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55" name="Google Shape;1455;p59"/>
          <p:cNvSpPr/>
          <p:nvPr/>
        </p:nvSpPr>
        <p:spPr>
          <a:xfrm>
            <a:off x="2383008" y="2462022"/>
            <a:ext cx="96017" cy="96012"/>
          </a:xfrm>
          <a:prstGeom prst="ellipse">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56" name="Google Shape;1456;p59"/>
          <p:cNvSpPr/>
          <p:nvPr/>
        </p:nvSpPr>
        <p:spPr>
          <a:xfrm>
            <a:off x="3805844" y="1337310"/>
            <a:ext cx="1532570" cy="1371600"/>
          </a:xfrm>
          <a:prstGeom prst="roundRect">
            <a:avLst>
              <a:gd fmla="val 6000" name="adj"/>
            </a:avLst>
          </a:prstGeom>
          <a:solidFill>
            <a:srgbClr val="F5F7FA"/>
          </a:solidFill>
          <a:ln>
            <a:noFill/>
          </a:ln>
          <a:effectLst>
            <a:outerShdw blurRad="101600" rotWithShape="0" algn="bl" dir="5400000" dist="38100">
              <a:srgbClr val="1C2B3E">
                <a:alpha val="10196"/>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57" name="Google Shape;1457;p59"/>
          <p:cNvSpPr/>
          <p:nvPr/>
        </p:nvSpPr>
        <p:spPr>
          <a:xfrm>
            <a:off x="3929294" y="1447038"/>
            <a:ext cx="1285669" cy="2331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000"/>
              <a:buFont typeface="Arial"/>
              <a:buNone/>
            </a:pPr>
            <a:r>
              <a:rPr b="1" lang="en-GB" sz="1000">
                <a:solidFill>
                  <a:srgbClr val="94A3B8"/>
                </a:solidFill>
                <a:latin typeface="Arial"/>
                <a:ea typeface="Arial"/>
                <a:cs typeface="Arial"/>
                <a:sym typeface="Arial"/>
              </a:rPr>
              <a:t>M3</a:t>
            </a:r>
            <a:endParaRPr sz="1000">
              <a:solidFill>
                <a:schemeClr val="dk1"/>
              </a:solidFill>
              <a:latin typeface="Calibri"/>
              <a:ea typeface="Calibri"/>
              <a:cs typeface="Calibri"/>
              <a:sym typeface="Calibri"/>
            </a:endParaRPr>
          </a:p>
        </p:txBody>
      </p:sp>
      <p:sp>
        <p:nvSpPr>
          <p:cNvPr id="1458" name="Google Shape;1458;p59"/>
          <p:cNvSpPr/>
          <p:nvPr/>
        </p:nvSpPr>
        <p:spPr>
          <a:xfrm>
            <a:off x="3929294" y="1693926"/>
            <a:ext cx="1285669" cy="4800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B3E"/>
              </a:buClr>
              <a:buSzPts val="1200"/>
              <a:buFont typeface="Arial"/>
              <a:buNone/>
            </a:pPr>
            <a:r>
              <a:rPr b="1" lang="en-GB" sz="1200">
                <a:solidFill>
                  <a:srgbClr val="1C2B3E"/>
                </a:solidFill>
                <a:latin typeface="Arial"/>
                <a:ea typeface="Arial"/>
                <a:cs typeface="Arial"/>
                <a:sym typeface="Arial"/>
              </a:rPr>
              <a:t>Lim Heng Trading</a:t>
            </a:r>
            <a:endParaRPr sz="1200">
              <a:solidFill>
                <a:schemeClr val="dk1"/>
              </a:solidFill>
              <a:latin typeface="Calibri"/>
              <a:ea typeface="Calibri"/>
              <a:cs typeface="Calibri"/>
              <a:sym typeface="Calibri"/>
            </a:endParaRPr>
          </a:p>
        </p:txBody>
      </p:sp>
      <p:sp>
        <p:nvSpPr>
          <p:cNvPr id="1459" name="Google Shape;1459;p59"/>
          <p:cNvSpPr/>
          <p:nvPr/>
        </p:nvSpPr>
        <p:spPr>
          <a:xfrm>
            <a:off x="3929294" y="2462022"/>
            <a:ext cx="96017" cy="96012"/>
          </a:xfrm>
          <a:prstGeom prst="ellipse">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60" name="Google Shape;1460;p59"/>
          <p:cNvSpPr/>
          <p:nvPr/>
        </p:nvSpPr>
        <p:spPr>
          <a:xfrm>
            <a:off x="4080179" y="2462022"/>
            <a:ext cx="96017" cy="96012"/>
          </a:xfrm>
          <a:prstGeom prst="ellipse">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61" name="Google Shape;1461;p59"/>
          <p:cNvSpPr/>
          <p:nvPr/>
        </p:nvSpPr>
        <p:spPr>
          <a:xfrm>
            <a:off x="5503016" y="1337310"/>
            <a:ext cx="1532570" cy="1371600"/>
          </a:xfrm>
          <a:prstGeom prst="roundRect">
            <a:avLst>
              <a:gd fmla="val 6000" name="adj"/>
            </a:avLst>
          </a:prstGeom>
          <a:solidFill>
            <a:srgbClr val="F5F7FA"/>
          </a:solidFill>
          <a:ln>
            <a:noFill/>
          </a:ln>
          <a:effectLst>
            <a:outerShdw blurRad="101600" rotWithShape="0" algn="bl" dir="5400000" dist="38100">
              <a:srgbClr val="1C2B3E">
                <a:alpha val="10196"/>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62" name="Google Shape;1462;p59"/>
          <p:cNvSpPr/>
          <p:nvPr/>
        </p:nvSpPr>
        <p:spPr>
          <a:xfrm>
            <a:off x="5626466" y="1447038"/>
            <a:ext cx="1285669" cy="2331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000"/>
              <a:buFont typeface="Arial"/>
              <a:buNone/>
            </a:pPr>
            <a:r>
              <a:rPr b="1" lang="en-GB" sz="1000">
                <a:solidFill>
                  <a:srgbClr val="94A3B8"/>
                </a:solidFill>
                <a:latin typeface="Arial"/>
                <a:ea typeface="Arial"/>
                <a:cs typeface="Arial"/>
                <a:sym typeface="Arial"/>
              </a:rPr>
              <a:t>M4</a:t>
            </a:r>
            <a:endParaRPr sz="1000">
              <a:solidFill>
                <a:schemeClr val="dk1"/>
              </a:solidFill>
              <a:latin typeface="Calibri"/>
              <a:ea typeface="Calibri"/>
              <a:cs typeface="Calibri"/>
              <a:sym typeface="Calibri"/>
            </a:endParaRPr>
          </a:p>
        </p:txBody>
      </p:sp>
      <p:sp>
        <p:nvSpPr>
          <p:cNvPr id="1463" name="Google Shape;1463;p59"/>
          <p:cNvSpPr/>
          <p:nvPr/>
        </p:nvSpPr>
        <p:spPr>
          <a:xfrm>
            <a:off x="5626466" y="1693926"/>
            <a:ext cx="1285669" cy="4800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B3E"/>
              </a:buClr>
              <a:buSzPts val="1200"/>
              <a:buFont typeface="Arial"/>
              <a:buNone/>
            </a:pPr>
            <a:r>
              <a:rPr b="1" lang="en-GB" sz="1200">
                <a:solidFill>
                  <a:srgbClr val="1C2B3E"/>
                </a:solidFill>
                <a:latin typeface="Arial"/>
                <a:ea typeface="Arial"/>
                <a:cs typeface="Arial"/>
                <a:sym typeface="Arial"/>
              </a:rPr>
              <a:t>Selera Catering</a:t>
            </a:r>
            <a:endParaRPr sz="1200">
              <a:solidFill>
                <a:schemeClr val="dk1"/>
              </a:solidFill>
              <a:latin typeface="Calibri"/>
              <a:ea typeface="Calibri"/>
              <a:cs typeface="Calibri"/>
              <a:sym typeface="Calibri"/>
            </a:endParaRPr>
          </a:p>
        </p:txBody>
      </p:sp>
      <p:sp>
        <p:nvSpPr>
          <p:cNvPr id="1464" name="Google Shape;1464;p59"/>
          <p:cNvSpPr/>
          <p:nvPr/>
        </p:nvSpPr>
        <p:spPr>
          <a:xfrm>
            <a:off x="5626466" y="2462022"/>
            <a:ext cx="96017" cy="96012"/>
          </a:xfrm>
          <a:prstGeom prst="ellipse">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65" name="Google Shape;1465;p59"/>
          <p:cNvSpPr/>
          <p:nvPr/>
        </p:nvSpPr>
        <p:spPr>
          <a:xfrm>
            <a:off x="5777350" y="2462022"/>
            <a:ext cx="96017" cy="96012"/>
          </a:xfrm>
          <a:prstGeom prst="ellipse">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66" name="Google Shape;1466;p59"/>
          <p:cNvSpPr/>
          <p:nvPr/>
        </p:nvSpPr>
        <p:spPr>
          <a:xfrm>
            <a:off x="7200187" y="1337310"/>
            <a:ext cx="1532570" cy="1371600"/>
          </a:xfrm>
          <a:prstGeom prst="roundRect">
            <a:avLst>
              <a:gd fmla="val 6000" name="adj"/>
            </a:avLst>
          </a:prstGeom>
          <a:solidFill>
            <a:srgbClr val="F5F7FA"/>
          </a:solidFill>
          <a:ln>
            <a:noFill/>
          </a:ln>
          <a:effectLst>
            <a:outerShdw blurRad="101600" rotWithShape="0" algn="bl" dir="5400000" dist="38100">
              <a:srgbClr val="1C2B3E">
                <a:alpha val="10196"/>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67" name="Google Shape;1467;p59"/>
          <p:cNvSpPr/>
          <p:nvPr/>
        </p:nvSpPr>
        <p:spPr>
          <a:xfrm>
            <a:off x="7323637" y="1447038"/>
            <a:ext cx="1285669" cy="2331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000"/>
              <a:buFont typeface="Arial"/>
              <a:buNone/>
            </a:pPr>
            <a:r>
              <a:rPr b="1" lang="en-GB" sz="1000">
                <a:solidFill>
                  <a:srgbClr val="94A3B8"/>
                </a:solidFill>
                <a:latin typeface="Arial"/>
                <a:ea typeface="Arial"/>
                <a:cs typeface="Arial"/>
                <a:sym typeface="Arial"/>
              </a:rPr>
              <a:t>M5</a:t>
            </a:r>
            <a:endParaRPr sz="1000">
              <a:solidFill>
                <a:schemeClr val="dk1"/>
              </a:solidFill>
              <a:latin typeface="Calibri"/>
              <a:ea typeface="Calibri"/>
              <a:cs typeface="Calibri"/>
              <a:sym typeface="Calibri"/>
            </a:endParaRPr>
          </a:p>
        </p:txBody>
      </p:sp>
      <p:sp>
        <p:nvSpPr>
          <p:cNvPr id="1468" name="Google Shape;1468;p59"/>
          <p:cNvSpPr/>
          <p:nvPr/>
        </p:nvSpPr>
        <p:spPr>
          <a:xfrm>
            <a:off x="7323637" y="1693926"/>
            <a:ext cx="1285669" cy="4800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B3E"/>
              </a:buClr>
              <a:buSzPts val="1200"/>
              <a:buFont typeface="Arial"/>
              <a:buNone/>
            </a:pPr>
            <a:r>
              <a:rPr b="1" lang="en-GB" sz="1200">
                <a:solidFill>
                  <a:srgbClr val="1C2B3E"/>
                </a:solidFill>
                <a:latin typeface="Arial"/>
                <a:ea typeface="Arial"/>
                <a:cs typeface="Arial"/>
                <a:sym typeface="Arial"/>
              </a:rPr>
              <a:t>Kafe Santai</a:t>
            </a:r>
            <a:endParaRPr sz="1200">
              <a:solidFill>
                <a:schemeClr val="dk1"/>
              </a:solidFill>
              <a:latin typeface="Calibri"/>
              <a:ea typeface="Calibri"/>
              <a:cs typeface="Calibri"/>
              <a:sym typeface="Calibri"/>
            </a:endParaRPr>
          </a:p>
        </p:txBody>
      </p:sp>
      <p:sp>
        <p:nvSpPr>
          <p:cNvPr id="1469" name="Google Shape;1469;p59"/>
          <p:cNvSpPr/>
          <p:nvPr/>
        </p:nvSpPr>
        <p:spPr>
          <a:xfrm>
            <a:off x="7323637" y="2462022"/>
            <a:ext cx="96017" cy="96012"/>
          </a:xfrm>
          <a:prstGeom prst="ellipse">
            <a:avLst/>
          </a:prstGeom>
          <a:solidFill>
            <a:srgbClr val="DC4C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70" name="Google Shape;1470;p59"/>
          <p:cNvSpPr/>
          <p:nvPr/>
        </p:nvSpPr>
        <p:spPr>
          <a:xfrm>
            <a:off x="7474521" y="2462022"/>
            <a:ext cx="96017" cy="96012"/>
          </a:xfrm>
          <a:prstGeom prst="ellipse">
            <a:avLst/>
          </a:prstGeom>
          <a:solidFill>
            <a:srgbClr val="DC4C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71" name="Google Shape;1471;p59"/>
          <p:cNvSpPr/>
          <p:nvPr/>
        </p:nvSpPr>
        <p:spPr>
          <a:xfrm>
            <a:off x="7625405" y="2462022"/>
            <a:ext cx="96017" cy="96012"/>
          </a:xfrm>
          <a:prstGeom prst="ellipse">
            <a:avLst/>
          </a:prstGeom>
          <a:solidFill>
            <a:srgbClr val="DC4C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72" name="Google Shape;1472;p59"/>
          <p:cNvSpPr/>
          <p:nvPr/>
        </p:nvSpPr>
        <p:spPr>
          <a:xfrm>
            <a:off x="411502" y="2873502"/>
            <a:ext cx="1532570" cy="1371600"/>
          </a:xfrm>
          <a:prstGeom prst="roundRect">
            <a:avLst>
              <a:gd fmla="val 6000" name="adj"/>
            </a:avLst>
          </a:prstGeom>
          <a:solidFill>
            <a:srgbClr val="F5F7FA"/>
          </a:solidFill>
          <a:ln>
            <a:noFill/>
          </a:ln>
          <a:effectLst>
            <a:outerShdw blurRad="101600" rotWithShape="0" algn="bl" dir="5400000" dist="38100">
              <a:srgbClr val="1C2B3E">
                <a:alpha val="10196"/>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73" name="Google Shape;1473;p59"/>
          <p:cNvSpPr/>
          <p:nvPr/>
        </p:nvSpPr>
        <p:spPr>
          <a:xfrm>
            <a:off x="534953" y="2983230"/>
            <a:ext cx="1285669" cy="2331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000"/>
              <a:buFont typeface="Arial"/>
              <a:buNone/>
            </a:pPr>
            <a:r>
              <a:rPr b="1" lang="en-GB" sz="1000">
                <a:solidFill>
                  <a:srgbClr val="94A3B8"/>
                </a:solidFill>
                <a:latin typeface="Arial"/>
                <a:ea typeface="Arial"/>
                <a:cs typeface="Arial"/>
                <a:sym typeface="Arial"/>
              </a:rPr>
              <a:t>M6</a:t>
            </a:r>
            <a:endParaRPr sz="1000">
              <a:solidFill>
                <a:schemeClr val="dk1"/>
              </a:solidFill>
              <a:latin typeface="Calibri"/>
              <a:ea typeface="Calibri"/>
              <a:cs typeface="Calibri"/>
              <a:sym typeface="Calibri"/>
            </a:endParaRPr>
          </a:p>
        </p:txBody>
      </p:sp>
      <p:sp>
        <p:nvSpPr>
          <p:cNvPr id="1474" name="Google Shape;1474;p59"/>
          <p:cNvSpPr/>
          <p:nvPr/>
        </p:nvSpPr>
        <p:spPr>
          <a:xfrm>
            <a:off x="534953" y="3230118"/>
            <a:ext cx="1285669" cy="4800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B3E"/>
              </a:buClr>
              <a:buSzPts val="1200"/>
              <a:buFont typeface="Arial"/>
              <a:buNone/>
            </a:pPr>
            <a:r>
              <a:rPr b="1" lang="en-GB" sz="1200">
                <a:solidFill>
                  <a:srgbClr val="1C2B3E"/>
                </a:solidFill>
                <a:latin typeface="Arial"/>
                <a:ea typeface="Arial"/>
                <a:cs typeface="Arial"/>
                <a:sym typeface="Arial"/>
              </a:rPr>
              <a:t>Hotel Permai</a:t>
            </a:r>
            <a:endParaRPr sz="1200">
              <a:solidFill>
                <a:schemeClr val="dk1"/>
              </a:solidFill>
              <a:latin typeface="Calibri"/>
              <a:ea typeface="Calibri"/>
              <a:cs typeface="Calibri"/>
              <a:sym typeface="Calibri"/>
            </a:endParaRPr>
          </a:p>
        </p:txBody>
      </p:sp>
      <p:sp>
        <p:nvSpPr>
          <p:cNvPr id="1475" name="Google Shape;1475;p59"/>
          <p:cNvSpPr/>
          <p:nvPr/>
        </p:nvSpPr>
        <p:spPr>
          <a:xfrm>
            <a:off x="534953" y="3998214"/>
            <a:ext cx="96017" cy="96012"/>
          </a:xfrm>
          <a:prstGeom prst="ellipse">
            <a:avLst/>
          </a:prstGeom>
          <a:solidFill>
            <a:srgbClr val="DC4C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76" name="Google Shape;1476;p59"/>
          <p:cNvSpPr/>
          <p:nvPr/>
        </p:nvSpPr>
        <p:spPr>
          <a:xfrm>
            <a:off x="685837" y="3998214"/>
            <a:ext cx="96017" cy="96012"/>
          </a:xfrm>
          <a:prstGeom prst="ellipse">
            <a:avLst/>
          </a:prstGeom>
          <a:solidFill>
            <a:srgbClr val="DC4C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77" name="Google Shape;1477;p59"/>
          <p:cNvSpPr/>
          <p:nvPr/>
        </p:nvSpPr>
        <p:spPr>
          <a:xfrm>
            <a:off x="836721" y="3998214"/>
            <a:ext cx="96017" cy="96012"/>
          </a:xfrm>
          <a:prstGeom prst="ellipse">
            <a:avLst/>
          </a:prstGeom>
          <a:solidFill>
            <a:srgbClr val="DC4C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78" name="Google Shape;1478;p59"/>
          <p:cNvSpPr/>
          <p:nvPr/>
        </p:nvSpPr>
        <p:spPr>
          <a:xfrm>
            <a:off x="2108673" y="2873502"/>
            <a:ext cx="1532570" cy="1371600"/>
          </a:xfrm>
          <a:prstGeom prst="roundRect">
            <a:avLst>
              <a:gd fmla="val 6000" name="adj"/>
            </a:avLst>
          </a:prstGeom>
          <a:solidFill>
            <a:srgbClr val="F5F7FA"/>
          </a:solidFill>
          <a:ln>
            <a:noFill/>
          </a:ln>
          <a:effectLst>
            <a:outerShdw blurRad="101600" rotWithShape="0" algn="bl" dir="5400000" dist="38100">
              <a:srgbClr val="1C2B3E">
                <a:alpha val="10196"/>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79" name="Google Shape;1479;p59"/>
          <p:cNvSpPr/>
          <p:nvPr/>
        </p:nvSpPr>
        <p:spPr>
          <a:xfrm>
            <a:off x="2232124" y="2983230"/>
            <a:ext cx="1285669" cy="2331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000"/>
              <a:buFont typeface="Arial"/>
              <a:buNone/>
            </a:pPr>
            <a:r>
              <a:rPr b="1" lang="en-GB" sz="1000">
                <a:solidFill>
                  <a:srgbClr val="94A3B8"/>
                </a:solidFill>
                <a:latin typeface="Arial"/>
                <a:ea typeface="Arial"/>
                <a:cs typeface="Arial"/>
                <a:sym typeface="Arial"/>
              </a:rPr>
              <a:t>M7</a:t>
            </a:r>
            <a:endParaRPr sz="1000">
              <a:solidFill>
                <a:schemeClr val="dk1"/>
              </a:solidFill>
              <a:latin typeface="Calibri"/>
              <a:ea typeface="Calibri"/>
              <a:cs typeface="Calibri"/>
              <a:sym typeface="Calibri"/>
            </a:endParaRPr>
          </a:p>
        </p:txBody>
      </p:sp>
      <p:sp>
        <p:nvSpPr>
          <p:cNvPr id="1480" name="Google Shape;1480;p59"/>
          <p:cNvSpPr/>
          <p:nvPr/>
        </p:nvSpPr>
        <p:spPr>
          <a:xfrm>
            <a:off x="2232124" y="3230118"/>
            <a:ext cx="1285669" cy="4800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B3E"/>
              </a:buClr>
              <a:buSzPts val="1200"/>
              <a:buFont typeface="Arial"/>
              <a:buNone/>
            </a:pPr>
            <a:r>
              <a:rPr b="1" lang="en-GB" sz="1200">
                <a:solidFill>
                  <a:srgbClr val="1C2B3E"/>
                </a:solidFill>
                <a:latin typeface="Arial"/>
                <a:ea typeface="Arial"/>
                <a:cs typeface="Arial"/>
                <a:sym typeface="Arial"/>
              </a:rPr>
              <a:t>The Brew Lab</a:t>
            </a:r>
            <a:endParaRPr sz="1200">
              <a:solidFill>
                <a:schemeClr val="dk1"/>
              </a:solidFill>
              <a:latin typeface="Calibri"/>
              <a:ea typeface="Calibri"/>
              <a:cs typeface="Calibri"/>
              <a:sym typeface="Calibri"/>
            </a:endParaRPr>
          </a:p>
        </p:txBody>
      </p:sp>
      <p:sp>
        <p:nvSpPr>
          <p:cNvPr id="1481" name="Google Shape;1481;p59"/>
          <p:cNvSpPr/>
          <p:nvPr/>
        </p:nvSpPr>
        <p:spPr>
          <a:xfrm>
            <a:off x="2232124" y="3998214"/>
            <a:ext cx="96017" cy="96012"/>
          </a:xfrm>
          <a:prstGeom prst="ellipse">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82" name="Google Shape;1482;p59"/>
          <p:cNvSpPr/>
          <p:nvPr/>
        </p:nvSpPr>
        <p:spPr>
          <a:xfrm>
            <a:off x="2383008" y="3998214"/>
            <a:ext cx="96017" cy="96012"/>
          </a:xfrm>
          <a:prstGeom prst="ellipse">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83" name="Google Shape;1483;p59"/>
          <p:cNvSpPr/>
          <p:nvPr/>
        </p:nvSpPr>
        <p:spPr>
          <a:xfrm>
            <a:off x="3805844" y="2873502"/>
            <a:ext cx="1532570" cy="1371600"/>
          </a:xfrm>
          <a:prstGeom prst="roundRect">
            <a:avLst>
              <a:gd fmla="val 6000" name="adj"/>
            </a:avLst>
          </a:prstGeom>
          <a:solidFill>
            <a:srgbClr val="F5F7FA"/>
          </a:solidFill>
          <a:ln>
            <a:noFill/>
          </a:ln>
          <a:effectLst>
            <a:outerShdw blurRad="101600" rotWithShape="0" algn="bl" dir="5400000" dist="38100">
              <a:srgbClr val="1C2B3E">
                <a:alpha val="10196"/>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84" name="Google Shape;1484;p59"/>
          <p:cNvSpPr/>
          <p:nvPr/>
        </p:nvSpPr>
        <p:spPr>
          <a:xfrm>
            <a:off x="3929294" y="2983230"/>
            <a:ext cx="1285669" cy="2331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000"/>
              <a:buFont typeface="Arial"/>
              <a:buNone/>
            </a:pPr>
            <a:r>
              <a:rPr b="1" lang="en-GB" sz="1000">
                <a:solidFill>
                  <a:srgbClr val="94A3B8"/>
                </a:solidFill>
                <a:latin typeface="Arial"/>
                <a:ea typeface="Arial"/>
                <a:cs typeface="Arial"/>
                <a:sym typeface="Arial"/>
              </a:rPr>
              <a:t>M8</a:t>
            </a:r>
            <a:endParaRPr sz="1000">
              <a:solidFill>
                <a:schemeClr val="dk1"/>
              </a:solidFill>
              <a:latin typeface="Calibri"/>
              <a:ea typeface="Calibri"/>
              <a:cs typeface="Calibri"/>
              <a:sym typeface="Calibri"/>
            </a:endParaRPr>
          </a:p>
        </p:txBody>
      </p:sp>
      <p:sp>
        <p:nvSpPr>
          <p:cNvPr id="1485" name="Google Shape;1485;p59"/>
          <p:cNvSpPr/>
          <p:nvPr/>
        </p:nvSpPr>
        <p:spPr>
          <a:xfrm>
            <a:off x="3929294" y="3230118"/>
            <a:ext cx="1285669" cy="4800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B3E"/>
              </a:buClr>
              <a:buSzPts val="1200"/>
              <a:buFont typeface="Arial"/>
              <a:buNone/>
            </a:pPr>
            <a:r>
              <a:rPr b="1" lang="en-GB" sz="1200">
                <a:solidFill>
                  <a:srgbClr val="1C2B3E"/>
                </a:solidFill>
                <a:latin typeface="Arial"/>
                <a:ea typeface="Arial"/>
                <a:cs typeface="Arial"/>
                <a:sym typeface="Arial"/>
              </a:rPr>
              <a:t>Grand Ballroom</a:t>
            </a:r>
            <a:endParaRPr sz="1200">
              <a:solidFill>
                <a:schemeClr val="dk1"/>
              </a:solidFill>
              <a:latin typeface="Calibri"/>
              <a:ea typeface="Calibri"/>
              <a:cs typeface="Calibri"/>
              <a:sym typeface="Calibri"/>
            </a:endParaRPr>
          </a:p>
        </p:txBody>
      </p:sp>
      <p:sp>
        <p:nvSpPr>
          <p:cNvPr id="1486" name="Google Shape;1486;p59"/>
          <p:cNvSpPr/>
          <p:nvPr/>
        </p:nvSpPr>
        <p:spPr>
          <a:xfrm>
            <a:off x="3929294" y="3998214"/>
            <a:ext cx="96017" cy="96012"/>
          </a:xfrm>
          <a:prstGeom prst="ellipse">
            <a:avLst/>
          </a:prstGeom>
          <a:solidFill>
            <a:srgbClr val="DC4C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87" name="Google Shape;1487;p59"/>
          <p:cNvSpPr/>
          <p:nvPr/>
        </p:nvSpPr>
        <p:spPr>
          <a:xfrm>
            <a:off x="4080179" y="3998214"/>
            <a:ext cx="96017" cy="96012"/>
          </a:xfrm>
          <a:prstGeom prst="ellipse">
            <a:avLst/>
          </a:prstGeom>
          <a:solidFill>
            <a:srgbClr val="DC4C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88" name="Google Shape;1488;p59"/>
          <p:cNvSpPr/>
          <p:nvPr/>
        </p:nvSpPr>
        <p:spPr>
          <a:xfrm>
            <a:off x="4231063" y="3998214"/>
            <a:ext cx="96017" cy="96012"/>
          </a:xfrm>
          <a:prstGeom prst="ellipse">
            <a:avLst/>
          </a:prstGeom>
          <a:solidFill>
            <a:srgbClr val="DC4C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89" name="Google Shape;1489;p59"/>
          <p:cNvSpPr/>
          <p:nvPr/>
        </p:nvSpPr>
        <p:spPr>
          <a:xfrm>
            <a:off x="5503016" y="2873502"/>
            <a:ext cx="1532570" cy="1371600"/>
          </a:xfrm>
          <a:prstGeom prst="roundRect">
            <a:avLst>
              <a:gd fmla="val 6000" name="adj"/>
            </a:avLst>
          </a:prstGeom>
          <a:solidFill>
            <a:srgbClr val="F5F7FA"/>
          </a:solidFill>
          <a:ln>
            <a:noFill/>
          </a:ln>
          <a:effectLst>
            <a:outerShdw blurRad="101600" rotWithShape="0" algn="bl" dir="5400000" dist="38100">
              <a:srgbClr val="1C2B3E">
                <a:alpha val="10196"/>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90" name="Google Shape;1490;p59"/>
          <p:cNvSpPr/>
          <p:nvPr/>
        </p:nvSpPr>
        <p:spPr>
          <a:xfrm>
            <a:off x="5626466" y="2983230"/>
            <a:ext cx="1285669" cy="2331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000"/>
              <a:buFont typeface="Arial"/>
              <a:buNone/>
            </a:pPr>
            <a:r>
              <a:rPr b="1" lang="en-GB" sz="1000">
                <a:solidFill>
                  <a:srgbClr val="94A3B8"/>
                </a:solidFill>
                <a:latin typeface="Arial"/>
                <a:ea typeface="Arial"/>
                <a:cs typeface="Arial"/>
                <a:sym typeface="Arial"/>
              </a:rPr>
              <a:t>M9</a:t>
            </a:r>
            <a:endParaRPr sz="1000">
              <a:solidFill>
                <a:schemeClr val="dk1"/>
              </a:solidFill>
              <a:latin typeface="Calibri"/>
              <a:ea typeface="Calibri"/>
              <a:cs typeface="Calibri"/>
              <a:sym typeface="Calibri"/>
            </a:endParaRPr>
          </a:p>
        </p:txBody>
      </p:sp>
      <p:sp>
        <p:nvSpPr>
          <p:cNvPr id="1491" name="Google Shape;1491;p59"/>
          <p:cNvSpPr/>
          <p:nvPr/>
        </p:nvSpPr>
        <p:spPr>
          <a:xfrm>
            <a:off x="5626466" y="3230118"/>
            <a:ext cx="1285669" cy="4800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B3E"/>
              </a:buClr>
              <a:buSzPts val="1200"/>
              <a:buFont typeface="Arial"/>
              <a:buNone/>
            </a:pPr>
            <a:r>
              <a:rPr b="1" lang="en-GB" sz="1200">
                <a:solidFill>
                  <a:srgbClr val="1C2B3E"/>
                </a:solidFill>
                <a:latin typeface="Arial"/>
                <a:ea typeface="Arial"/>
                <a:cs typeface="Arial"/>
                <a:sym typeface="Arial"/>
              </a:rPr>
              <a:t>Encik Rahman</a:t>
            </a:r>
            <a:endParaRPr sz="1200">
              <a:solidFill>
                <a:schemeClr val="dk1"/>
              </a:solidFill>
              <a:latin typeface="Calibri"/>
              <a:ea typeface="Calibri"/>
              <a:cs typeface="Calibri"/>
              <a:sym typeface="Calibri"/>
            </a:endParaRPr>
          </a:p>
        </p:txBody>
      </p:sp>
      <p:sp>
        <p:nvSpPr>
          <p:cNvPr id="1492" name="Google Shape;1492;p59"/>
          <p:cNvSpPr/>
          <p:nvPr/>
        </p:nvSpPr>
        <p:spPr>
          <a:xfrm>
            <a:off x="5626466" y="3998214"/>
            <a:ext cx="96017" cy="96012"/>
          </a:xfrm>
          <a:prstGeom prst="ellipse">
            <a:avLst/>
          </a:prstGeom>
          <a:solidFill>
            <a:srgbClr val="DC4C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93" name="Google Shape;1493;p59"/>
          <p:cNvSpPr/>
          <p:nvPr/>
        </p:nvSpPr>
        <p:spPr>
          <a:xfrm>
            <a:off x="5777350" y="3998214"/>
            <a:ext cx="96017" cy="96012"/>
          </a:xfrm>
          <a:prstGeom prst="ellipse">
            <a:avLst/>
          </a:prstGeom>
          <a:solidFill>
            <a:srgbClr val="DC4C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94" name="Google Shape;1494;p59"/>
          <p:cNvSpPr/>
          <p:nvPr/>
        </p:nvSpPr>
        <p:spPr>
          <a:xfrm>
            <a:off x="5928234" y="3998214"/>
            <a:ext cx="96017" cy="96012"/>
          </a:xfrm>
          <a:prstGeom prst="ellipse">
            <a:avLst/>
          </a:prstGeom>
          <a:solidFill>
            <a:srgbClr val="DC4C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95" name="Google Shape;1495;p59"/>
          <p:cNvSpPr/>
          <p:nvPr/>
        </p:nvSpPr>
        <p:spPr>
          <a:xfrm>
            <a:off x="7200187" y="2873502"/>
            <a:ext cx="1532570" cy="1371600"/>
          </a:xfrm>
          <a:prstGeom prst="roundRect">
            <a:avLst>
              <a:gd fmla="val 6000"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96" name="Google Shape;1496;p59"/>
          <p:cNvSpPr/>
          <p:nvPr/>
        </p:nvSpPr>
        <p:spPr>
          <a:xfrm>
            <a:off x="7323637" y="2983230"/>
            <a:ext cx="1285669" cy="2331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Arial"/>
              <a:buNone/>
            </a:pPr>
            <a:r>
              <a:rPr b="1" lang="en-GB" sz="1000">
                <a:solidFill>
                  <a:srgbClr val="FFFFFF"/>
                </a:solidFill>
                <a:latin typeface="Arial"/>
                <a:ea typeface="Arial"/>
                <a:cs typeface="Arial"/>
                <a:sym typeface="Arial"/>
              </a:rPr>
              <a:t>M10</a:t>
            </a:r>
            <a:endParaRPr sz="1000">
              <a:solidFill>
                <a:schemeClr val="dk1"/>
              </a:solidFill>
              <a:latin typeface="Calibri"/>
              <a:ea typeface="Calibri"/>
              <a:cs typeface="Calibri"/>
              <a:sym typeface="Calibri"/>
            </a:endParaRPr>
          </a:p>
        </p:txBody>
      </p:sp>
      <p:sp>
        <p:nvSpPr>
          <p:cNvPr id="1497" name="Google Shape;1497;p59"/>
          <p:cNvSpPr/>
          <p:nvPr/>
        </p:nvSpPr>
        <p:spPr>
          <a:xfrm>
            <a:off x="7323637" y="3230118"/>
            <a:ext cx="1285669" cy="4800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200"/>
              <a:buFont typeface="Arial"/>
              <a:buNone/>
            </a:pPr>
            <a:r>
              <a:rPr b="1" lang="en-GB" sz="1200">
                <a:solidFill>
                  <a:srgbClr val="FFFFFF"/>
                </a:solidFill>
                <a:latin typeface="Arial"/>
                <a:ea typeface="Arial"/>
                <a:cs typeface="Arial"/>
                <a:sym typeface="Arial"/>
              </a:rPr>
              <a:t>Bintang Mart</a:t>
            </a:r>
            <a:endParaRPr sz="1200">
              <a:solidFill>
                <a:schemeClr val="dk1"/>
              </a:solidFill>
              <a:latin typeface="Calibri"/>
              <a:ea typeface="Calibri"/>
              <a:cs typeface="Calibri"/>
              <a:sym typeface="Calibri"/>
            </a:endParaRPr>
          </a:p>
        </p:txBody>
      </p:sp>
      <p:sp>
        <p:nvSpPr>
          <p:cNvPr id="1498" name="Google Shape;1498;p59"/>
          <p:cNvSpPr/>
          <p:nvPr/>
        </p:nvSpPr>
        <p:spPr>
          <a:xfrm>
            <a:off x="7323637" y="3998214"/>
            <a:ext cx="96017" cy="96012"/>
          </a:xfrm>
          <a:prstGeom prst="ellipse">
            <a:avLst/>
          </a:pr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99" name="Google Shape;1499;p59"/>
          <p:cNvSpPr/>
          <p:nvPr/>
        </p:nvSpPr>
        <p:spPr>
          <a:xfrm>
            <a:off x="7474521" y="3998214"/>
            <a:ext cx="96017" cy="96012"/>
          </a:xfrm>
          <a:prstGeom prst="ellipse">
            <a:avLst/>
          </a:pr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00" name="Google Shape;1500;p59"/>
          <p:cNvSpPr/>
          <p:nvPr/>
        </p:nvSpPr>
        <p:spPr>
          <a:xfrm>
            <a:off x="7625405" y="3998214"/>
            <a:ext cx="96017" cy="96012"/>
          </a:xfrm>
          <a:prstGeom prst="ellipse">
            <a:avLst/>
          </a:pr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01" name="Google Shape;1501;p59"/>
          <p:cNvSpPr/>
          <p:nvPr/>
        </p:nvSpPr>
        <p:spPr>
          <a:xfrm>
            <a:off x="7944045" y="3970782"/>
            <a:ext cx="685837" cy="192024"/>
          </a:xfrm>
          <a:prstGeom prst="roundRect">
            <a:avLst>
              <a:gd fmla="val 50000" name="adj"/>
            </a:avLst>
          </a:pr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02" name="Google Shape;1502;p59"/>
          <p:cNvSpPr/>
          <p:nvPr/>
        </p:nvSpPr>
        <p:spPr>
          <a:xfrm>
            <a:off x="7944045" y="3970782"/>
            <a:ext cx="685837" cy="1920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2B3E"/>
              </a:buClr>
              <a:buSzPts val="700"/>
              <a:buFont typeface="Arial"/>
              <a:buNone/>
            </a:pPr>
            <a:r>
              <a:rPr b="1" lang="en-GB" sz="700">
                <a:solidFill>
                  <a:srgbClr val="1C2B3E"/>
                </a:solidFill>
                <a:latin typeface="Arial"/>
                <a:ea typeface="Arial"/>
                <a:cs typeface="Arial"/>
                <a:sym typeface="Arial"/>
              </a:rPr>
              <a:t>BOSS</a:t>
            </a:r>
            <a:endParaRPr sz="700">
              <a:solidFill>
                <a:schemeClr val="dk1"/>
              </a:solidFill>
              <a:latin typeface="Calibri"/>
              <a:ea typeface="Calibri"/>
              <a:cs typeface="Calibri"/>
              <a:sym typeface="Calibri"/>
            </a:endParaRPr>
          </a:p>
        </p:txBody>
      </p:sp>
      <p:sp>
        <p:nvSpPr>
          <p:cNvPr id="1503" name="Google Shape;1503;p59"/>
          <p:cNvSpPr txBox="1"/>
          <p:nvPr>
            <p:ph idx="12" type="sldNum"/>
          </p:nvPr>
        </p:nvSpPr>
        <p:spPr>
          <a:xfrm>
            <a:off x="8347216" y="4750189"/>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C2B3E"/>
        </a:solidFill>
      </p:bgPr>
    </p:bg>
    <p:spTree>
      <p:nvGrpSpPr>
        <p:cNvPr id="1508" name="Shape 1508"/>
        <p:cNvGrpSpPr/>
        <p:nvPr/>
      </p:nvGrpSpPr>
      <p:grpSpPr>
        <a:xfrm>
          <a:off x="0" y="0"/>
          <a:ext cx="0" cy="0"/>
          <a:chOff x="0" y="0"/>
          <a:chExt cx="0" cy="0"/>
        </a:xfrm>
      </p:grpSpPr>
      <p:sp>
        <p:nvSpPr>
          <p:cNvPr id="1509" name="Google Shape;1509;p60"/>
          <p:cNvSpPr/>
          <p:nvPr/>
        </p:nvSpPr>
        <p:spPr>
          <a:xfrm>
            <a:off x="-150" y="994343"/>
            <a:ext cx="9144300" cy="3154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5500"/>
              <a:buFont typeface="Arial"/>
              <a:buNone/>
            </a:pPr>
            <a:r>
              <a:rPr b="1" lang="en-GB" sz="16000">
                <a:solidFill>
                  <a:srgbClr val="FFFFFF"/>
                </a:solidFill>
              </a:rPr>
              <a:t>47:00</a:t>
            </a:r>
            <a:endParaRPr sz="16000">
              <a:solidFill>
                <a:schemeClr val="dk1"/>
              </a:solidFill>
            </a:endParaRPr>
          </a:p>
        </p:txBody>
      </p:sp>
      <p:pic>
        <p:nvPicPr>
          <p:cNvPr descr="/home/claude/maia/icons/FiClock_white.png" id="1510" name="Google Shape;1510;p60"/>
          <p:cNvPicPr preferRelativeResize="0"/>
          <p:nvPr/>
        </p:nvPicPr>
        <p:blipFill rotWithShape="1">
          <a:blip r:embed="rId3">
            <a:alphaModFix/>
          </a:blip>
          <a:srcRect b="0" l="0" r="0" t="0"/>
          <a:stretch/>
        </p:blipFill>
        <p:spPr>
          <a:xfrm>
            <a:off x="4343321" y="766425"/>
            <a:ext cx="457375" cy="457375"/>
          </a:xfrm>
          <a:prstGeom prst="rect">
            <a:avLst/>
          </a:prstGeom>
          <a:noFill/>
          <a:ln>
            <a:noFill/>
          </a:ln>
        </p:spPr>
      </p:pic>
      <p:sp>
        <p:nvSpPr>
          <p:cNvPr id="1511" name="Google Shape;1511;p60"/>
          <p:cNvSpPr txBox="1"/>
          <p:nvPr>
            <p:ph idx="12" type="sldNum"/>
          </p:nvPr>
        </p:nvSpPr>
        <p:spPr>
          <a:xfrm>
            <a:off x="8347216" y="4750189"/>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16" name="Shape 1516"/>
        <p:cNvGrpSpPr/>
        <p:nvPr/>
      </p:nvGrpSpPr>
      <p:grpSpPr>
        <a:xfrm>
          <a:off x="0" y="0"/>
          <a:ext cx="0" cy="0"/>
          <a:chOff x="0" y="0"/>
          <a:chExt cx="0" cy="0"/>
        </a:xfrm>
      </p:grpSpPr>
      <p:sp>
        <p:nvSpPr>
          <p:cNvPr id="1517" name="Google Shape;1517;p61"/>
          <p:cNvSpPr/>
          <p:nvPr/>
        </p:nvSpPr>
        <p:spPr>
          <a:xfrm>
            <a:off x="411550" y="1190103"/>
            <a:ext cx="2704800" cy="3288900"/>
          </a:xfrm>
          <a:prstGeom prst="roundRect">
            <a:avLst>
              <a:gd fmla="val 6052" name="adj"/>
            </a:avLst>
          </a:prstGeom>
          <a:solidFill>
            <a:srgbClr val="E3E8EF"/>
          </a:solidFill>
          <a:ln cap="flat" cmpd="sng" w="9525">
            <a:solidFill>
              <a:srgbClr val="E3E8EF"/>
            </a:solidFill>
            <a:prstDash val="solid"/>
            <a:round/>
            <a:headEnd len="sm" w="sm" type="none"/>
            <a:tailEnd len="sm" w="sm" type="none"/>
          </a:ln>
        </p:spPr>
        <p:txBody>
          <a:bodyPr anchorCtr="0" anchor="t" bIns="34275" lIns="68575" spcFirstLastPara="1" rIns="287850" wrap="square" tIns="34275">
            <a:noAutofit/>
          </a:bodyPr>
          <a:lstStyle/>
          <a:p>
            <a:pPr indent="0" lvl="0" marL="180000" rtl="0" algn="l">
              <a:spcBef>
                <a:spcPts val="0"/>
              </a:spcBef>
              <a:spcAft>
                <a:spcPts val="0"/>
              </a:spcAft>
              <a:buNone/>
            </a:pPr>
            <a:r>
              <a:t/>
            </a:r>
            <a:endParaRPr b="1" sz="1200">
              <a:solidFill>
                <a:schemeClr val="accent1"/>
              </a:solidFill>
            </a:endParaRPr>
          </a:p>
          <a:p>
            <a:pPr indent="0" lvl="0" marL="180000" rtl="0" algn="l">
              <a:spcBef>
                <a:spcPts val="0"/>
              </a:spcBef>
              <a:spcAft>
                <a:spcPts val="0"/>
              </a:spcAft>
              <a:buNone/>
            </a:pPr>
            <a:r>
              <a:rPr b="1" lang="en-GB">
                <a:solidFill>
                  <a:srgbClr val="76889B"/>
                </a:solidFill>
              </a:rPr>
              <a:t>Scenario</a:t>
            </a:r>
            <a:endParaRPr b="1">
              <a:solidFill>
                <a:srgbClr val="76889B"/>
              </a:solidFill>
            </a:endParaRPr>
          </a:p>
          <a:p>
            <a:pPr indent="0" lvl="0" marL="180000" rtl="0" algn="l">
              <a:spcBef>
                <a:spcPts val="0"/>
              </a:spcBef>
              <a:spcAft>
                <a:spcPts val="0"/>
              </a:spcAft>
              <a:buNone/>
            </a:pPr>
            <a:r>
              <a:t/>
            </a:r>
            <a:endParaRPr b="1" sz="1200">
              <a:solidFill>
                <a:schemeClr val="accent1"/>
              </a:solidFill>
            </a:endParaRPr>
          </a:p>
          <a:p>
            <a:pPr indent="0" lvl="0" marL="180000" marR="4652" rtl="0" algn="l">
              <a:lnSpc>
                <a:spcPct val="115000"/>
              </a:lnSpc>
              <a:spcBef>
                <a:spcPts val="0"/>
              </a:spcBef>
              <a:spcAft>
                <a:spcPts val="0"/>
              </a:spcAft>
              <a:buNone/>
            </a:pPr>
            <a:r>
              <a:rPr i="1" lang="en-GB" sz="1600">
                <a:solidFill>
                  <a:srgbClr val="1C2B3E"/>
                </a:solidFill>
              </a:rPr>
              <a:t>Mr. Tan sent over their weekly order. It's clean. Process it and get it delivered.”</a:t>
            </a:r>
            <a:endParaRPr i="1" sz="1600">
              <a:solidFill>
                <a:srgbClr val="1C2B3E"/>
              </a:solidFill>
            </a:endParaRPr>
          </a:p>
        </p:txBody>
      </p:sp>
      <p:sp>
        <p:nvSpPr>
          <p:cNvPr id="1518" name="Google Shape;1518;p61"/>
          <p:cNvSpPr/>
          <p:nvPr/>
        </p:nvSpPr>
        <p:spPr>
          <a:xfrm>
            <a:off x="411502" y="260604"/>
            <a:ext cx="6858366"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MISSION CARDS · M1 OF 10</a:t>
            </a:r>
            <a:endParaRPr sz="800">
              <a:solidFill>
                <a:schemeClr val="dk1"/>
              </a:solidFill>
              <a:latin typeface="Calibri"/>
              <a:ea typeface="Calibri"/>
              <a:cs typeface="Calibri"/>
              <a:sym typeface="Calibri"/>
            </a:endParaRPr>
          </a:p>
        </p:txBody>
      </p:sp>
      <p:sp>
        <p:nvSpPr>
          <p:cNvPr id="1519" name="Google Shape;1519;p61"/>
          <p:cNvSpPr/>
          <p:nvPr/>
        </p:nvSpPr>
        <p:spPr>
          <a:xfrm>
            <a:off x="411502" y="438912"/>
            <a:ext cx="8321255" cy="4800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C2B3E"/>
              </a:buClr>
              <a:buSzPts val="2200"/>
              <a:buFont typeface="Arial"/>
              <a:buNone/>
            </a:pPr>
            <a:r>
              <a:rPr b="1" lang="en-GB" sz="2200">
                <a:solidFill>
                  <a:srgbClr val="1C2B3E"/>
                </a:solidFill>
                <a:latin typeface="Poppins"/>
                <a:ea typeface="Poppins"/>
                <a:cs typeface="Poppins"/>
                <a:sym typeface="Poppins"/>
              </a:rPr>
              <a:t>Mission 1: </a:t>
            </a:r>
            <a:r>
              <a:rPr b="1" lang="en-GB" sz="2200">
                <a:solidFill>
                  <a:srgbClr val="1C2B3E"/>
                </a:solidFill>
                <a:latin typeface="Poppins"/>
                <a:ea typeface="Poppins"/>
                <a:cs typeface="Poppins"/>
                <a:sym typeface="Poppins"/>
              </a:rPr>
              <a:t>Restoran Maju Jaya</a:t>
            </a:r>
            <a:endParaRPr sz="2200">
              <a:solidFill>
                <a:schemeClr val="dk1"/>
              </a:solidFill>
              <a:latin typeface="Poppins"/>
              <a:ea typeface="Poppins"/>
              <a:cs typeface="Poppins"/>
              <a:sym typeface="Poppins"/>
            </a:endParaRPr>
          </a:p>
        </p:txBody>
      </p:sp>
      <p:sp>
        <p:nvSpPr>
          <p:cNvPr id="1520" name="Google Shape;1520;p61"/>
          <p:cNvSpPr/>
          <p:nvPr/>
        </p:nvSpPr>
        <p:spPr>
          <a:xfrm>
            <a:off x="7765727" y="308610"/>
            <a:ext cx="967030" cy="274320"/>
          </a:xfrm>
          <a:prstGeom prst="roundRect">
            <a:avLst>
              <a:gd fmla="val 50000" name="adj"/>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21" name="Google Shape;1521;p61"/>
          <p:cNvSpPr/>
          <p:nvPr/>
        </p:nvSpPr>
        <p:spPr>
          <a:xfrm>
            <a:off x="7765727" y="308610"/>
            <a:ext cx="96703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Arial"/>
              <a:buNone/>
            </a:pPr>
            <a:r>
              <a:rPr b="1" lang="en-GB" sz="900">
                <a:solidFill>
                  <a:srgbClr val="FFFFFF"/>
                </a:solidFill>
                <a:latin typeface="Arial"/>
                <a:ea typeface="Arial"/>
                <a:cs typeface="Arial"/>
                <a:sym typeface="Arial"/>
              </a:rPr>
              <a:t>WARM-UP</a:t>
            </a:r>
            <a:endParaRPr sz="900">
              <a:solidFill>
                <a:schemeClr val="dk1"/>
              </a:solidFill>
              <a:latin typeface="Calibri"/>
              <a:ea typeface="Calibri"/>
              <a:cs typeface="Calibri"/>
              <a:sym typeface="Calibri"/>
            </a:endParaRPr>
          </a:p>
        </p:txBody>
      </p:sp>
      <p:sp>
        <p:nvSpPr>
          <p:cNvPr id="1522" name="Google Shape;1522;p61"/>
          <p:cNvSpPr txBox="1"/>
          <p:nvPr>
            <p:ph idx="12" type="sldNum"/>
          </p:nvPr>
        </p:nvSpPr>
        <p:spPr>
          <a:xfrm>
            <a:off x="8347216" y="4750189"/>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523" name="Google Shape;1523;p61"/>
          <p:cNvSpPr/>
          <p:nvPr/>
        </p:nvSpPr>
        <p:spPr>
          <a:xfrm>
            <a:off x="3219550" y="1190100"/>
            <a:ext cx="3705600" cy="3288900"/>
          </a:xfrm>
          <a:prstGeom prst="roundRect">
            <a:avLst>
              <a:gd fmla="val 6052" name="adj"/>
            </a:avLst>
          </a:prstGeom>
          <a:solidFill>
            <a:srgbClr val="FBEBD9"/>
          </a:solidFill>
          <a:ln cap="flat" cmpd="sng" w="9525">
            <a:solidFill>
              <a:schemeClr val="accent2"/>
            </a:solidFill>
            <a:prstDash val="solid"/>
            <a:round/>
            <a:headEnd len="sm" w="sm" type="none"/>
            <a:tailEnd len="sm" w="sm" type="none"/>
          </a:ln>
        </p:spPr>
        <p:txBody>
          <a:bodyPr anchorCtr="0" anchor="t" bIns="34275" lIns="68575" spcFirstLastPara="1" rIns="68575" wrap="square" tIns="34275">
            <a:noAutofit/>
          </a:bodyPr>
          <a:lstStyle/>
          <a:p>
            <a:pPr indent="0" lvl="0" marL="180000" rtl="0" algn="l">
              <a:spcBef>
                <a:spcPts val="0"/>
              </a:spcBef>
              <a:spcAft>
                <a:spcPts val="0"/>
              </a:spcAft>
              <a:buNone/>
            </a:pPr>
            <a:r>
              <a:t/>
            </a:r>
            <a:endParaRPr b="1" sz="1200">
              <a:solidFill>
                <a:schemeClr val="accent1"/>
              </a:solidFill>
            </a:endParaRPr>
          </a:p>
          <a:p>
            <a:pPr indent="0" lvl="0" marL="180000" rtl="0" algn="l">
              <a:lnSpc>
                <a:spcPct val="115000"/>
              </a:lnSpc>
              <a:spcBef>
                <a:spcPts val="0"/>
              </a:spcBef>
              <a:spcAft>
                <a:spcPts val="0"/>
              </a:spcAft>
              <a:buNone/>
            </a:pPr>
            <a:r>
              <a:rPr lang="en-GB" sz="1200">
                <a:solidFill>
                  <a:schemeClr val="dk2"/>
                </a:solidFill>
              </a:rPr>
              <a:t>Order arrives as</a:t>
            </a:r>
            <a:endParaRPr sz="1200">
              <a:solidFill>
                <a:schemeClr val="dk2"/>
              </a:solidFill>
            </a:endParaRPr>
          </a:p>
          <a:p>
            <a:pPr indent="0" lvl="0" marL="180000" rtl="0" algn="l">
              <a:lnSpc>
                <a:spcPct val="115000"/>
              </a:lnSpc>
              <a:spcBef>
                <a:spcPts val="0"/>
              </a:spcBef>
              <a:spcAft>
                <a:spcPts val="0"/>
              </a:spcAft>
              <a:buNone/>
            </a:pPr>
            <a:r>
              <a:rPr b="1" lang="en-GB" sz="1600">
                <a:solidFill>
                  <a:schemeClr val="accent1"/>
                </a:solidFill>
              </a:rPr>
              <a:t>Clean repeat-order WhatsApp</a:t>
            </a:r>
            <a:endParaRPr b="1" sz="1600">
              <a:solidFill>
                <a:schemeClr val="accent1"/>
              </a:solidFill>
            </a:endParaRPr>
          </a:p>
          <a:p>
            <a:pPr indent="0" lvl="0" marL="180000" rtl="0" algn="l">
              <a:lnSpc>
                <a:spcPct val="115000"/>
              </a:lnSpc>
              <a:spcBef>
                <a:spcPts val="0"/>
              </a:spcBef>
              <a:spcAft>
                <a:spcPts val="0"/>
              </a:spcAft>
              <a:buNone/>
            </a:pPr>
            <a:r>
              <a:t/>
            </a:r>
            <a:endParaRPr b="1" sz="1200">
              <a:solidFill>
                <a:schemeClr val="dk2"/>
              </a:solidFill>
            </a:endParaRPr>
          </a:p>
          <a:p>
            <a:pPr indent="-317500" lvl="0" marL="630000" rtl="0" algn="l">
              <a:lnSpc>
                <a:spcPct val="115000"/>
              </a:lnSpc>
              <a:spcBef>
                <a:spcPts val="0"/>
              </a:spcBef>
              <a:spcAft>
                <a:spcPts val="0"/>
              </a:spcAft>
              <a:buClr>
                <a:schemeClr val="dk2"/>
              </a:buClr>
              <a:buSzPts val="1400"/>
              <a:buChar char="●"/>
            </a:pPr>
            <a:r>
              <a:rPr lang="en-GB">
                <a:solidFill>
                  <a:schemeClr val="dk2"/>
                </a:solidFill>
              </a:rPr>
              <a:t>Cooking Oil 17kg × 10</a:t>
            </a:r>
            <a:endParaRPr>
              <a:solidFill>
                <a:schemeClr val="dk2"/>
              </a:solidFill>
            </a:endParaRPr>
          </a:p>
          <a:p>
            <a:pPr indent="-317500" lvl="0" marL="630000" rtl="0" algn="l">
              <a:lnSpc>
                <a:spcPct val="115000"/>
              </a:lnSpc>
              <a:spcBef>
                <a:spcPts val="1000"/>
              </a:spcBef>
              <a:spcAft>
                <a:spcPts val="0"/>
              </a:spcAft>
              <a:buClr>
                <a:schemeClr val="dk2"/>
              </a:buClr>
              <a:buSzPts val="1400"/>
              <a:buChar char="●"/>
            </a:pPr>
            <a:r>
              <a:rPr lang="en-GB">
                <a:solidFill>
                  <a:schemeClr val="dk2"/>
                </a:solidFill>
              </a:rPr>
              <a:t>Jasmine Rice 10kg × 5</a:t>
            </a:r>
            <a:endParaRPr>
              <a:solidFill>
                <a:schemeClr val="dk2"/>
              </a:solidFill>
            </a:endParaRPr>
          </a:p>
          <a:p>
            <a:pPr indent="0" lvl="0" marL="457200" rtl="0" algn="l">
              <a:lnSpc>
                <a:spcPct val="115000"/>
              </a:lnSpc>
              <a:spcBef>
                <a:spcPts val="1000"/>
              </a:spcBef>
              <a:spcAft>
                <a:spcPts val="0"/>
              </a:spcAft>
              <a:buNone/>
            </a:pPr>
            <a:r>
              <a:t/>
            </a:r>
            <a:endParaRPr>
              <a:solidFill>
                <a:schemeClr val="dk2"/>
              </a:solidFill>
            </a:endParaRPr>
          </a:p>
          <a:p>
            <a:pPr indent="0" lvl="0" marL="0" rtl="0" algn="l">
              <a:lnSpc>
                <a:spcPct val="115000"/>
              </a:lnSpc>
              <a:spcBef>
                <a:spcPts val="1000"/>
              </a:spcBef>
              <a:spcAft>
                <a:spcPts val="0"/>
              </a:spcAft>
              <a:buNone/>
            </a:pPr>
            <a:r>
              <a:t/>
            </a:r>
            <a:endParaRPr>
              <a:solidFill>
                <a:schemeClr val="dk2"/>
              </a:solidFill>
            </a:endParaRPr>
          </a:p>
          <a:p>
            <a:pPr indent="0" lvl="0" marL="0" rtl="0" algn="l">
              <a:lnSpc>
                <a:spcPct val="115000"/>
              </a:lnSpc>
              <a:spcBef>
                <a:spcPts val="1000"/>
              </a:spcBef>
              <a:spcAft>
                <a:spcPts val="0"/>
              </a:spcAft>
              <a:buNone/>
            </a:pPr>
            <a:r>
              <a:t/>
            </a:r>
            <a:endParaRPr sz="1200">
              <a:solidFill>
                <a:schemeClr val="dk2"/>
              </a:solidFill>
            </a:endParaRPr>
          </a:p>
          <a:p>
            <a:pPr indent="0" lvl="0" marL="180000" rtl="0" algn="l">
              <a:lnSpc>
                <a:spcPct val="115000"/>
              </a:lnSpc>
              <a:spcBef>
                <a:spcPts val="0"/>
              </a:spcBef>
              <a:spcAft>
                <a:spcPts val="0"/>
              </a:spcAft>
              <a:buNone/>
            </a:pPr>
            <a:r>
              <a:rPr i="1" lang="en-GB">
                <a:solidFill>
                  <a:schemeClr val="dk2"/>
                </a:solidFill>
              </a:rPr>
              <a:t>No anomalies — all items in stock.</a:t>
            </a:r>
            <a:endParaRPr i="1">
              <a:solidFill>
                <a:schemeClr val="dk2"/>
              </a:solidFill>
            </a:endParaRPr>
          </a:p>
        </p:txBody>
      </p:sp>
      <p:sp>
        <p:nvSpPr>
          <p:cNvPr id="1524" name="Google Shape;1524;p61"/>
          <p:cNvSpPr/>
          <p:nvPr/>
        </p:nvSpPr>
        <p:spPr>
          <a:xfrm>
            <a:off x="7028450" y="1190100"/>
            <a:ext cx="1704300" cy="3288900"/>
          </a:xfrm>
          <a:prstGeom prst="roundRect">
            <a:avLst>
              <a:gd fmla="val 6052" name="adj"/>
            </a:avLst>
          </a:prstGeom>
          <a:solidFill>
            <a:srgbClr val="E3F5EC"/>
          </a:solidFill>
          <a:ln>
            <a:noFill/>
          </a:ln>
        </p:spPr>
        <p:txBody>
          <a:bodyPr anchorCtr="0" anchor="t" bIns="34275" lIns="68575" spcFirstLastPara="1" rIns="68575" wrap="square" tIns="34275">
            <a:noAutofit/>
          </a:bodyPr>
          <a:lstStyle/>
          <a:p>
            <a:pPr indent="0" lvl="0" marL="180000" rtl="0" algn="l">
              <a:spcBef>
                <a:spcPts val="0"/>
              </a:spcBef>
              <a:spcAft>
                <a:spcPts val="0"/>
              </a:spcAft>
              <a:buNone/>
            </a:pPr>
            <a:r>
              <a:t/>
            </a:r>
            <a:endParaRPr b="1" sz="1200">
              <a:solidFill>
                <a:schemeClr val="accent1"/>
              </a:solidFill>
            </a:endParaRPr>
          </a:p>
          <a:p>
            <a:pPr indent="0" lvl="0" marL="180000" rtl="0" algn="l">
              <a:spcBef>
                <a:spcPts val="0"/>
              </a:spcBef>
              <a:spcAft>
                <a:spcPts val="0"/>
              </a:spcAft>
              <a:buNone/>
            </a:pPr>
            <a:r>
              <a:rPr b="1" lang="en-GB">
                <a:solidFill>
                  <a:srgbClr val="1A9D5C"/>
                </a:solidFill>
              </a:rPr>
              <a:t>Record on board</a:t>
            </a:r>
            <a:endParaRPr b="1">
              <a:solidFill>
                <a:srgbClr val="1A9D5C"/>
              </a:solidFill>
            </a:endParaRPr>
          </a:p>
          <a:p>
            <a:pPr indent="0" lvl="0" marL="180000" rtl="0" algn="l">
              <a:spcBef>
                <a:spcPts val="0"/>
              </a:spcBef>
              <a:spcAft>
                <a:spcPts val="0"/>
              </a:spcAft>
              <a:buNone/>
            </a:pPr>
            <a:r>
              <a:t/>
            </a:r>
            <a:endParaRPr b="1" sz="1200">
              <a:solidFill>
                <a:schemeClr val="accent1"/>
              </a:solidFill>
            </a:endParaRPr>
          </a:p>
          <a:p>
            <a:pPr indent="0" lvl="0" marL="180000" rtl="0" algn="l">
              <a:lnSpc>
                <a:spcPct val="115000"/>
              </a:lnSpc>
              <a:spcBef>
                <a:spcPts val="0"/>
              </a:spcBef>
              <a:spcAft>
                <a:spcPts val="0"/>
              </a:spcAft>
              <a:buNone/>
            </a:pPr>
            <a:r>
              <a:t/>
            </a:r>
            <a:endParaRPr sz="1600">
              <a:solidFill>
                <a:schemeClr val="dk1"/>
              </a:solidFill>
            </a:endParaRPr>
          </a:p>
        </p:txBody>
      </p:sp>
      <p:sp>
        <p:nvSpPr>
          <p:cNvPr id="1525" name="Google Shape;1525;p61"/>
          <p:cNvSpPr/>
          <p:nvPr/>
        </p:nvSpPr>
        <p:spPr>
          <a:xfrm>
            <a:off x="7344050" y="2201903"/>
            <a:ext cx="1073100" cy="342900"/>
          </a:xfrm>
          <a:prstGeom prst="roundRect">
            <a:avLst>
              <a:gd fmla="val 50000" name="adj"/>
            </a:avLst>
          </a:prstGeom>
          <a:solidFill>
            <a:srgbClr val="1A9D5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chemeClr val="lt1"/>
                </a:solidFill>
              </a:rPr>
              <a:t>SO ID</a:t>
            </a:r>
            <a:endParaRPr b="1">
              <a:solidFill>
                <a:schemeClr val="lt1"/>
              </a:solidFill>
            </a:endParaRPr>
          </a:p>
        </p:txBody>
      </p:sp>
      <p:sp>
        <p:nvSpPr>
          <p:cNvPr id="1526" name="Google Shape;1526;p61"/>
          <p:cNvSpPr/>
          <p:nvPr/>
        </p:nvSpPr>
        <p:spPr>
          <a:xfrm>
            <a:off x="7344050" y="2595439"/>
            <a:ext cx="1073100" cy="342900"/>
          </a:xfrm>
          <a:prstGeom prst="roundRect">
            <a:avLst>
              <a:gd fmla="val 50000" name="adj"/>
            </a:avLst>
          </a:prstGeom>
          <a:solidFill>
            <a:srgbClr val="1A9D5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chemeClr val="lt1"/>
                </a:solidFill>
              </a:rPr>
              <a:t>DN ID</a:t>
            </a:r>
            <a:endParaRPr b="1">
              <a:solidFill>
                <a:schemeClr val="lt1"/>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31" name="Shape 1531"/>
        <p:cNvGrpSpPr/>
        <p:nvPr/>
      </p:nvGrpSpPr>
      <p:grpSpPr>
        <a:xfrm>
          <a:off x="0" y="0"/>
          <a:ext cx="0" cy="0"/>
          <a:chOff x="0" y="0"/>
          <a:chExt cx="0" cy="0"/>
        </a:xfrm>
      </p:grpSpPr>
      <p:sp>
        <p:nvSpPr>
          <p:cNvPr id="1532" name="Google Shape;1532;p62"/>
          <p:cNvSpPr/>
          <p:nvPr/>
        </p:nvSpPr>
        <p:spPr>
          <a:xfrm>
            <a:off x="411502" y="260604"/>
            <a:ext cx="68583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MISSION CARDS · M</a:t>
            </a:r>
            <a:r>
              <a:rPr b="1" lang="en-GB" sz="800">
                <a:solidFill>
                  <a:srgbClr val="E8821E"/>
                </a:solidFill>
              </a:rPr>
              <a:t>2</a:t>
            </a:r>
            <a:r>
              <a:rPr b="1" lang="en-GB" sz="800">
                <a:solidFill>
                  <a:srgbClr val="E8821E"/>
                </a:solidFill>
                <a:latin typeface="Arial"/>
                <a:ea typeface="Arial"/>
                <a:cs typeface="Arial"/>
                <a:sym typeface="Arial"/>
              </a:rPr>
              <a:t> OF 10</a:t>
            </a:r>
            <a:endParaRPr sz="800">
              <a:solidFill>
                <a:schemeClr val="dk1"/>
              </a:solidFill>
              <a:latin typeface="Calibri"/>
              <a:ea typeface="Calibri"/>
              <a:cs typeface="Calibri"/>
              <a:sym typeface="Calibri"/>
            </a:endParaRPr>
          </a:p>
        </p:txBody>
      </p:sp>
      <p:sp>
        <p:nvSpPr>
          <p:cNvPr id="1533" name="Google Shape;1533;p62"/>
          <p:cNvSpPr/>
          <p:nvPr/>
        </p:nvSpPr>
        <p:spPr>
          <a:xfrm>
            <a:off x="411502" y="438912"/>
            <a:ext cx="8321400" cy="480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C2B3E"/>
              </a:buClr>
              <a:buSzPts val="2200"/>
              <a:buFont typeface="Arial"/>
              <a:buNone/>
            </a:pPr>
            <a:r>
              <a:rPr b="1" lang="en-GB" sz="2200">
                <a:solidFill>
                  <a:srgbClr val="1C2B3E"/>
                </a:solidFill>
                <a:latin typeface="Poppins"/>
                <a:ea typeface="Poppins"/>
                <a:cs typeface="Poppins"/>
                <a:sym typeface="Poppins"/>
              </a:rPr>
              <a:t>Mission 2: </a:t>
            </a:r>
            <a:r>
              <a:rPr b="1" lang="en-GB" sz="2200">
                <a:solidFill>
                  <a:srgbClr val="1C2B3E"/>
                </a:solidFill>
                <a:latin typeface="Poppins"/>
                <a:ea typeface="Poppins"/>
                <a:cs typeface="Poppins"/>
                <a:sym typeface="Poppins"/>
              </a:rPr>
              <a:t>Warung Pak Din Sdn Bhd</a:t>
            </a:r>
            <a:endParaRPr b="1" sz="2200">
              <a:solidFill>
                <a:srgbClr val="1C2B3E"/>
              </a:solidFill>
              <a:latin typeface="Poppins"/>
              <a:ea typeface="Poppins"/>
              <a:cs typeface="Poppins"/>
              <a:sym typeface="Poppins"/>
            </a:endParaRPr>
          </a:p>
        </p:txBody>
      </p:sp>
      <p:sp>
        <p:nvSpPr>
          <p:cNvPr id="1534" name="Google Shape;1534;p62"/>
          <p:cNvSpPr txBox="1"/>
          <p:nvPr>
            <p:ph idx="12" type="sldNum"/>
          </p:nvPr>
        </p:nvSpPr>
        <p:spPr>
          <a:xfrm>
            <a:off x="8347216" y="4750189"/>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535" name="Google Shape;1535;p62"/>
          <p:cNvSpPr/>
          <p:nvPr/>
        </p:nvSpPr>
        <p:spPr>
          <a:xfrm>
            <a:off x="411550" y="1190103"/>
            <a:ext cx="2704800" cy="3288900"/>
          </a:xfrm>
          <a:prstGeom prst="roundRect">
            <a:avLst>
              <a:gd fmla="val 6052" name="adj"/>
            </a:avLst>
          </a:prstGeom>
          <a:solidFill>
            <a:srgbClr val="E3E8EF"/>
          </a:solidFill>
          <a:ln cap="flat" cmpd="sng" w="9525">
            <a:solidFill>
              <a:srgbClr val="E3E8EF"/>
            </a:solidFill>
            <a:prstDash val="solid"/>
            <a:round/>
            <a:headEnd len="sm" w="sm" type="none"/>
            <a:tailEnd len="sm" w="sm" type="none"/>
          </a:ln>
        </p:spPr>
        <p:txBody>
          <a:bodyPr anchorCtr="0" anchor="t" bIns="34275" lIns="68575" spcFirstLastPara="1" rIns="287850" wrap="square" tIns="34275">
            <a:noAutofit/>
          </a:bodyPr>
          <a:lstStyle/>
          <a:p>
            <a:pPr indent="0" lvl="0" marL="180000" rtl="0" algn="l">
              <a:spcBef>
                <a:spcPts val="0"/>
              </a:spcBef>
              <a:spcAft>
                <a:spcPts val="0"/>
              </a:spcAft>
              <a:buNone/>
            </a:pPr>
            <a:r>
              <a:t/>
            </a:r>
            <a:endParaRPr b="1" sz="1200">
              <a:solidFill>
                <a:schemeClr val="accent1"/>
              </a:solidFill>
            </a:endParaRPr>
          </a:p>
          <a:p>
            <a:pPr indent="0" lvl="0" marL="180000" rtl="0" algn="l">
              <a:spcBef>
                <a:spcPts val="0"/>
              </a:spcBef>
              <a:spcAft>
                <a:spcPts val="0"/>
              </a:spcAft>
              <a:buNone/>
            </a:pPr>
            <a:r>
              <a:rPr b="1" lang="en-GB">
                <a:solidFill>
                  <a:srgbClr val="76889B"/>
                </a:solidFill>
              </a:rPr>
              <a:t>Scenario</a:t>
            </a:r>
            <a:endParaRPr b="1">
              <a:solidFill>
                <a:srgbClr val="5B6B7D"/>
              </a:solidFill>
            </a:endParaRPr>
          </a:p>
          <a:p>
            <a:pPr indent="0" lvl="0" marL="180000" rtl="0" algn="l">
              <a:spcBef>
                <a:spcPts val="0"/>
              </a:spcBef>
              <a:spcAft>
                <a:spcPts val="0"/>
              </a:spcAft>
              <a:buNone/>
            </a:pPr>
            <a:r>
              <a:t/>
            </a:r>
            <a:endParaRPr b="1" sz="1200">
              <a:solidFill>
                <a:schemeClr val="accent1"/>
              </a:solidFill>
            </a:endParaRPr>
          </a:p>
          <a:p>
            <a:pPr indent="0" lvl="0" marL="180000" marR="4652" rtl="0" algn="l">
              <a:lnSpc>
                <a:spcPct val="115000"/>
              </a:lnSpc>
              <a:spcBef>
                <a:spcPts val="0"/>
              </a:spcBef>
              <a:spcAft>
                <a:spcPts val="0"/>
              </a:spcAft>
              <a:buNone/>
            </a:pPr>
            <a:r>
              <a:rPr i="1" lang="en-GB" sz="1600">
                <a:solidFill>
                  <a:srgbClr val="1C2B3E"/>
                </a:solidFill>
              </a:rPr>
              <a:t>“Their ordering clerk sent a photo PO. Some items are described in their own words. Make sure every line is correctly matched before you submit.”</a:t>
            </a:r>
            <a:endParaRPr i="1" sz="1600">
              <a:solidFill>
                <a:srgbClr val="1C2B3E"/>
              </a:solidFill>
            </a:endParaRPr>
          </a:p>
        </p:txBody>
      </p:sp>
      <p:sp>
        <p:nvSpPr>
          <p:cNvPr id="1536" name="Google Shape;1536;p62"/>
          <p:cNvSpPr/>
          <p:nvPr/>
        </p:nvSpPr>
        <p:spPr>
          <a:xfrm>
            <a:off x="3219650" y="1190100"/>
            <a:ext cx="3705600" cy="3288900"/>
          </a:xfrm>
          <a:prstGeom prst="roundRect">
            <a:avLst>
              <a:gd fmla="val 6052" name="adj"/>
            </a:avLst>
          </a:prstGeom>
          <a:solidFill>
            <a:srgbClr val="FBEBD9"/>
          </a:solidFill>
          <a:ln cap="flat" cmpd="sng" w="9525">
            <a:solidFill>
              <a:schemeClr val="accent2"/>
            </a:solidFill>
            <a:prstDash val="solid"/>
            <a:round/>
            <a:headEnd len="sm" w="sm" type="none"/>
            <a:tailEnd len="sm" w="sm" type="none"/>
          </a:ln>
        </p:spPr>
        <p:txBody>
          <a:bodyPr anchorCtr="0" anchor="t" bIns="34275" lIns="68575" spcFirstLastPara="1" rIns="68575" wrap="square" tIns="34275">
            <a:noAutofit/>
          </a:bodyPr>
          <a:lstStyle/>
          <a:p>
            <a:pPr indent="0" lvl="0" marL="180000" marR="118292" rtl="0" algn="l">
              <a:spcBef>
                <a:spcPts val="0"/>
              </a:spcBef>
              <a:spcAft>
                <a:spcPts val="0"/>
              </a:spcAft>
              <a:buNone/>
            </a:pPr>
            <a:r>
              <a:t/>
            </a:r>
            <a:endParaRPr b="1" sz="1200">
              <a:solidFill>
                <a:schemeClr val="accent1"/>
              </a:solidFill>
            </a:endParaRPr>
          </a:p>
          <a:p>
            <a:pPr indent="0" lvl="0" marL="180000" marR="118292" rtl="0" algn="l">
              <a:lnSpc>
                <a:spcPct val="115000"/>
              </a:lnSpc>
              <a:spcBef>
                <a:spcPts val="0"/>
              </a:spcBef>
              <a:spcAft>
                <a:spcPts val="0"/>
              </a:spcAft>
              <a:buNone/>
            </a:pPr>
            <a:r>
              <a:rPr lang="en-GB" sz="1200">
                <a:solidFill>
                  <a:schemeClr val="dk2"/>
                </a:solidFill>
              </a:rPr>
              <a:t>Order arrives as</a:t>
            </a:r>
            <a:endParaRPr sz="1200">
              <a:solidFill>
                <a:schemeClr val="dk2"/>
              </a:solidFill>
            </a:endParaRPr>
          </a:p>
          <a:p>
            <a:pPr indent="0" lvl="0" marL="180000" marR="118292" rtl="0" algn="l">
              <a:lnSpc>
                <a:spcPct val="115000"/>
              </a:lnSpc>
              <a:spcBef>
                <a:spcPts val="0"/>
              </a:spcBef>
              <a:spcAft>
                <a:spcPts val="0"/>
              </a:spcAft>
              <a:buNone/>
            </a:pPr>
            <a:r>
              <a:rPr b="1" lang="en-GB" sz="1600">
                <a:solidFill>
                  <a:schemeClr val="accent1"/>
                </a:solidFill>
              </a:rPr>
              <a:t>Messy photo PO + voice-note</a:t>
            </a:r>
            <a:endParaRPr b="1" sz="1600">
              <a:solidFill>
                <a:schemeClr val="accent1"/>
              </a:solidFill>
            </a:endParaRPr>
          </a:p>
          <a:p>
            <a:pPr indent="0" lvl="0" marL="180000" marR="118292" rtl="0" algn="l">
              <a:lnSpc>
                <a:spcPct val="115000"/>
              </a:lnSpc>
              <a:spcBef>
                <a:spcPts val="0"/>
              </a:spcBef>
              <a:spcAft>
                <a:spcPts val="0"/>
              </a:spcAft>
              <a:buNone/>
            </a:pPr>
            <a:r>
              <a:t/>
            </a:r>
            <a:endParaRPr b="1" sz="1200">
              <a:solidFill>
                <a:schemeClr val="dk2"/>
              </a:solidFill>
            </a:endParaRPr>
          </a:p>
          <a:p>
            <a:pPr indent="-317500" lvl="0" marL="630000" marR="118292" rtl="0" algn="l">
              <a:lnSpc>
                <a:spcPct val="115000"/>
              </a:lnSpc>
              <a:spcBef>
                <a:spcPts val="0"/>
              </a:spcBef>
              <a:spcAft>
                <a:spcPts val="0"/>
              </a:spcAft>
              <a:buClr>
                <a:schemeClr val="dk2"/>
              </a:buClr>
              <a:buSzPts val="1400"/>
              <a:buChar char="●"/>
            </a:pPr>
            <a:r>
              <a:rPr lang="en-GB">
                <a:solidFill>
                  <a:schemeClr val="dk2"/>
                </a:solidFill>
              </a:rPr>
              <a:t>Photo PO: “minyak masak besar” </a:t>
            </a:r>
            <a:br>
              <a:rPr lang="en-GB">
                <a:solidFill>
                  <a:schemeClr val="dk2"/>
                </a:solidFill>
              </a:rPr>
            </a:br>
            <a:r>
              <a:rPr lang="en-GB">
                <a:solidFill>
                  <a:schemeClr val="dk2"/>
                </a:solidFill>
              </a:rPr>
              <a:t>→ Cooking Oil</a:t>
            </a:r>
            <a:endParaRPr>
              <a:solidFill>
                <a:schemeClr val="dk2"/>
              </a:solidFill>
            </a:endParaRPr>
          </a:p>
          <a:p>
            <a:pPr indent="-317500" lvl="0" marL="630000" marR="118292" rtl="0" algn="l">
              <a:lnSpc>
                <a:spcPct val="115000"/>
              </a:lnSpc>
              <a:spcBef>
                <a:spcPts val="1000"/>
              </a:spcBef>
              <a:spcAft>
                <a:spcPts val="0"/>
              </a:spcAft>
              <a:buClr>
                <a:schemeClr val="dk2"/>
              </a:buClr>
              <a:buSzPts val="1400"/>
              <a:buChar char="●"/>
            </a:pPr>
            <a:r>
              <a:rPr lang="en-GB">
                <a:solidFill>
                  <a:schemeClr val="dk2"/>
                </a:solidFill>
              </a:rPr>
              <a:t>“tepung banjir 25kg” </a:t>
            </a:r>
            <a:br>
              <a:rPr lang="en-GB">
                <a:solidFill>
                  <a:schemeClr val="dk2"/>
                </a:solidFill>
              </a:rPr>
            </a:br>
            <a:r>
              <a:rPr lang="en-GB">
                <a:solidFill>
                  <a:schemeClr val="dk2"/>
                </a:solidFill>
              </a:rPr>
              <a:t>→ All-Purpose Flour</a:t>
            </a:r>
            <a:endParaRPr>
              <a:solidFill>
                <a:schemeClr val="dk2"/>
              </a:solidFill>
            </a:endParaRPr>
          </a:p>
          <a:p>
            <a:pPr indent="-317500" lvl="0" marL="630000" marR="118292" rtl="0" algn="l">
              <a:lnSpc>
                <a:spcPct val="115000"/>
              </a:lnSpc>
              <a:spcBef>
                <a:spcPts val="1000"/>
              </a:spcBef>
              <a:spcAft>
                <a:spcPts val="0"/>
              </a:spcAft>
              <a:buClr>
                <a:schemeClr val="dk2"/>
              </a:buClr>
              <a:buSzPts val="1400"/>
              <a:buChar char="●"/>
            </a:pPr>
            <a:r>
              <a:rPr lang="en-GB">
                <a:solidFill>
                  <a:schemeClr val="dk2"/>
                </a:solidFill>
              </a:rPr>
              <a:t>Soy sauce, in their carton size</a:t>
            </a:r>
            <a:endParaRPr>
              <a:solidFill>
                <a:schemeClr val="dk2"/>
              </a:solidFill>
            </a:endParaRPr>
          </a:p>
          <a:p>
            <a:pPr indent="0" lvl="0" marL="0" marR="118292" rtl="0" algn="l">
              <a:lnSpc>
                <a:spcPct val="115000"/>
              </a:lnSpc>
              <a:spcBef>
                <a:spcPts val="1000"/>
              </a:spcBef>
              <a:spcAft>
                <a:spcPts val="0"/>
              </a:spcAft>
              <a:buNone/>
            </a:pPr>
            <a:r>
              <a:t/>
            </a:r>
            <a:endParaRPr sz="1200">
              <a:solidFill>
                <a:schemeClr val="dk2"/>
              </a:solidFill>
            </a:endParaRPr>
          </a:p>
          <a:p>
            <a:pPr indent="0" lvl="0" marL="180000" marR="118292" rtl="0" algn="l">
              <a:lnSpc>
                <a:spcPct val="115000"/>
              </a:lnSpc>
              <a:spcBef>
                <a:spcPts val="0"/>
              </a:spcBef>
              <a:spcAft>
                <a:spcPts val="0"/>
              </a:spcAft>
              <a:buNone/>
            </a:pPr>
            <a:r>
              <a:rPr i="1" lang="en-GB">
                <a:solidFill>
                  <a:schemeClr val="dk2"/>
                </a:solidFill>
              </a:rPr>
              <a:t>One line is low-confidence.</a:t>
            </a:r>
            <a:endParaRPr i="1">
              <a:solidFill>
                <a:schemeClr val="dk2"/>
              </a:solidFill>
            </a:endParaRPr>
          </a:p>
        </p:txBody>
      </p:sp>
      <p:sp>
        <p:nvSpPr>
          <p:cNvPr id="1537" name="Google Shape;1537;p62"/>
          <p:cNvSpPr/>
          <p:nvPr/>
        </p:nvSpPr>
        <p:spPr>
          <a:xfrm>
            <a:off x="7028550" y="1190100"/>
            <a:ext cx="1704300" cy="3288900"/>
          </a:xfrm>
          <a:prstGeom prst="roundRect">
            <a:avLst>
              <a:gd fmla="val 6052" name="adj"/>
            </a:avLst>
          </a:prstGeom>
          <a:solidFill>
            <a:srgbClr val="E3F5EC"/>
          </a:solidFill>
          <a:ln>
            <a:noFill/>
          </a:ln>
        </p:spPr>
        <p:txBody>
          <a:bodyPr anchorCtr="0" anchor="t" bIns="34275" lIns="68575" spcFirstLastPara="1" rIns="68575" wrap="square" tIns="34275">
            <a:noAutofit/>
          </a:bodyPr>
          <a:lstStyle/>
          <a:p>
            <a:pPr indent="0" lvl="0" marL="180000" rtl="0" algn="l">
              <a:spcBef>
                <a:spcPts val="0"/>
              </a:spcBef>
              <a:spcAft>
                <a:spcPts val="0"/>
              </a:spcAft>
              <a:buNone/>
            </a:pPr>
            <a:r>
              <a:t/>
            </a:r>
            <a:endParaRPr b="1" sz="1200">
              <a:solidFill>
                <a:schemeClr val="accent1"/>
              </a:solidFill>
            </a:endParaRPr>
          </a:p>
          <a:p>
            <a:pPr indent="0" lvl="0" marL="180000" rtl="0" algn="l">
              <a:spcBef>
                <a:spcPts val="0"/>
              </a:spcBef>
              <a:spcAft>
                <a:spcPts val="0"/>
              </a:spcAft>
              <a:buNone/>
            </a:pPr>
            <a:r>
              <a:rPr b="1" lang="en-GB">
                <a:solidFill>
                  <a:srgbClr val="1A9D5C"/>
                </a:solidFill>
              </a:rPr>
              <a:t>Record on board</a:t>
            </a:r>
            <a:endParaRPr b="1">
              <a:solidFill>
                <a:srgbClr val="1A9D5C"/>
              </a:solidFill>
            </a:endParaRPr>
          </a:p>
          <a:p>
            <a:pPr indent="0" lvl="0" marL="180000" rtl="0" algn="l">
              <a:spcBef>
                <a:spcPts val="0"/>
              </a:spcBef>
              <a:spcAft>
                <a:spcPts val="0"/>
              </a:spcAft>
              <a:buNone/>
            </a:pPr>
            <a:r>
              <a:t/>
            </a:r>
            <a:endParaRPr b="1" sz="1200">
              <a:solidFill>
                <a:schemeClr val="accent1"/>
              </a:solidFill>
            </a:endParaRPr>
          </a:p>
          <a:p>
            <a:pPr indent="0" lvl="0" marL="180000" rtl="0" algn="l">
              <a:lnSpc>
                <a:spcPct val="115000"/>
              </a:lnSpc>
              <a:spcBef>
                <a:spcPts val="0"/>
              </a:spcBef>
              <a:spcAft>
                <a:spcPts val="0"/>
              </a:spcAft>
              <a:buNone/>
            </a:pPr>
            <a:r>
              <a:t/>
            </a:r>
            <a:endParaRPr sz="1600">
              <a:solidFill>
                <a:schemeClr val="dk1"/>
              </a:solidFill>
            </a:endParaRPr>
          </a:p>
        </p:txBody>
      </p:sp>
      <p:sp>
        <p:nvSpPr>
          <p:cNvPr id="1538" name="Google Shape;1538;p62"/>
          <p:cNvSpPr/>
          <p:nvPr/>
        </p:nvSpPr>
        <p:spPr>
          <a:xfrm>
            <a:off x="7344150" y="2201903"/>
            <a:ext cx="1073100" cy="342900"/>
          </a:xfrm>
          <a:prstGeom prst="roundRect">
            <a:avLst>
              <a:gd fmla="val 50000" name="adj"/>
            </a:avLst>
          </a:prstGeom>
          <a:solidFill>
            <a:srgbClr val="1A9D5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chemeClr val="lt1"/>
                </a:solidFill>
              </a:rPr>
              <a:t>SO ID</a:t>
            </a:r>
            <a:endParaRPr b="1">
              <a:solidFill>
                <a:schemeClr val="lt1"/>
              </a:solidFill>
            </a:endParaRPr>
          </a:p>
        </p:txBody>
      </p:sp>
      <p:sp>
        <p:nvSpPr>
          <p:cNvPr id="1539" name="Google Shape;1539;p62"/>
          <p:cNvSpPr/>
          <p:nvPr/>
        </p:nvSpPr>
        <p:spPr>
          <a:xfrm>
            <a:off x="7344150" y="2595439"/>
            <a:ext cx="1073100" cy="342900"/>
          </a:xfrm>
          <a:prstGeom prst="roundRect">
            <a:avLst>
              <a:gd fmla="val 50000" name="adj"/>
            </a:avLst>
          </a:prstGeom>
          <a:solidFill>
            <a:srgbClr val="1A9D5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chemeClr val="lt1"/>
                </a:solidFill>
              </a:rPr>
              <a:t>DN ID</a:t>
            </a:r>
            <a:endParaRPr b="1">
              <a:solidFill>
                <a:schemeClr val="lt1"/>
              </a:solidFill>
            </a:endParaRPr>
          </a:p>
        </p:txBody>
      </p:sp>
      <p:sp>
        <p:nvSpPr>
          <p:cNvPr id="1540" name="Google Shape;1540;p62"/>
          <p:cNvSpPr/>
          <p:nvPr/>
        </p:nvSpPr>
        <p:spPr>
          <a:xfrm>
            <a:off x="7344150" y="3476051"/>
            <a:ext cx="1073100" cy="342900"/>
          </a:xfrm>
          <a:prstGeom prst="roundRect">
            <a:avLst>
              <a:gd fmla="val 14676" name="adj"/>
            </a:avLst>
          </a:prstGeom>
          <a:solidFill>
            <a:srgbClr val="1A9D5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900">
                <a:solidFill>
                  <a:schemeClr val="lt1"/>
                </a:solidFill>
              </a:rPr>
              <a:t>Caught low-</a:t>
            </a:r>
            <a:endParaRPr b="1" sz="900">
              <a:solidFill>
                <a:schemeClr val="lt1"/>
              </a:solidFill>
            </a:endParaRPr>
          </a:p>
          <a:p>
            <a:pPr indent="0" lvl="0" marL="0" rtl="0" algn="ctr">
              <a:spcBef>
                <a:spcPts val="0"/>
              </a:spcBef>
              <a:spcAft>
                <a:spcPts val="0"/>
              </a:spcAft>
              <a:buNone/>
            </a:pPr>
            <a:r>
              <a:rPr b="1" lang="en-GB" sz="900">
                <a:solidFill>
                  <a:schemeClr val="lt1"/>
                </a:solidFill>
              </a:rPr>
              <a:t>confidence? </a:t>
            </a:r>
            <a:endParaRPr b="1" sz="900">
              <a:solidFill>
                <a:schemeClr val="lt1"/>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45" name="Shape 1545"/>
        <p:cNvGrpSpPr/>
        <p:nvPr/>
      </p:nvGrpSpPr>
      <p:grpSpPr>
        <a:xfrm>
          <a:off x="0" y="0"/>
          <a:ext cx="0" cy="0"/>
          <a:chOff x="0" y="0"/>
          <a:chExt cx="0" cy="0"/>
        </a:xfrm>
      </p:grpSpPr>
      <p:sp>
        <p:nvSpPr>
          <p:cNvPr id="1546" name="Google Shape;1546;p63"/>
          <p:cNvSpPr/>
          <p:nvPr/>
        </p:nvSpPr>
        <p:spPr>
          <a:xfrm>
            <a:off x="411502" y="260604"/>
            <a:ext cx="6858366"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MISSION CARDS · M3 OF 10</a:t>
            </a:r>
            <a:endParaRPr sz="800">
              <a:solidFill>
                <a:schemeClr val="dk1"/>
              </a:solidFill>
              <a:latin typeface="Calibri"/>
              <a:ea typeface="Calibri"/>
              <a:cs typeface="Calibri"/>
              <a:sym typeface="Calibri"/>
            </a:endParaRPr>
          </a:p>
        </p:txBody>
      </p:sp>
      <p:sp>
        <p:nvSpPr>
          <p:cNvPr id="1547" name="Google Shape;1547;p63"/>
          <p:cNvSpPr txBox="1"/>
          <p:nvPr>
            <p:ph idx="12" type="sldNum"/>
          </p:nvPr>
        </p:nvSpPr>
        <p:spPr>
          <a:xfrm>
            <a:off x="8347216" y="4750189"/>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548" name="Google Shape;1548;p63"/>
          <p:cNvSpPr/>
          <p:nvPr/>
        </p:nvSpPr>
        <p:spPr>
          <a:xfrm>
            <a:off x="411502" y="438912"/>
            <a:ext cx="8321400" cy="480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C2B3E"/>
              </a:buClr>
              <a:buSzPts val="2200"/>
              <a:buFont typeface="Arial"/>
              <a:buNone/>
            </a:pPr>
            <a:r>
              <a:rPr b="1" lang="en-GB" sz="2200">
                <a:solidFill>
                  <a:srgbClr val="1C2B3E"/>
                </a:solidFill>
                <a:latin typeface="Poppins"/>
                <a:ea typeface="Poppins"/>
                <a:cs typeface="Poppins"/>
                <a:sym typeface="Poppins"/>
              </a:rPr>
              <a:t>Mission 3: Lim Heng Trading Sdn Bhd</a:t>
            </a:r>
            <a:endParaRPr b="1" sz="2200">
              <a:solidFill>
                <a:srgbClr val="1C2B3E"/>
              </a:solidFill>
              <a:latin typeface="Poppins"/>
              <a:ea typeface="Poppins"/>
              <a:cs typeface="Poppins"/>
              <a:sym typeface="Poppins"/>
            </a:endParaRPr>
          </a:p>
        </p:txBody>
      </p:sp>
      <p:sp>
        <p:nvSpPr>
          <p:cNvPr id="1549" name="Google Shape;1549;p63"/>
          <p:cNvSpPr/>
          <p:nvPr/>
        </p:nvSpPr>
        <p:spPr>
          <a:xfrm>
            <a:off x="411550" y="1190103"/>
            <a:ext cx="2704800" cy="3288900"/>
          </a:xfrm>
          <a:prstGeom prst="roundRect">
            <a:avLst>
              <a:gd fmla="val 6052" name="adj"/>
            </a:avLst>
          </a:prstGeom>
          <a:solidFill>
            <a:srgbClr val="E3E8EF"/>
          </a:solidFill>
          <a:ln cap="flat" cmpd="sng" w="9525">
            <a:solidFill>
              <a:srgbClr val="E3E8EF"/>
            </a:solidFill>
            <a:prstDash val="solid"/>
            <a:round/>
            <a:headEnd len="sm" w="sm" type="none"/>
            <a:tailEnd len="sm" w="sm" type="none"/>
          </a:ln>
        </p:spPr>
        <p:txBody>
          <a:bodyPr anchorCtr="0" anchor="t" bIns="34275" lIns="68575" spcFirstLastPara="1" rIns="287850" wrap="square" tIns="34275">
            <a:noAutofit/>
          </a:bodyPr>
          <a:lstStyle/>
          <a:p>
            <a:pPr indent="0" lvl="0" marL="180000" rtl="0" algn="l">
              <a:spcBef>
                <a:spcPts val="0"/>
              </a:spcBef>
              <a:spcAft>
                <a:spcPts val="0"/>
              </a:spcAft>
              <a:buNone/>
            </a:pPr>
            <a:r>
              <a:t/>
            </a:r>
            <a:endParaRPr b="1" sz="1200">
              <a:solidFill>
                <a:schemeClr val="accent1"/>
              </a:solidFill>
            </a:endParaRPr>
          </a:p>
          <a:p>
            <a:pPr indent="0" lvl="0" marL="180000" rtl="0" algn="l">
              <a:spcBef>
                <a:spcPts val="0"/>
              </a:spcBef>
              <a:spcAft>
                <a:spcPts val="0"/>
              </a:spcAft>
              <a:buNone/>
            </a:pPr>
            <a:r>
              <a:rPr b="1" lang="en-GB">
                <a:solidFill>
                  <a:srgbClr val="76889B"/>
                </a:solidFill>
              </a:rPr>
              <a:t>Scenario</a:t>
            </a:r>
            <a:endParaRPr b="1">
              <a:solidFill>
                <a:srgbClr val="5B6B7D"/>
              </a:solidFill>
            </a:endParaRPr>
          </a:p>
          <a:p>
            <a:pPr indent="0" lvl="0" marL="180000" rtl="0" algn="l">
              <a:spcBef>
                <a:spcPts val="0"/>
              </a:spcBef>
              <a:spcAft>
                <a:spcPts val="0"/>
              </a:spcAft>
              <a:buNone/>
            </a:pPr>
            <a:r>
              <a:t/>
            </a:r>
            <a:endParaRPr b="1" sz="1200">
              <a:solidFill>
                <a:schemeClr val="accent1"/>
              </a:solidFill>
            </a:endParaRPr>
          </a:p>
          <a:p>
            <a:pPr indent="0" lvl="0" marL="180000" marR="4652" rtl="0" algn="l">
              <a:lnSpc>
                <a:spcPct val="115000"/>
              </a:lnSpc>
              <a:spcBef>
                <a:spcPts val="0"/>
              </a:spcBef>
              <a:spcAft>
                <a:spcPts val="0"/>
              </a:spcAft>
              <a:buNone/>
            </a:pPr>
            <a:r>
              <a:rPr i="1" lang="en-GB" sz="1600">
                <a:solidFill>
                  <a:srgbClr val="1C2B3E"/>
                </a:solidFill>
              </a:rPr>
              <a:t>“En. Lim ordered 10 cartons of soy sauce. But their definition of a carton is not the same as yours. Check before you confirm.”</a:t>
            </a:r>
            <a:endParaRPr i="1" sz="1600">
              <a:solidFill>
                <a:srgbClr val="1C2B3E"/>
              </a:solidFill>
            </a:endParaRPr>
          </a:p>
        </p:txBody>
      </p:sp>
      <p:sp>
        <p:nvSpPr>
          <p:cNvPr id="1550" name="Google Shape;1550;p63"/>
          <p:cNvSpPr/>
          <p:nvPr/>
        </p:nvSpPr>
        <p:spPr>
          <a:xfrm>
            <a:off x="3219650" y="1190100"/>
            <a:ext cx="3705600" cy="3288900"/>
          </a:xfrm>
          <a:prstGeom prst="roundRect">
            <a:avLst>
              <a:gd fmla="val 6052" name="adj"/>
            </a:avLst>
          </a:prstGeom>
          <a:solidFill>
            <a:srgbClr val="FBEBD9"/>
          </a:solidFill>
          <a:ln cap="flat" cmpd="sng" w="9525">
            <a:solidFill>
              <a:schemeClr val="accent2"/>
            </a:solidFill>
            <a:prstDash val="solid"/>
            <a:round/>
            <a:headEnd len="sm" w="sm" type="none"/>
            <a:tailEnd len="sm" w="sm" type="none"/>
          </a:ln>
        </p:spPr>
        <p:txBody>
          <a:bodyPr anchorCtr="0" anchor="t" bIns="34275" lIns="68575" spcFirstLastPara="1" rIns="68575" wrap="square" tIns="34275">
            <a:noAutofit/>
          </a:bodyPr>
          <a:lstStyle/>
          <a:p>
            <a:pPr indent="0" lvl="0" marL="180000" marR="118292" rtl="0" algn="l">
              <a:spcBef>
                <a:spcPts val="0"/>
              </a:spcBef>
              <a:spcAft>
                <a:spcPts val="0"/>
              </a:spcAft>
              <a:buNone/>
            </a:pPr>
            <a:r>
              <a:t/>
            </a:r>
            <a:endParaRPr b="1" sz="1200">
              <a:solidFill>
                <a:schemeClr val="accent1"/>
              </a:solidFill>
            </a:endParaRPr>
          </a:p>
          <a:p>
            <a:pPr indent="0" lvl="0" marL="180000" marR="118292" rtl="0" algn="l">
              <a:lnSpc>
                <a:spcPct val="115000"/>
              </a:lnSpc>
              <a:spcBef>
                <a:spcPts val="0"/>
              </a:spcBef>
              <a:spcAft>
                <a:spcPts val="0"/>
              </a:spcAft>
              <a:buNone/>
            </a:pPr>
            <a:r>
              <a:rPr lang="en-GB" sz="1200">
                <a:solidFill>
                  <a:schemeClr val="dk2"/>
                </a:solidFill>
              </a:rPr>
              <a:t>Order arrives as</a:t>
            </a:r>
            <a:endParaRPr sz="1200">
              <a:solidFill>
                <a:schemeClr val="dk2"/>
              </a:solidFill>
            </a:endParaRPr>
          </a:p>
          <a:p>
            <a:pPr indent="0" lvl="0" marL="180000" marR="118292" rtl="0" algn="l">
              <a:lnSpc>
                <a:spcPct val="115000"/>
              </a:lnSpc>
              <a:spcBef>
                <a:spcPts val="0"/>
              </a:spcBef>
              <a:spcAft>
                <a:spcPts val="0"/>
              </a:spcAft>
              <a:buNone/>
            </a:pPr>
            <a:r>
              <a:rPr b="1" lang="en-GB" sz="1600">
                <a:solidFill>
                  <a:schemeClr val="accent1"/>
                </a:solidFill>
              </a:rPr>
              <a:t>Short WhatsApp order</a:t>
            </a:r>
            <a:endParaRPr b="1" sz="1600">
              <a:solidFill>
                <a:schemeClr val="accent1"/>
              </a:solidFill>
            </a:endParaRPr>
          </a:p>
          <a:p>
            <a:pPr indent="0" lvl="0" marL="180000" marR="118292" rtl="0" algn="l">
              <a:lnSpc>
                <a:spcPct val="115000"/>
              </a:lnSpc>
              <a:spcBef>
                <a:spcPts val="0"/>
              </a:spcBef>
              <a:spcAft>
                <a:spcPts val="0"/>
              </a:spcAft>
              <a:buNone/>
            </a:pPr>
            <a:r>
              <a:t/>
            </a:r>
            <a:endParaRPr b="1" sz="1200">
              <a:solidFill>
                <a:schemeClr val="dk2"/>
              </a:solidFill>
            </a:endParaRPr>
          </a:p>
          <a:p>
            <a:pPr indent="-317500" lvl="0" marL="630000" marR="118292" rtl="0" algn="l">
              <a:lnSpc>
                <a:spcPct val="115000"/>
              </a:lnSpc>
              <a:spcBef>
                <a:spcPts val="0"/>
              </a:spcBef>
              <a:spcAft>
                <a:spcPts val="0"/>
              </a:spcAft>
              <a:buClr>
                <a:schemeClr val="dk2"/>
              </a:buClr>
              <a:buSzPts val="1400"/>
              <a:buChar char="●"/>
            </a:pPr>
            <a:r>
              <a:rPr lang="en-GB">
                <a:solidFill>
                  <a:schemeClr val="dk2"/>
                </a:solidFill>
              </a:rPr>
              <a:t>Light Soy Sauce 750ml × 10 cartons</a:t>
            </a:r>
            <a:endParaRPr>
              <a:solidFill>
                <a:schemeClr val="dk2"/>
              </a:solidFill>
            </a:endParaRPr>
          </a:p>
          <a:p>
            <a:pPr indent="-317500" lvl="0" marL="630000" marR="118292" rtl="0" algn="l">
              <a:lnSpc>
                <a:spcPct val="115000"/>
              </a:lnSpc>
              <a:spcBef>
                <a:spcPts val="1000"/>
              </a:spcBef>
              <a:spcAft>
                <a:spcPts val="0"/>
              </a:spcAft>
              <a:buClr>
                <a:schemeClr val="dk2"/>
              </a:buClr>
              <a:buSzPts val="1400"/>
              <a:buChar char="●"/>
            </a:pPr>
            <a:r>
              <a:rPr lang="en-GB">
                <a:solidFill>
                  <a:schemeClr val="dk2"/>
                </a:solidFill>
              </a:rPr>
              <a:t>Lim Heng's carton = 24 bottles · ours = 12</a:t>
            </a:r>
            <a:endParaRPr>
              <a:solidFill>
                <a:schemeClr val="dk2"/>
              </a:solidFill>
            </a:endParaRPr>
          </a:p>
          <a:p>
            <a:pPr indent="0" lvl="0" marL="0" marR="118292" rtl="0" algn="l">
              <a:lnSpc>
                <a:spcPct val="115000"/>
              </a:lnSpc>
              <a:spcBef>
                <a:spcPts val="1000"/>
              </a:spcBef>
              <a:spcAft>
                <a:spcPts val="0"/>
              </a:spcAft>
              <a:buNone/>
            </a:pPr>
            <a:r>
              <a:t/>
            </a:r>
            <a:endParaRPr>
              <a:solidFill>
                <a:schemeClr val="dk2"/>
              </a:solidFill>
            </a:endParaRPr>
          </a:p>
          <a:p>
            <a:pPr indent="0" lvl="0" marL="0" marR="118292" rtl="0" algn="l">
              <a:lnSpc>
                <a:spcPct val="115000"/>
              </a:lnSpc>
              <a:spcBef>
                <a:spcPts val="1000"/>
              </a:spcBef>
              <a:spcAft>
                <a:spcPts val="0"/>
              </a:spcAft>
              <a:buNone/>
            </a:pPr>
            <a:r>
              <a:t/>
            </a:r>
            <a:endParaRPr sz="1200">
              <a:solidFill>
                <a:schemeClr val="dk2"/>
              </a:solidFill>
            </a:endParaRPr>
          </a:p>
          <a:p>
            <a:pPr indent="0" lvl="0" marL="180000" marR="118292" rtl="0" algn="l">
              <a:lnSpc>
                <a:spcPct val="115000"/>
              </a:lnSpc>
              <a:spcBef>
                <a:spcPts val="0"/>
              </a:spcBef>
              <a:spcAft>
                <a:spcPts val="0"/>
              </a:spcAft>
              <a:buNone/>
            </a:pPr>
            <a:r>
              <a:t/>
            </a:r>
            <a:endParaRPr i="1">
              <a:solidFill>
                <a:schemeClr val="dk2"/>
              </a:solidFill>
            </a:endParaRPr>
          </a:p>
        </p:txBody>
      </p:sp>
      <p:sp>
        <p:nvSpPr>
          <p:cNvPr id="1551" name="Google Shape;1551;p63"/>
          <p:cNvSpPr/>
          <p:nvPr/>
        </p:nvSpPr>
        <p:spPr>
          <a:xfrm>
            <a:off x="7028550" y="1190100"/>
            <a:ext cx="1704300" cy="3288900"/>
          </a:xfrm>
          <a:prstGeom prst="roundRect">
            <a:avLst>
              <a:gd fmla="val 6052" name="adj"/>
            </a:avLst>
          </a:prstGeom>
          <a:solidFill>
            <a:srgbClr val="E3F5EC"/>
          </a:solidFill>
          <a:ln>
            <a:noFill/>
          </a:ln>
        </p:spPr>
        <p:txBody>
          <a:bodyPr anchorCtr="0" anchor="t" bIns="34275" lIns="68575" spcFirstLastPara="1" rIns="68575" wrap="square" tIns="34275">
            <a:noAutofit/>
          </a:bodyPr>
          <a:lstStyle/>
          <a:p>
            <a:pPr indent="0" lvl="0" marL="180000" rtl="0" algn="l">
              <a:spcBef>
                <a:spcPts val="0"/>
              </a:spcBef>
              <a:spcAft>
                <a:spcPts val="0"/>
              </a:spcAft>
              <a:buNone/>
            </a:pPr>
            <a:r>
              <a:t/>
            </a:r>
            <a:endParaRPr b="1" sz="1200">
              <a:solidFill>
                <a:schemeClr val="accent1"/>
              </a:solidFill>
            </a:endParaRPr>
          </a:p>
          <a:p>
            <a:pPr indent="0" lvl="0" marL="180000" rtl="0" algn="l">
              <a:spcBef>
                <a:spcPts val="0"/>
              </a:spcBef>
              <a:spcAft>
                <a:spcPts val="0"/>
              </a:spcAft>
              <a:buNone/>
            </a:pPr>
            <a:r>
              <a:rPr b="1" lang="en-GB">
                <a:solidFill>
                  <a:srgbClr val="1A9D5C"/>
                </a:solidFill>
              </a:rPr>
              <a:t>Record on board</a:t>
            </a:r>
            <a:endParaRPr b="1">
              <a:solidFill>
                <a:srgbClr val="1A9D5C"/>
              </a:solidFill>
            </a:endParaRPr>
          </a:p>
          <a:p>
            <a:pPr indent="0" lvl="0" marL="180000" rtl="0" algn="l">
              <a:spcBef>
                <a:spcPts val="0"/>
              </a:spcBef>
              <a:spcAft>
                <a:spcPts val="0"/>
              </a:spcAft>
              <a:buNone/>
            </a:pPr>
            <a:r>
              <a:t/>
            </a:r>
            <a:endParaRPr b="1" sz="1200">
              <a:solidFill>
                <a:schemeClr val="accent1"/>
              </a:solidFill>
            </a:endParaRPr>
          </a:p>
          <a:p>
            <a:pPr indent="0" lvl="0" marL="180000" rtl="0" algn="l">
              <a:lnSpc>
                <a:spcPct val="115000"/>
              </a:lnSpc>
              <a:spcBef>
                <a:spcPts val="0"/>
              </a:spcBef>
              <a:spcAft>
                <a:spcPts val="0"/>
              </a:spcAft>
              <a:buNone/>
            </a:pPr>
            <a:r>
              <a:t/>
            </a:r>
            <a:endParaRPr sz="1600">
              <a:solidFill>
                <a:schemeClr val="dk1"/>
              </a:solidFill>
            </a:endParaRPr>
          </a:p>
        </p:txBody>
      </p:sp>
      <p:sp>
        <p:nvSpPr>
          <p:cNvPr id="1552" name="Google Shape;1552;p63"/>
          <p:cNvSpPr/>
          <p:nvPr/>
        </p:nvSpPr>
        <p:spPr>
          <a:xfrm>
            <a:off x="7344150" y="2201903"/>
            <a:ext cx="1073100" cy="342900"/>
          </a:xfrm>
          <a:prstGeom prst="roundRect">
            <a:avLst>
              <a:gd fmla="val 50000" name="adj"/>
            </a:avLst>
          </a:prstGeom>
          <a:solidFill>
            <a:srgbClr val="1A9D5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chemeClr val="lt1"/>
                </a:solidFill>
              </a:rPr>
              <a:t>SO ID</a:t>
            </a:r>
            <a:endParaRPr b="1">
              <a:solidFill>
                <a:schemeClr val="lt1"/>
              </a:solidFill>
            </a:endParaRPr>
          </a:p>
        </p:txBody>
      </p:sp>
      <p:sp>
        <p:nvSpPr>
          <p:cNvPr id="1553" name="Google Shape;1553;p63"/>
          <p:cNvSpPr/>
          <p:nvPr/>
        </p:nvSpPr>
        <p:spPr>
          <a:xfrm>
            <a:off x="7344150" y="2595439"/>
            <a:ext cx="1073100" cy="342900"/>
          </a:xfrm>
          <a:prstGeom prst="roundRect">
            <a:avLst>
              <a:gd fmla="val 50000" name="adj"/>
            </a:avLst>
          </a:prstGeom>
          <a:solidFill>
            <a:srgbClr val="1A9D5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chemeClr val="lt1"/>
                </a:solidFill>
              </a:rPr>
              <a:t>DN ID</a:t>
            </a:r>
            <a:endParaRPr b="1">
              <a:solidFill>
                <a:schemeClr val="lt1"/>
              </a:solidFill>
            </a:endParaRPr>
          </a:p>
        </p:txBody>
      </p:sp>
      <p:sp>
        <p:nvSpPr>
          <p:cNvPr id="1554" name="Google Shape;1554;p63"/>
          <p:cNvSpPr/>
          <p:nvPr/>
        </p:nvSpPr>
        <p:spPr>
          <a:xfrm>
            <a:off x="7344150" y="3476051"/>
            <a:ext cx="1073100" cy="342900"/>
          </a:xfrm>
          <a:prstGeom prst="roundRect">
            <a:avLst>
              <a:gd fmla="val 14676" name="adj"/>
            </a:avLst>
          </a:prstGeom>
          <a:solidFill>
            <a:srgbClr val="1A9D5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900">
                <a:solidFill>
                  <a:schemeClr val="lt1"/>
                </a:solidFill>
              </a:rPr>
              <a:t>Caught UOM mismatch? </a:t>
            </a:r>
            <a:endParaRPr b="1" sz="900">
              <a:solidFill>
                <a:schemeClr val="lt1"/>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59" name="Shape 1559"/>
        <p:cNvGrpSpPr/>
        <p:nvPr/>
      </p:nvGrpSpPr>
      <p:grpSpPr>
        <a:xfrm>
          <a:off x="0" y="0"/>
          <a:ext cx="0" cy="0"/>
          <a:chOff x="0" y="0"/>
          <a:chExt cx="0" cy="0"/>
        </a:xfrm>
      </p:grpSpPr>
      <p:sp>
        <p:nvSpPr>
          <p:cNvPr id="1560" name="Google Shape;1560;p64"/>
          <p:cNvSpPr/>
          <p:nvPr/>
        </p:nvSpPr>
        <p:spPr>
          <a:xfrm>
            <a:off x="411502" y="260604"/>
            <a:ext cx="6858366"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MISSION CARDS · M4 OF 10</a:t>
            </a:r>
            <a:endParaRPr sz="800">
              <a:solidFill>
                <a:schemeClr val="dk1"/>
              </a:solidFill>
              <a:latin typeface="Calibri"/>
              <a:ea typeface="Calibri"/>
              <a:cs typeface="Calibri"/>
              <a:sym typeface="Calibri"/>
            </a:endParaRPr>
          </a:p>
        </p:txBody>
      </p:sp>
      <p:sp>
        <p:nvSpPr>
          <p:cNvPr id="1561" name="Google Shape;1561;p64"/>
          <p:cNvSpPr txBox="1"/>
          <p:nvPr>
            <p:ph idx="12" type="sldNum"/>
          </p:nvPr>
        </p:nvSpPr>
        <p:spPr>
          <a:xfrm>
            <a:off x="8347216" y="4750189"/>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562" name="Google Shape;1562;p64"/>
          <p:cNvSpPr/>
          <p:nvPr/>
        </p:nvSpPr>
        <p:spPr>
          <a:xfrm>
            <a:off x="411502" y="438912"/>
            <a:ext cx="8321400" cy="480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C2B3E"/>
              </a:buClr>
              <a:buSzPts val="2200"/>
              <a:buFont typeface="Arial"/>
              <a:buNone/>
            </a:pPr>
            <a:r>
              <a:rPr b="1" lang="en-GB" sz="2200">
                <a:solidFill>
                  <a:srgbClr val="1C2B3E"/>
                </a:solidFill>
                <a:latin typeface="Poppins"/>
                <a:ea typeface="Poppins"/>
                <a:cs typeface="Poppins"/>
                <a:sym typeface="Poppins"/>
              </a:rPr>
              <a:t>Mission 4: </a:t>
            </a:r>
            <a:r>
              <a:rPr b="1" lang="en-GB" sz="2200">
                <a:solidFill>
                  <a:srgbClr val="1C2B3E"/>
                </a:solidFill>
                <a:latin typeface="Poppins"/>
                <a:ea typeface="Poppins"/>
                <a:cs typeface="Poppins"/>
                <a:sym typeface="Poppins"/>
              </a:rPr>
              <a:t>Selera Catering &amp; Events Sdn Bhd</a:t>
            </a:r>
            <a:endParaRPr b="1" sz="2200">
              <a:solidFill>
                <a:srgbClr val="1C2B3E"/>
              </a:solidFill>
              <a:latin typeface="Poppins"/>
              <a:ea typeface="Poppins"/>
              <a:cs typeface="Poppins"/>
              <a:sym typeface="Poppins"/>
            </a:endParaRPr>
          </a:p>
        </p:txBody>
      </p:sp>
      <p:sp>
        <p:nvSpPr>
          <p:cNvPr id="1563" name="Google Shape;1563;p64"/>
          <p:cNvSpPr/>
          <p:nvPr/>
        </p:nvSpPr>
        <p:spPr>
          <a:xfrm>
            <a:off x="411550" y="1190103"/>
            <a:ext cx="2704800" cy="3288900"/>
          </a:xfrm>
          <a:prstGeom prst="roundRect">
            <a:avLst>
              <a:gd fmla="val 6052" name="adj"/>
            </a:avLst>
          </a:prstGeom>
          <a:solidFill>
            <a:srgbClr val="E3E8EF"/>
          </a:solidFill>
          <a:ln cap="flat" cmpd="sng" w="9525">
            <a:solidFill>
              <a:srgbClr val="E3E8EF"/>
            </a:solidFill>
            <a:prstDash val="solid"/>
            <a:round/>
            <a:headEnd len="sm" w="sm" type="none"/>
            <a:tailEnd len="sm" w="sm" type="none"/>
          </a:ln>
        </p:spPr>
        <p:txBody>
          <a:bodyPr anchorCtr="0" anchor="t" bIns="34275" lIns="68575" spcFirstLastPara="1" rIns="287850" wrap="square" tIns="34275">
            <a:noAutofit/>
          </a:bodyPr>
          <a:lstStyle/>
          <a:p>
            <a:pPr indent="0" lvl="0" marL="180000" rtl="0" algn="l">
              <a:spcBef>
                <a:spcPts val="0"/>
              </a:spcBef>
              <a:spcAft>
                <a:spcPts val="0"/>
              </a:spcAft>
              <a:buNone/>
            </a:pPr>
            <a:r>
              <a:t/>
            </a:r>
            <a:endParaRPr b="1" sz="1200">
              <a:solidFill>
                <a:schemeClr val="accent1"/>
              </a:solidFill>
            </a:endParaRPr>
          </a:p>
          <a:p>
            <a:pPr indent="0" lvl="0" marL="180000" rtl="0" algn="l">
              <a:spcBef>
                <a:spcPts val="0"/>
              </a:spcBef>
              <a:spcAft>
                <a:spcPts val="0"/>
              </a:spcAft>
              <a:buNone/>
            </a:pPr>
            <a:r>
              <a:rPr b="1" lang="en-GB">
                <a:solidFill>
                  <a:srgbClr val="76889B"/>
                </a:solidFill>
              </a:rPr>
              <a:t>Scenario</a:t>
            </a:r>
            <a:endParaRPr b="1">
              <a:solidFill>
                <a:srgbClr val="5B6B7D"/>
              </a:solidFill>
            </a:endParaRPr>
          </a:p>
          <a:p>
            <a:pPr indent="0" lvl="0" marL="180000" rtl="0" algn="l">
              <a:spcBef>
                <a:spcPts val="0"/>
              </a:spcBef>
              <a:spcAft>
                <a:spcPts val="0"/>
              </a:spcAft>
              <a:buNone/>
            </a:pPr>
            <a:r>
              <a:t/>
            </a:r>
            <a:endParaRPr b="1" sz="1200">
              <a:solidFill>
                <a:schemeClr val="accent1"/>
              </a:solidFill>
            </a:endParaRPr>
          </a:p>
          <a:p>
            <a:pPr indent="0" lvl="0" marL="180000" marR="4652" rtl="0" algn="l">
              <a:lnSpc>
                <a:spcPct val="115000"/>
              </a:lnSpc>
              <a:spcBef>
                <a:spcPts val="0"/>
              </a:spcBef>
              <a:spcAft>
                <a:spcPts val="0"/>
              </a:spcAft>
              <a:buNone/>
            </a:pPr>
            <a:r>
              <a:rPr i="1" lang="en-GB" sz="1600">
                <a:solidFill>
                  <a:srgbClr val="1C2B3E"/>
                </a:solidFill>
              </a:rPr>
              <a:t>“Ms. Priya is a contract customer. She has special rates on a few items. Make sure you're not quoting her the wrong price.”</a:t>
            </a:r>
            <a:endParaRPr i="1" sz="1600">
              <a:solidFill>
                <a:srgbClr val="1C2B3E"/>
              </a:solidFill>
            </a:endParaRPr>
          </a:p>
        </p:txBody>
      </p:sp>
      <p:sp>
        <p:nvSpPr>
          <p:cNvPr id="1564" name="Google Shape;1564;p64"/>
          <p:cNvSpPr/>
          <p:nvPr/>
        </p:nvSpPr>
        <p:spPr>
          <a:xfrm>
            <a:off x="3219650" y="1190100"/>
            <a:ext cx="3705600" cy="3288900"/>
          </a:xfrm>
          <a:prstGeom prst="roundRect">
            <a:avLst>
              <a:gd fmla="val 6052" name="adj"/>
            </a:avLst>
          </a:prstGeom>
          <a:solidFill>
            <a:srgbClr val="FBEBD9"/>
          </a:solidFill>
          <a:ln cap="flat" cmpd="sng" w="9525">
            <a:solidFill>
              <a:schemeClr val="accent2"/>
            </a:solidFill>
            <a:prstDash val="solid"/>
            <a:round/>
            <a:headEnd len="sm" w="sm" type="none"/>
            <a:tailEnd len="sm" w="sm" type="none"/>
          </a:ln>
        </p:spPr>
        <p:txBody>
          <a:bodyPr anchorCtr="0" anchor="t" bIns="34275" lIns="68575" spcFirstLastPara="1" rIns="68575" wrap="square" tIns="34275">
            <a:noAutofit/>
          </a:bodyPr>
          <a:lstStyle/>
          <a:p>
            <a:pPr indent="0" lvl="0" marL="180000" marR="118292" rtl="0" algn="l">
              <a:spcBef>
                <a:spcPts val="0"/>
              </a:spcBef>
              <a:spcAft>
                <a:spcPts val="0"/>
              </a:spcAft>
              <a:buNone/>
            </a:pPr>
            <a:r>
              <a:t/>
            </a:r>
            <a:endParaRPr b="1" sz="1200">
              <a:solidFill>
                <a:schemeClr val="accent1"/>
              </a:solidFill>
            </a:endParaRPr>
          </a:p>
          <a:p>
            <a:pPr indent="0" lvl="0" marL="180000" marR="118292" rtl="0" algn="l">
              <a:lnSpc>
                <a:spcPct val="115000"/>
              </a:lnSpc>
              <a:spcBef>
                <a:spcPts val="0"/>
              </a:spcBef>
              <a:spcAft>
                <a:spcPts val="0"/>
              </a:spcAft>
              <a:buNone/>
            </a:pPr>
            <a:r>
              <a:rPr lang="en-GB" sz="1200">
                <a:solidFill>
                  <a:schemeClr val="dk2"/>
                </a:solidFill>
              </a:rPr>
              <a:t>Order arrives as</a:t>
            </a:r>
            <a:endParaRPr sz="1200">
              <a:solidFill>
                <a:schemeClr val="dk2"/>
              </a:solidFill>
            </a:endParaRPr>
          </a:p>
          <a:p>
            <a:pPr indent="0" lvl="0" marL="180000" marR="118292" rtl="0" algn="l">
              <a:lnSpc>
                <a:spcPct val="115000"/>
              </a:lnSpc>
              <a:spcBef>
                <a:spcPts val="0"/>
              </a:spcBef>
              <a:spcAft>
                <a:spcPts val="0"/>
              </a:spcAft>
              <a:buNone/>
            </a:pPr>
            <a:r>
              <a:rPr b="1" lang="en-GB" sz="1600">
                <a:solidFill>
                  <a:schemeClr val="accent1"/>
                </a:solidFill>
              </a:rPr>
              <a:t>Contract-customer WhatsApp</a:t>
            </a:r>
            <a:endParaRPr b="1" sz="1600">
              <a:solidFill>
                <a:schemeClr val="accent1"/>
              </a:solidFill>
            </a:endParaRPr>
          </a:p>
          <a:p>
            <a:pPr indent="0" lvl="0" marL="180000" marR="118292" rtl="0" algn="l">
              <a:lnSpc>
                <a:spcPct val="115000"/>
              </a:lnSpc>
              <a:spcBef>
                <a:spcPts val="0"/>
              </a:spcBef>
              <a:spcAft>
                <a:spcPts val="0"/>
              </a:spcAft>
              <a:buNone/>
            </a:pPr>
            <a:r>
              <a:t/>
            </a:r>
            <a:endParaRPr b="1" sz="1200">
              <a:solidFill>
                <a:schemeClr val="dk2"/>
              </a:solidFill>
            </a:endParaRPr>
          </a:p>
          <a:p>
            <a:pPr indent="-317500" lvl="0" marL="630000" marR="118292" rtl="0" algn="l">
              <a:lnSpc>
                <a:spcPct val="115000"/>
              </a:lnSpc>
              <a:spcBef>
                <a:spcPts val="0"/>
              </a:spcBef>
              <a:spcAft>
                <a:spcPts val="0"/>
              </a:spcAft>
              <a:buClr>
                <a:schemeClr val="dk2"/>
              </a:buClr>
              <a:buSzPts val="1400"/>
              <a:buChar char="●"/>
            </a:pPr>
            <a:r>
              <a:rPr lang="en-GB">
                <a:solidFill>
                  <a:schemeClr val="dk2"/>
                </a:solidFill>
              </a:rPr>
              <a:t>Cooking Oil 17kg × 20</a:t>
            </a:r>
            <a:endParaRPr>
              <a:solidFill>
                <a:schemeClr val="dk2"/>
              </a:solidFill>
            </a:endParaRPr>
          </a:p>
          <a:p>
            <a:pPr indent="-317500" lvl="0" marL="630000" marR="118292" rtl="0" algn="l">
              <a:lnSpc>
                <a:spcPct val="115000"/>
              </a:lnSpc>
              <a:spcBef>
                <a:spcPts val="1000"/>
              </a:spcBef>
              <a:spcAft>
                <a:spcPts val="0"/>
              </a:spcAft>
              <a:buClr>
                <a:schemeClr val="dk2"/>
              </a:buClr>
              <a:buSzPts val="1400"/>
              <a:buChar char="●"/>
            </a:pPr>
            <a:r>
              <a:rPr lang="en-GB">
                <a:solidFill>
                  <a:schemeClr val="dk2"/>
                </a:solidFill>
              </a:rPr>
              <a:t>Jasmine Rice 10kg × 10</a:t>
            </a:r>
            <a:endParaRPr>
              <a:solidFill>
                <a:schemeClr val="dk2"/>
              </a:solidFill>
            </a:endParaRPr>
          </a:p>
          <a:p>
            <a:pPr indent="0" lvl="0" marL="0" marR="118292" rtl="0" algn="l">
              <a:lnSpc>
                <a:spcPct val="115000"/>
              </a:lnSpc>
              <a:spcBef>
                <a:spcPts val="1000"/>
              </a:spcBef>
              <a:spcAft>
                <a:spcPts val="0"/>
              </a:spcAft>
              <a:buNone/>
            </a:pPr>
            <a:r>
              <a:t/>
            </a:r>
            <a:endParaRPr>
              <a:solidFill>
                <a:schemeClr val="dk2"/>
              </a:solidFill>
            </a:endParaRPr>
          </a:p>
          <a:p>
            <a:pPr indent="0" lvl="0" marL="0" marR="118292" rtl="0" algn="l">
              <a:lnSpc>
                <a:spcPct val="115000"/>
              </a:lnSpc>
              <a:spcBef>
                <a:spcPts val="1000"/>
              </a:spcBef>
              <a:spcAft>
                <a:spcPts val="0"/>
              </a:spcAft>
              <a:buNone/>
            </a:pPr>
            <a:r>
              <a:t/>
            </a:r>
            <a:endParaRPr sz="1200">
              <a:solidFill>
                <a:schemeClr val="dk2"/>
              </a:solidFill>
            </a:endParaRPr>
          </a:p>
          <a:p>
            <a:pPr indent="0" lvl="0" marL="180000" marR="215346" rtl="0" algn="l">
              <a:lnSpc>
                <a:spcPct val="115000"/>
              </a:lnSpc>
              <a:spcBef>
                <a:spcPts val="0"/>
              </a:spcBef>
              <a:spcAft>
                <a:spcPts val="0"/>
              </a:spcAft>
              <a:buNone/>
            </a:pPr>
            <a:r>
              <a:rPr i="1" lang="en-GB">
                <a:solidFill>
                  <a:schemeClr val="dk2"/>
                </a:solidFill>
              </a:rPr>
              <a:t>Both items have a Customer Item Price below standard.</a:t>
            </a:r>
            <a:endParaRPr i="1">
              <a:solidFill>
                <a:schemeClr val="dk2"/>
              </a:solidFill>
            </a:endParaRPr>
          </a:p>
          <a:p>
            <a:pPr indent="0" lvl="0" marL="0" marR="118292" rtl="0" algn="l">
              <a:lnSpc>
                <a:spcPct val="115000"/>
              </a:lnSpc>
              <a:spcBef>
                <a:spcPts val="0"/>
              </a:spcBef>
              <a:spcAft>
                <a:spcPts val="0"/>
              </a:spcAft>
              <a:buNone/>
            </a:pPr>
            <a:r>
              <a:t/>
            </a:r>
            <a:endParaRPr i="1">
              <a:solidFill>
                <a:schemeClr val="dk2"/>
              </a:solidFill>
            </a:endParaRPr>
          </a:p>
        </p:txBody>
      </p:sp>
      <p:sp>
        <p:nvSpPr>
          <p:cNvPr id="1565" name="Google Shape;1565;p64"/>
          <p:cNvSpPr/>
          <p:nvPr/>
        </p:nvSpPr>
        <p:spPr>
          <a:xfrm>
            <a:off x="7028550" y="1190100"/>
            <a:ext cx="1704300" cy="3288900"/>
          </a:xfrm>
          <a:prstGeom prst="roundRect">
            <a:avLst>
              <a:gd fmla="val 6052" name="adj"/>
            </a:avLst>
          </a:prstGeom>
          <a:solidFill>
            <a:srgbClr val="E3F5EC"/>
          </a:solidFill>
          <a:ln>
            <a:noFill/>
          </a:ln>
        </p:spPr>
        <p:txBody>
          <a:bodyPr anchorCtr="0" anchor="t" bIns="34275" lIns="68575" spcFirstLastPara="1" rIns="68575" wrap="square" tIns="34275">
            <a:noAutofit/>
          </a:bodyPr>
          <a:lstStyle/>
          <a:p>
            <a:pPr indent="0" lvl="0" marL="180000" rtl="0" algn="l">
              <a:spcBef>
                <a:spcPts val="0"/>
              </a:spcBef>
              <a:spcAft>
                <a:spcPts val="0"/>
              </a:spcAft>
              <a:buNone/>
            </a:pPr>
            <a:r>
              <a:t/>
            </a:r>
            <a:endParaRPr b="1" sz="1200">
              <a:solidFill>
                <a:schemeClr val="accent1"/>
              </a:solidFill>
            </a:endParaRPr>
          </a:p>
          <a:p>
            <a:pPr indent="0" lvl="0" marL="180000" rtl="0" algn="l">
              <a:spcBef>
                <a:spcPts val="0"/>
              </a:spcBef>
              <a:spcAft>
                <a:spcPts val="0"/>
              </a:spcAft>
              <a:buNone/>
            </a:pPr>
            <a:r>
              <a:rPr b="1" lang="en-GB">
                <a:solidFill>
                  <a:srgbClr val="1A9D5C"/>
                </a:solidFill>
              </a:rPr>
              <a:t>Record on board</a:t>
            </a:r>
            <a:endParaRPr b="1">
              <a:solidFill>
                <a:srgbClr val="1A9D5C"/>
              </a:solidFill>
            </a:endParaRPr>
          </a:p>
          <a:p>
            <a:pPr indent="0" lvl="0" marL="180000" rtl="0" algn="l">
              <a:spcBef>
                <a:spcPts val="0"/>
              </a:spcBef>
              <a:spcAft>
                <a:spcPts val="0"/>
              </a:spcAft>
              <a:buNone/>
            </a:pPr>
            <a:r>
              <a:t/>
            </a:r>
            <a:endParaRPr b="1" sz="1200">
              <a:solidFill>
                <a:schemeClr val="accent1"/>
              </a:solidFill>
            </a:endParaRPr>
          </a:p>
          <a:p>
            <a:pPr indent="0" lvl="0" marL="180000" rtl="0" algn="l">
              <a:lnSpc>
                <a:spcPct val="115000"/>
              </a:lnSpc>
              <a:spcBef>
                <a:spcPts val="0"/>
              </a:spcBef>
              <a:spcAft>
                <a:spcPts val="0"/>
              </a:spcAft>
              <a:buNone/>
            </a:pPr>
            <a:r>
              <a:t/>
            </a:r>
            <a:endParaRPr sz="1600">
              <a:solidFill>
                <a:schemeClr val="dk1"/>
              </a:solidFill>
            </a:endParaRPr>
          </a:p>
        </p:txBody>
      </p:sp>
      <p:sp>
        <p:nvSpPr>
          <p:cNvPr id="1566" name="Google Shape;1566;p64"/>
          <p:cNvSpPr/>
          <p:nvPr/>
        </p:nvSpPr>
        <p:spPr>
          <a:xfrm>
            <a:off x="7344150" y="2201903"/>
            <a:ext cx="1073100" cy="342900"/>
          </a:xfrm>
          <a:prstGeom prst="roundRect">
            <a:avLst>
              <a:gd fmla="val 50000" name="adj"/>
            </a:avLst>
          </a:prstGeom>
          <a:solidFill>
            <a:srgbClr val="1A9D5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chemeClr val="lt1"/>
                </a:solidFill>
              </a:rPr>
              <a:t>SO ID</a:t>
            </a:r>
            <a:endParaRPr b="1">
              <a:solidFill>
                <a:schemeClr val="lt1"/>
              </a:solidFill>
            </a:endParaRPr>
          </a:p>
        </p:txBody>
      </p:sp>
      <p:sp>
        <p:nvSpPr>
          <p:cNvPr id="1567" name="Google Shape;1567;p64"/>
          <p:cNvSpPr/>
          <p:nvPr/>
        </p:nvSpPr>
        <p:spPr>
          <a:xfrm>
            <a:off x="7344150" y="2595439"/>
            <a:ext cx="1073100" cy="342900"/>
          </a:xfrm>
          <a:prstGeom prst="roundRect">
            <a:avLst>
              <a:gd fmla="val 50000" name="adj"/>
            </a:avLst>
          </a:prstGeom>
          <a:solidFill>
            <a:srgbClr val="1A9D5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chemeClr val="lt1"/>
                </a:solidFill>
              </a:rPr>
              <a:t>DN ID</a:t>
            </a:r>
            <a:endParaRPr b="1">
              <a:solidFill>
                <a:schemeClr val="lt1"/>
              </a:solidFill>
            </a:endParaRPr>
          </a:p>
        </p:txBody>
      </p:sp>
      <p:sp>
        <p:nvSpPr>
          <p:cNvPr id="1568" name="Google Shape;1568;p64"/>
          <p:cNvSpPr/>
          <p:nvPr/>
        </p:nvSpPr>
        <p:spPr>
          <a:xfrm>
            <a:off x="7344150" y="3476051"/>
            <a:ext cx="1073100" cy="342900"/>
          </a:xfrm>
          <a:prstGeom prst="roundRect">
            <a:avLst>
              <a:gd fmla="val 14676" name="adj"/>
            </a:avLst>
          </a:prstGeom>
          <a:solidFill>
            <a:srgbClr val="1A9D5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900">
                <a:solidFill>
                  <a:schemeClr val="lt1"/>
                </a:solidFill>
              </a:rPr>
              <a:t>Preferential price applied?</a:t>
            </a:r>
            <a:endParaRPr b="1" sz="900">
              <a:solidFill>
                <a:schemeClr val="lt1"/>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73" name="Shape 1573"/>
        <p:cNvGrpSpPr/>
        <p:nvPr/>
      </p:nvGrpSpPr>
      <p:grpSpPr>
        <a:xfrm>
          <a:off x="0" y="0"/>
          <a:ext cx="0" cy="0"/>
          <a:chOff x="0" y="0"/>
          <a:chExt cx="0" cy="0"/>
        </a:xfrm>
      </p:grpSpPr>
      <p:sp>
        <p:nvSpPr>
          <p:cNvPr id="1574" name="Google Shape;1574;p65"/>
          <p:cNvSpPr/>
          <p:nvPr/>
        </p:nvSpPr>
        <p:spPr>
          <a:xfrm>
            <a:off x="411502" y="260604"/>
            <a:ext cx="6858366"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MISSION CARDS · M5 OF 10</a:t>
            </a:r>
            <a:endParaRPr sz="800">
              <a:solidFill>
                <a:schemeClr val="dk1"/>
              </a:solidFill>
              <a:latin typeface="Calibri"/>
              <a:ea typeface="Calibri"/>
              <a:cs typeface="Calibri"/>
              <a:sym typeface="Calibri"/>
            </a:endParaRPr>
          </a:p>
        </p:txBody>
      </p:sp>
      <p:sp>
        <p:nvSpPr>
          <p:cNvPr id="1575" name="Google Shape;1575;p65"/>
          <p:cNvSpPr txBox="1"/>
          <p:nvPr>
            <p:ph idx="12" type="sldNum"/>
          </p:nvPr>
        </p:nvSpPr>
        <p:spPr>
          <a:xfrm>
            <a:off x="8347216" y="4750189"/>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576" name="Google Shape;1576;p65"/>
          <p:cNvSpPr/>
          <p:nvPr/>
        </p:nvSpPr>
        <p:spPr>
          <a:xfrm>
            <a:off x="411502" y="438912"/>
            <a:ext cx="8321400" cy="480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C2B3E"/>
              </a:buClr>
              <a:buSzPts val="2200"/>
              <a:buFont typeface="Arial"/>
              <a:buNone/>
            </a:pPr>
            <a:r>
              <a:rPr b="1" lang="en-GB" sz="2200">
                <a:solidFill>
                  <a:srgbClr val="1C2B3E"/>
                </a:solidFill>
                <a:latin typeface="Poppins"/>
                <a:ea typeface="Poppins"/>
                <a:cs typeface="Poppins"/>
                <a:sym typeface="Poppins"/>
              </a:rPr>
              <a:t>Mission 5: </a:t>
            </a:r>
            <a:r>
              <a:rPr b="1" lang="en-GB" sz="2200">
                <a:solidFill>
                  <a:srgbClr val="1C2B3E"/>
                </a:solidFill>
                <a:latin typeface="Poppins"/>
                <a:ea typeface="Poppins"/>
                <a:cs typeface="Poppins"/>
                <a:sym typeface="Poppins"/>
              </a:rPr>
              <a:t>Kafe Santai Enterprise</a:t>
            </a:r>
            <a:endParaRPr b="1" sz="2200">
              <a:solidFill>
                <a:srgbClr val="1C2B3E"/>
              </a:solidFill>
              <a:latin typeface="Poppins"/>
              <a:ea typeface="Poppins"/>
              <a:cs typeface="Poppins"/>
              <a:sym typeface="Poppins"/>
            </a:endParaRPr>
          </a:p>
        </p:txBody>
      </p:sp>
      <p:sp>
        <p:nvSpPr>
          <p:cNvPr id="1577" name="Google Shape;1577;p65"/>
          <p:cNvSpPr/>
          <p:nvPr/>
        </p:nvSpPr>
        <p:spPr>
          <a:xfrm>
            <a:off x="411550" y="1190103"/>
            <a:ext cx="2704800" cy="3288900"/>
          </a:xfrm>
          <a:prstGeom prst="roundRect">
            <a:avLst>
              <a:gd fmla="val 6052" name="adj"/>
            </a:avLst>
          </a:prstGeom>
          <a:solidFill>
            <a:srgbClr val="E3E8EF"/>
          </a:solidFill>
          <a:ln cap="flat" cmpd="sng" w="9525">
            <a:solidFill>
              <a:srgbClr val="E3E8EF"/>
            </a:solidFill>
            <a:prstDash val="solid"/>
            <a:round/>
            <a:headEnd len="sm" w="sm" type="none"/>
            <a:tailEnd len="sm" w="sm" type="none"/>
          </a:ln>
        </p:spPr>
        <p:txBody>
          <a:bodyPr anchorCtr="0" anchor="t" bIns="34275" lIns="68575" spcFirstLastPara="1" rIns="287850" wrap="square" tIns="34275">
            <a:noAutofit/>
          </a:bodyPr>
          <a:lstStyle/>
          <a:p>
            <a:pPr indent="0" lvl="0" marL="180000" rtl="0" algn="l">
              <a:spcBef>
                <a:spcPts val="0"/>
              </a:spcBef>
              <a:spcAft>
                <a:spcPts val="0"/>
              </a:spcAft>
              <a:buNone/>
            </a:pPr>
            <a:r>
              <a:t/>
            </a:r>
            <a:endParaRPr b="1" sz="1200">
              <a:solidFill>
                <a:schemeClr val="accent1"/>
              </a:solidFill>
            </a:endParaRPr>
          </a:p>
          <a:p>
            <a:pPr indent="0" lvl="0" marL="180000" rtl="0" algn="l">
              <a:spcBef>
                <a:spcPts val="0"/>
              </a:spcBef>
              <a:spcAft>
                <a:spcPts val="0"/>
              </a:spcAft>
              <a:buNone/>
            </a:pPr>
            <a:r>
              <a:rPr b="1" lang="en-GB">
                <a:solidFill>
                  <a:srgbClr val="76889B"/>
                </a:solidFill>
              </a:rPr>
              <a:t>Scenario</a:t>
            </a:r>
            <a:endParaRPr b="1">
              <a:solidFill>
                <a:srgbClr val="5B6B7D"/>
              </a:solidFill>
            </a:endParaRPr>
          </a:p>
          <a:p>
            <a:pPr indent="0" lvl="0" marL="180000" rtl="0" algn="l">
              <a:spcBef>
                <a:spcPts val="0"/>
              </a:spcBef>
              <a:spcAft>
                <a:spcPts val="0"/>
              </a:spcAft>
              <a:buNone/>
            </a:pPr>
            <a:r>
              <a:t/>
            </a:r>
            <a:endParaRPr b="1" sz="1200">
              <a:solidFill>
                <a:schemeClr val="accent1"/>
              </a:solidFill>
            </a:endParaRPr>
          </a:p>
          <a:p>
            <a:pPr indent="0" lvl="0" marL="180000" marR="4652" rtl="0" algn="l">
              <a:lnSpc>
                <a:spcPct val="115000"/>
              </a:lnSpc>
              <a:spcBef>
                <a:spcPts val="0"/>
              </a:spcBef>
              <a:spcAft>
                <a:spcPts val="0"/>
              </a:spcAft>
              <a:buNone/>
            </a:pPr>
            <a:r>
              <a:rPr i="1" lang="en-GB" sz="1600">
                <a:solidFill>
                  <a:srgbClr val="1C2B3E"/>
                </a:solidFill>
              </a:rPr>
              <a:t>“Ms. Lina wants to place a new order. Before you say yes, check.”</a:t>
            </a:r>
            <a:endParaRPr i="1" sz="1600">
              <a:solidFill>
                <a:srgbClr val="1C2B3E"/>
              </a:solidFill>
            </a:endParaRPr>
          </a:p>
        </p:txBody>
      </p:sp>
      <p:sp>
        <p:nvSpPr>
          <p:cNvPr id="1578" name="Google Shape;1578;p65"/>
          <p:cNvSpPr/>
          <p:nvPr/>
        </p:nvSpPr>
        <p:spPr>
          <a:xfrm>
            <a:off x="3219650" y="1190100"/>
            <a:ext cx="3705600" cy="3288900"/>
          </a:xfrm>
          <a:prstGeom prst="roundRect">
            <a:avLst>
              <a:gd fmla="val 6052" name="adj"/>
            </a:avLst>
          </a:prstGeom>
          <a:solidFill>
            <a:srgbClr val="FBEBD9"/>
          </a:solidFill>
          <a:ln cap="flat" cmpd="sng" w="9525">
            <a:solidFill>
              <a:schemeClr val="accent2"/>
            </a:solidFill>
            <a:prstDash val="solid"/>
            <a:round/>
            <a:headEnd len="sm" w="sm" type="none"/>
            <a:tailEnd len="sm" w="sm" type="none"/>
          </a:ln>
        </p:spPr>
        <p:txBody>
          <a:bodyPr anchorCtr="0" anchor="t" bIns="34275" lIns="68575" spcFirstLastPara="1" rIns="68575" wrap="square" tIns="34275">
            <a:noAutofit/>
          </a:bodyPr>
          <a:lstStyle/>
          <a:p>
            <a:pPr indent="0" lvl="0" marL="180000" marR="118292" rtl="0" algn="l">
              <a:spcBef>
                <a:spcPts val="0"/>
              </a:spcBef>
              <a:spcAft>
                <a:spcPts val="0"/>
              </a:spcAft>
              <a:buNone/>
            </a:pPr>
            <a:r>
              <a:t/>
            </a:r>
            <a:endParaRPr b="1" sz="1200">
              <a:solidFill>
                <a:schemeClr val="accent1"/>
              </a:solidFill>
            </a:endParaRPr>
          </a:p>
          <a:p>
            <a:pPr indent="0" lvl="0" marL="180000" marR="118292" rtl="0" algn="l">
              <a:lnSpc>
                <a:spcPct val="115000"/>
              </a:lnSpc>
              <a:spcBef>
                <a:spcPts val="0"/>
              </a:spcBef>
              <a:spcAft>
                <a:spcPts val="0"/>
              </a:spcAft>
              <a:buNone/>
            </a:pPr>
            <a:r>
              <a:rPr lang="en-GB" sz="1200">
                <a:solidFill>
                  <a:schemeClr val="dk2"/>
                </a:solidFill>
              </a:rPr>
              <a:t>Order arrives as</a:t>
            </a:r>
            <a:endParaRPr sz="1200">
              <a:solidFill>
                <a:schemeClr val="dk2"/>
              </a:solidFill>
            </a:endParaRPr>
          </a:p>
          <a:p>
            <a:pPr indent="0" lvl="0" marL="180000" marR="118292" rtl="0" algn="l">
              <a:lnSpc>
                <a:spcPct val="115000"/>
              </a:lnSpc>
              <a:spcBef>
                <a:spcPts val="0"/>
              </a:spcBef>
              <a:spcAft>
                <a:spcPts val="0"/>
              </a:spcAft>
              <a:buNone/>
            </a:pPr>
            <a:r>
              <a:rPr b="1" lang="en-GB" sz="1600">
                <a:solidFill>
                  <a:schemeClr val="accent1"/>
                </a:solidFill>
              </a:rPr>
              <a:t>Short WhatsApp reorder (overdue)</a:t>
            </a:r>
            <a:endParaRPr b="1" sz="1600">
              <a:solidFill>
                <a:schemeClr val="accent1"/>
              </a:solidFill>
            </a:endParaRPr>
          </a:p>
          <a:p>
            <a:pPr indent="0" lvl="0" marL="180000" marR="118292" rtl="0" algn="l">
              <a:lnSpc>
                <a:spcPct val="115000"/>
              </a:lnSpc>
              <a:spcBef>
                <a:spcPts val="0"/>
              </a:spcBef>
              <a:spcAft>
                <a:spcPts val="0"/>
              </a:spcAft>
              <a:buNone/>
            </a:pPr>
            <a:r>
              <a:t/>
            </a:r>
            <a:endParaRPr b="1" sz="1200">
              <a:solidFill>
                <a:schemeClr val="dk2"/>
              </a:solidFill>
            </a:endParaRPr>
          </a:p>
          <a:p>
            <a:pPr indent="-317500" lvl="0" marL="630000" marR="118292" rtl="0" algn="l">
              <a:lnSpc>
                <a:spcPct val="115000"/>
              </a:lnSpc>
              <a:spcBef>
                <a:spcPts val="0"/>
              </a:spcBef>
              <a:spcAft>
                <a:spcPts val="0"/>
              </a:spcAft>
              <a:buClr>
                <a:schemeClr val="dk2"/>
              </a:buClr>
              <a:buSzPts val="1400"/>
              <a:buChar char="●"/>
            </a:pPr>
            <a:r>
              <a:rPr lang="en-GB">
                <a:solidFill>
                  <a:schemeClr val="dk2"/>
                </a:solidFill>
              </a:rPr>
              <a:t>Oyster Sauce × 20</a:t>
            </a:r>
            <a:endParaRPr>
              <a:solidFill>
                <a:schemeClr val="dk2"/>
              </a:solidFill>
            </a:endParaRPr>
          </a:p>
          <a:p>
            <a:pPr indent="-317500" lvl="0" marL="630000" marR="118292" rtl="0" algn="l">
              <a:lnSpc>
                <a:spcPct val="115000"/>
              </a:lnSpc>
              <a:spcBef>
                <a:spcPts val="1000"/>
              </a:spcBef>
              <a:spcAft>
                <a:spcPts val="0"/>
              </a:spcAft>
              <a:buClr>
                <a:schemeClr val="dk2"/>
              </a:buClr>
              <a:buSzPts val="1400"/>
              <a:buChar char="●"/>
            </a:pPr>
            <a:r>
              <a:rPr lang="en-GB">
                <a:solidFill>
                  <a:schemeClr val="dk2"/>
                </a:solidFill>
              </a:rPr>
              <a:t>Instant Coffee × 10</a:t>
            </a:r>
            <a:endParaRPr>
              <a:solidFill>
                <a:schemeClr val="dk2"/>
              </a:solidFill>
            </a:endParaRPr>
          </a:p>
          <a:p>
            <a:pPr indent="0" lvl="0" marL="0" marR="118292" rtl="0" algn="l">
              <a:lnSpc>
                <a:spcPct val="115000"/>
              </a:lnSpc>
              <a:spcBef>
                <a:spcPts val="1000"/>
              </a:spcBef>
              <a:spcAft>
                <a:spcPts val="0"/>
              </a:spcAft>
              <a:buNone/>
            </a:pPr>
            <a:r>
              <a:t/>
            </a:r>
            <a:endParaRPr>
              <a:solidFill>
                <a:schemeClr val="dk2"/>
              </a:solidFill>
            </a:endParaRPr>
          </a:p>
          <a:p>
            <a:pPr indent="0" lvl="0" marL="0" marR="118292" rtl="0" algn="l">
              <a:lnSpc>
                <a:spcPct val="115000"/>
              </a:lnSpc>
              <a:spcBef>
                <a:spcPts val="1000"/>
              </a:spcBef>
              <a:spcAft>
                <a:spcPts val="0"/>
              </a:spcAft>
              <a:buNone/>
            </a:pPr>
            <a:r>
              <a:t/>
            </a:r>
            <a:endParaRPr sz="1200">
              <a:solidFill>
                <a:schemeClr val="dk2"/>
              </a:solidFill>
            </a:endParaRPr>
          </a:p>
          <a:p>
            <a:pPr indent="0" lvl="0" marL="180000" marR="215346" rtl="0" algn="l">
              <a:lnSpc>
                <a:spcPct val="115000"/>
              </a:lnSpc>
              <a:spcBef>
                <a:spcPts val="0"/>
              </a:spcBef>
              <a:spcAft>
                <a:spcPts val="0"/>
              </a:spcAft>
              <a:buNone/>
            </a:pPr>
            <a:r>
              <a:rPr i="1" lang="en-GB">
                <a:solidFill>
                  <a:schemeClr val="dk2"/>
                </a:solidFill>
              </a:rPr>
              <a:t>Order value: RM4,500.</a:t>
            </a:r>
            <a:endParaRPr i="1">
              <a:solidFill>
                <a:schemeClr val="dk2"/>
              </a:solidFill>
            </a:endParaRPr>
          </a:p>
          <a:p>
            <a:pPr indent="0" lvl="0" marL="0" marR="118292" rtl="0" algn="l">
              <a:lnSpc>
                <a:spcPct val="115000"/>
              </a:lnSpc>
              <a:spcBef>
                <a:spcPts val="0"/>
              </a:spcBef>
              <a:spcAft>
                <a:spcPts val="0"/>
              </a:spcAft>
              <a:buNone/>
            </a:pPr>
            <a:r>
              <a:t/>
            </a:r>
            <a:endParaRPr i="1">
              <a:solidFill>
                <a:schemeClr val="dk2"/>
              </a:solidFill>
            </a:endParaRPr>
          </a:p>
        </p:txBody>
      </p:sp>
      <p:sp>
        <p:nvSpPr>
          <p:cNvPr id="1579" name="Google Shape;1579;p65"/>
          <p:cNvSpPr/>
          <p:nvPr/>
        </p:nvSpPr>
        <p:spPr>
          <a:xfrm>
            <a:off x="7028550" y="1190100"/>
            <a:ext cx="1704300" cy="3288900"/>
          </a:xfrm>
          <a:prstGeom prst="roundRect">
            <a:avLst>
              <a:gd fmla="val 6052" name="adj"/>
            </a:avLst>
          </a:prstGeom>
          <a:solidFill>
            <a:srgbClr val="E3F5EC"/>
          </a:solidFill>
          <a:ln>
            <a:noFill/>
          </a:ln>
        </p:spPr>
        <p:txBody>
          <a:bodyPr anchorCtr="0" anchor="t" bIns="34275" lIns="68575" spcFirstLastPara="1" rIns="68575" wrap="square" tIns="34275">
            <a:noAutofit/>
          </a:bodyPr>
          <a:lstStyle/>
          <a:p>
            <a:pPr indent="0" lvl="0" marL="180000" rtl="0" algn="l">
              <a:spcBef>
                <a:spcPts val="0"/>
              </a:spcBef>
              <a:spcAft>
                <a:spcPts val="0"/>
              </a:spcAft>
              <a:buNone/>
            </a:pPr>
            <a:r>
              <a:t/>
            </a:r>
            <a:endParaRPr b="1" sz="1200">
              <a:solidFill>
                <a:schemeClr val="accent1"/>
              </a:solidFill>
            </a:endParaRPr>
          </a:p>
          <a:p>
            <a:pPr indent="0" lvl="0" marL="180000" rtl="0" algn="l">
              <a:spcBef>
                <a:spcPts val="0"/>
              </a:spcBef>
              <a:spcAft>
                <a:spcPts val="0"/>
              </a:spcAft>
              <a:buNone/>
            </a:pPr>
            <a:r>
              <a:rPr b="1" lang="en-GB">
                <a:solidFill>
                  <a:srgbClr val="1A9D5C"/>
                </a:solidFill>
              </a:rPr>
              <a:t>Record on board</a:t>
            </a:r>
            <a:endParaRPr b="1">
              <a:solidFill>
                <a:srgbClr val="1A9D5C"/>
              </a:solidFill>
            </a:endParaRPr>
          </a:p>
          <a:p>
            <a:pPr indent="0" lvl="0" marL="180000" rtl="0" algn="l">
              <a:spcBef>
                <a:spcPts val="0"/>
              </a:spcBef>
              <a:spcAft>
                <a:spcPts val="0"/>
              </a:spcAft>
              <a:buNone/>
            </a:pPr>
            <a:r>
              <a:t/>
            </a:r>
            <a:endParaRPr b="1" sz="1200">
              <a:solidFill>
                <a:schemeClr val="accent1"/>
              </a:solidFill>
            </a:endParaRPr>
          </a:p>
          <a:p>
            <a:pPr indent="0" lvl="0" marL="180000" rtl="0" algn="l">
              <a:lnSpc>
                <a:spcPct val="115000"/>
              </a:lnSpc>
              <a:spcBef>
                <a:spcPts val="0"/>
              </a:spcBef>
              <a:spcAft>
                <a:spcPts val="0"/>
              </a:spcAft>
              <a:buNone/>
            </a:pPr>
            <a:r>
              <a:t/>
            </a:r>
            <a:endParaRPr sz="1600">
              <a:solidFill>
                <a:schemeClr val="dk1"/>
              </a:solidFill>
            </a:endParaRPr>
          </a:p>
        </p:txBody>
      </p:sp>
      <p:sp>
        <p:nvSpPr>
          <p:cNvPr id="1580" name="Google Shape;1580;p65"/>
          <p:cNvSpPr/>
          <p:nvPr/>
        </p:nvSpPr>
        <p:spPr>
          <a:xfrm>
            <a:off x="7344150" y="2201903"/>
            <a:ext cx="1073100" cy="342900"/>
          </a:xfrm>
          <a:prstGeom prst="roundRect">
            <a:avLst>
              <a:gd fmla="val 50000" name="adj"/>
            </a:avLst>
          </a:prstGeom>
          <a:solidFill>
            <a:srgbClr val="1A9D5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chemeClr val="lt1"/>
                </a:solidFill>
              </a:rPr>
              <a:t>SO ID</a:t>
            </a:r>
            <a:endParaRPr b="1">
              <a:solidFill>
                <a:schemeClr val="lt1"/>
              </a:solidFill>
            </a:endParaRPr>
          </a:p>
        </p:txBody>
      </p:sp>
      <p:sp>
        <p:nvSpPr>
          <p:cNvPr id="1581" name="Google Shape;1581;p65"/>
          <p:cNvSpPr/>
          <p:nvPr/>
        </p:nvSpPr>
        <p:spPr>
          <a:xfrm>
            <a:off x="7344150" y="2595439"/>
            <a:ext cx="1073100" cy="342900"/>
          </a:xfrm>
          <a:prstGeom prst="roundRect">
            <a:avLst>
              <a:gd fmla="val 50000" name="adj"/>
            </a:avLst>
          </a:prstGeom>
          <a:solidFill>
            <a:srgbClr val="1A9D5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chemeClr val="lt1"/>
                </a:solidFill>
              </a:rPr>
              <a:t>DN ID</a:t>
            </a:r>
            <a:endParaRPr b="1">
              <a:solidFill>
                <a:schemeClr val="lt1"/>
              </a:solidFill>
            </a:endParaRPr>
          </a:p>
        </p:txBody>
      </p:sp>
      <p:sp>
        <p:nvSpPr>
          <p:cNvPr id="1582" name="Google Shape;1582;p65"/>
          <p:cNvSpPr/>
          <p:nvPr/>
        </p:nvSpPr>
        <p:spPr>
          <a:xfrm>
            <a:off x="7344150" y="3476051"/>
            <a:ext cx="1073100" cy="342900"/>
          </a:xfrm>
          <a:prstGeom prst="roundRect">
            <a:avLst>
              <a:gd fmla="val 14676" name="adj"/>
            </a:avLst>
          </a:prstGeom>
          <a:solidFill>
            <a:srgbClr val="1A9D5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900">
                <a:solidFill>
                  <a:schemeClr val="lt1"/>
                </a:solidFill>
              </a:rPr>
              <a:t>(Name) Who escalated? </a:t>
            </a:r>
            <a:endParaRPr b="1" sz="900">
              <a:solidFill>
                <a:schemeClr val="lt1"/>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87" name="Shape 1587"/>
        <p:cNvGrpSpPr/>
        <p:nvPr/>
      </p:nvGrpSpPr>
      <p:grpSpPr>
        <a:xfrm>
          <a:off x="0" y="0"/>
          <a:ext cx="0" cy="0"/>
          <a:chOff x="0" y="0"/>
          <a:chExt cx="0" cy="0"/>
        </a:xfrm>
      </p:grpSpPr>
      <p:sp>
        <p:nvSpPr>
          <p:cNvPr id="1588" name="Google Shape;1588;p66"/>
          <p:cNvSpPr/>
          <p:nvPr/>
        </p:nvSpPr>
        <p:spPr>
          <a:xfrm>
            <a:off x="411502" y="260604"/>
            <a:ext cx="6858366"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MISSION CARDS · M6 OF 10</a:t>
            </a:r>
            <a:endParaRPr sz="800">
              <a:solidFill>
                <a:schemeClr val="dk1"/>
              </a:solidFill>
              <a:latin typeface="Calibri"/>
              <a:ea typeface="Calibri"/>
              <a:cs typeface="Calibri"/>
              <a:sym typeface="Calibri"/>
            </a:endParaRPr>
          </a:p>
        </p:txBody>
      </p:sp>
      <p:sp>
        <p:nvSpPr>
          <p:cNvPr id="1589" name="Google Shape;1589;p66"/>
          <p:cNvSpPr txBox="1"/>
          <p:nvPr>
            <p:ph idx="12" type="sldNum"/>
          </p:nvPr>
        </p:nvSpPr>
        <p:spPr>
          <a:xfrm>
            <a:off x="8347216" y="4750189"/>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590" name="Google Shape;1590;p66"/>
          <p:cNvSpPr/>
          <p:nvPr/>
        </p:nvSpPr>
        <p:spPr>
          <a:xfrm>
            <a:off x="411502" y="438912"/>
            <a:ext cx="8321400" cy="480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C2B3E"/>
              </a:buClr>
              <a:buSzPts val="2200"/>
              <a:buFont typeface="Arial"/>
              <a:buNone/>
            </a:pPr>
            <a:r>
              <a:rPr b="1" lang="en-GB" sz="2200">
                <a:solidFill>
                  <a:srgbClr val="1C2B3E"/>
                </a:solidFill>
                <a:latin typeface="Poppins"/>
                <a:ea typeface="Poppins"/>
                <a:cs typeface="Poppins"/>
                <a:sym typeface="Poppins"/>
              </a:rPr>
              <a:t>Mission 6: </a:t>
            </a:r>
            <a:r>
              <a:rPr b="1" lang="en-GB" sz="2200">
                <a:solidFill>
                  <a:srgbClr val="1C2B3E"/>
                </a:solidFill>
                <a:latin typeface="Poppins"/>
                <a:ea typeface="Poppins"/>
                <a:cs typeface="Poppins"/>
                <a:sym typeface="Poppins"/>
              </a:rPr>
              <a:t>Hotel Permai Group Sdn Bhd</a:t>
            </a:r>
            <a:endParaRPr b="1" sz="2200">
              <a:solidFill>
                <a:srgbClr val="1C2B3E"/>
              </a:solidFill>
              <a:latin typeface="Poppins"/>
              <a:ea typeface="Poppins"/>
              <a:cs typeface="Poppins"/>
              <a:sym typeface="Poppins"/>
            </a:endParaRPr>
          </a:p>
        </p:txBody>
      </p:sp>
      <p:sp>
        <p:nvSpPr>
          <p:cNvPr id="1591" name="Google Shape;1591;p66"/>
          <p:cNvSpPr/>
          <p:nvPr/>
        </p:nvSpPr>
        <p:spPr>
          <a:xfrm>
            <a:off x="411550" y="1190103"/>
            <a:ext cx="2704800" cy="3288900"/>
          </a:xfrm>
          <a:prstGeom prst="roundRect">
            <a:avLst>
              <a:gd fmla="val 6052" name="adj"/>
            </a:avLst>
          </a:prstGeom>
          <a:solidFill>
            <a:srgbClr val="E3E8EF"/>
          </a:solidFill>
          <a:ln cap="flat" cmpd="sng" w="9525">
            <a:solidFill>
              <a:srgbClr val="E3E8EF"/>
            </a:solidFill>
            <a:prstDash val="solid"/>
            <a:round/>
            <a:headEnd len="sm" w="sm" type="none"/>
            <a:tailEnd len="sm" w="sm" type="none"/>
          </a:ln>
        </p:spPr>
        <p:txBody>
          <a:bodyPr anchorCtr="0" anchor="t" bIns="34275" lIns="68575" spcFirstLastPara="1" rIns="287850" wrap="square" tIns="34275">
            <a:noAutofit/>
          </a:bodyPr>
          <a:lstStyle/>
          <a:p>
            <a:pPr indent="0" lvl="0" marL="180000" rtl="0" algn="l">
              <a:spcBef>
                <a:spcPts val="0"/>
              </a:spcBef>
              <a:spcAft>
                <a:spcPts val="0"/>
              </a:spcAft>
              <a:buNone/>
            </a:pPr>
            <a:r>
              <a:t/>
            </a:r>
            <a:endParaRPr b="1" sz="1200">
              <a:solidFill>
                <a:schemeClr val="accent1"/>
              </a:solidFill>
            </a:endParaRPr>
          </a:p>
          <a:p>
            <a:pPr indent="0" lvl="0" marL="180000" rtl="0" algn="l">
              <a:spcBef>
                <a:spcPts val="0"/>
              </a:spcBef>
              <a:spcAft>
                <a:spcPts val="0"/>
              </a:spcAft>
              <a:buNone/>
            </a:pPr>
            <a:r>
              <a:rPr b="1" lang="en-GB">
                <a:solidFill>
                  <a:srgbClr val="76889B"/>
                </a:solidFill>
              </a:rPr>
              <a:t>Scenario</a:t>
            </a:r>
            <a:endParaRPr b="1">
              <a:solidFill>
                <a:srgbClr val="5B6B7D"/>
              </a:solidFill>
            </a:endParaRPr>
          </a:p>
          <a:p>
            <a:pPr indent="0" lvl="0" marL="180000" rtl="0" algn="l">
              <a:spcBef>
                <a:spcPts val="0"/>
              </a:spcBef>
              <a:spcAft>
                <a:spcPts val="0"/>
              </a:spcAft>
              <a:buNone/>
            </a:pPr>
            <a:r>
              <a:t/>
            </a:r>
            <a:endParaRPr b="1" sz="1200">
              <a:solidFill>
                <a:schemeClr val="accent1"/>
              </a:solidFill>
            </a:endParaRPr>
          </a:p>
          <a:p>
            <a:pPr indent="0" lvl="0" marL="180000" marR="4652" rtl="0" algn="l">
              <a:lnSpc>
                <a:spcPct val="115000"/>
              </a:lnSpc>
              <a:spcBef>
                <a:spcPts val="0"/>
              </a:spcBef>
              <a:spcAft>
                <a:spcPts val="0"/>
              </a:spcAft>
              <a:buNone/>
            </a:pPr>
            <a:r>
              <a:rPr i="1" lang="en-GB" sz="1600">
                <a:solidFill>
                  <a:srgbClr val="1C2B3E"/>
                </a:solidFill>
              </a:rPr>
              <a:t>“En. Faizal wants a large order — RM20,000 worth. Good customer. But check their exposure before you confirm.”</a:t>
            </a:r>
            <a:endParaRPr i="1" sz="1600">
              <a:solidFill>
                <a:srgbClr val="1C2B3E"/>
              </a:solidFill>
            </a:endParaRPr>
          </a:p>
        </p:txBody>
      </p:sp>
      <p:sp>
        <p:nvSpPr>
          <p:cNvPr id="1592" name="Google Shape;1592;p66"/>
          <p:cNvSpPr/>
          <p:nvPr/>
        </p:nvSpPr>
        <p:spPr>
          <a:xfrm>
            <a:off x="3219650" y="1190100"/>
            <a:ext cx="3705600" cy="3288900"/>
          </a:xfrm>
          <a:prstGeom prst="roundRect">
            <a:avLst>
              <a:gd fmla="val 6052" name="adj"/>
            </a:avLst>
          </a:prstGeom>
          <a:solidFill>
            <a:srgbClr val="FBEBD9"/>
          </a:solidFill>
          <a:ln cap="flat" cmpd="sng" w="9525">
            <a:solidFill>
              <a:schemeClr val="accent2"/>
            </a:solidFill>
            <a:prstDash val="solid"/>
            <a:round/>
            <a:headEnd len="sm" w="sm" type="none"/>
            <a:tailEnd len="sm" w="sm" type="none"/>
          </a:ln>
        </p:spPr>
        <p:txBody>
          <a:bodyPr anchorCtr="0" anchor="t" bIns="34275" lIns="68575" spcFirstLastPara="1" rIns="68575" wrap="square" tIns="34275">
            <a:noAutofit/>
          </a:bodyPr>
          <a:lstStyle/>
          <a:p>
            <a:pPr indent="0" lvl="0" marL="180000" marR="118292" rtl="0" algn="l">
              <a:spcBef>
                <a:spcPts val="0"/>
              </a:spcBef>
              <a:spcAft>
                <a:spcPts val="0"/>
              </a:spcAft>
              <a:buNone/>
            </a:pPr>
            <a:r>
              <a:t/>
            </a:r>
            <a:endParaRPr b="1" sz="1200">
              <a:solidFill>
                <a:schemeClr val="accent1"/>
              </a:solidFill>
            </a:endParaRPr>
          </a:p>
          <a:p>
            <a:pPr indent="0" lvl="0" marL="180000" marR="118292" rtl="0" algn="l">
              <a:lnSpc>
                <a:spcPct val="115000"/>
              </a:lnSpc>
              <a:spcBef>
                <a:spcPts val="0"/>
              </a:spcBef>
              <a:spcAft>
                <a:spcPts val="0"/>
              </a:spcAft>
              <a:buNone/>
            </a:pPr>
            <a:r>
              <a:rPr lang="en-GB" sz="1200">
                <a:solidFill>
                  <a:schemeClr val="dk2"/>
                </a:solidFill>
              </a:rPr>
              <a:t>Order arrives as</a:t>
            </a:r>
            <a:endParaRPr sz="1200">
              <a:solidFill>
                <a:schemeClr val="dk2"/>
              </a:solidFill>
            </a:endParaRPr>
          </a:p>
          <a:p>
            <a:pPr indent="0" lvl="0" marL="180000" marR="118292" rtl="0" algn="l">
              <a:lnSpc>
                <a:spcPct val="115000"/>
              </a:lnSpc>
              <a:spcBef>
                <a:spcPts val="0"/>
              </a:spcBef>
              <a:spcAft>
                <a:spcPts val="0"/>
              </a:spcAft>
              <a:buNone/>
            </a:pPr>
            <a:r>
              <a:rPr b="1" lang="en-GB" sz="1600">
                <a:solidFill>
                  <a:schemeClr val="accent1"/>
                </a:solidFill>
              </a:rPr>
              <a:t>Short WhatsApp reorder (overdue)</a:t>
            </a:r>
            <a:endParaRPr b="1" sz="1600">
              <a:solidFill>
                <a:schemeClr val="accent1"/>
              </a:solidFill>
            </a:endParaRPr>
          </a:p>
          <a:p>
            <a:pPr indent="0" lvl="0" marL="180000" marR="118292" rtl="0" algn="l">
              <a:lnSpc>
                <a:spcPct val="115000"/>
              </a:lnSpc>
              <a:spcBef>
                <a:spcPts val="0"/>
              </a:spcBef>
              <a:spcAft>
                <a:spcPts val="0"/>
              </a:spcAft>
              <a:buNone/>
            </a:pPr>
            <a:r>
              <a:t/>
            </a:r>
            <a:endParaRPr b="1" sz="1200">
              <a:solidFill>
                <a:schemeClr val="dk2"/>
              </a:solidFill>
            </a:endParaRPr>
          </a:p>
          <a:p>
            <a:pPr indent="-317500" lvl="0" marL="630000" marR="118292" rtl="0" algn="l">
              <a:lnSpc>
                <a:spcPct val="115000"/>
              </a:lnSpc>
              <a:spcBef>
                <a:spcPts val="0"/>
              </a:spcBef>
              <a:spcAft>
                <a:spcPts val="0"/>
              </a:spcAft>
              <a:buClr>
                <a:schemeClr val="dk2"/>
              </a:buClr>
              <a:buSzPts val="1400"/>
              <a:buChar char="●"/>
            </a:pPr>
            <a:r>
              <a:rPr lang="en-GB">
                <a:solidFill>
                  <a:schemeClr val="dk2"/>
                </a:solidFill>
              </a:rPr>
              <a:t>Cooking Oil × 50</a:t>
            </a:r>
            <a:endParaRPr>
              <a:solidFill>
                <a:schemeClr val="dk2"/>
              </a:solidFill>
            </a:endParaRPr>
          </a:p>
          <a:p>
            <a:pPr indent="-317500" lvl="0" marL="630000" marR="118292" rtl="0" algn="l">
              <a:lnSpc>
                <a:spcPct val="115000"/>
              </a:lnSpc>
              <a:spcBef>
                <a:spcPts val="1000"/>
              </a:spcBef>
              <a:spcAft>
                <a:spcPts val="0"/>
              </a:spcAft>
              <a:buClr>
                <a:schemeClr val="dk2"/>
              </a:buClr>
              <a:buSzPts val="1400"/>
              <a:buChar char="●"/>
            </a:pPr>
            <a:r>
              <a:rPr lang="en-GB">
                <a:solidFill>
                  <a:schemeClr val="dk2"/>
                </a:solidFill>
              </a:rPr>
              <a:t>Flour × 20</a:t>
            </a:r>
            <a:endParaRPr>
              <a:solidFill>
                <a:schemeClr val="dk2"/>
              </a:solidFill>
            </a:endParaRPr>
          </a:p>
          <a:p>
            <a:pPr indent="-317500" lvl="0" marL="630000" marR="118292" rtl="0" algn="l">
              <a:lnSpc>
                <a:spcPct val="115000"/>
              </a:lnSpc>
              <a:spcBef>
                <a:spcPts val="1000"/>
              </a:spcBef>
              <a:spcAft>
                <a:spcPts val="0"/>
              </a:spcAft>
              <a:buClr>
                <a:schemeClr val="dk2"/>
              </a:buClr>
              <a:buSzPts val="1400"/>
              <a:buChar char="●"/>
            </a:pPr>
            <a:r>
              <a:rPr lang="en-GB">
                <a:solidFill>
                  <a:schemeClr val="dk2"/>
                </a:solidFill>
              </a:rPr>
              <a:t>Mushrooms × 100</a:t>
            </a:r>
            <a:endParaRPr>
              <a:solidFill>
                <a:schemeClr val="dk2"/>
              </a:solidFill>
            </a:endParaRPr>
          </a:p>
          <a:p>
            <a:pPr indent="0" lvl="0" marL="0" marR="118292" rtl="0" algn="l">
              <a:lnSpc>
                <a:spcPct val="115000"/>
              </a:lnSpc>
              <a:spcBef>
                <a:spcPts val="1000"/>
              </a:spcBef>
              <a:spcAft>
                <a:spcPts val="0"/>
              </a:spcAft>
              <a:buNone/>
            </a:pPr>
            <a:r>
              <a:t/>
            </a:r>
            <a:endParaRPr sz="1200">
              <a:solidFill>
                <a:schemeClr val="dk2"/>
              </a:solidFill>
            </a:endParaRPr>
          </a:p>
          <a:p>
            <a:pPr indent="0" lvl="0" marL="180000" marR="215346" rtl="0" algn="l">
              <a:lnSpc>
                <a:spcPct val="115000"/>
              </a:lnSpc>
              <a:spcBef>
                <a:spcPts val="0"/>
              </a:spcBef>
              <a:spcAft>
                <a:spcPts val="0"/>
              </a:spcAft>
              <a:buNone/>
            </a:pPr>
            <a:r>
              <a:rPr i="1" lang="en-GB">
                <a:solidFill>
                  <a:schemeClr val="dk2"/>
                </a:solidFill>
              </a:rPr>
              <a:t>Order value: ~RM20,000.</a:t>
            </a:r>
            <a:endParaRPr i="1">
              <a:solidFill>
                <a:schemeClr val="dk2"/>
              </a:solidFill>
            </a:endParaRPr>
          </a:p>
          <a:p>
            <a:pPr indent="0" lvl="0" marL="0" marR="118292" rtl="0" algn="l">
              <a:lnSpc>
                <a:spcPct val="115000"/>
              </a:lnSpc>
              <a:spcBef>
                <a:spcPts val="0"/>
              </a:spcBef>
              <a:spcAft>
                <a:spcPts val="0"/>
              </a:spcAft>
              <a:buNone/>
            </a:pPr>
            <a:r>
              <a:t/>
            </a:r>
            <a:endParaRPr i="1">
              <a:solidFill>
                <a:schemeClr val="dk2"/>
              </a:solidFill>
            </a:endParaRPr>
          </a:p>
        </p:txBody>
      </p:sp>
      <p:sp>
        <p:nvSpPr>
          <p:cNvPr id="1593" name="Google Shape;1593;p66"/>
          <p:cNvSpPr/>
          <p:nvPr/>
        </p:nvSpPr>
        <p:spPr>
          <a:xfrm>
            <a:off x="7028550" y="1190100"/>
            <a:ext cx="1704300" cy="3288900"/>
          </a:xfrm>
          <a:prstGeom prst="roundRect">
            <a:avLst>
              <a:gd fmla="val 6052" name="adj"/>
            </a:avLst>
          </a:prstGeom>
          <a:solidFill>
            <a:srgbClr val="E3F5EC"/>
          </a:solidFill>
          <a:ln>
            <a:noFill/>
          </a:ln>
        </p:spPr>
        <p:txBody>
          <a:bodyPr anchorCtr="0" anchor="t" bIns="34275" lIns="68575" spcFirstLastPara="1" rIns="68575" wrap="square" tIns="34275">
            <a:noAutofit/>
          </a:bodyPr>
          <a:lstStyle/>
          <a:p>
            <a:pPr indent="0" lvl="0" marL="180000" rtl="0" algn="l">
              <a:spcBef>
                <a:spcPts val="0"/>
              </a:spcBef>
              <a:spcAft>
                <a:spcPts val="0"/>
              </a:spcAft>
              <a:buNone/>
            </a:pPr>
            <a:r>
              <a:t/>
            </a:r>
            <a:endParaRPr b="1" sz="1200">
              <a:solidFill>
                <a:schemeClr val="accent1"/>
              </a:solidFill>
            </a:endParaRPr>
          </a:p>
          <a:p>
            <a:pPr indent="0" lvl="0" marL="180000" rtl="0" algn="l">
              <a:spcBef>
                <a:spcPts val="0"/>
              </a:spcBef>
              <a:spcAft>
                <a:spcPts val="0"/>
              </a:spcAft>
              <a:buNone/>
            </a:pPr>
            <a:r>
              <a:rPr b="1" lang="en-GB">
                <a:solidFill>
                  <a:srgbClr val="1A9D5C"/>
                </a:solidFill>
              </a:rPr>
              <a:t>Record on board</a:t>
            </a:r>
            <a:endParaRPr b="1">
              <a:solidFill>
                <a:srgbClr val="1A9D5C"/>
              </a:solidFill>
            </a:endParaRPr>
          </a:p>
          <a:p>
            <a:pPr indent="0" lvl="0" marL="180000" rtl="0" algn="l">
              <a:spcBef>
                <a:spcPts val="0"/>
              </a:spcBef>
              <a:spcAft>
                <a:spcPts val="0"/>
              </a:spcAft>
              <a:buNone/>
            </a:pPr>
            <a:r>
              <a:t/>
            </a:r>
            <a:endParaRPr b="1" sz="1200">
              <a:solidFill>
                <a:schemeClr val="accent1"/>
              </a:solidFill>
            </a:endParaRPr>
          </a:p>
          <a:p>
            <a:pPr indent="0" lvl="0" marL="180000" rtl="0" algn="l">
              <a:lnSpc>
                <a:spcPct val="115000"/>
              </a:lnSpc>
              <a:spcBef>
                <a:spcPts val="0"/>
              </a:spcBef>
              <a:spcAft>
                <a:spcPts val="0"/>
              </a:spcAft>
              <a:buNone/>
            </a:pPr>
            <a:r>
              <a:t/>
            </a:r>
            <a:endParaRPr sz="1600">
              <a:solidFill>
                <a:schemeClr val="dk1"/>
              </a:solidFill>
            </a:endParaRPr>
          </a:p>
        </p:txBody>
      </p:sp>
      <p:sp>
        <p:nvSpPr>
          <p:cNvPr id="1594" name="Google Shape;1594;p66"/>
          <p:cNvSpPr/>
          <p:nvPr/>
        </p:nvSpPr>
        <p:spPr>
          <a:xfrm>
            <a:off x="7344150" y="2201903"/>
            <a:ext cx="1073100" cy="342900"/>
          </a:xfrm>
          <a:prstGeom prst="roundRect">
            <a:avLst>
              <a:gd fmla="val 50000" name="adj"/>
            </a:avLst>
          </a:prstGeom>
          <a:solidFill>
            <a:srgbClr val="1A9D5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chemeClr val="lt1"/>
                </a:solidFill>
              </a:rPr>
              <a:t>SO ID</a:t>
            </a:r>
            <a:endParaRPr b="1">
              <a:solidFill>
                <a:schemeClr val="lt1"/>
              </a:solidFill>
            </a:endParaRPr>
          </a:p>
        </p:txBody>
      </p:sp>
      <p:sp>
        <p:nvSpPr>
          <p:cNvPr id="1595" name="Google Shape;1595;p66"/>
          <p:cNvSpPr/>
          <p:nvPr/>
        </p:nvSpPr>
        <p:spPr>
          <a:xfrm>
            <a:off x="7344150" y="2595439"/>
            <a:ext cx="1073100" cy="342900"/>
          </a:xfrm>
          <a:prstGeom prst="roundRect">
            <a:avLst>
              <a:gd fmla="val 50000" name="adj"/>
            </a:avLst>
          </a:prstGeom>
          <a:solidFill>
            <a:srgbClr val="1A9D5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chemeClr val="lt1"/>
                </a:solidFill>
              </a:rPr>
              <a:t>DN ID</a:t>
            </a:r>
            <a:endParaRPr b="1">
              <a:solidFill>
                <a:schemeClr val="lt1"/>
              </a:solidFill>
            </a:endParaRPr>
          </a:p>
        </p:txBody>
      </p:sp>
      <p:sp>
        <p:nvSpPr>
          <p:cNvPr id="1596" name="Google Shape;1596;p66"/>
          <p:cNvSpPr/>
          <p:nvPr/>
        </p:nvSpPr>
        <p:spPr>
          <a:xfrm>
            <a:off x="7344150" y="3476051"/>
            <a:ext cx="1073100" cy="342900"/>
          </a:xfrm>
          <a:prstGeom prst="roundRect">
            <a:avLst>
              <a:gd fmla="val 14676" name="adj"/>
            </a:avLst>
          </a:prstGeom>
          <a:solidFill>
            <a:srgbClr val="1A9D5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900">
                <a:solidFill>
                  <a:schemeClr val="lt1"/>
                </a:solidFill>
              </a:rPr>
              <a:t>Routed to controller?</a:t>
            </a:r>
            <a:endParaRPr b="1" sz="900">
              <a:solidFill>
                <a:schemeClr val="lt1"/>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01" name="Shape 1601"/>
        <p:cNvGrpSpPr/>
        <p:nvPr/>
      </p:nvGrpSpPr>
      <p:grpSpPr>
        <a:xfrm>
          <a:off x="0" y="0"/>
          <a:ext cx="0" cy="0"/>
          <a:chOff x="0" y="0"/>
          <a:chExt cx="0" cy="0"/>
        </a:xfrm>
      </p:grpSpPr>
      <p:sp>
        <p:nvSpPr>
          <p:cNvPr id="1602" name="Google Shape;1602;p67"/>
          <p:cNvSpPr/>
          <p:nvPr/>
        </p:nvSpPr>
        <p:spPr>
          <a:xfrm>
            <a:off x="411502" y="260604"/>
            <a:ext cx="6858366"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MISSION CARDS · M7 OF 10</a:t>
            </a:r>
            <a:endParaRPr sz="800">
              <a:solidFill>
                <a:schemeClr val="dk1"/>
              </a:solidFill>
              <a:latin typeface="Calibri"/>
              <a:ea typeface="Calibri"/>
              <a:cs typeface="Calibri"/>
              <a:sym typeface="Calibri"/>
            </a:endParaRPr>
          </a:p>
        </p:txBody>
      </p:sp>
      <p:sp>
        <p:nvSpPr>
          <p:cNvPr id="1603" name="Google Shape;1603;p67"/>
          <p:cNvSpPr txBox="1"/>
          <p:nvPr>
            <p:ph idx="12" type="sldNum"/>
          </p:nvPr>
        </p:nvSpPr>
        <p:spPr>
          <a:xfrm>
            <a:off x="8347216" y="4750189"/>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604" name="Google Shape;1604;p67"/>
          <p:cNvSpPr/>
          <p:nvPr/>
        </p:nvSpPr>
        <p:spPr>
          <a:xfrm>
            <a:off x="411502" y="438912"/>
            <a:ext cx="8321400" cy="480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C2B3E"/>
              </a:buClr>
              <a:buSzPts val="2200"/>
              <a:buFont typeface="Arial"/>
              <a:buNone/>
            </a:pPr>
            <a:r>
              <a:rPr b="1" lang="en-GB" sz="2200">
                <a:solidFill>
                  <a:srgbClr val="1C2B3E"/>
                </a:solidFill>
                <a:latin typeface="Poppins"/>
                <a:ea typeface="Poppins"/>
                <a:cs typeface="Poppins"/>
                <a:sym typeface="Poppins"/>
              </a:rPr>
              <a:t>Mission 7: </a:t>
            </a:r>
            <a:r>
              <a:rPr b="1" lang="en-GB" sz="2200">
                <a:solidFill>
                  <a:srgbClr val="1C2B3E"/>
                </a:solidFill>
                <a:latin typeface="Poppins"/>
                <a:ea typeface="Poppins"/>
                <a:cs typeface="Poppins"/>
                <a:sym typeface="Poppins"/>
              </a:rPr>
              <a:t>The Brew Lab</a:t>
            </a:r>
            <a:endParaRPr b="1" sz="2200">
              <a:solidFill>
                <a:srgbClr val="1C2B3E"/>
              </a:solidFill>
              <a:latin typeface="Poppins"/>
              <a:ea typeface="Poppins"/>
              <a:cs typeface="Poppins"/>
              <a:sym typeface="Poppins"/>
            </a:endParaRPr>
          </a:p>
        </p:txBody>
      </p:sp>
      <p:sp>
        <p:nvSpPr>
          <p:cNvPr id="1605" name="Google Shape;1605;p67"/>
          <p:cNvSpPr/>
          <p:nvPr/>
        </p:nvSpPr>
        <p:spPr>
          <a:xfrm>
            <a:off x="411550" y="1190103"/>
            <a:ext cx="2704800" cy="3288900"/>
          </a:xfrm>
          <a:prstGeom prst="roundRect">
            <a:avLst>
              <a:gd fmla="val 6052" name="adj"/>
            </a:avLst>
          </a:prstGeom>
          <a:solidFill>
            <a:srgbClr val="E3E8EF"/>
          </a:solidFill>
          <a:ln cap="flat" cmpd="sng" w="9525">
            <a:solidFill>
              <a:srgbClr val="E3E8EF"/>
            </a:solidFill>
            <a:prstDash val="solid"/>
            <a:round/>
            <a:headEnd len="sm" w="sm" type="none"/>
            <a:tailEnd len="sm" w="sm" type="none"/>
          </a:ln>
        </p:spPr>
        <p:txBody>
          <a:bodyPr anchorCtr="0" anchor="t" bIns="34275" lIns="68575" spcFirstLastPara="1" rIns="287850" wrap="square" tIns="34275">
            <a:noAutofit/>
          </a:bodyPr>
          <a:lstStyle/>
          <a:p>
            <a:pPr indent="0" lvl="0" marL="180000" rtl="0" algn="l">
              <a:spcBef>
                <a:spcPts val="0"/>
              </a:spcBef>
              <a:spcAft>
                <a:spcPts val="0"/>
              </a:spcAft>
              <a:buNone/>
            </a:pPr>
            <a:r>
              <a:t/>
            </a:r>
            <a:endParaRPr b="1" sz="1200">
              <a:solidFill>
                <a:schemeClr val="accent1"/>
              </a:solidFill>
            </a:endParaRPr>
          </a:p>
          <a:p>
            <a:pPr indent="0" lvl="0" marL="180000" rtl="0" algn="l">
              <a:spcBef>
                <a:spcPts val="0"/>
              </a:spcBef>
              <a:spcAft>
                <a:spcPts val="0"/>
              </a:spcAft>
              <a:buNone/>
            </a:pPr>
            <a:r>
              <a:rPr b="1" lang="en-GB">
                <a:solidFill>
                  <a:srgbClr val="76889B"/>
                </a:solidFill>
              </a:rPr>
              <a:t>Scenario</a:t>
            </a:r>
            <a:endParaRPr b="1">
              <a:solidFill>
                <a:srgbClr val="5B6B7D"/>
              </a:solidFill>
            </a:endParaRPr>
          </a:p>
          <a:p>
            <a:pPr indent="0" lvl="0" marL="180000" rtl="0" algn="l">
              <a:spcBef>
                <a:spcPts val="0"/>
              </a:spcBef>
              <a:spcAft>
                <a:spcPts val="0"/>
              </a:spcAft>
              <a:buNone/>
            </a:pPr>
            <a:r>
              <a:t/>
            </a:r>
            <a:endParaRPr b="1" sz="1200">
              <a:solidFill>
                <a:schemeClr val="accent1"/>
              </a:solidFill>
            </a:endParaRPr>
          </a:p>
          <a:p>
            <a:pPr indent="0" lvl="0" marL="180000" marR="4652" rtl="0" algn="l">
              <a:lnSpc>
                <a:spcPct val="115000"/>
              </a:lnSpc>
              <a:spcBef>
                <a:spcPts val="0"/>
              </a:spcBef>
              <a:spcAft>
                <a:spcPts val="0"/>
              </a:spcAft>
              <a:buNone/>
            </a:pPr>
            <a:r>
              <a:rPr i="1" lang="en-GB" sz="1600">
                <a:solidFill>
                  <a:srgbClr val="1C2B3E"/>
                </a:solidFill>
              </a:rPr>
              <a:t>“Daniel from The Brew Lab is interested. He's not a customer yet — he wants a quote. Give him one.”</a:t>
            </a:r>
            <a:endParaRPr i="1" sz="1600">
              <a:solidFill>
                <a:srgbClr val="1C2B3E"/>
              </a:solidFill>
            </a:endParaRPr>
          </a:p>
          <a:p>
            <a:pPr indent="0" lvl="0" marL="180000" marR="4652" rtl="0" algn="l">
              <a:lnSpc>
                <a:spcPct val="115000"/>
              </a:lnSpc>
              <a:spcBef>
                <a:spcPts val="0"/>
              </a:spcBef>
              <a:spcAft>
                <a:spcPts val="0"/>
              </a:spcAft>
              <a:buNone/>
            </a:pPr>
            <a:r>
              <a:t/>
            </a:r>
            <a:endParaRPr i="1" sz="1600">
              <a:solidFill>
                <a:srgbClr val="1C2B3E"/>
              </a:solidFill>
            </a:endParaRPr>
          </a:p>
          <a:p>
            <a:pPr indent="0" lvl="0" marL="180000" marR="4652" rtl="0" algn="l">
              <a:lnSpc>
                <a:spcPct val="115000"/>
              </a:lnSpc>
              <a:spcBef>
                <a:spcPts val="0"/>
              </a:spcBef>
              <a:spcAft>
                <a:spcPts val="0"/>
              </a:spcAft>
              <a:buNone/>
            </a:pPr>
            <a:r>
              <a:t/>
            </a:r>
            <a:endParaRPr i="1" sz="1600">
              <a:solidFill>
                <a:srgbClr val="1C2B3E"/>
              </a:solidFill>
            </a:endParaRPr>
          </a:p>
        </p:txBody>
      </p:sp>
      <p:sp>
        <p:nvSpPr>
          <p:cNvPr id="1606" name="Google Shape;1606;p67"/>
          <p:cNvSpPr/>
          <p:nvPr/>
        </p:nvSpPr>
        <p:spPr>
          <a:xfrm>
            <a:off x="3219650" y="1190100"/>
            <a:ext cx="3705600" cy="3288900"/>
          </a:xfrm>
          <a:prstGeom prst="roundRect">
            <a:avLst>
              <a:gd fmla="val 6052" name="adj"/>
            </a:avLst>
          </a:prstGeom>
          <a:solidFill>
            <a:srgbClr val="FBEBD9"/>
          </a:solidFill>
          <a:ln cap="flat" cmpd="sng" w="9525">
            <a:solidFill>
              <a:schemeClr val="accent2"/>
            </a:solidFill>
            <a:prstDash val="solid"/>
            <a:round/>
            <a:headEnd len="sm" w="sm" type="none"/>
            <a:tailEnd len="sm" w="sm" type="none"/>
          </a:ln>
        </p:spPr>
        <p:txBody>
          <a:bodyPr anchorCtr="0" anchor="t" bIns="34275" lIns="68575" spcFirstLastPara="1" rIns="68575" wrap="square" tIns="34275">
            <a:noAutofit/>
          </a:bodyPr>
          <a:lstStyle/>
          <a:p>
            <a:pPr indent="0" lvl="0" marL="180000" marR="118292" rtl="0" algn="l">
              <a:spcBef>
                <a:spcPts val="0"/>
              </a:spcBef>
              <a:spcAft>
                <a:spcPts val="0"/>
              </a:spcAft>
              <a:buNone/>
            </a:pPr>
            <a:r>
              <a:t/>
            </a:r>
            <a:endParaRPr b="1" sz="1200">
              <a:solidFill>
                <a:schemeClr val="accent1"/>
              </a:solidFill>
            </a:endParaRPr>
          </a:p>
          <a:p>
            <a:pPr indent="0" lvl="0" marL="180000" marR="118292" rtl="0" algn="l">
              <a:lnSpc>
                <a:spcPct val="115000"/>
              </a:lnSpc>
              <a:spcBef>
                <a:spcPts val="0"/>
              </a:spcBef>
              <a:spcAft>
                <a:spcPts val="0"/>
              </a:spcAft>
              <a:buNone/>
            </a:pPr>
            <a:r>
              <a:rPr lang="en-GB" sz="1200">
                <a:solidFill>
                  <a:schemeClr val="dk2"/>
                </a:solidFill>
              </a:rPr>
              <a:t>Order arrives as</a:t>
            </a:r>
            <a:endParaRPr sz="1200">
              <a:solidFill>
                <a:schemeClr val="dk2"/>
              </a:solidFill>
            </a:endParaRPr>
          </a:p>
          <a:p>
            <a:pPr indent="0" lvl="0" marL="180000" marR="118292" rtl="0" algn="l">
              <a:lnSpc>
                <a:spcPct val="115000"/>
              </a:lnSpc>
              <a:spcBef>
                <a:spcPts val="0"/>
              </a:spcBef>
              <a:spcAft>
                <a:spcPts val="0"/>
              </a:spcAft>
              <a:buNone/>
            </a:pPr>
            <a:r>
              <a:rPr b="1" lang="en-GB" sz="1600">
                <a:solidFill>
                  <a:schemeClr val="accent1"/>
                </a:solidFill>
              </a:rPr>
              <a:t>New prospect enquiry (WhatsApp)</a:t>
            </a:r>
            <a:endParaRPr b="1" sz="1600">
              <a:solidFill>
                <a:schemeClr val="accent1"/>
              </a:solidFill>
            </a:endParaRPr>
          </a:p>
          <a:p>
            <a:pPr indent="0" lvl="0" marL="180000" marR="118292" rtl="0" algn="l">
              <a:lnSpc>
                <a:spcPct val="115000"/>
              </a:lnSpc>
              <a:spcBef>
                <a:spcPts val="0"/>
              </a:spcBef>
              <a:spcAft>
                <a:spcPts val="0"/>
              </a:spcAft>
              <a:buNone/>
            </a:pPr>
            <a:r>
              <a:t/>
            </a:r>
            <a:endParaRPr b="1" sz="1200">
              <a:solidFill>
                <a:schemeClr val="dk2"/>
              </a:solidFill>
            </a:endParaRPr>
          </a:p>
          <a:p>
            <a:pPr indent="-317500" lvl="0" marL="630000" marR="118292" rtl="0" algn="l">
              <a:lnSpc>
                <a:spcPct val="115000"/>
              </a:lnSpc>
              <a:spcBef>
                <a:spcPts val="0"/>
              </a:spcBef>
              <a:spcAft>
                <a:spcPts val="1000"/>
              </a:spcAft>
              <a:buClr>
                <a:schemeClr val="dk2"/>
              </a:buClr>
              <a:buSzPts val="1400"/>
              <a:buChar char="●"/>
            </a:pPr>
            <a:r>
              <a:rPr lang="en-GB">
                <a:solidFill>
                  <a:schemeClr val="dk2"/>
                </a:solidFill>
              </a:rPr>
              <a:t>Quote: “20 bags house blend coffee + 10× coffee machine servicing visits?”</a:t>
            </a:r>
            <a:endParaRPr i="1">
              <a:solidFill>
                <a:schemeClr val="dk2"/>
              </a:solidFill>
            </a:endParaRPr>
          </a:p>
        </p:txBody>
      </p:sp>
      <p:sp>
        <p:nvSpPr>
          <p:cNvPr id="1607" name="Google Shape;1607;p67"/>
          <p:cNvSpPr/>
          <p:nvPr/>
        </p:nvSpPr>
        <p:spPr>
          <a:xfrm>
            <a:off x="7028550" y="1190100"/>
            <a:ext cx="1704300" cy="3288900"/>
          </a:xfrm>
          <a:prstGeom prst="roundRect">
            <a:avLst>
              <a:gd fmla="val 6052" name="adj"/>
            </a:avLst>
          </a:prstGeom>
          <a:solidFill>
            <a:srgbClr val="E3F5EC"/>
          </a:solidFill>
          <a:ln>
            <a:noFill/>
          </a:ln>
        </p:spPr>
        <p:txBody>
          <a:bodyPr anchorCtr="0" anchor="t" bIns="34275" lIns="68575" spcFirstLastPara="1" rIns="68575" wrap="square" tIns="34275">
            <a:noAutofit/>
          </a:bodyPr>
          <a:lstStyle/>
          <a:p>
            <a:pPr indent="0" lvl="0" marL="180000" rtl="0" algn="l">
              <a:spcBef>
                <a:spcPts val="0"/>
              </a:spcBef>
              <a:spcAft>
                <a:spcPts val="0"/>
              </a:spcAft>
              <a:buNone/>
            </a:pPr>
            <a:r>
              <a:t/>
            </a:r>
            <a:endParaRPr b="1" sz="1200">
              <a:solidFill>
                <a:schemeClr val="accent1"/>
              </a:solidFill>
            </a:endParaRPr>
          </a:p>
          <a:p>
            <a:pPr indent="0" lvl="0" marL="180000" rtl="0" algn="l">
              <a:spcBef>
                <a:spcPts val="0"/>
              </a:spcBef>
              <a:spcAft>
                <a:spcPts val="0"/>
              </a:spcAft>
              <a:buNone/>
            </a:pPr>
            <a:r>
              <a:rPr b="1" lang="en-GB">
                <a:solidFill>
                  <a:srgbClr val="1A9D5C"/>
                </a:solidFill>
              </a:rPr>
              <a:t>Record on board</a:t>
            </a:r>
            <a:endParaRPr b="1">
              <a:solidFill>
                <a:srgbClr val="1A9D5C"/>
              </a:solidFill>
            </a:endParaRPr>
          </a:p>
          <a:p>
            <a:pPr indent="0" lvl="0" marL="180000" rtl="0" algn="l">
              <a:spcBef>
                <a:spcPts val="0"/>
              </a:spcBef>
              <a:spcAft>
                <a:spcPts val="0"/>
              </a:spcAft>
              <a:buNone/>
            </a:pPr>
            <a:r>
              <a:t/>
            </a:r>
            <a:endParaRPr b="1" sz="1200">
              <a:solidFill>
                <a:schemeClr val="accent1"/>
              </a:solidFill>
            </a:endParaRPr>
          </a:p>
          <a:p>
            <a:pPr indent="0" lvl="0" marL="180000" rtl="0" algn="l">
              <a:lnSpc>
                <a:spcPct val="115000"/>
              </a:lnSpc>
              <a:spcBef>
                <a:spcPts val="0"/>
              </a:spcBef>
              <a:spcAft>
                <a:spcPts val="0"/>
              </a:spcAft>
              <a:buNone/>
            </a:pPr>
            <a:r>
              <a:t/>
            </a:r>
            <a:endParaRPr sz="1600">
              <a:solidFill>
                <a:schemeClr val="dk1"/>
              </a:solidFill>
            </a:endParaRPr>
          </a:p>
        </p:txBody>
      </p:sp>
      <p:sp>
        <p:nvSpPr>
          <p:cNvPr id="1608" name="Google Shape;1608;p67"/>
          <p:cNvSpPr/>
          <p:nvPr/>
        </p:nvSpPr>
        <p:spPr>
          <a:xfrm>
            <a:off x="7344150" y="2201903"/>
            <a:ext cx="1073100" cy="342900"/>
          </a:xfrm>
          <a:prstGeom prst="roundRect">
            <a:avLst>
              <a:gd fmla="val 50000" name="adj"/>
            </a:avLst>
          </a:prstGeom>
          <a:solidFill>
            <a:srgbClr val="1A9D5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chemeClr val="lt1"/>
                </a:solidFill>
              </a:rPr>
              <a:t>QT ID</a:t>
            </a:r>
            <a:endParaRPr b="1">
              <a:solidFill>
                <a:schemeClr val="lt1"/>
              </a:solidFill>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13" name="Shape 1613"/>
        <p:cNvGrpSpPr/>
        <p:nvPr/>
      </p:nvGrpSpPr>
      <p:grpSpPr>
        <a:xfrm>
          <a:off x="0" y="0"/>
          <a:ext cx="0" cy="0"/>
          <a:chOff x="0" y="0"/>
          <a:chExt cx="0" cy="0"/>
        </a:xfrm>
      </p:grpSpPr>
      <p:sp>
        <p:nvSpPr>
          <p:cNvPr id="1614" name="Google Shape;1614;p68"/>
          <p:cNvSpPr/>
          <p:nvPr/>
        </p:nvSpPr>
        <p:spPr>
          <a:xfrm>
            <a:off x="411502" y="260604"/>
            <a:ext cx="6858366"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MISSION CARDS · M8 OF 10</a:t>
            </a:r>
            <a:endParaRPr sz="800">
              <a:solidFill>
                <a:schemeClr val="dk1"/>
              </a:solidFill>
              <a:latin typeface="Calibri"/>
              <a:ea typeface="Calibri"/>
              <a:cs typeface="Calibri"/>
              <a:sym typeface="Calibri"/>
            </a:endParaRPr>
          </a:p>
        </p:txBody>
      </p:sp>
      <p:sp>
        <p:nvSpPr>
          <p:cNvPr id="1615" name="Google Shape;1615;p68"/>
          <p:cNvSpPr txBox="1"/>
          <p:nvPr>
            <p:ph idx="12" type="sldNum"/>
          </p:nvPr>
        </p:nvSpPr>
        <p:spPr>
          <a:xfrm>
            <a:off x="8347216" y="4750189"/>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616" name="Google Shape;1616;p68"/>
          <p:cNvSpPr/>
          <p:nvPr/>
        </p:nvSpPr>
        <p:spPr>
          <a:xfrm>
            <a:off x="411502" y="438912"/>
            <a:ext cx="8321400" cy="480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C2B3E"/>
              </a:buClr>
              <a:buSzPts val="2200"/>
              <a:buFont typeface="Arial"/>
              <a:buNone/>
            </a:pPr>
            <a:r>
              <a:rPr b="1" lang="en-GB" sz="2200">
                <a:solidFill>
                  <a:srgbClr val="1C2B3E"/>
                </a:solidFill>
                <a:latin typeface="Poppins"/>
                <a:ea typeface="Poppins"/>
                <a:cs typeface="Poppins"/>
                <a:sym typeface="Poppins"/>
              </a:rPr>
              <a:t>Mission 8: Grand Ballroom Catering Sdn Bhd</a:t>
            </a:r>
            <a:endParaRPr b="1" sz="2200">
              <a:solidFill>
                <a:srgbClr val="1C2B3E"/>
              </a:solidFill>
              <a:latin typeface="Poppins"/>
              <a:ea typeface="Poppins"/>
              <a:cs typeface="Poppins"/>
              <a:sym typeface="Poppins"/>
            </a:endParaRPr>
          </a:p>
        </p:txBody>
      </p:sp>
      <p:sp>
        <p:nvSpPr>
          <p:cNvPr id="1617" name="Google Shape;1617;p68"/>
          <p:cNvSpPr/>
          <p:nvPr/>
        </p:nvSpPr>
        <p:spPr>
          <a:xfrm>
            <a:off x="411550" y="1190103"/>
            <a:ext cx="2704800" cy="3288900"/>
          </a:xfrm>
          <a:prstGeom prst="roundRect">
            <a:avLst>
              <a:gd fmla="val 6052" name="adj"/>
            </a:avLst>
          </a:prstGeom>
          <a:solidFill>
            <a:srgbClr val="E3E8EF"/>
          </a:solidFill>
          <a:ln cap="flat" cmpd="sng" w="9525">
            <a:solidFill>
              <a:srgbClr val="E3E8EF"/>
            </a:solidFill>
            <a:prstDash val="solid"/>
            <a:round/>
            <a:headEnd len="sm" w="sm" type="none"/>
            <a:tailEnd len="sm" w="sm" type="none"/>
          </a:ln>
        </p:spPr>
        <p:txBody>
          <a:bodyPr anchorCtr="0" anchor="t" bIns="34275" lIns="68575" spcFirstLastPara="1" rIns="287850" wrap="square" tIns="34275">
            <a:noAutofit/>
          </a:bodyPr>
          <a:lstStyle/>
          <a:p>
            <a:pPr indent="0" lvl="0" marL="180000" rtl="0" algn="l">
              <a:spcBef>
                <a:spcPts val="0"/>
              </a:spcBef>
              <a:spcAft>
                <a:spcPts val="0"/>
              </a:spcAft>
              <a:buNone/>
            </a:pPr>
            <a:r>
              <a:t/>
            </a:r>
            <a:endParaRPr b="1" sz="1200">
              <a:solidFill>
                <a:schemeClr val="accent1"/>
              </a:solidFill>
            </a:endParaRPr>
          </a:p>
          <a:p>
            <a:pPr indent="0" lvl="0" marL="180000" rtl="0" algn="l">
              <a:spcBef>
                <a:spcPts val="0"/>
              </a:spcBef>
              <a:spcAft>
                <a:spcPts val="0"/>
              </a:spcAft>
              <a:buNone/>
            </a:pPr>
            <a:r>
              <a:rPr b="1" lang="en-GB">
                <a:solidFill>
                  <a:srgbClr val="76889B"/>
                </a:solidFill>
              </a:rPr>
              <a:t>Scenario</a:t>
            </a:r>
            <a:endParaRPr b="1">
              <a:solidFill>
                <a:srgbClr val="5B6B7D"/>
              </a:solidFill>
            </a:endParaRPr>
          </a:p>
          <a:p>
            <a:pPr indent="0" lvl="0" marL="180000" rtl="0" algn="l">
              <a:spcBef>
                <a:spcPts val="0"/>
              </a:spcBef>
              <a:spcAft>
                <a:spcPts val="0"/>
              </a:spcAft>
              <a:buNone/>
            </a:pPr>
            <a:r>
              <a:t/>
            </a:r>
            <a:endParaRPr b="1" sz="1200">
              <a:solidFill>
                <a:schemeClr val="accent1"/>
              </a:solidFill>
            </a:endParaRPr>
          </a:p>
          <a:p>
            <a:pPr indent="0" lvl="0" marL="180000" marR="4652" rtl="0" algn="l">
              <a:lnSpc>
                <a:spcPct val="115000"/>
              </a:lnSpc>
              <a:spcBef>
                <a:spcPts val="0"/>
              </a:spcBef>
              <a:spcAft>
                <a:spcPts val="0"/>
              </a:spcAft>
              <a:buNone/>
            </a:pPr>
            <a:r>
              <a:rPr i="1" lang="en-GB" sz="1600">
                <a:solidFill>
                  <a:srgbClr val="1C2B3E"/>
                </a:solidFill>
              </a:rPr>
              <a:t>“Grand Ballroom is ordering supplies AND booking a service. Make sure each part is fulfilled the right way — they're not the same.”</a:t>
            </a:r>
            <a:endParaRPr i="1" sz="1600">
              <a:solidFill>
                <a:srgbClr val="1C2B3E"/>
              </a:solidFill>
            </a:endParaRPr>
          </a:p>
        </p:txBody>
      </p:sp>
      <p:sp>
        <p:nvSpPr>
          <p:cNvPr id="1618" name="Google Shape;1618;p68"/>
          <p:cNvSpPr/>
          <p:nvPr/>
        </p:nvSpPr>
        <p:spPr>
          <a:xfrm>
            <a:off x="3219650" y="1190100"/>
            <a:ext cx="3705600" cy="3288900"/>
          </a:xfrm>
          <a:prstGeom prst="roundRect">
            <a:avLst>
              <a:gd fmla="val 6052" name="adj"/>
            </a:avLst>
          </a:prstGeom>
          <a:solidFill>
            <a:srgbClr val="FBEBD9"/>
          </a:solidFill>
          <a:ln cap="flat" cmpd="sng" w="9525">
            <a:solidFill>
              <a:schemeClr val="accent2"/>
            </a:solidFill>
            <a:prstDash val="solid"/>
            <a:round/>
            <a:headEnd len="sm" w="sm" type="none"/>
            <a:tailEnd len="sm" w="sm" type="none"/>
          </a:ln>
        </p:spPr>
        <p:txBody>
          <a:bodyPr anchorCtr="0" anchor="t" bIns="34275" lIns="68575" spcFirstLastPara="1" rIns="68575" wrap="square" tIns="34275">
            <a:noAutofit/>
          </a:bodyPr>
          <a:lstStyle/>
          <a:p>
            <a:pPr indent="0" lvl="0" marL="180000" marR="118292" rtl="0" algn="l">
              <a:spcBef>
                <a:spcPts val="0"/>
              </a:spcBef>
              <a:spcAft>
                <a:spcPts val="0"/>
              </a:spcAft>
              <a:buNone/>
            </a:pPr>
            <a:r>
              <a:t/>
            </a:r>
            <a:endParaRPr b="1" sz="1200">
              <a:solidFill>
                <a:schemeClr val="accent1"/>
              </a:solidFill>
            </a:endParaRPr>
          </a:p>
          <a:p>
            <a:pPr indent="0" lvl="0" marL="180000" marR="118292" rtl="0" algn="l">
              <a:lnSpc>
                <a:spcPct val="115000"/>
              </a:lnSpc>
              <a:spcBef>
                <a:spcPts val="0"/>
              </a:spcBef>
              <a:spcAft>
                <a:spcPts val="0"/>
              </a:spcAft>
              <a:buNone/>
            </a:pPr>
            <a:r>
              <a:rPr lang="en-GB" sz="1200">
                <a:solidFill>
                  <a:schemeClr val="dk2"/>
                </a:solidFill>
              </a:rPr>
              <a:t>Order arrives as</a:t>
            </a:r>
            <a:endParaRPr sz="1200">
              <a:solidFill>
                <a:schemeClr val="dk2"/>
              </a:solidFill>
            </a:endParaRPr>
          </a:p>
          <a:p>
            <a:pPr indent="0" lvl="0" marL="180000" marR="118292" rtl="0" algn="l">
              <a:lnSpc>
                <a:spcPct val="115000"/>
              </a:lnSpc>
              <a:spcBef>
                <a:spcPts val="0"/>
              </a:spcBef>
              <a:spcAft>
                <a:spcPts val="0"/>
              </a:spcAft>
              <a:buNone/>
            </a:pPr>
            <a:r>
              <a:rPr b="1" lang="en-GB" sz="1600">
                <a:solidFill>
                  <a:schemeClr val="accent1"/>
                </a:solidFill>
              </a:rPr>
              <a:t>Event order email / WhatsApp thread</a:t>
            </a:r>
            <a:endParaRPr b="1" sz="1600">
              <a:solidFill>
                <a:schemeClr val="accent1"/>
              </a:solidFill>
            </a:endParaRPr>
          </a:p>
          <a:p>
            <a:pPr indent="0" lvl="0" marL="180000" marR="118292" rtl="0" algn="l">
              <a:lnSpc>
                <a:spcPct val="115000"/>
              </a:lnSpc>
              <a:spcBef>
                <a:spcPts val="0"/>
              </a:spcBef>
              <a:spcAft>
                <a:spcPts val="0"/>
              </a:spcAft>
              <a:buNone/>
            </a:pPr>
            <a:r>
              <a:t/>
            </a:r>
            <a:endParaRPr b="1" sz="1200">
              <a:solidFill>
                <a:schemeClr val="dk2"/>
              </a:solidFill>
            </a:endParaRPr>
          </a:p>
          <a:p>
            <a:pPr indent="-317500" lvl="0" marL="630000" marR="118292" rtl="0" algn="l">
              <a:lnSpc>
                <a:spcPct val="115000"/>
              </a:lnSpc>
              <a:spcBef>
                <a:spcPts val="0"/>
              </a:spcBef>
              <a:spcAft>
                <a:spcPts val="0"/>
              </a:spcAft>
              <a:buClr>
                <a:schemeClr val="dk2"/>
              </a:buClr>
              <a:buSzPts val="1400"/>
              <a:buChar char="●"/>
            </a:pPr>
            <a:r>
              <a:rPr lang="en-GB">
                <a:solidFill>
                  <a:schemeClr val="dk2"/>
                </a:solidFill>
              </a:rPr>
              <a:t>Cooking Oil × 5</a:t>
            </a:r>
            <a:endParaRPr>
              <a:solidFill>
                <a:schemeClr val="dk2"/>
              </a:solidFill>
            </a:endParaRPr>
          </a:p>
          <a:p>
            <a:pPr indent="-317500" lvl="0" marL="630000" marR="118292" rtl="0" algn="l">
              <a:lnSpc>
                <a:spcPct val="115000"/>
              </a:lnSpc>
              <a:spcBef>
                <a:spcPts val="1000"/>
              </a:spcBef>
              <a:spcAft>
                <a:spcPts val="0"/>
              </a:spcAft>
              <a:buClr>
                <a:schemeClr val="dk2"/>
              </a:buClr>
              <a:buSzPts val="1400"/>
              <a:buChar char="●"/>
            </a:pPr>
            <a:r>
              <a:rPr lang="en-GB">
                <a:solidFill>
                  <a:schemeClr val="dk2"/>
                </a:solidFill>
              </a:rPr>
              <a:t>Festive Hamper × 3</a:t>
            </a:r>
            <a:endParaRPr>
              <a:solidFill>
                <a:schemeClr val="dk2"/>
              </a:solidFill>
            </a:endParaRPr>
          </a:p>
          <a:p>
            <a:pPr indent="-317500" lvl="0" marL="630000" marR="208707" rtl="0" algn="l">
              <a:lnSpc>
                <a:spcPct val="115000"/>
              </a:lnSpc>
              <a:spcBef>
                <a:spcPts val="1000"/>
              </a:spcBef>
              <a:spcAft>
                <a:spcPts val="0"/>
              </a:spcAft>
              <a:buClr>
                <a:schemeClr val="dk2"/>
              </a:buClr>
              <a:buSzPts val="1400"/>
              <a:buChar char="●"/>
            </a:pPr>
            <a:r>
              <a:rPr lang="en-GB">
                <a:solidFill>
                  <a:schemeClr val="dk2"/>
                </a:solidFill>
              </a:rPr>
              <a:t>Coffee Machine Servicing × 1 visit</a:t>
            </a:r>
            <a:endParaRPr>
              <a:solidFill>
                <a:schemeClr val="dk2"/>
              </a:solidFill>
            </a:endParaRPr>
          </a:p>
          <a:p>
            <a:pPr indent="0" lvl="0" marL="0" marR="118292" rtl="0" algn="l">
              <a:lnSpc>
                <a:spcPct val="115000"/>
              </a:lnSpc>
              <a:spcBef>
                <a:spcPts val="1000"/>
              </a:spcBef>
              <a:spcAft>
                <a:spcPts val="0"/>
              </a:spcAft>
              <a:buNone/>
            </a:pPr>
            <a:r>
              <a:t/>
            </a:r>
            <a:endParaRPr sz="1200">
              <a:solidFill>
                <a:schemeClr val="dk2"/>
              </a:solidFill>
            </a:endParaRPr>
          </a:p>
          <a:p>
            <a:pPr indent="0" lvl="0" marL="0" marR="118292" rtl="0" algn="l">
              <a:lnSpc>
                <a:spcPct val="115000"/>
              </a:lnSpc>
              <a:spcBef>
                <a:spcPts val="0"/>
              </a:spcBef>
              <a:spcAft>
                <a:spcPts val="0"/>
              </a:spcAft>
              <a:buNone/>
            </a:pPr>
            <a:r>
              <a:t/>
            </a:r>
            <a:endParaRPr i="1">
              <a:solidFill>
                <a:schemeClr val="dk2"/>
              </a:solidFill>
            </a:endParaRPr>
          </a:p>
        </p:txBody>
      </p:sp>
      <p:sp>
        <p:nvSpPr>
          <p:cNvPr id="1619" name="Google Shape;1619;p68"/>
          <p:cNvSpPr/>
          <p:nvPr/>
        </p:nvSpPr>
        <p:spPr>
          <a:xfrm>
            <a:off x="7028550" y="1190100"/>
            <a:ext cx="1704300" cy="3288900"/>
          </a:xfrm>
          <a:prstGeom prst="roundRect">
            <a:avLst>
              <a:gd fmla="val 6052" name="adj"/>
            </a:avLst>
          </a:prstGeom>
          <a:solidFill>
            <a:srgbClr val="E3F5EC"/>
          </a:solidFill>
          <a:ln>
            <a:noFill/>
          </a:ln>
        </p:spPr>
        <p:txBody>
          <a:bodyPr anchorCtr="0" anchor="t" bIns="34275" lIns="68575" spcFirstLastPara="1" rIns="68575" wrap="square" tIns="34275">
            <a:noAutofit/>
          </a:bodyPr>
          <a:lstStyle/>
          <a:p>
            <a:pPr indent="0" lvl="0" marL="180000" rtl="0" algn="l">
              <a:spcBef>
                <a:spcPts val="0"/>
              </a:spcBef>
              <a:spcAft>
                <a:spcPts val="0"/>
              </a:spcAft>
              <a:buNone/>
            </a:pPr>
            <a:r>
              <a:t/>
            </a:r>
            <a:endParaRPr b="1" sz="1200">
              <a:solidFill>
                <a:schemeClr val="accent1"/>
              </a:solidFill>
            </a:endParaRPr>
          </a:p>
          <a:p>
            <a:pPr indent="0" lvl="0" marL="180000" rtl="0" algn="l">
              <a:spcBef>
                <a:spcPts val="0"/>
              </a:spcBef>
              <a:spcAft>
                <a:spcPts val="0"/>
              </a:spcAft>
              <a:buNone/>
            </a:pPr>
            <a:r>
              <a:rPr b="1" lang="en-GB">
                <a:solidFill>
                  <a:srgbClr val="1A9D5C"/>
                </a:solidFill>
              </a:rPr>
              <a:t>Record on board</a:t>
            </a:r>
            <a:endParaRPr b="1">
              <a:solidFill>
                <a:srgbClr val="1A9D5C"/>
              </a:solidFill>
            </a:endParaRPr>
          </a:p>
          <a:p>
            <a:pPr indent="0" lvl="0" marL="180000" rtl="0" algn="l">
              <a:spcBef>
                <a:spcPts val="0"/>
              </a:spcBef>
              <a:spcAft>
                <a:spcPts val="0"/>
              </a:spcAft>
              <a:buNone/>
            </a:pPr>
            <a:r>
              <a:t/>
            </a:r>
            <a:endParaRPr b="1" sz="1200">
              <a:solidFill>
                <a:schemeClr val="accent1"/>
              </a:solidFill>
            </a:endParaRPr>
          </a:p>
          <a:p>
            <a:pPr indent="0" lvl="0" marL="180000" rtl="0" algn="l">
              <a:lnSpc>
                <a:spcPct val="115000"/>
              </a:lnSpc>
              <a:spcBef>
                <a:spcPts val="0"/>
              </a:spcBef>
              <a:spcAft>
                <a:spcPts val="0"/>
              </a:spcAft>
              <a:buNone/>
            </a:pPr>
            <a:r>
              <a:t/>
            </a:r>
            <a:endParaRPr sz="1600">
              <a:solidFill>
                <a:schemeClr val="dk1"/>
              </a:solidFill>
            </a:endParaRPr>
          </a:p>
        </p:txBody>
      </p:sp>
      <p:sp>
        <p:nvSpPr>
          <p:cNvPr id="1620" name="Google Shape;1620;p68"/>
          <p:cNvSpPr/>
          <p:nvPr/>
        </p:nvSpPr>
        <p:spPr>
          <a:xfrm>
            <a:off x="7344150" y="2201903"/>
            <a:ext cx="1073100" cy="342900"/>
          </a:xfrm>
          <a:prstGeom prst="roundRect">
            <a:avLst>
              <a:gd fmla="val 50000" name="adj"/>
            </a:avLst>
          </a:prstGeom>
          <a:solidFill>
            <a:srgbClr val="1A9D5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chemeClr val="lt1"/>
                </a:solidFill>
              </a:rPr>
              <a:t>SO ID</a:t>
            </a:r>
            <a:endParaRPr b="1">
              <a:solidFill>
                <a:schemeClr val="lt1"/>
              </a:solidFill>
            </a:endParaRPr>
          </a:p>
        </p:txBody>
      </p:sp>
      <p:sp>
        <p:nvSpPr>
          <p:cNvPr id="1621" name="Google Shape;1621;p68"/>
          <p:cNvSpPr/>
          <p:nvPr/>
        </p:nvSpPr>
        <p:spPr>
          <a:xfrm>
            <a:off x="7344150" y="2595439"/>
            <a:ext cx="1073100" cy="342900"/>
          </a:xfrm>
          <a:prstGeom prst="roundRect">
            <a:avLst>
              <a:gd fmla="val 50000" name="adj"/>
            </a:avLst>
          </a:prstGeom>
          <a:solidFill>
            <a:srgbClr val="1A9D5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chemeClr val="lt1"/>
                </a:solidFill>
              </a:rPr>
              <a:t>DN ID</a:t>
            </a:r>
            <a:endParaRPr b="1">
              <a:solidFill>
                <a:schemeClr val="lt1"/>
              </a:solidFill>
            </a:endParaRPr>
          </a:p>
        </p:txBody>
      </p:sp>
      <p:sp>
        <p:nvSpPr>
          <p:cNvPr id="1622" name="Google Shape;1622;p68"/>
          <p:cNvSpPr/>
          <p:nvPr/>
        </p:nvSpPr>
        <p:spPr>
          <a:xfrm>
            <a:off x="7344150" y="2988989"/>
            <a:ext cx="1073100" cy="342900"/>
          </a:xfrm>
          <a:prstGeom prst="roundRect">
            <a:avLst>
              <a:gd fmla="val 50000" name="adj"/>
            </a:avLst>
          </a:prstGeom>
          <a:solidFill>
            <a:srgbClr val="1A9D5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chemeClr val="lt1"/>
                </a:solidFill>
              </a:rPr>
              <a:t>SWO</a:t>
            </a:r>
            <a:r>
              <a:rPr b="1" lang="en-GB">
                <a:solidFill>
                  <a:schemeClr val="lt1"/>
                </a:solidFill>
              </a:rPr>
              <a:t> ID</a:t>
            </a:r>
            <a:endParaRPr b="1">
              <a:solidFill>
                <a:schemeClr val="lt1"/>
              </a:solidFill>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27" name="Shape 1627"/>
        <p:cNvGrpSpPr/>
        <p:nvPr/>
      </p:nvGrpSpPr>
      <p:grpSpPr>
        <a:xfrm>
          <a:off x="0" y="0"/>
          <a:ext cx="0" cy="0"/>
          <a:chOff x="0" y="0"/>
          <a:chExt cx="0" cy="0"/>
        </a:xfrm>
      </p:grpSpPr>
      <p:sp>
        <p:nvSpPr>
          <p:cNvPr id="1628" name="Google Shape;1628;p69"/>
          <p:cNvSpPr/>
          <p:nvPr/>
        </p:nvSpPr>
        <p:spPr>
          <a:xfrm>
            <a:off x="411502" y="260604"/>
            <a:ext cx="6858366"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MISSION CARDS · M9 OF 10</a:t>
            </a:r>
            <a:endParaRPr sz="800">
              <a:solidFill>
                <a:schemeClr val="dk1"/>
              </a:solidFill>
              <a:latin typeface="Calibri"/>
              <a:ea typeface="Calibri"/>
              <a:cs typeface="Calibri"/>
              <a:sym typeface="Calibri"/>
            </a:endParaRPr>
          </a:p>
        </p:txBody>
      </p:sp>
      <p:sp>
        <p:nvSpPr>
          <p:cNvPr id="1629" name="Google Shape;1629;p69"/>
          <p:cNvSpPr txBox="1"/>
          <p:nvPr>
            <p:ph idx="12" type="sldNum"/>
          </p:nvPr>
        </p:nvSpPr>
        <p:spPr>
          <a:xfrm>
            <a:off x="8347216" y="4750189"/>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630" name="Google Shape;1630;p69"/>
          <p:cNvSpPr/>
          <p:nvPr/>
        </p:nvSpPr>
        <p:spPr>
          <a:xfrm>
            <a:off x="411502" y="438912"/>
            <a:ext cx="8321400" cy="480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C2B3E"/>
              </a:buClr>
              <a:buSzPts val="2200"/>
              <a:buFont typeface="Arial"/>
              <a:buNone/>
            </a:pPr>
            <a:r>
              <a:rPr b="1" lang="en-GB" sz="2200">
                <a:solidFill>
                  <a:srgbClr val="1C2B3E"/>
                </a:solidFill>
                <a:latin typeface="Poppins"/>
                <a:ea typeface="Poppins"/>
                <a:cs typeface="Poppins"/>
                <a:sym typeface="Poppins"/>
              </a:rPr>
              <a:t>Mission 9: </a:t>
            </a:r>
            <a:r>
              <a:rPr b="1" lang="en-GB" sz="2200">
                <a:solidFill>
                  <a:srgbClr val="1C2B3E"/>
                </a:solidFill>
                <a:latin typeface="Poppins"/>
                <a:ea typeface="Poppins"/>
                <a:cs typeface="Poppins"/>
                <a:sym typeface="Poppins"/>
              </a:rPr>
              <a:t>Encik Rahman</a:t>
            </a:r>
            <a:endParaRPr b="1" sz="2200">
              <a:solidFill>
                <a:srgbClr val="1C2B3E"/>
              </a:solidFill>
              <a:latin typeface="Poppins"/>
              <a:ea typeface="Poppins"/>
              <a:cs typeface="Poppins"/>
              <a:sym typeface="Poppins"/>
            </a:endParaRPr>
          </a:p>
        </p:txBody>
      </p:sp>
      <p:sp>
        <p:nvSpPr>
          <p:cNvPr id="1631" name="Google Shape;1631;p69"/>
          <p:cNvSpPr/>
          <p:nvPr/>
        </p:nvSpPr>
        <p:spPr>
          <a:xfrm>
            <a:off x="411550" y="1190103"/>
            <a:ext cx="2704800" cy="3288900"/>
          </a:xfrm>
          <a:prstGeom prst="roundRect">
            <a:avLst>
              <a:gd fmla="val 6052" name="adj"/>
            </a:avLst>
          </a:prstGeom>
          <a:solidFill>
            <a:srgbClr val="E3E8EF"/>
          </a:solidFill>
          <a:ln cap="flat" cmpd="sng" w="9525">
            <a:solidFill>
              <a:srgbClr val="E3E8EF"/>
            </a:solidFill>
            <a:prstDash val="solid"/>
            <a:round/>
            <a:headEnd len="sm" w="sm" type="none"/>
            <a:tailEnd len="sm" w="sm" type="none"/>
          </a:ln>
        </p:spPr>
        <p:txBody>
          <a:bodyPr anchorCtr="0" anchor="t" bIns="34275" lIns="68575" spcFirstLastPara="1" rIns="287850" wrap="square" tIns="34275">
            <a:noAutofit/>
          </a:bodyPr>
          <a:lstStyle/>
          <a:p>
            <a:pPr indent="0" lvl="0" marL="180000" rtl="0" algn="l">
              <a:spcBef>
                <a:spcPts val="0"/>
              </a:spcBef>
              <a:spcAft>
                <a:spcPts val="0"/>
              </a:spcAft>
              <a:buNone/>
            </a:pPr>
            <a:r>
              <a:t/>
            </a:r>
            <a:endParaRPr b="1" sz="1200">
              <a:solidFill>
                <a:schemeClr val="accent1"/>
              </a:solidFill>
            </a:endParaRPr>
          </a:p>
          <a:p>
            <a:pPr indent="0" lvl="0" marL="180000" rtl="0" algn="l">
              <a:spcBef>
                <a:spcPts val="0"/>
              </a:spcBef>
              <a:spcAft>
                <a:spcPts val="0"/>
              </a:spcAft>
              <a:buNone/>
            </a:pPr>
            <a:r>
              <a:rPr b="1" lang="en-GB">
                <a:solidFill>
                  <a:srgbClr val="76889B"/>
                </a:solidFill>
              </a:rPr>
              <a:t>Scenario</a:t>
            </a:r>
            <a:endParaRPr b="1">
              <a:solidFill>
                <a:srgbClr val="5B6B7D"/>
              </a:solidFill>
            </a:endParaRPr>
          </a:p>
          <a:p>
            <a:pPr indent="0" lvl="0" marL="180000" rtl="0" algn="l">
              <a:spcBef>
                <a:spcPts val="0"/>
              </a:spcBef>
              <a:spcAft>
                <a:spcPts val="0"/>
              </a:spcAft>
              <a:buNone/>
            </a:pPr>
            <a:r>
              <a:t/>
            </a:r>
            <a:endParaRPr b="1" sz="1200">
              <a:solidFill>
                <a:schemeClr val="accent1"/>
              </a:solidFill>
            </a:endParaRPr>
          </a:p>
          <a:p>
            <a:pPr indent="0" lvl="0" marL="180000" marR="4652" rtl="0" algn="l">
              <a:lnSpc>
                <a:spcPct val="115000"/>
              </a:lnSpc>
              <a:spcBef>
                <a:spcPts val="0"/>
              </a:spcBef>
              <a:spcAft>
                <a:spcPts val="0"/>
              </a:spcAft>
              <a:buNone/>
            </a:pPr>
            <a:r>
              <a:rPr i="1" lang="en-GB" sz="1600">
                <a:solidFill>
                  <a:srgbClr val="1C2B3E"/>
                </a:solidFill>
              </a:rPr>
              <a:t>“Encik Rahman wants 80 tubs of House Sambal Paste. Check if you can make it before you say yes. He wants cash on delivery.”</a:t>
            </a:r>
            <a:endParaRPr i="1" sz="1600">
              <a:solidFill>
                <a:srgbClr val="1C2B3E"/>
              </a:solidFill>
            </a:endParaRPr>
          </a:p>
          <a:p>
            <a:pPr indent="0" lvl="0" marL="0" marR="4652" rtl="0" algn="l">
              <a:lnSpc>
                <a:spcPct val="115000"/>
              </a:lnSpc>
              <a:spcBef>
                <a:spcPts val="0"/>
              </a:spcBef>
              <a:spcAft>
                <a:spcPts val="0"/>
              </a:spcAft>
              <a:buNone/>
            </a:pPr>
            <a:r>
              <a:t/>
            </a:r>
            <a:endParaRPr i="1" sz="1600">
              <a:solidFill>
                <a:srgbClr val="1C2B3E"/>
              </a:solidFill>
            </a:endParaRPr>
          </a:p>
        </p:txBody>
      </p:sp>
      <p:sp>
        <p:nvSpPr>
          <p:cNvPr id="1632" name="Google Shape;1632;p69"/>
          <p:cNvSpPr/>
          <p:nvPr/>
        </p:nvSpPr>
        <p:spPr>
          <a:xfrm>
            <a:off x="3219650" y="1190100"/>
            <a:ext cx="3705600" cy="3288900"/>
          </a:xfrm>
          <a:prstGeom prst="roundRect">
            <a:avLst>
              <a:gd fmla="val 6052" name="adj"/>
            </a:avLst>
          </a:prstGeom>
          <a:solidFill>
            <a:srgbClr val="FBEBD9"/>
          </a:solidFill>
          <a:ln cap="flat" cmpd="sng" w="9525">
            <a:solidFill>
              <a:schemeClr val="accent2"/>
            </a:solidFill>
            <a:prstDash val="solid"/>
            <a:round/>
            <a:headEnd len="sm" w="sm" type="none"/>
            <a:tailEnd len="sm" w="sm" type="none"/>
          </a:ln>
        </p:spPr>
        <p:txBody>
          <a:bodyPr anchorCtr="0" anchor="t" bIns="34275" lIns="68575" spcFirstLastPara="1" rIns="68575" wrap="square" tIns="34275">
            <a:noAutofit/>
          </a:bodyPr>
          <a:lstStyle/>
          <a:p>
            <a:pPr indent="0" lvl="0" marL="180000" marR="118292" rtl="0" algn="l">
              <a:spcBef>
                <a:spcPts val="0"/>
              </a:spcBef>
              <a:spcAft>
                <a:spcPts val="0"/>
              </a:spcAft>
              <a:buNone/>
            </a:pPr>
            <a:r>
              <a:t/>
            </a:r>
            <a:endParaRPr b="1" sz="1200">
              <a:solidFill>
                <a:schemeClr val="accent1"/>
              </a:solidFill>
            </a:endParaRPr>
          </a:p>
          <a:p>
            <a:pPr indent="0" lvl="0" marL="180000" marR="118292" rtl="0" algn="l">
              <a:lnSpc>
                <a:spcPct val="115000"/>
              </a:lnSpc>
              <a:spcBef>
                <a:spcPts val="0"/>
              </a:spcBef>
              <a:spcAft>
                <a:spcPts val="0"/>
              </a:spcAft>
              <a:buNone/>
            </a:pPr>
            <a:r>
              <a:rPr lang="en-GB" sz="1200">
                <a:solidFill>
                  <a:schemeClr val="dk2"/>
                </a:solidFill>
              </a:rPr>
              <a:t>Order arrives as</a:t>
            </a:r>
            <a:endParaRPr sz="1200">
              <a:solidFill>
                <a:schemeClr val="dk2"/>
              </a:solidFill>
            </a:endParaRPr>
          </a:p>
          <a:p>
            <a:pPr indent="0" lvl="0" marL="180000" marR="118292" rtl="0" algn="l">
              <a:lnSpc>
                <a:spcPct val="115000"/>
              </a:lnSpc>
              <a:spcBef>
                <a:spcPts val="0"/>
              </a:spcBef>
              <a:spcAft>
                <a:spcPts val="0"/>
              </a:spcAft>
              <a:buNone/>
            </a:pPr>
            <a:r>
              <a:rPr b="1" lang="en-GB" sz="1600">
                <a:solidFill>
                  <a:schemeClr val="accent1"/>
                </a:solidFill>
              </a:rPr>
              <a:t>Malay COD WhatsApp request</a:t>
            </a:r>
            <a:endParaRPr b="1" sz="1600">
              <a:solidFill>
                <a:schemeClr val="accent1"/>
              </a:solidFill>
            </a:endParaRPr>
          </a:p>
          <a:p>
            <a:pPr indent="0" lvl="0" marL="180000" marR="118292" rtl="0" algn="l">
              <a:lnSpc>
                <a:spcPct val="115000"/>
              </a:lnSpc>
              <a:spcBef>
                <a:spcPts val="0"/>
              </a:spcBef>
              <a:spcAft>
                <a:spcPts val="0"/>
              </a:spcAft>
              <a:buNone/>
            </a:pPr>
            <a:r>
              <a:t/>
            </a:r>
            <a:endParaRPr b="1" sz="1200">
              <a:solidFill>
                <a:schemeClr val="dk2"/>
              </a:solidFill>
            </a:endParaRPr>
          </a:p>
          <a:p>
            <a:pPr indent="-317500" lvl="0" marL="630000" marR="118292" rtl="0" algn="l">
              <a:lnSpc>
                <a:spcPct val="115000"/>
              </a:lnSpc>
              <a:spcBef>
                <a:spcPts val="0"/>
              </a:spcBef>
              <a:spcAft>
                <a:spcPts val="0"/>
              </a:spcAft>
              <a:buClr>
                <a:schemeClr val="dk2"/>
              </a:buClr>
              <a:buSzPts val="1400"/>
              <a:buChar char="●"/>
            </a:pPr>
            <a:r>
              <a:rPr lang="en-GB">
                <a:solidFill>
                  <a:schemeClr val="dk2"/>
                </a:solidFill>
              </a:rPr>
              <a:t>Quote: “bro nak 80 tub sambal paste, boleh? nak COD”</a:t>
            </a:r>
            <a:endParaRPr>
              <a:solidFill>
                <a:schemeClr val="dk2"/>
              </a:solidFill>
            </a:endParaRPr>
          </a:p>
          <a:p>
            <a:pPr indent="0" lvl="0" marL="0" marR="118292" rtl="0" algn="l">
              <a:lnSpc>
                <a:spcPct val="115000"/>
              </a:lnSpc>
              <a:spcBef>
                <a:spcPts val="1000"/>
              </a:spcBef>
              <a:spcAft>
                <a:spcPts val="0"/>
              </a:spcAft>
              <a:buNone/>
            </a:pPr>
            <a:r>
              <a:t/>
            </a:r>
            <a:endParaRPr sz="1200">
              <a:solidFill>
                <a:schemeClr val="dk2"/>
              </a:solidFill>
            </a:endParaRPr>
          </a:p>
          <a:p>
            <a:pPr indent="0" lvl="0" marL="0" marR="118292" rtl="0" algn="l">
              <a:lnSpc>
                <a:spcPct val="115000"/>
              </a:lnSpc>
              <a:spcBef>
                <a:spcPts val="0"/>
              </a:spcBef>
              <a:spcAft>
                <a:spcPts val="0"/>
              </a:spcAft>
              <a:buNone/>
            </a:pPr>
            <a:r>
              <a:t/>
            </a:r>
            <a:endParaRPr i="1">
              <a:solidFill>
                <a:schemeClr val="dk2"/>
              </a:solidFill>
            </a:endParaRPr>
          </a:p>
        </p:txBody>
      </p:sp>
      <p:sp>
        <p:nvSpPr>
          <p:cNvPr id="1633" name="Google Shape;1633;p69"/>
          <p:cNvSpPr/>
          <p:nvPr/>
        </p:nvSpPr>
        <p:spPr>
          <a:xfrm>
            <a:off x="7028550" y="1190100"/>
            <a:ext cx="1704300" cy="3288900"/>
          </a:xfrm>
          <a:prstGeom prst="roundRect">
            <a:avLst>
              <a:gd fmla="val 6052" name="adj"/>
            </a:avLst>
          </a:prstGeom>
          <a:solidFill>
            <a:srgbClr val="E3F5EC"/>
          </a:solidFill>
          <a:ln>
            <a:noFill/>
          </a:ln>
        </p:spPr>
        <p:txBody>
          <a:bodyPr anchorCtr="0" anchor="t" bIns="34275" lIns="68575" spcFirstLastPara="1" rIns="68575" wrap="square" tIns="34275">
            <a:noAutofit/>
          </a:bodyPr>
          <a:lstStyle/>
          <a:p>
            <a:pPr indent="0" lvl="0" marL="180000" rtl="0" algn="l">
              <a:spcBef>
                <a:spcPts val="0"/>
              </a:spcBef>
              <a:spcAft>
                <a:spcPts val="0"/>
              </a:spcAft>
              <a:buNone/>
            </a:pPr>
            <a:r>
              <a:t/>
            </a:r>
            <a:endParaRPr b="1" sz="1200">
              <a:solidFill>
                <a:schemeClr val="accent1"/>
              </a:solidFill>
            </a:endParaRPr>
          </a:p>
          <a:p>
            <a:pPr indent="0" lvl="0" marL="180000" rtl="0" algn="l">
              <a:spcBef>
                <a:spcPts val="0"/>
              </a:spcBef>
              <a:spcAft>
                <a:spcPts val="0"/>
              </a:spcAft>
              <a:buNone/>
            </a:pPr>
            <a:r>
              <a:rPr b="1" lang="en-GB">
                <a:solidFill>
                  <a:srgbClr val="1A9D5C"/>
                </a:solidFill>
              </a:rPr>
              <a:t>Record on board</a:t>
            </a:r>
            <a:endParaRPr b="1">
              <a:solidFill>
                <a:srgbClr val="1A9D5C"/>
              </a:solidFill>
            </a:endParaRPr>
          </a:p>
          <a:p>
            <a:pPr indent="0" lvl="0" marL="180000" rtl="0" algn="l">
              <a:spcBef>
                <a:spcPts val="0"/>
              </a:spcBef>
              <a:spcAft>
                <a:spcPts val="0"/>
              </a:spcAft>
              <a:buNone/>
            </a:pPr>
            <a:r>
              <a:t/>
            </a:r>
            <a:endParaRPr b="1" sz="1200">
              <a:solidFill>
                <a:schemeClr val="accent1"/>
              </a:solidFill>
            </a:endParaRPr>
          </a:p>
          <a:p>
            <a:pPr indent="0" lvl="0" marL="180000" rtl="0" algn="l">
              <a:lnSpc>
                <a:spcPct val="115000"/>
              </a:lnSpc>
              <a:spcBef>
                <a:spcPts val="0"/>
              </a:spcBef>
              <a:spcAft>
                <a:spcPts val="0"/>
              </a:spcAft>
              <a:buNone/>
            </a:pPr>
            <a:r>
              <a:t/>
            </a:r>
            <a:endParaRPr sz="1600">
              <a:solidFill>
                <a:schemeClr val="dk1"/>
              </a:solidFill>
            </a:endParaRPr>
          </a:p>
        </p:txBody>
      </p:sp>
      <p:sp>
        <p:nvSpPr>
          <p:cNvPr id="1634" name="Google Shape;1634;p69"/>
          <p:cNvSpPr/>
          <p:nvPr/>
        </p:nvSpPr>
        <p:spPr>
          <a:xfrm>
            <a:off x="7344150" y="2201903"/>
            <a:ext cx="1073100" cy="342900"/>
          </a:xfrm>
          <a:prstGeom prst="roundRect">
            <a:avLst>
              <a:gd fmla="val 50000" name="adj"/>
            </a:avLst>
          </a:prstGeom>
          <a:solidFill>
            <a:srgbClr val="1A9D5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chemeClr val="lt1"/>
                </a:solidFill>
              </a:rPr>
              <a:t>SO ID</a:t>
            </a:r>
            <a:endParaRPr b="1">
              <a:solidFill>
                <a:schemeClr val="lt1"/>
              </a:solidFill>
            </a:endParaRPr>
          </a:p>
        </p:txBody>
      </p:sp>
      <p:sp>
        <p:nvSpPr>
          <p:cNvPr id="1635" name="Google Shape;1635;p69"/>
          <p:cNvSpPr/>
          <p:nvPr/>
        </p:nvSpPr>
        <p:spPr>
          <a:xfrm>
            <a:off x="7344150" y="2595439"/>
            <a:ext cx="1073100" cy="342900"/>
          </a:xfrm>
          <a:prstGeom prst="roundRect">
            <a:avLst>
              <a:gd fmla="val 50000" name="adj"/>
            </a:avLst>
          </a:prstGeom>
          <a:solidFill>
            <a:srgbClr val="1A9D5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chemeClr val="lt1"/>
                </a:solidFill>
              </a:rPr>
              <a:t>DN ID</a:t>
            </a:r>
            <a:endParaRPr b="1">
              <a:solidFill>
                <a:schemeClr val="lt1"/>
              </a:solidFill>
            </a:endParaRPr>
          </a:p>
        </p:txBody>
      </p:sp>
      <p:sp>
        <p:nvSpPr>
          <p:cNvPr id="1636" name="Google Shape;1636;p69"/>
          <p:cNvSpPr/>
          <p:nvPr/>
        </p:nvSpPr>
        <p:spPr>
          <a:xfrm>
            <a:off x="7344150" y="3476051"/>
            <a:ext cx="1073100" cy="342900"/>
          </a:xfrm>
          <a:prstGeom prst="roundRect">
            <a:avLst>
              <a:gd fmla="val 14676" name="adj"/>
            </a:avLst>
          </a:prstGeom>
          <a:solidFill>
            <a:srgbClr val="1A9D5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900">
                <a:solidFill>
                  <a:schemeClr val="lt1"/>
                </a:solidFill>
              </a:rPr>
              <a:t>Checked availability?</a:t>
            </a:r>
            <a:endParaRPr b="1" sz="900">
              <a:solidFill>
                <a:schemeClr val="lt1"/>
              </a:solidFill>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41" name="Shape 1641"/>
        <p:cNvGrpSpPr/>
        <p:nvPr/>
      </p:nvGrpSpPr>
      <p:grpSpPr>
        <a:xfrm>
          <a:off x="0" y="0"/>
          <a:ext cx="0" cy="0"/>
          <a:chOff x="0" y="0"/>
          <a:chExt cx="0" cy="0"/>
        </a:xfrm>
      </p:grpSpPr>
      <p:sp>
        <p:nvSpPr>
          <p:cNvPr id="1642" name="Google Shape;1642;p70"/>
          <p:cNvSpPr/>
          <p:nvPr/>
        </p:nvSpPr>
        <p:spPr>
          <a:xfrm>
            <a:off x="411502" y="260604"/>
            <a:ext cx="6858366"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MISSION CARDS · M10 OF 10</a:t>
            </a:r>
            <a:endParaRPr sz="800">
              <a:solidFill>
                <a:schemeClr val="dk1"/>
              </a:solidFill>
              <a:latin typeface="Calibri"/>
              <a:ea typeface="Calibri"/>
              <a:cs typeface="Calibri"/>
              <a:sym typeface="Calibri"/>
            </a:endParaRPr>
          </a:p>
        </p:txBody>
      </p:sp>
      <p:sp>
        <p:nvSpPr>
          <p:cNvPr id="1643" name="Google Shape;1643;p70"/>
          <p:cNvSpPr/>
          <p:nvPr/>
        </p:nvSpPr>
        <p:spPr>
          <a:xfrm>
            <a:off x="8033204" y="308610"/>
            <a:ext cx="699553" cy="274320"/>
          </a:xfrm>
          <a:prstGeom prst="roundRect">
            <a:avLst>
              <a:gd fmla="val 50000"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44" name="Google Shape;1644;p70"/>
          <p:cNvSpPr/>
          <p:nvPr/>
        </p:nvSpPr>
        <p:spPr>
          <a:xfrm>
            <a:off x="8033204" y="308610"/>
            <a:ext cx="699553"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Arial"/>
              <a:buNone/>
            </a:pPr>
            <a:r>
              <a:rPr b="1" lang="en-GB" sz="900">
                <a:solidFill>
                  <a:srgbClr val="FFFFFF"/>
                </a:solidFill>
                <a:latin typeface="Arial"/>
                <a:ea typeface="Arial"/>
                <a:cs typeface="Arial"/>
                <a:sym typeface="Arial"/>
              </a:rPr>
              <a:t>BOSS</a:t>
            </a:r>
            <a:endParaRPr sz="900">
              <a:solidFill>
                <a:schemeClr val="dk1"/>
              </a:solidFill>
              <a:latin typeface="Calibri"/>
              <a:ea typeface="Calibri"/>
              <a:cs typeface="Calibri"/>
              <a:sym typeface="Calibri"/>
            </a:endParaRPr>
          </a:p>
        </p:txBody>
      </p:sp>
      <p:sp>
        <p:nvSpPr>
          <p:cNvPr id="1645" name="Google Shape;1645;p70"/>
          <p:cNvSpPr txBox="1"/>
          <p:nvPr>
            <p:ph idx="12" type="sldNum"/>
          </p:nvPr>
        </p:nvSpPr>
        <p:spPr>
          <a:xfrm>
            <a:off x="8347216" y="4750189"/>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646" name="Google Shape;1646;p70"/>
          <p:cNvSpPr/>
          <p:nvPr/>
        </p:nvSpPr>
        <p:spPr>
          <a:xfrm>
            <a:off x="411502" y="438912"/>
            <a:ext cx="8321400" cy="480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C2B3E"/>
              </a:buClr>
              <a:buSzPts val="2200"/>
              <a:buFont typeface="Arial"/>
              <a:buNone/>
            </a:pPr>
            <a:r>
              <a:rPr b="1" lang="en-GB" sz="2200">
                <a:solidFill>
                  <a:srgbClr val="1C2B3E"/>
                </a:solidFill>
                <a:latin typeface="Poppins"/>
                <a:ea typeface="Poppins"/>
                <a:cs typeface="Poppins"/>
                <a:sym typeface="Poppins"/>
              </a:rPr>
              <a:t>Mission 10: </a:t>
            </a:r>
            <a:r>
              <a:rPr b="1" lang="en-GB" sz="2200">
                <a:solidFill>
                  <a:srgbClr val="1C2B3E"/>
                </a:solidFill>
                <a:latin typeface="Poppins"/>
                <a:ea typeface="Poppins"/>
                <a:cs typeface="Poppins"/>
                <a:sym typeface="Poppins"/>
              </a:rPr>
              <a:t>Bintang Mart Sdn Bhd</a:t>
            </a:r>
            <a:endParaRPr b="1" sz="2200">
              <a:solidFill>
                <a:srgbClr val="1C2B3E"/>
              </a:solidFill>
              <a:latin typeface="Poppins"/>
              <a:ea typeface="Poppins"/>
              <a:cs typeface="Poppins"/>
              <a:sym typeface="Poppins"/>
            </a:endParaRPr>
          </a:p>
        </p:txBody>
      </p:sp>
      <p:sp>
        <p:nvSpPr>
          <p:cNvPr id="1647" name="Google Shape;1647;p70"/>
          <p:cNvSpPr/>
          <p:nvPr/>
        </p:nvSpPr>
        <p:spPr>
          <a:xfrm>
            <a:off x="411550" y="1190103"/>
            <a:ext cx="2704800" cy="3288900"/>
          </a:xfrm>
          <a:prstGeom prst="roundRect">
            <a:avLst>
              <a:gd fmla="val 6052" name="adj"/>
            </a:avLst>
          </a:prstGeom>
          <a:solidFill>
            <a:srgbClr val="E3E8EF"/>
          </a:solidFill>
          <a:ln cap="flat" cmpd="sng" w="9525">
            <a:solidFill>
              <a:srgbClr val="E3E8EF"/>
            </a:solidFill>
            <a:prstDash val="solid"/>
            <a:round/>
            <a:headEnd len="sm" w="sm" type="none"/>
            <a:tailEnd len="sm" w="sm" type="none"/>
          </a:ln>
        </p:spPr>
        <p:txBody>
          <a:bodyPr anchorCtr="0" anchor="t" bIns="34275" lIns="68575" spcFirstLastPara="1" rIns="287850" wrap="square" tIns="34275">
            <a:noAutofit/>
          </a:bodyPr>
          <a:lstStyle/>
          <a:p>
            <a:pPr indent="0" lvl="0" marL="180000" rtl="0" algn="l">
              <a:spcBef>
                <a:spcPts val="0"/>
              </a:spcBef>
              <a:spcAft>
                <a:spcPts val="0"/>
              </a:spcAft>
              <a:buNone/>
            </a:pPr>
            <a:r>
              <a:t/>
            </a:r>
            <a:endParaRPr b="1" sz="1200">
              <a:solidFill>
                <a:schemeClr val="accent1"/>
              </a:solidFill>
            </a:endParaRPr>
          </a:p>
          <a:p>
            <a:pPr indent="0" lvl="0" marL="180000" rtl="0" algn="l">
              <a:spcBef>
                <a:spcPts val="0"/>
              </a:spcBef>
              <a:spcAft>
                <a:spcPts val="0"/>
              </a:spcAft>
              <a:buNone/>
            </a:pPr>
            <a:r>
              <a:rPr b="1" lang="en-GB">
                <a:solidFill>
                  <a:srgbClr val="76889B"/>
                </a:solidFill>
              </a:rPr>
              <a:t>Scenario</a:t>
            </a:r>
            <a:endParaRPr b="1">
              <a:solidFill>
                <a:srgbClr val="5B6B7D"/>
              </a:solidFill>
            </a:endParaRPr>
          </a:p>
          <a:p>
            <a:pPr indent="0" lvl="0" marL="180000" rtl="0" algn="l">
              <a:spcBef>
                <a:spcPts val="0"/>
              </a:spcBef>
              <a:spcAft>
                <a:spcPts val="0"/>
              </a:spcAft>
              <a:buNone/>
            </a:pPr>
            <a:r>
              <a:t/>
            </a:r>
            <a:endParaRPr b="1" sz="1200">
              <a:solidFill>
                <a:schemeClr val="accent1"/>
              </a:solidFill>
            </a:endParaRPr>
          </a:p>
          <a:p>
            <a:pPr indent="0" lvl="0" marL="180000" marR="4652" rtl="0" algn="l">
              <a:lnSpc>
                <a:spcPct val="115000"/>
              </a:lnSpc>
              <a:spcBef>
                <a:spcPts val="0"/>
              </a:spcBef>
              <a:spcAft>
                <a:spcPts val="0"/>
              </a:spcAft>
              <a:buNone/>
            </a:pPr>
            <a:r>
              <a:rPr i="1" lang="en-GB" sz="1600">
                <a:solidFill>
                  <a:srgbClr val="1C2B3E"/>
                </a:solidFill>
              </a:rPr>
              <a:t>“Big order. Read it carefully. There's a mapping issue. One item is short. Process what you can — and when the delivery hits a problem, handle it.”</a:t>
            </a:r>
            <a:endParaRPr i="1" sz="1600">
              <a:solidFill>
                <a:srgbClr val="1C2B3E"/>
              </a:solidFill>
            </a:endParaRPr>
          </a:p>
          <a:p>
            <a:pPr indent="0" lvl="0" marL="0" marR="4652" rtl="0" algn="l">
              <a:lnSpc>
                <a:spcPct val="115000"/>
              </a:lnSpc>
              <a:spcBef>
                <a:spcPts val="0"/>
              </a:spcBef>
              <a:spcAft>
                <a:spcPts val="0"/>
              </a:spcAft>
              <a:buNone/>
            </a:pPr>
            <a:r>
              <a:t/>
            </a:r>
            <a:endParaRPr i="1" sz="1600">
              <a:solidFill>
                <a:srgbClr val="1C2B3E"/>
              </a:solidFill>
            </a:endParaRPr>
          </a:p>
          <a:p>
            <a:pPr indent="0" lvl="0" marL="0" marR="4652" rtl="0" algn="l">
              <a:lnSpc>
                <a:spcPct val="115000"/>
              </a:lnSpc>
              <a:spcBef>
                <a:spcPts val="0"/>
              </a:spcBef>
              <a:spcAft>
                <a:spcPts val="0"/>
              </a:spcAft>
              <a:buNone/>
            </a:pPr>
            <a:r>
              <a:t/>
            </a:r>
            <a:endParaRPr i="1" sz="1600">
              <a:solidFill>
                <a:srgbClr val="1C2B3E"/>
              </a:solidFill>
            </a:endParaRPr>
          </a:p>
        </p:txBody>
      </p:sp>
      <p:sp>
        <p:nvSpPr>
          <p:cNvPr id="1648" name="Google Shape;1648;p70"/>
          <p:cNvSpPr/>
          <p:nvPr/>
        </p:nvSpPr>
        <p:spPr>
          <a:xfrm>
            <a:off x="3219650" y="1190100"/>
            <a:ext cx="3705600" cy="3288900"/>
          </a:xfrm>
          <a:prstGeom prst="roundRect">
            <a:avLst>
              <a:gd fmla="val 6052" name="adj"/>
            </a:avLst>
          </a:prstGeom>
          <a:solidFill>
            <a:srgbClr val="FBEBD9"/>
          </a:solidFill>
          <a:ln cap="flat" cmpd="sng" w="9525">
            <a:solidFill>
              <a:schemeClr val="accent2"/>
            </a:solidFill>
            <a:prstDash val="solid"/>
            <a:round/>
            <a:headEnd len="sm" w="sm" type="none"/>
            <a:tailEnd len="sm" w="sm" type="none"/>
          </a:ln>
        </p:spPr>
        <p:txBody>
          <a:bodyPr anchorCtr="0" anchor="t" bIns="34275" lIns="68575" spcFirstLastPara="1" rIns="68575" wrap="square" tIns="34275">
            <a:noAutofit/>
          </a:bodyPr>
          <a:lstStyle/>
          <a:p>
            <a:pPr indent="0" lvl="0" marL="180000" marR="118292" rtl="0" algn="l">
              <a:spcBef>
                <a:spcPts val="0"/>
              </a:spcBef>
              <a:spcAft>
                <a:spcPts val="0"/>
              </a:spcAft>
              <a:buNone/>
            </a:pPr>
            <a:r>
              <a:t/>
            </a:r>
            <a:endParaRPr b="1" sz="1200">
              <a:solidFill>
                <a:schemeClr val="accent1"/>
              </a:solidFill>
            </a:endParaRPr>
          </a:p>
          <a:p>
            <a:pPr indent="0" lvl="0" marL="180000" marR="118292" rtl="0" algn="l">
              <a:lnSpc>
                <a:spcPct val="115000"/>
              </a:lnSpc>
              <a:spcBef>
                <a:spcPts val="0"/>
              </a:spcBef>
              <a:spcAft>
                <a:spcPts val="0"/>
              </a:spcAft>
              <a:buNone/>
            </a:pPr>
            <a:r>
              <a:rPr lang="en-GB" sz="1200">
                <a:solidFill>
                  <a:schemeClr val="dk2"/>
                </a:solidFill>
              </a:rPr>
              <a:t>Order arrives as</a:t>
            </a:r>
            <a:endParaRPr sz="1200">
              <a:solidFill>
                <a:schemeClr val="dk2"/>
              </a:solidFill>
            </a:endParaRPr>
          </a:p>
          <a:p>
            <a:pPr indent="0" lvl="0" marL="180000" marR="118292" rtl="0" algn="l">
              <a:lnSpc>
                <a:spcPct val="115000"/>
              </a:lnSpc>
              <a:spcBef>
                <a:spcPts val="0"/>
              </a:spcBef>
              <a:spcAft>
                <a:spcPts val="0"/>
              </a:spcAft>
              <a:buNone/>
            </a:pPr>
            <a:r>
              <a:rPr b="1" lang="en-GB" sz="1600">
                <a:solidFill>
                  <a:schemeClr val="accent1"/>
                </a:solidFill>
              </a:rPr>
              <a:t>PDF PO + buyer correction</a:t>
            </a:r>
            <a:endParaRPr b="1" sz="1600">
              <a:solidFill>
                <a:schemeClr val="accent1"/>
              </a:solidFill>
            </a:endParaRPr>
          </a:p>
          <a:p>
            <a:pPr indent="0" lvl="0" marL="180000" marR="118292" rtl="0" algn="l">
              <a:lnSpc>
                <a:spcPct val="115000"/>
              </a:lnSpc>
              <a:spcBef>
                <a:spcPts val="0"/>
              </a:spcBef>
              <a:spcAft>
                <a:spcPts val="0"/>
              </a:spcAft>
              <a:buNone/>
            </a:pPr>
            <a:r>
              <a:t/>
            </a:r>
            <a:endParaRPr b="1" sz="1200">
              <a:solidFill>
                <a:schemeClr val="dk2"/>
              </a:solidFill>
            </a:endParaRPr>
          </a:p>
          <a:p>
            <a:pPr indent="-317500" lvl="0" marL="630000" marR="118292" rtl="0" algn="l">
              <a:lnSpc>
                <a:spcPct val="100000"/>
              </a:lnSpc>
              <a:spcBef>
                <a:spcPts val="0"/>
              </a:spcBef>
              <a:spcAft>
                <a:spcPts val="0"/>
              </a:spcAft>
              <a:buClr>
                <a:schemeClr val="dk2"/>
              </a:buClr>
              <a:buSzPts val="1400"/>
              <a:buChar char="●"/>
            </a:pPr>
            <a:r>
              <a:rPr lang="en-GB">
                <a:solidFill>
                  <a:schemeClr val="dk2"/>
                </a:solidFill>
              </a:rPr>
              <a:t>Cooking Oil × 30 ✓</a:t>
            </a:r>
            <a:endParaRPr>
              <a:solidFill>
                <a:schemeClr val="dk2"/>
              </a:solidFill>
            </a:endParaRPr>
          </a:p>
          <a:p>
            <a:pPr indent="-317500" lvl="0" marL="630000" marR="118292" rtl="0" algn="l">
              <a:lnSpc>
                <a:spcPct val="100000"/>
              </a:lnSpc>
              <a:spcBef>
                <a:spcPts val="1000"/>
              </a:spcBef>
              <a:spcAft>
                <a:spcPts val="0"/>
              </a:spcAft>
              <a:buClr>
                <a:schemeClr val="dk2"/>
              </a:buClr>
              <a:buSzPts val="1400"/>
              <a:buChar char="●"/>
            </a:pPr>
            <a:r>
              <a:rPr lang="en-GB">
                <a:solidFill>
                  <a:schemeClr val="dk2"/>
                </a:solidFill>
              </a:rPr>
              <a:t>Jasmine Rice × 20 ✓</a:t>
            </a:r>
            <a:endParaRPr>
              <a:solidFill>
                <a:schemeClr val="dk2"/>
              </a:solidFill>
            </a:endParaRPr>
          </a:p>
          <a:p>
            <a:pPr indent="-317500" lvl="0" marL="630000" marR="118292" rtl="0" algn="l">
              <a:lnSpc>
                <a:spcPct val="100000"/>
              </a:lnSpc>
              <a:spcBef>
                <a:spcPts val="1000"/>
              </a:spcBef>
              <a:spcAft>
                <a:spcPts val="0"/>
              </a:spcAft>
              <a:buClr>
                <a:schemeClr val="dk2"/>
              </a:buClr>
              <a:buSzPts val="1400"/>
              <a:buChar char="●"/>
            </a:pPr>
            <a:r>
              <a:rPr lang="en-GB">
                <a:solidFill>
                  <a:schemeClr val="dk2"/>
                </a:solidFill>
              </a:rPr>
              <a:t>Soy Sauce × 15 cartons — “kicap halus” (low-confidence)</a:t>
            </a:r>
            <a:endParaRPr>
              <a:solidFill>
                <a:schemeClr val="dk2"/>
              </a:solidFill>
            </a:endParaRPr>
          </a:p>
          <a:p>
            <a:pPr indent="-317500" lvl="0" marL="630000" marR="118292" rtl="0" algn="l">
              <a:lnSpc>
                <a:spcPct val="100000"/>
              </a:lnSpc>
              <a:spcBef>
                <a:spcPts val="1000"/>
              </a:spcBef>
              <a:spcAft>
                <a:spcPts val="0"/>
              </a:spcAft>
              <a:buClr>
                <a:schemeClr val="dk2"/>
              </a:buClr>
              <a:buSzPts val="1400"/>
              <a:buChar char="●"/>
            </a:pPr>
            <a:r>
              <a:rPr lang="en-GB">
                <a:solidFill>
                  <a:schemeClr val="dk2"/>
                </a:solidFill>
              </a:rPr>
              <a:t>Beef Stock Concentrate × 10 — only 6 available</a:t>
            </a:r>
            <a:endParaRPr>
              <a:solidFill>
                <a:schemeClr val="dk2"/>
              </a:solidFill>
            </a:endParaRPr>
          </a:p>
          <a:p>
            <a:pPr indent="-317500" lvl="0" marL="630000" marR="118292" rtl="0" algn="l">
              <a:lnSpc>
                <a:spcPct val="100000"/>
              </a:lnSpc>
              <a:spcBef>
                <a:spcPts val="1000"/>
              </a:spcBef>
              <a:spcAft>
                <a:spcPts val="0"/>
              </a:spcAft>
              <a:buClr>
                <a:schemeClr val="dk2"/>
              </a:buClr>
              <a:buSzPts val="1400"/>
              <a:buChar char="●"/>
            </a:pPr>
            <a:r>
              <a:rPr lang="en-GB">
                <a:solidFill>
                  <a:schemeClr val="dk2"/>
                </a:solidFill>
              </a:rPr>
              <a:t>Outstation Delivery Charge × 1 ✓</a:t>
            </a:r>
            <a:endParaRPr>
              <a:solidFill>
                <a:schemeClr val="dk2"/>
              </a:solidFill>
            </a:endParaRPr>
          </a:p>
          <a:p>
            <a:pPr indent="0" lvl="0" marL="0" marR="118292" rtl="0" algn="l">
              <a:lnSpc>
                <a:spcPct val="115000"/>
              </a:lnSpc>
              <a:spcBef>
                <a:spcPts val="1000"/>
              </a:spcBef>
              <a:spcAft>
                <a:spcPts val="0"/>
              </a:spcAft>
              <a:buNone/>
            </a:pPr>
            <a:r>
              <a:t/>
            </a:r>
            <a:endParaRPr sz="1200">
              <a:solidFill>
                <a:schemeClr val="dk2"/>
              </a:solidFill>
            </a:endParaRPr>
          </a:p>
          <a:p>
            <a:pPr indent="0" lvl="0" marL="0" marR="118292" rtl="0" algn="l">
              <a:lnSpc>
                <a:spcPct val="115000"/>
              </a:lnSpc>
              <a:spcBef>
                <a:spcPts val="0"/>
              </a:spcBef>
              <a:spcAft>
                <a:spcPts val="0"/>
              </a:spcAft>
              <a:buNone/>
            </a:pPr>
            <a:r>
              <a:t/>
            </a:r>
            <a:endParaRPr i="1">
              <a:solidFill>
                <a:schemeClr val="dk2"/>
              </a:solidFill>
            </a:endParaRPr>
          </a:p>
        </p:txBody>
      </p:sp>
      <p:sp>
        <p:nvSpPr>
          <p:cNvPr id="1649" name="Google Shape;1649;p70"/>
          <p:cNvSpPr/>
          <p:nvPr/>
        </p:nvSpPr>
        <p:spPr>
          <a:xfrm>
            <a:off x="7028550" y="1190100"/>
            <a:ext cx="1704300" cy="3288900"/>
          </a:xfrm>
          <a:prstGeom prst="roundRect">
            <a:avLst>
              <a:gd fmla="val 6052" name="adj"/>
            </a:avLst>
          </a:prstGeom>
          <a:solidFill>
            <a:srgbClr val="E3F5EC"/>
          </a:solidFill>
          <a:ln>
            <a:noFill/>
          </a:ln>
        </p:spPr>
        <p:txBody>
          <a:bodyPr anchorCtr="0" anchor="t" bIns="34275" lIns="68575" spcFirstLastPara="1" rIns="68575" wrap="square" tIns="34275">
            <a:noAutofit/>
          </a:bodyPr>
          <a:lstStyle/>
          <a:p>
            <a:pPr indent="0" lvl="0" marL="180000" rtl="0" algn="l">
              <a:spcBef>
                <a:spcPts val="0"/>
              </a:spcBef>
              <a:spcAft>
                <a:spcPts val="0"/>
              </a:spcAft>
              <a:buNone/>
            </a:pPr>
            <a:r>
              <a:t/>
            </a:r>
            <a:endParaRPr b="1" sz="1200">
              <a:solidFill>
                <a:schemeClr val="accent1"/>
              </a:solidFill>
            </a:endParaRPr>
          </a:p>
          <a:p>
            <a:pPr indent="0" lvl="0" marL="180000" rtl="0" algn="l">
              <a:spcBef>
                <a:spcPts val="0"/>
              </a:spcBef>
              <a:spcAft>
                <a:spcPts val="0"/>
              </a:spcAft>
              <a:buNone/>
            </a:pPr>
            <a:r>
              <a:rPr b="1" lang="en-GB">
                <a:solidFill>
                  <a:srgbClr val="1A9D5C"/>
                </a:solidFill>
              </a:rPr>
              <a:t>Record on board</a:t>
            </a:r>
            <a:endParaRPr b="1">
              <a:solidFill>
                <a:srgbClr val="1A9D5C"/>
              </a:solidFill>
            </a:endParaRPr>
          </a:p>
          <a:p>
            <a:pPr indent="0" lvl="0" marL="180000" rtl="0" algn="l">
              <a:spcBef>
                <a:spcPts val="0"/>
              </a:spcBef>
              <a:spcAft>
                <a:spcPts val="0"/>
              </a:spcAft>
              <a:buNone/>
            </a:pPr>
            <a:r>
              <a:t/>
            </a:r>
            <a:endParaRPr b="1" sz="1200">
              <a:solidFill>
                <a:schemeClr val="accent1"/>
              </a:solidFill>
            </a:endParaRPr>
          </a:p>
          <a:p>
            <a:pPr indent="0" lvl="0" marL="180000" rtl="0" algn="l">
              <a:lnSpc>
                <a:spcPct val="115000"/>
              </a:lnSpc>
              <a:spcBef>
                <a:spcPts val="0"/>
              </a:spcBef>
              <a:spcAft>
                <a:spcPts val="0"/>
              </a:spcAft>
              <a:buNone/>
            </a:pPr>
            <a:r>
              <a:t/>
            </a:r>
            <a:endParaRPr sz="1600">
              <a:solidFill>
                <a:schemeClr val="dk1"/>
              </a:solidFill>
            </a:endParaRPr>
          </a:p>
        </p:txBody>
      </p:sp>
      <p:sp>
        <p:nvSpPr>
          <p:cNvPr id="1650" name="Google Shape;1650;p70"/>
          <p:cNvSpPr/>
          <p:nvPr/>
        </p:nvSpPr>
        <p:spPr>
          <a:xfrm>
            <a:off x="7344150" y="2201903"/>
            <a:ext cx="1073100" cy="342900"/>
          </a:xfrm>
          <a:prstGeom prst="roundRect">
            <a:avLst>
              <a:gd fmla="val 50000" name="adj"/>
            </a:avLst>
          </a:prstGeom>
          <a:solidFill>
            <a:srgbClr val="1A9D5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chemeClr val="lt1"/>
                </a:solidFill>
              </a:rPr>
              <a:t>SO ID</a:t>
            </a:r>
            <a:endParaRPr b="1">
              <a:solidFill>
                <a:schemeClr val="lt1"/>
              </a:solidFill>
            </a:endParaRPr>
          </a:p>
        </p:txBody>
      </p:sp>
      <p:sp>
        <p:nvSpPr>
          <p:cNvPr id="1651" name="Google Shape;1651;p70"/>
          <p:cNvSpPr/>
          <p:nvPr/>
        </p:nvSpPr>
        <p:spPr>
          <a:xfrm>
            <a:off x="7344150" y="2595439"/>
            <a:ext cx="1073100" cy="342900"/>
          </a:xfrm>
          <a:prstGeom prst="roundRect">
            <a:avLst>
              <a:gd fmla="val 50000" name="adj"/>
            </a:avLst>
          </a:prstGeom>
          <a:solidFill>
            <a:srgbClr val="1A9D5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chemeClr val="lt1"/>
                </a:solidFill>
              </a:rPr>
              <a:t>DN ID</a:t>
            </a:r>
            <a:endParaRPr b="1">
              <a:solidFill>
                <a:schemeClr val="lt1"/>
              </a:solidFill>
            </a:endParaRPr>
          </a:p>
        </p:txBody>
      </p:sp>
      <p:sp>
        <p:nvSpPr>
          <p:cNvPr id="1652" name="Google Shape;1652;p70"/>
          <p:cNvSpPr/>
          <p:nvPr/>
        </p:nvSpPr>
        <p:spPr>
          <a:xfrm>
            <a:off x="7344150" y="3476051"/>
            <a:ext cx="1073100" cy="342900"/>
          </a:xfrm>
          <a:prstGeom prst="roundRect">
            <a:avLst>
              <a:gd fmla="val 14676" name="adj"/>
            </a:avLst>
          </a:prstGeom>
          <a:solidFill>
            <a:srgbClr val="1A9D5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900">
                <a:solidFill>
                  <a:schemeClr val="lt1"/>
                </a:solidFill>
              </a:rPr>
              <a:t>Failed stop rescheduled?</a:t>
            </a:r>
            <a:endParaRPr b="1" sz="900">
              <a:solidFill>
                <a:schemeClr val="lt1"/>
              </a:solidFill>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C2B3E"/>
        </a:solidFill>
      </p:bgPr>
    </p:bg>
    <p:spTree>
      <p:nvGrpSpPr>
        <p:cNvPr id="1657" name="Shape 1657"/>
        <p:cNvGrpSpPr/>
        <p:nvPr/>
      </p:nvGrpSpPr>
      <p:grpSpPr>
        <a:xfrm>
          <a:off x="0" y="0"/>
          <a:ext cx="0" cy="0"/>
          <a:chOff x="0" y="0"/>
          <a:chExt cx="0" cy="0"/>
        </a:xfrm>
      </p:grpSpPr>
      <p:sp>
        <p:nvSpPr>
          <p:cNvPr id="1658" name="Google Shape;1658;p71"/>
          <p:cNvSpPr/>
          <p:nvPr/>
        </p:nvSpPr>
        <p:spPr>
          <a:xfrm>
            <a:off x="-150" y="3432269"/>
            <a:ext cx="9144300" cy="80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5500"/>
              <a:buFont typeface="Arial"/>
              <a:buNone/>
            </a:pPr>
            <a:r>
              <a:rPr b="1" lang="en-GB" sz="5000">
                <a:solidFill>
                  <a:srgbClr val="FFFFFF"/>
                </a:solidFill>
                <a:latin typeface="Poppins"/>
                <a:ea typeface="Poppins"/>
                <a:cs typeface="Poppins"/>
                <a:sym typeface="Poppins"/>
              </a:rPr>
              <a:t>Time’s Up</a:t>
            </a:r>
            <a:endParaRPr sz="5000">
              <a:solidFill>
                <a:schemeClr val="dk1"/>
              </a:solidFill>
              <a:latin typeface="Poppins"/>
              <a:ea typeface="Poppins"/>
              <a:cs typeface="Poppins"/>
              <a:sym typeface="Poppins"/>
            </a:endParaRPr>
          </a:p>
        </p:txBody>
      </p:sp>
      <p:pic>
        <p:nvPicPr>
          <p:cNvPr descr="/home/claude/maia/icons/FiClock_white.png" id="1659" name="Google Shape;1659;p71"/>
          <p:cNvPicPr preferRelativeResize="0"/>
          <p:nvPr/>
        </p:nvPicPr>
        <p:blipFill rotWithShape="1">
          <a:blip r:embed="rId3">
            <a:alphaModFix/>
          </a:blip>
          <a:srcRect b="0" l="0" r="0" t="0"/>
          <a:stretch/>
        </p:blipFill>
        <p:spPr>
          <a:xfrm>
            <a:off x="3491999" y="905425"/>
            <a:ext cx="2160000" cy="2160000"/>
          </a:xfrm>
          <a:prstGeom prst="rect">
            <a:avLst/>
          </a:prstGeom>
          <a:noFill/>
          <a:ln>
            <a:noFill/>
          </a:ln>
        </p:spPr>
      </p:pic>
      <p:sp>
        <p:nvSpPr>
          <p:cNvPr id="1660" name="Google Shape;1660;p71"/>
          <p:cNvSpPr txBox="1"/>
          <p:nvPr>
            <p:ph idx="12" type="sldNum"/>
          </p:nvPr>
        </p:nvSpPr>
        <p:spPr>
          <a:xfrm>
            <a:off x="8347216" y="4750189"/>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C2B3E"/>
        </a:solidFill>
      </p:bgPr>
    </p:bg>
    <p:spTree>
      <p:nvGrpSpPr>
        <p:cNvPr id="1665" name="Shape 1665"/>
        <p:cNvGrpSpPr/>
        <p:nvPr/>
      </p:nvGrpSpPr>
      <p:grpSpPr>
        <a:xfrm>
          <a:off x="0" y="0"/>
          <a:ext cx="0" cy="0"/>
          <a:chOff x="0" y="0"/>
          <a:chExt cx="0" cy="0"/>
        </a:xfrm>
      </p:grpSpPr>
      <p:sp>
        <p:nvSpPr>
          <p:cNvPr id="1666" name="Google Shape;1666;p72"/>
          <p:cNvSpPr/>
          <p:nvPr/>
        </p:nvSpPr>
        <p:spPr>
          <a:xfrm>
            <a:off x="0" y="205740"/>
            <a:ext cx="54867" cy="54864"/>
          </a:xfrm>
          <a:prstGeom prst="ellipse">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67" name="Google Shape;1667;p72"/>
          <p:cNvSpPr/>
          <p:nvPr/>
        </p:nvSpPr>
        <p:spPr>
          <a:xfrm>
            <a:off x="324538" y="857936"/>
            <a:ext cx="54867" cy="54864"/>
          </a:xfrm>
          <a:prstGeom prst="ellipse">
            <a:avLst/>
          </a:prstGeom>
          <a:solidFill>
            <a:srgbClr val="1A9D5C"/>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68" name="Google Shape;1668;p72"/>
          <p:cNvSpPr/>
          <p:nvPr/>
        </p:nvSpPr>
        <p:spPr>
          <a:xfrm>
            <a:off x="649076" y="412852"/>
            <a:ext cx="54867" cy="54864"/>
          </a:xfrm>
          <a:prstGeom prst="ellipse">
            <a:avLst/>
          </a:pr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69" name="Google Shape;1669;p72"/>
          <p:cNvSpPr/>
          <p:nvPr/>
        </p:nvSpPr>
        <p:spPr>
          <a:xfrm>
            <a:off x="973613" y="1065047"/>
            <a:ext cx="54867" cy="54864"/>
          </a:xfrm>
          <a:prstGeom prst="ellipse">
            <a:avLst/>
          </a:prstGeom>
          <a:solidFill>
            <a:srgbClr val="92A6B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70" name="Google Shape;1670;p72"/>
          <p:cNvSpPr/>
          <p:nvPr/>
        </p:nvSpPr>
        <p:spPr>
          <a:xfrm>
            <a:off x="1298151" y="619964"/>
            <a:ext cx="54867" cy="54864"/>
          </a:xfrm>
          <a:prstGeom prst="ellipse">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71" name="Google Shape;1671;p72"/>
          <p:cNvSpPr/>
          <p:nvPr/>
        </p:nvSpPr>
        <p:spPr>
          <a:xfrm>
            <a:off x="1622689" y="1272159"/>
            <a:ext cx="54867" cy="54864"/>
          </a:xfrm>
          <a:prstGeom prst="ellipse">
            <a:avLst/>
          </a:prstGeom>
          <a:solidFill>
            <a:srgbClr val="1A9D5C"/>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72" name="Google Shape;1672;p72"/>
          <p:cNvSpPr/>
          <p:nvPr/>
        </p:nvSpPr>
        <p:spPr>
          <a:xfrm>
            <a:off x="1947227" y="827074"/>
            <a:ext cx="54867" cy="54864"/>
          </a:xfrm>
          <a:prstGeom prst="ellipse">
            <a:avLst/>
          </a:pr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73" name="Google Shape;1673;p72"/>
          <p:cNvSpPr/>
          <p:nvPr/>
        </p:nvSpPr>
        <p:spPr>
          <a:xfrm>
            <a:off x="2271765" y="381991"/>
            <a:ext cx="54867" cy="54864"/>
          </a:xfrm>
          <a:prstGeom prst="ellipse">
            <a:avLst/>
          </a:prstGeom>
          <a:solidFill>
            <a:srgbClr val="92A6B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74" name="Google Shape;1674;p72"/>
          <p:cNvSpPr/>
          <p:nvPr/>
        </p:nvSpPr>
        <p:spPr>
          <a:xfrm>
            <a:off x="2596303" y="1034186"/>
            <a:ext cx="54867" cy="54864"/>
          </a:xfrm>
          <a:prstGeom prst="ellipse">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75" name="Google Shape;1675;p72"/>
          <p:cNvSpPr/>
          <p:nvPr/>
        </p:nvSpPr>
        <p:spPr>
          <a:xfrm>
            <a:off x="2920841" y="589103"/>
            <a:ext cx="54867" cy="54864"/>
          </a:xfrm>
          <a:prstGeom prst="ellipse">
            <a:avLst/>
          </a:prstGeom>
          <a:solidFill>
            <a:srgbClr val="1A9D5C"/>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76" name="Google Shape;1676;p72"/>
          <p:cNvSpPr/>
          <p:nvPr/>
        </p:nvSpPr>
        <p:spPr>
          <a:xfrm>
            <a:off x="3245379" y="1241298"/>
            <a:ext cx="54867" cy="54864"/>
          </a:xfrm>
          <a:prstGeom prst="ellipse">
            <a:avLst/>
          </a:pr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77" name="Google Shape;1677;p72"/>
          <p:cNvSpPr/>
          <p:nvPr/>
        </p:nvSpPr>
        <p:spPr>
          <a:xfrm>
            <a:off x="3569917" y="796214"/>
            <a:ext cx="54867" cy="54864"/>
          </a:xfrm>
          <a:prstGeom prst="ellipse">
            <a:avLst/>
          </a:prstGeom>
          <a:solidFill>
            <a:srgbClr val="92A6B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78" name="Google Shape;1678;p72"/>
          <p:cNvSpPr/>
          <p:nvPr/>
        </p:nvSpPr>
        <p:spPr>
          <a:xfrm>
            <a:off x="3894454" y="351130"/>
            <a:ext cx="54867" cy="54864"/>
          </a:xfrm>
          <a:prstGeom prst="ellipse">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79" name="Google Shape;1679;p72"/>
          <p:cNvSpPr/>
          <p:nvPr/>
        </p:nvSpPr>
        <p:spPr>
          <a:xfrm>
            <a:off x="4218992" y="1003325"/>
            <a:ext cx="54867" cy="54864"/>
          </a:xfrm>
          <a:prstGeom prst="ellipse">
            <a:avLst/>
          </a:prstGeom>
          <a:solidFill>
            <a:srgbClr val="1A9D5C"/>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80" name="Google Shape;1680;p72"/>
          <p:cNvSpPr/>
          <p:nvPr/>
        </p:nvSpPr>
        <p:spPr>
          <a:xfrm>
            <a:off x="4543530" y="558241"/>
            <a:ext cx="54867" cy="54864"/>
          </a:xfrm>
          <a:prstGeom prst="ellipse">
            <a:avLst/>
          </a:pr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81" name="Google Shape;1681;p72"/>
          <p:cNvSpPr/>
          <p:nvPr/>
        </p:nvSpPr>
        <p:spPr>
          <a:xfrm>
            <a:off x="4868068" y="1210437"/>
            <a:ext cx="54867" cy="54864"/>
          </a:xfrm>
          <a:prstGeom prst="ellipse">
            <a:avLst/>
          </a:prstGeom>
          <a:solidFill>
            <a:srgbClr val="92A6B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82" name="Google Shape;1682;p72"/>
          <p:cNvSpPr/>
          <p:nvPr/>
        </p:nvSpPr>
        <p:spPr>
          <a:xfrm>
            <a:off x="5192606" y="765353"/>
            <a:ext cx="54867" cy="54864"/>
          </a:xfrm>
          <a:prstGeom prst="ellipse">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83" name="Google Shape;1683;p72"/>
          <p:cNvSpPr/>
          <p:nvPr/>
        </p:nvSpPr>
        <p:spPr>
          <a:xfrm>
            <a:off x="5517143" y="320269"/>
            <a:ext cx="54867" cy="54864"/>
          </a:xfrm>
          <a:prstGeom prst="ellipse">
            <a:avLst/>
          </a:prstGeom>
          <a:solidFill>
            <a:srgbClr val="1A9D5C"/>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84" name="Google Shape;1684;p72"/>
          <p:cNvSpPr/>
          <p:nvPr/>
        </p:nvSpPr>
        <p:spPr>
          <a:xfrm>
            <a:off x="5841681" y="972464"/>
            <a:ext cx="54867" cy="54864"/>
          </a:xfrm>
          <a:prstGeom prst="ellipse">
            <a:avLst/>
          </a:pr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85" name="Google Shape;1685;p72"/>
          <p:cNvSpPr/>
          <p:nvPr/>
        </p:nvSpPr>
        <p:spPr>
          <a:xfrm>
            <a:off x="6166220" y="527381"/>
            <a:ext cx="54867" cy="54864"/>
          </a:xfrm>
          <a:prstGeom prst="ellipse">
            <a:avLst/>
          </a:prstGeom>
          <a:solidFill>
            <a:srgbClr val="92A6B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86" name="Google Shape;1686;p72"/>
          <p:cNvSpPr/>
          <p:nvPr/>
        </p:nvSpPr>
        <p:spPr>
          <a:xfrm>
            <a:off x="6490758" y="1179576"/>
            <a:ext cx="54867" cy="54864"/>
          </a:xfrm>
          <a:prstGeom prst="ellipse">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87" name="Google Shape;1687;p72"/>
          <p:cNvSpPr/>
          <p:nvPr/>
        </p:nvSpPr>
        <p:spPr>
          <a:xfrm>
            <a:off x="6815295" y="734491"/>
            <a:ext cx="54867" cy="54864"/>
          </a:xfrm>
          <a:prstGeom prst="ellipse">
            <a:avLst/>
          </a:prstGeom>
          <a:solidFill>
            <a:srgbClr val="1A9D5C"/>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88" name="Google Shape;1688;p72"/>
          <p:cNvSpPr/>
          <p:nvPr/>
        </p:nvSpPr>
        <p:spPr>
          <a:xfrm>
            <a:off x="7139833" y="289408"/>
            <a:ext cx="54867" cy="54864"/>
          </a:xfrm>
          <a:prstGeom prst="ellipse">
            <a:avLst/>
          </a:pr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89" name="Google Shape;1689;p72"/>
          <p:cNvSpPr/>
          <p:nvPr/>
        </p:nvSpPr>
        <p:spPr>
          <a:xfrm>
            <a:off x="7464371" y="941603"/>
            <a:ext cx="54867" cy="54864"/>
          </a:xfrm>
          <a:prstGeom prst="ellipse">
            <a:avLst/>
          </a:prstGeom>
          <a:solidFill>
            <a:srgbClr val="92A6B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90" name="Google Shape;1690;p72"/>
          <p:cNvSpPr/>
          <p:nvPr/>
        </p:nvSpPr>
        <p:spPr>
          <a:xfrm>
            <a:off x="7788909" y="496520"/>
            <a:ext cx="54867" cy="54864"/>
          </a:xfrm>
          <a:prstGeom prst="ellipse">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91" name="Google Shape;1691;p72"/>
          <p:cNvSpPr/>
          <p:nvPr/>
        </p:nvSpPr>
        <p:spPr>
          <a:xfrm>
            <a:off x="8113447" y="1148715"/>
            <a:ext cx="54867" cy="54864"/>
          </a:xfrm>
          <a:prstGeom prst="ellipse">
            <a:avLst/>
          </a:prstGeom>
          <a:solidFill>
            <a:srgbClr val="1A9D5C"/>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92" name="Google Shape;1692;p72"/>
          <p:cNvSpPr/>
          <p:nvPr/>
        </p:nvSpPr>
        <p:spPr>
          <a:xfrm>
            <a:off x="8437984" y="703631"/>
            <a:ext cx="54867" cy="54864"/>
          </a:xfrm>
          <a:prstGeom prst="ellipse">
            <a:avLst/>
          </a:pr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93" name="Google Shape;1693;p72"/>
          <p:cNvSpPr/>
          <p:nvPr/>
        </p:nvSpPr>
        <p:spPr>
          <a:xfrm>
            <a:off x="8762522" y="258547"/>
            <a:ext cx="54867" cy="54864"/>
          </a:xfrm>
          <a:prstGeom prst="ellipse">
            <a:avLst/>
          </a:prstGeom>
          <a:solidFill>
            <a:srgbClr val="92A6B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94" name="Google Shape;1694;p72"/>
          <p:cNvSpPr/>
          <p:nvPr/>
        </p:nvSpPr>
        <p:spPr>
          <a:xfrm>
            <a:off x="411502" y="754380"/>
            <a:ext cx="8321255"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2A6BE"/>
              </a:buClr>
              <a:buSzPts val="1700"/>
              <a:buFont typeface="Arial"/>
              <a:buNone/>
            </a:pPr>
            <a:r>
              <a:rPr lang="en-GB" sz="1700">
                <a:solidFill>
                  <a:srgbClr val="92A6BE"/>
                </a:solidFill>
                <a:latin typeface="Arial"/>
                <a:ea typeface="Arial"/>
                <a:cs typeface="Arial"/>
                <a:sym typeface="Arial"/>
              </a:rPr>
              <a:t>The winner —</a:t>
            </a:r>
            <a:endParaRPr sz="1700">
              <a:solidFill>
                <a:schemeClr val="dk1"/>
              </a:solidFill>
              <a:latin typeface="Calibri"/>
              <a:ea typeface="Calibri"/>
              <a:cs typeface="Calibri"/>
              <a:sym typeface="Calibri"/>
            </a:endParaRPr>
          </a:p>
        </p:txBody>
      </p:sp>
      <p:sp>
        <p:nvSpPr>
          <p:cNvPr id="1695" name="Google Shape;1695;p72"/>
          <p:cNvSpPr/>
          <p:nvPr/>
        </p:nvSpPr>
        <p:spPr>
          <a:xfrm>
            <a:off x="411502" y="1097280"/>
            <a:ext cx="8321255" cy="7543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4200"/>
              <a:buFont typeface="Arial"/>
              <a:buNone/>
            </a:pPr>
            <a:r>
              <a:rPr b="1" lang="en-GB" sz="4200">
                <a:solidFill>
                  <a:srgbClr val="FFFFFF"/>
                </a:solidFill>
                <a:latin typeface="Poppins"/>
                <a:ea typeface="Poppins"/>
                <a:cs typeface="Poppins"/>
                <a:sym typeface="Poppins"/>
              </a:rPr>
              <a:t>Team [X]</a:t>
            </a:r>
            <a:endParaRPr sz="4200">
              <a:solidFill>
                <a:schemeClr val="dk1"/>
              </a:solidFill>
              <a:latin typeface="Poppins"/>
              <a:ea typeface="Poppins"/>
              <a:cs typeface="Poppins"/>
              <a:sym typeface="Poppins"/>
            </a:endParaRPr>
          </a:p>
        </p:txBody>
      </p:sp>
      <p:pic>
        <p:nvPicPr>
          <p:cNvPr descr="/home/claude/maia/icons/FiAward_accent.png" id="1696" name="Google Shape;1696;p72"/>
          <p:cNvPicPr preferRelativeResize="0"/>
          <p:nvPr/>
        </p:nvPicPr>
        <p:blipFill rotWithShape="1">
          <a:blip r:embed="rId3">
            <a:alphaModFix/>
          </a:blip>
          <a:srcRect b="0" l="0" r="0" t="0"/>
          <a:stretch/>
        </p:blipFill>
        <p:spPr>
          <a:xfrm>
            <a:off x="4297795" y="1954530"/>
            <a:ext cx="548640" cy="548640"/>
          </a:xfrm>
          <a:prstGeom prst="rect">
            <a:avLst/>
          </a:prstGeom>
          <a:noFill/>
          <a:ln>
            <a:noFill/>
          </a:ln>
        </p:spPr>
      </p:pic>
      <p:sp>
        <p:nvSpPr>
          <p:cNvPr id="1697" name="Google Shape;1697;p72"/>
          <p:cNvSpPr/>
          <p:nvPr/>
        </p:nvSpPr>
        <p:spPr>
          <a:xfrm>
            <a:off x="2171702" y="2743200"/>
            <a:ext cx="4800856" cy="411480"/>
          </a:xfrm>
          <a:prstGeom prst="roundRect">
            <a:avLst>
              <a:gd fmla="val 13333" name="adj"/>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98" name="Google Shape;1698;p72"/>
          <p:cNvSpPr/>
          <p:nvPr/>
        </p:nvSpPr>
        <p:spPr>
          <a:xfrm>
            <a:off x="2377453" y="2743200"/>
            <a:ext cx="2743346"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Arial"/>
              <a:buNone/>
            </a:pPr>
            <a:r>
              <a:rPr b="1" lang="en-GB" sz="1200">
                <a:solidFill>
                  <a:srgbClr val="FFFFFF"/>
                </a:solidFill>
                <a:latin typeface="Arial"/>
                <a:ea typeface="Arial"/>
                <a:cs typeface="Arial"/>
                <a:sym typeface="Arial"/>
              </a:rPr>
              <a:t>Team [X]</a:t>
            </a:r>
            <a:endParaRPr sz="1200">
              <a:solidFill>
                <a:schemeClr val="dk1"/>
              </a:solidFill>
              <a:latin typeface="Calibri"/>
              <a:ea typeface="Calibri"/>
              <a:cs typeface="Calibri"/>
              <a:sym typeface="Calibri"/>
            </a:endParaRPr>
          </a:p>
        </p:txBody>
      </p:sp>
      <p:sp>
        <p:nvSpPr>
          <p:cNvPr id="1699" name="Google Shape;1699;p72"/>
          <p:cNvSpPr/>
          <p:nvPr/>
        </p:nvSpPr>
        <p:spPr>
          <a:xfrm>
            <a:off x="2171702" y="2743200"/>
            <a:ext cx="4526521" cy="4114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1200"/>
              <a:buFont typeface="Arial"/>
              <a:buNone/>
            </a:pPr>
            <a:r>
              <a:rPr b="1" lang="en-GB" sz="1200">
                <a:solidFill>
                  <a:srgbClr val="FFFFFF"/>
                </a:solidFill>
                <a:latin typeface="Arial"/>
                <a:ea typeface="Arial"/>
                <a:cs typeface="Arial"/>
                <a:sym typeface="Arial"/>
              </a:rPr>
              <a:t>9 pts</a:t>
            </a:r>
            <a:endParaRPr sz="1200">
              <a:solidFill>
                <a:schemeClr val="dk1"/>
              </a:solidFill>
              <a:latin typeface="Calibri"/>
              <a:ea typeface="Calibri"/>
              <a:cs typeface="Calibri"/>
              <a:sym typeface="Calibri"/>
            </a:endParaRPr>
          </a:p>
        </p:txBody>
      </p:sp>
      <p:sp>
        <p:nvSpPr>
          <p:cNvPr id="1700" name="Google Shape;1700;p72"/>
          <p:cNvSpPr/>
          <p:nvPr/>
        </p:nvSpPr>
        <p:spPr>
          <a:xfrm>
            <a:off x="2171702" y="3250692"/>
            <a:ext cx="4800856" cy="411480"/>
          </a:xfrm>
          <a:prstGeom prst="roundRect">
            <a:avLst>
              <a:gd fmla="val 13333" name="adj"/>
            </a:avLst>
          </a:prstGeom>
          <a:solidFill>
            <a:srgbClr val="27394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701" name="Google Shape;1701;p72"/>
          <p:cNvSpPr/>
          <p:nvPr/>
        </p:nvSpPr>
        <p:spPr>
          <a:xfrm>
            <a:off x="2377453" y="3250692"/>
            <a:ext cx="2743346"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Arial"/>
              <a:buNone/>
            </a:pPr>
            <a:r>
              <a:rPr b="1" lang="en-GB" sz="1200">
                <a:solidFill>
                  <a:srgbClr val="FFFFFF"/>
                </a:solidFill>
                <a:latin typeface="Arial"/>
                <a:ea typeface="Arial"/>
                <a:cs typeface="Arial"/>
                <a:sym typeface="Arial"/>
              </a:rPr>
              <a:t>Team B</a:t>
            </a:r>
            <a:endParaRPr sz="1200">
              <a:solidFill>
                <a:schemeClr val="dk1"/>
              </a:solidFill>
              <a:latin typeface="Calibri"/>
              <a:ea typeface="Calibri"/>
              <a:cs typeface="Calibri"/>
              <a:sym typeface="Calibri"/>
            </a:endParaRPr>
          </a:p>
        </p:txBody>
      </p:sp>
      <p:sp>
        <p:nvSpPr>
          <p:cNvPr id="1702" name="Google Shape;1702;p72"/>
          <p:cNvSpPr/>
          <p:nvPr/>
        </p:nvSpPr>
        <p:spPr>
          <a:xfrm>
            <a:off x="2171702" y="3250692"/>
            <a:ext cx="4526521" cy="4114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1200"/>
              <a:buFont typeface="Arial"/>
              <a:buNone/>
            </a:pPr>
            <a:r>
              <a:rPr b="1" lang="en-GB" sz="1200">
                <a:solidFill>
                  <a:srgbClr val="FFFFFF"/>
                </a:solidFill>
                <a:latin typeface="Arial"/>
                <a:ea typeface="Arial"/>
                <a:cs typeface="Arial"/>
                <a:sym typeface="Arial"/>
              </a:rPr>
              <a:t>7 pts</a:t>
            </a:r>
            <a:endParaRPr sz="1200">
              <a:solidFill>
                <a:schemeClr val="dk1"/>
              </a:solidFill>
              <a:latin typeface="Calibri"/>
              <a:ea typeface="Calibri"/>
              <a:cs typeface="Calibri"/>
              <a:sym typeface="Calibri"/>
            </a:endParaRPr>
          </a:p>
        </p:txBody>
      </p:sp>
      <p:sp>
        <p:nvSpPr>
          <p:cNvPr id="1703" name="Google Shape;1703;p72"/>
          <p:cNvSpPr/>
          <p:nvPr/>
        </p:nvSpPr>
        <p:spPr>
          <a:xfrm>
            <a:off x="2171702" y="3758184"/>
            <a:ext cx="4800856" cy="411480"/>
          </a:xfrm>
          <a:prstGeom prst="roundRect">
            <a:avLst>
              <a:gd fmla="val 13333" name="adj"/>
            </a:avLst>
          </a:prstGeom>
          <a:solidFill>
            <a:srgbClr val="27394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704" name="Google Shape;1704;p72"/>
          <p:cNvSpPr/>
          <p:nvPr/>
        </p:nvSpPr>
        <p:spPr>
          <a:xfrm>
            <a:off x="2377453" y="3758184"/>
            <a:ext cx="2743346"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Arial"/>
              <a:buNone/>
            </a:pPr>
            <a:r>
              <a:rPr b="1" lang="en-GB" sz="1200">
                <a:solidFill>
                  <a:srgbClr val="FFFFFF"/>
                </a:solidFill>
                <a:latin typeface="Arial"/>
                <a:ea typeface="Arial"/>
                <a:cs typeface="Arial"/>
                <a:sym typeface="Arial"/>
              </a:rPr>
              <a:t>Team C</a:t>
            </a:r>
            <a:endParaRPr sz="1200">
              <a:solidFill>
                <a:schemeClr val="dk1"/>
              </a:solidFill>
              <a:latin typeface="Calibri"/>
              <a:ea typeface="Calibri"/>
              <a:cs typeface="Calibri"/>
              <a:sym typeface="Calibri"/>
            </a:endParaRPr>
          </a:p>
        </p:txBody>
      </p:sp>
      <p:sp>
        <p:nvSpPr>
          <p:cNvPr id="1705" name="Google Shape;1705;p72"/>
          <p:cNvSpPr/>
          <p:nvPr/>
        </p:nvSpPr>
        <p:spPr>
          <a:xfrm>
            <a:off x="2171702" y="3758184"/>
            <a:ext cx="4526521" cy="4114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1200"/>
              <a:buFont typeface="Arial"/>
              <a:buNone/>
            </a:pPr>
            <a:r>
              <a:rPr b="1" lang="en-GB" sz="1200">
                <a:solidFill>
                  <a:srgbClr val="FFFFFF"/>
                </a:solidFill>
                <a:latin typeface="Arial"/>
                <a:ea typeface="Arial"/>
                <a:cs typeface="Arial"/>
                <a:sym typeface="Arial"/>
              </a:rPr>
              <a:t>6 pts</a:t>
            </a:r>
            <a:endParaRPr sz="1200">
              <a:solidFill>
                <a:schemeClr val="dk1"/>
              </a:solidFill>
              <a:latin typeface="Calibri"/>
              <a:ea typeface="Calibri"/>
              <a:cs typeface="Calibri"/>
              <a:sym typeface="Calibri"/>
            </a:endParaRPr>
          </a:p>
        </p:txBody>
      </p:sp>
      <p:sp>
        <p:nvSpPr>
          <p:cNvPr id="1706" name="Google Shape;1706;p72"/>
          <p:cNvSpPr/>
          <p:nvPr/>
        </p:nvSpPr>
        <p:spPr>
          <a:xfrm>
            <a:off x="2171702" y="4265676"/>
            <a:ext cx="4800856" cy="411480"/>
          </a:xfrm>
          <a:prstGeom prst="roundRect">
            <a:avLst>
              <a:gd fmla="val 13333" name="adj"/>
            </a:avLst>
          </a:prstGeom>
          <a:solidFill>
            <a:srgbClr val="27394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707" name="Google Shape;1707;p72"/>
          <p:cNvSpPr/>
          <p:nvPr/>
        </p:nvSpPr>
        <p:spPr>
          <a:xfrm>
            <a:off x="2377453" y="4265676"/>
            <a:ext cx="2743346"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Arial"/>
              <a:buNone/>
            </a:pPr>
            <a:r>
              <a:rPr b="1" lang="en-GB" sz="1200">
                <a:solidFill>
                  <a:srgbClr val="FFFFFF"/>
                </a:solidFill>
                <a:latin typeface="Arial"/>
                <a:ea typeface="Arial"/>
                <a:cs typeface="Arial"/>
                <a:sym typeface="Arial"/>
              </a:rPr>
              <a:t>Team D</a:t>
            </a:r>
            <a:endParaRPr sz="1200">
              <a:solidFill>
                <a:schemeClr val="dk1"/>
              </a:solidFill>
              <a:latin typeface="Calibri"/>
              <a:ea typeface="Calibri"/>
              <a:cs typeface="Calibri"/>
              <a:sym typeface="Calibri"/>
            </a:endParaRPr>
          </a:p>
        </p:txBody>
      </p:sp>
      <p:sp>
        <p:nvSpPr>
          <p:cNvPr id="1708" name="Google Shape;1708;p72"/>
          <p:cNvSpPr/>
          <p:nvPr/>
        </p:nvSpPr>
        <p:spPr>
          <a:xfrm>
            <a:off x="2171702" y="4265676"/>
            <a:ext cx="4526521" cy="4114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1200"/>
              <a:buFont typeface="Arial"/>
              <a:buNone/>
            </a:pPr>
            <a:r>
              <a:rPr b="1" lang="en-GB" sz="1200">
                <a:solidFill>
                  <a:srgbClr val="FFFFFF"/>
                </a:solidFill>
                <a:latin typeface="Arial"/>
                <a:ea typeface="Arial"/>
                <a:cs typeface="Arial"/>
                <a:sym typeface="Arial"/>
              </a:rPr>
              <a:t>5 pts</a:t>
            </a:r>
            <a:endParaRPr sz="1200">
              <a:solidFill>
                <a:schemeClr val="dk1"/>
              </a:solidFill>
              <a:latin typeface="Calibri"/>
              <a:ea typeface="Calibri"/>
              <a:cs typeface="Calibri"/>
              <a:sym typeface="Calibri"/>
            </a:endParaRPr>
          </a:p>
        </p:txBody>
      </p:sp>
      <p:sp>
        <p:nvSpPr>
          <p:cNvPr id="1709" name="Google Shape;1709;p72"/>
          <p:cNvSpPr txBox="1"/>
          <p:nvPr>
            <p:ph idx="12" type="sldNum"/>
          </p:nvPr>
        </p:nvSpPr>
        <p:spPr>
          <a:xfrm>
            <a:off x="8347216" y="4750189"/>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14" name="Shape 1714"/>
        <p:cNvGrpSpPr/>
        <p:nvPr/>
      </p:nvGrpSpPr>
      <p:grpSpPr>
        <a:xfrm>
          <a:off x="0" y="0"/>
          <a:ext cx="0" cy="0"/>
          <a:chOff x="0" y="0"/>
          <a:chExt cx="0" cy="0"/>
        </a:xfrm>
      </p:grpSpPr>
      <p:sp>
        <p:nvSpPr>
          <p:cNvPr id="1715" name="Google Shape;1715;p73"/>
          <p:cNvSpPr/>
          <p:nvPr/>
        </p:nvSpPr>
        <p:spPr>
          <a:xfrm>
            <a:off x="411502" y="260604"/>
            <a:ext cx="68583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CLOSE</a:t>
            </a:r>
            <a:endParaRPr sz="800">
              <a:solidFill>
                <a:schemeClr val="dk1"/>
              </a:solidFill>
              <a:latin typeface="Calibri"/>
              <a:ea typeface="Calibri"/>
              <a:cs typeface="Calibri"/>
              <a:sym typeface="Calibri"/>
            </a:endParaRPr>
          </a:p>
        </p:txBody>
      </p:sp>
      <p:sp>
        <p:nvSpPr>
          <p:cNvPr id="1716" name="Google Shape;1716;p73"/>
          <p:cNvSpPr/>
          <p:nvPr/>
        </p:nvSpPr>
        <p:spPr>
          <a:xfrm>
            <a:off x="411502" y="438912"/>
            <a:ext cx="8321255" cy="4800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C2B3E"/>
              </a:buClr>
              <a:buSzPts val="2200"/>
              <a:buFont typeface="Arial"/>
              <a:buNone/>
            </a:pPr>
            <a:r>
              <a:rPr b="1" lang="en-GB" sz="2200">
                <a:solidFill>
                  <a:srgbClr val="1C2B3E"/>
                </a:solidFill>
                <a:latin typeface="Poppins"/>
                <a:ea typeface="Poppins"/>
                <a:cs typeface="Poppins"/>
                <a:sym typeface="Poppins"/>
              </a:rPr>
              <a:t>You can now…</a:t>
            </a:r>
            <a:endParaRPr sz="2200">
              <a:solidFill>
                <a:schemeClr val="dk1"/>
              </a:solidFill>
              <a:latin typeface="Poppins"/>
              <a:ea typeface="Poppins"/>
              <a:cs typeface="Poppins"/>
              <a:sym typeface="Poppins"/>
            </a:endParaRPr>
          </a:p>
        </p:txBody>
      </p:sp>
      <p:sp>
        <p:nvSpPr>
          <p:cNvPr id="1717" name="Google Shape;1717;p73"/>
          <p:cNvSpPr/>
          <p:nvPr/>
        </p:nvSpPr>
        <p:spPr>
          <a:xfrm>
            <a:off x="411502" y="1474470"/>
            <a:ext cx="384068" cy="384048"/>
          </a:xfrm>
          <a:prstGeom prst="ellipse">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Check_white.png" id="1718" name="Google Shape;1718;p73"/>
          <p:cNvPicPr preferRelativeResize="0"/>
          <p:nvPr/>
        </p:nvPicPr>
        <p:blipFill rotWithShape="1">
          <a:blip r:embed="rId3">
            <a:alphaModFix/>
          </a:blip>
          <a:srcRect b="0" l="0" r="0" t="0"/>
          <a:stretch/>
        </p:blipFill>
        <p:spPr>
          <a:xfrm>
            <a:off x="507519" y="1570482"/>
            <a:ext cx="192024" cy="192024"/>
          </a:xfrm>
          <a:prstGeom prst="rect">
            <a:avLst/>
          </a:prstGeom>
          <a:noFill/>
          <a:ln>
            <a:noFill/>
          </a:ln>
        </p:spPr>
      </p:pic>
      <p:sp>
        <p:nvSpPr>
          <p:cNvPr id="1719" name="Google Shape;1719;p73"/>
          <p:cNvSpPr/>
          <p:nvPr/>
        </p:nvSpPr>
        <p:spPr>
          <a:xfrm>
            <a:off x="1048366" y="1433322"/>
            <a:ext cx="7772700" cy="48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1700"/>
              <a:buFont typeface="Arial"/>
              <a:buNone/>
            </a:pPr>
            <a:r>
              <a:rPr b="1" lang="en-GB" sz="1700">
                <a:solidFill>
                  <a:srgbClr val="1C2B3E"/>
                </a:solidFill>
                <a:latin typeface="Arial"/>
                <a:ea typeface="Arial"/>
                <a:cs typeface="Arial"/>
                <a:sym typeface="Arial"/>
              </a:rPr>
              <a:t>Read a customer's credit — and decide.</a:t>
            </a:r>
            <a:endParaRPr sz="1700">
              <a:solidFill>
                <a:schemeClr val="dk1"/>
              </a:solidFill>
              <a:latin typeface="Calibri"/>
              <a:ea typeface="Calibri"/>
              <a:cs typeface="Calibri"/>
              <a:sym typeface="Calibri"/>
            </a:endParaRPr>
          </a:p>
        </p:txBody>
      </p:sp>
      <p:sp>
        <p:nvSpPr>
          <p:cNvPr id="1720" name="Google Shape;1720;p73"/>
          <p:cNvSpPr/>
          <p:nvPr/>
        </p:nvSpPr>
        <p:spPr>
          <a:xfrm>
            <a:off x="411502" y="2194560"/>
            <a:ext cx="384068" cy="384048"/>
          </a:xfrm>
          <a:prstGeom prst="ellipse">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Check_white.png" id="1721" name="Google Shape;1721;p73"/>
          <p:cNvPicPr preferRelativeResize="0"/>
          <p:nvPr/>
        </p:nvPicPr>
        <p:blipFill rotWithShape="1">
          <a:blip r:embed="rId3">
            <a:alphaModFix/>
          </a:blip>
          <a:srcRect b="0" l="0" r="0" t="0"/>
          <a:stretch/>
        </p:blipFill>
        <p:spPr>
          <a:xfrm>
            <a:off x="507519" y="2290572"/>
            <a:ext cx="192024" cy="192024"/>
          </a:xfrm>
          <a:prstGeom prst="rect">
            <a:avLst/>
          </a:prstGeom>
          <a:noFill/>
          <a:ln>
            <a:noFill/>
          </a:ln>
        </p:spPr>
      </p:pic>
      <p:sp>
        <p:nvSpPr>
          <p:cNvPr id="1722" name="Google Shape;1722;p73"/>
          <p:cNvSpPr/>
          <p:nvPr/>
        </p:nvSpPr>
        <p:spPr>
          <a:xfrm>
            <a:off x="1048366" y="2153412"/>
            <a:ext cx="7772700" cy="48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1700"/>
              <a:buFont typeface="Arial"/>
              <a:buNone/>
            </a:pPr>
            <a:r>
              <a:rPr b="1" lang="en-GB" sz="1700">
                <a:solidFill>
                  <a:srgbClr val="1C2B3E"/>
                </a:solidFill>
                <a:latin typeface="Arial"/>
                <a:ea typeface="Arial"/>
                <a:cs typeface="Arial"/>
                <a:sym typeface="Arial"/>
              </a:rPr>
              <a:t>Take a PO from upload to delivered.</a:t>
            </a:r>
            <a:endParaRPr sz="1700">
              <a:solidFill>
                <a:schemeClr val="dk1"/>
              </a:solidFill>
              <a:latin typeface="Calibri"/>
              <a:ea typeface="Calibri"/>
              <a:cs typeface="Calibri"/>
              <a:sym typeface="Calibri"/>
            </a:endParaRPr>
          </a:p>
        </p:txBody>
      </p:sp>
      <p:sp>
        <p:nvSpPr>
          <p:cNvPr id="1723" name="Google Shape;1723;p73"/>
          <p:cNvSpPr/>
          <p:nvPr/>
        </p:nvSpPr>
        <p:spPr>
          <a:xfrm>
            <a:off x="411502" y="2914650"/>
            <a:ext cx="384068" cy="384048"/>
          </a:xfrm>
          <a:prstGeom prst="ellipse">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Check_white.png" id="1724" name="Google Shape;1724;p73"/>
          <p:cNvPicPr preferRelativeResize="0"/>
          <p:nvPr/>
        </p:nvPicPr>
        <p:blipFill rotWithShape="1">
          <a:blip r:embed="rId3">
            <a:alphaModFix/>
          </a:blip>
          <a:srcRect b="0" l="0" r="0" t="0"/>
          <a:stretch/>
        </p:blipFill>
        <p:spPr>
          <a:xfrm>
            <a:off x="507519" y="3010662"/>
            <a:ext cx="192024" cy="192024"/>
          </a:xfrm>
          <a:prstGeom prst="rect">
            <a:avLst/>
          </a:prstGeom>
          <a:noFill/>
          <a:ln>
            <a:noFill/>
          </a:ln>
        </p:spPr>
      </p:pic>
      <p:sp>
        <p:nvSpPr>
          <p:cNvPr id="1725" name="Google Shape;1725;p73"/>
          <p:cNvSpPr/>
          <p:nvPr/>
        </p:nvSpPr>
        <p:spPr>
          <a:xfrm>
            <a:off x="1048366" y="2873502"/>
            <a:ext cx="7772700" cy="48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1700"/>
              <a:buFont typeface="Arial"/>
              <a:buNone/>
            </a:pPr>
            <a:r>
              <a:rPr b="1" lang="en-GB" sz="1700">
                <a:solidFill>
                  <a:srgbClr val="1C2B3E"/>
                </a:solidFill>
                <a:latin typeface="Arial"/>
                <a:ea typeface="Arial"/>
                <a:cs typeface="Arial"/>
                <a:sym typeface="Arial"/>
              </a:rPr>
              <a:t>Hand off and pick up across your team.</a:t>
            </a:r>
            <a:endParaRPr sz="1700">
              <a:solidFill>
                <a:schemeClr val="dk1"/>
              </a:solidFill>
              <a:latin typeface="Calibri"/>
              <a:ea typeface="Calibri"/>
              <a:cs typeface="Calibri"/>
              <a:sym typeface="Calibri"/>
            </a:endParaRPr>
          </a:p>
        </p:txBody>
      </p:sp>
      <p:sp>
        <p:nvSpPr>
          <p:cNvPr id="1726" name="Google Shape;1726;p73"/>
          <p:cNvSpPr/>
          <p:nvPr/>
        </p:nvSpPr>
        <p:spPr>
          <a:xfrm>
            <a:off x="411502" y="3634740"/>
            <a:ext cx="384068" cy="384048"/>
          </a:xfrm>
          <a:prstGeom prst="ellipse">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Check_white.png" id="1727" name="Google Shape;1727;p73"/>
          <p:cNvPicPr preferRelativeResize="0"/>
          <p:nvPr/>
        </p:nvPicPr>
        <p:blipFill rotWithShape="1">
          <a:blip r:embed="rId3">
            <a:alphaModFix/>
          </a:blip>
          <a:srcRect b="0" l="0" r="0" t="0"/>
          <a:stretch/>
        </p:blipFill>
        <p:spPr>
          <a:xfrm>
            <a:off x="507519" y="3730752"/>
            <a:ext cx="192024" cy="192024"/>
          </a:xfrm>
          <a:prstGeom prst="rect">
            <a:avLst/>
          </a:prstGeom>
          <a:noFill/>
          <a:ln>
            <a:noFill/>
          </a:ln>
        </p:spPr>
      </p:pic>
      <p:sp>
        <p:nvSpPr>
          <p:cNvPr id="1728" name="Google Shape;1728;p73"/>
          <p:cNvSpPr/>
          <p:nvPr/>
        </p:nvSpPr>
        <p:spPr>
          <a:xfrm>
            <a:off x="1048366" y="3593592"/>
            <a:ext cx="7772700" cy="48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1700"/>
              <a:buFont typeface="Arial"/>
              <a:buNone/>
            </a:pPr>
            <a:r>
              <a:rPr b="1" lang="en-GB" sz="1700">
                <a:solidFill>
                  <a:srgbClr val="1C2B3E"/>
                </a:solidFill>
                <a:latin typeface="Arial"/>
                <a:ea typeface="Arial"/>
                <a:cs typeface="Arial"/>
                <a:sym typeface="Arial"/>
              </a:rPr>
              <a:t>Recognise a stuck state — and know what to do.</a:t>
            </a:r>
            <a:endParaRPr sz="1700">
              <a:solidFill>
                <a:schemeClr val="dk1"/>
              </a:solidFill>
              <a:latin typeface="Calibri"/>
              <a:ea typeface="Calibri"/>
              <a:cs typeface="Calibri"/>
              <a:sym typeface="Calibri"/>
            </a:endParaRPr>
          </a:p>
        </p:txBody>
      </p:sp>
      <p:sp>
        <p:nvSpPr>
          <p:cNvPr id="1729" name="Google Shape;1729;p73"/>
          <p:cNvSpPr txBox="1"/>
          <p:nvPr>
            <p:ph idx="12" type="sldNum"/>
          </p:nvPr>
        </p:nvSpPr>
        <p:spPr>
          <a:xfrm>
            <a:off x="8347216" y="4750189"/>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34" name="Shape 1734"/>
        <p:cNvGrpSpPr/>
        <p:nvPr/>
      </p:nvGrpSpPr>
      <p:grpSpPr>
        <a:xfrm>
          <a:off x="0" y="0"/>
          <a:ext cx="0" cy="0"/>
          <a:chOff x="0" y="0"/>
          <a:chExt cx="0" cy="0"/>
        </a:xfrm>
      </p:grpSpPr>
      <p:sp>
        <p:nvSpPr>
          <p:cNvPr id="1735" name="Google Shape;1735;p74"/>
          <p:cNvSpPr/>
          <p:nvPr/>
        </p:nvSpPr>
        <p:spPr>
          <a:xfrm>
            <a:off x="411502" y="260604"/>
            <a:ext cx="6858366"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21E"/>
              </a:buClr>
              <a:buSzPts val="800"/>
              <a:buFont typeface="Arial"/>
              <a:buNone/>
            </a:pPr>
            <a:r>
              <a:rPr b="1" lang="en-GB" sz="800">
                <a:solidFill>
                  <a:srgbClr val="E8821E"/>
                </a:solidFill>
              </a:rPr>
              <a:t>CLOSE</a:t>
            </a:r>
            <a:endParaRPr b="1" sz="800">
              <a:solidFill>
                <a:schemeClr val="dk1"/>
              </a:solidFill>
              <a:latin typeface="Calibri"/>
              <a:ea typeface="Calibri"/>
              <a:cs typeface="Calibri"/>
              <a:sym typeface="Calibri"/>
            </a:endParaRPr>
          </a:p>
        </p:txBody>
      </p:sp>
      <p:sp>
        <p:nvSpPr>
          <p:cNvPr id="1736" name="Google Shape;1736;p74"/>
          <p:cNvSpPr/>
          <p:nvPr/>
        </p:nvSpPr>
        <p:spPr>
          <a:xfrm>
            <a:off x="411502" y="438912"/>
            <a:ext cx="8321255" cy="4800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C2B3E"/>
              </a:buClr>
              <a:buSzPts val="2200"/>
              <a:buFont typeface="Arial"/>
              <a:buNone/>
            </a:pPr>
            <a:r>
              <a:rPr b="1" lang="en-GB" sz="2200">
                <a:solidFill>
                  <a:srgbClr val="1C2B3E"/>
                </a:solidFill>
                <a:latin typeface="Poppins"/>
                <a:ea typeface="Poppins"/>
                <a:cs typeface="Poppins"/>
                <a:sym typeface="Poppins"/>
              </a:rPr>
              <a:t>Your Monday morning with MAIA.</a:t>
            </a:r>
            <a:endParaRPr sz="2200">
              <a:solidFill>
                <a:schemeClr val="dk1"/>
              </a:solidFill>
              <a:latin typeface="Poppins"/>
              <a:ea typeface="Poppins"/>
              <a:cs typeface="Poppins"/>
              <a:sym typeface="Poppins"/>
            </a:endParaRPr>
          </a:p>
        </p:txBody>
      </p:sp>
      <p:sp>
        <p:nvSpPr>
          <p:cNvPr id="1737" name="Google Shape;1737;p74"/>
          <p:cNvSpPr/>
          <p:nvPr/>
        </p:nvSpPr>
        <p:spPr>
          <a:xfrm>
            <a:off x="411502" y="1405889"/>
            <a:ext cx="2690765" cy="1337310"/>
          </a:xfrm>
          <a:prstGeom prst="roundRect">
            <a:avLst>
              <a:gd fmla="val 6154" name="adj"/>
            </a:avLst>
          </a:prstGeom>
          <a:solidFill>
            <a:srgbClr val="F5F7FA"/>
          </a:solidFill>
          <a:ln>
            <a:noFill/>
          </a:ln>
          <a:effectLst>
            <a:outerShdw blurRad="101600" rotWithShape="0" algn="bl" dir="5400000" dist="38100">
              <a:srgbClr val="1C2B3E">
                <a:alpha val="10196"/>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738" name="Google Shape;1738;p74"/>
          <p:cNvSpPr/>
          <p:nvPr/>
        </p:nvSpPr>
        <p:spPr>
          <a:xfrm>
            <a:off x="589819" y="1584197"/>
            <a:ext cx="1371673" cy="315468"/>
          </a:xfrm>
          <a:prstGeom prst="roundRect">
            <a:avLst>
              <a:gd fmla="val 50000"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User_white.png" id="1739" name="Google Shape;1739;p74"/>
          <p:cNvPicPr preferRelativeResize="0"/>
          <p:nvPr/>
        </p:nvPicPr>
        <p:blipFill rotWithShape="1">
          <a:blip r:embed="rId3">
            <a:alphaModFix/>
          </a:blip>
          <a:srcRect b="0" l="0" r="0" t="0"/>
          <a:stretch/>
        </p:blipFill>
        <p:spPr>
          <a:xfrm>
            <a:off x="704591" y="1659636"/>
            <a:ext cx="157734" cy="157734"/>
          </a:xfrm>
          <a:prstGeom prst="rect">
            <a:avLst/>
          </a:prstGeom>
          <a:noFill/>
          <a:ln>
            <a:noFill/>
          </a:ln>
        </p:spPr>
      </p:pic>
      <p:sp>
        <p:nvSpPr>
          <p:cNvPr id="1740" name="Google Shape;1740;p74"/>
          <p:cNvSpPr/>
          <p:nvPr/>
        </p:nvSpPr>
        <p:spPr>
          <a:xfrm>
            <a:off x="925132" y="1584197"/>
            <a:ext cx="2073600" cy="315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SALES</a:t>
            </a:r>
            <a:endParaRPr sz="800">
              <a:solidFill>
                <a:schemeClr val="dk1"/>
              </a:solidFill>
              <a:latin typeface="Calibri"/>
              <a:ea typeface="Calibri"/>
              <a:cs typeface="Calibri"/>
              <a:sym typeface="Calibri"/>
            </a:endParaRPr>
          </a:p>
        </p:txBody>
      </p:sp>
      <p:sp>
        <p:nvSpPr>
          <p:cNvPr id="1741" name="Google Shape;1741;p74"/>
          <p:cNvSpPr/>
          <p:nvPr/>
        </p:nvSpPr>
        <p:spPr>
          <a:xfrm>
            <a:off x="589819" y="2023109"/>
            <a:ext cx="2334130" cy="6172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B3E"/>
              </a:buClr>
              <a:buSzPts val="1200"/>
              <a:buFont typeface="Arial"/>
              <a:buNone/>
            </a:pPr>
            <a:r>
              <a:rPr b="1" lang="en-GB" sz="1200">
                <a:solidFill>
                  <a:srgbClr val="1C2B3E"/>
                </a:solidFill>
                <a:latin typeface="Arial"/>
                <a:ea typeface="Arial"/>
                <a:cs typeface="Arial"/>
                <a:sym typeface="Arial"/>
              </a:rPr>
              <a:t>Upload your first real customer PO.</a:t>
            </a:r>
            <a:endParaRPr sz="1200">
              <a:solidFill>
                <a:schemeClr val="dk1"/>
              </a:solidFill>
              <a:latin typeface="Calibri"/>
              <a:ea typeface="Calibri"/>
              <a:cs typeface="Calibri"/>
              <a:sym typeface="Calibri"/>
            </a:endParaRPr>
          </a:p>
        </p:txBody>
      </p:sp>
      <p:sp>
        <p:nvSpPr>
          <p:cNvPr id="1742" name="Google Shape;1742;p74"/>
          <p:cNvSpPr/>
          <p:nvPr/>
        </p:nvSpPr>
        <p:spPr>
          <a:xfrm>
            <a:off x="3225718" y="1405889"/>
            <a:ext cx="2690765" cy="1337310"/>
          </a:xfrm>
          <a:prstGeom prst="roundRect">
            <a:avLst>
              <a:gd fmla="val 6154" name="adj"/>
            </a:avLst>
          </a:prstGeom>
          <a:solidFill>
            <a:srgbClr val="F5F7FA"/>
          </a:solidFill>
          <a:ln>
            <a:noFill/>
          </a:ln>
          <a:effectLst>
            <a:outerShdw blurRad="101600" rotWithShape="0" algn="bl" dir="5400000" dist="38100">
              <a:srgbClr val="1C2B3E">
                <a:alpha val="10196"/>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743" name="Google Shape;1743;p74"/>
          <p:cNvSpPr/>
          <p:nvPr/>
        </p:nvSpPr>
        <p:spPr>
          <a:xfrm>
            <a:off x="3404035" y="1584197"/>
            <a:ext cx="1371673" cy="315468"/>
          </a:xfrm>
          <a:prstGeom prst="roundRect">
            <a:avLst>
              <a:gd fmla="val 50000"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Shield_white.png" id="1744" name="Google Shape;1744;p74"/>
          <p:cNvPicPr preferRelativeResize="0"/>
          <p:nvPr/>
        </p:nvPicPr>
        <p:blipFill rotWithShape="1">
          <a:blip r:embed="rId4">
            <a:alphaModFix/>
          </a:blip>
          <a:srcRect b="0" l="0" r="0" t="0"/>
          <a:stretch/>
        </p:blipFill>
        <p:spPr>
          <a:xfrm>
            <a:off x="3518807" y="1659636"/>
            <a:ext cx="157734" cy="157734"/>
          </a:xfrm>
          <a:prstGeom prst="rect">
            <a:avLst/>
          </a:prstGeom>
          <a:noFill/>
          <a:ln>
            <a:noFill/>
          </a:ln>
        </p:spPr>
      </p:pic>
      <p:sp>
        <p:nvSpPr>
          <p:cNvPr id="1745" name="Google Shape;1745;p74"/>
          <p:cNvSpPr/>
          <p:nvPr/>
        </p:nvSpPr>
        <p:spPr>
          <a:xfrm>
            <a:off x="3739348" y="1584197"/>
            <a:ext cx="2073600" cy="315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CREDIT CTRL</a:t>
            </a:r>
            <a:endParaRPr sz="800">
              <a:solidFill>
                <a:schemeClr val="dk1"/>
              </a:solidFill>
              <a:latin typeface="Calibri"/>
              <a:ea typeface="Calibri"/>
              <a:cs typeface="Calibri"/>
              <a:sym typeface="Calibri"/>
            </a:endParaRPr>
          </a:p>
        </p:txBody>
      </p:sp>
      <p:sp>
        <p:nvSpPr>
          <p:cNvPr id="1746" name="Google Shape;1746;p74"/>
          <p:cNvSpPr/>
          <p:nvPr/>
        </p:nvSpPr>
        <p:spPr>
          <a:xfrm>
            <a:off x="3404035" y="2023109"/>
            <a:ext cx="2334130" cy="6172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B3E"/>
              </a:buClr>
              <a:buSzPts val="1200"/>
              <a:buFont typeface="Arial"/>
              <a:buNone/>
            </a:pPr>
            <a:r>
              <a:rPr b="1" lang="en-GB" sz="1200">
                <a:solidFill>
                  <a:srgbClr val="1C2B3E"/>
                </a:solidFill>
                <a:latin typeface="Arial"/>
                <a:ea typeface="Arial"/>
                <a:cs typeface="Arial"/>
                <a:sym typeface="Arial"/>
              </a:rPr>
              <a:t>Review credit limits for your top 10 customers.</a:t>
            </a:r>
            <a:endParaRPr sz="1200">
              <a:solidFill>
                <a:schemeClr val="dk1"/>
              </a:solidFill>
              <a:latin typeface="Calibri"/>
              <a:ea typeface="Calibri"/>
              <a:cs typeface="Calibri"/>
              <a:sym typeface="Calibri"/>
            </a:endParaRPr>
          </a:p>
        </p:txBody>
      </p:sp>
      <p:sp>
        <p:nvSpPr>
          <p:cNvPr id="1747" name="Google Shape;1747;p74"/>
          <p:cNvSpPr/>
          <p:nvPr/>
        </p:nvSpPr>
        <p:spPr>
          <a:xfrm>
            <a:off x="411502" y="2948940"/>
            <a:ext cx="2690765" cy="1337310"/>
          </a:xfrm>
          <a:prstGeom prst="roundRect">
            <a:avLst>
              <a:gd fmla="val 6154" name="adj"/>
            </a:avLst>
          </a:prstGeom>
          <a:solidFill>
            <a:srgbClr val="F5F7FA"/>
          </a:solidFill>
          <a:ln>
            <a:noFill/>
          </a:ln>
          <a:effectLst>
            <a:outerShdw blurRad="101600" rotWithShape="0" algn="bl" dir="5400000" dist="38100">
              <a:srgbClr val="1C2B3E">
                <a:alpha val="10196"/>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748" name="Google Shape;1748;p74"/>
          <p:cNvSpPr/>
          <p:nvPr/>
        </p:nvSpPr>
        <p:spPr>
          <a:xfrm>
            <a:off x="589819" y="3127247"/>
            <a:ext cx="1371673" cy="315468"/>
          </a:xfrm>
          <a:prstGeom prst="roundRect">
            <a:avLst>
              <a:gd fmla="val 50000"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Package_white.png" id="1749" name="Google Shape;1749;p74"/>
          <p:cNvPicPr preferRelativeResize="0"/>
          <p:nvPr/>
        </p:nvPicPr>
        <p:blipFill rotWithShape="1">
          <a:blip r:embed="rId5">
            <a:alphaModFix/>
          </a:blip>
          <a:srcRect b="0" l="0" r="0" t="0"/>
          <a:stretch/>
        </p:blipFill>
        <p:spPr>
          <a:xfrm>
            <a:off x="704591" y="3202686"/>
            <a:ext cx="157734" cy="157734"/>
          </a:xfrm>
          <a:prstGeom prst="rect">
            <a:avLst/>
          </a:prstGeom>
          <a:noFill/>
          <a:ln>
            <a:noFill/>
          </a:ln>
        </p:spPr>
      </p:pic>
      <p:sp>
        <p:nvSpPr>
          <p:cNvPr id="1750" name="Google Shape;1750;p74"/>
          <p:cNvSpPr/>
          <p:nvPr/>
        </p:nvSpPr>
        <p:spPr>
          <a:xfrm>
            <a:off x="925132" y="3127247"/>
            <a:ext cx="2073600" cy="315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LOGISTICS</a:t>
            </a:r>
            <a:endParaRPr sz="800">
              <a:solidFill>
                <a:schemeClr val="dk1"/>
              </a:solidFill>
              <a:latin typeface="Calibri"/>
              <a:ea typeface="Calibri"/>
              <a:cs typeface="Calibri"/>
              <a:sym typeface="Calibri"/>
            </a:endParaRPr>
          </a:p>
        </p:txBody>
      </p:sp>
      <p:sp>
        <p:nvSpPr>
          <p:cNvPr id="1751" name="Google Shape;1751;p74"/>
          <p:cNvSpPr/>
          <p:nvPr/>
        </p:nvSpPr>
        <p:spPr>
          <a:xfrm>
            <a:off x="589819" y="3566160"/>
            <a:ext cx="2334130" cy="6172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B3E"/>
              </a:buClr>
              <a:buSzPts val="1200"/>
              <a:buFont typeface="Arial"/>
              <a:buNone/>
            </a:pPr>
            <a:r>
              <a:rPr b="1" lang="en-GB" sz="1200">
                <a:solidFill>
                  <a:srgbClr val="1C2B3E"/>
                </a:solidFill>
                <a:latin typeface="Arial"/>
                <a:ea typeface="Arial"/>
                <a:cs typeface="Arial"/>
                <a:sym typeface="Arial"/>
              </a:rPr>
              <a:t>Run one Pick List → Delivery Note.</a:t>
            </a:r>
            <a:endParaRPr sz="1200">
              <a:solidFill>
                <a:schemeClr val="dk1"/>
              </a:solidFill>
              <a:latin typeface="Calibri"/>
              <a:ea typeface="Calibri"/>
              <a:cs typeface="Calibri"/>
              <a:sym typeface="Calibri"/>
            </a:endParaRPr>
          </a:p>
        </p:txBody>
      </p:sp>
      <p:sp>
        <p:nvSpPr>
          <p:cNvPr id="1752" name="Google Shape;1752;p74"/>
          <p:cNvSpPr/>
          <p:nvPr/>
        </p:nvSpPr>
        <p:spPr>
          <a:xfrm>
            <a:off x="3225718" y="2948940"/>
            <a:ext cx="2690765" cy="1337310"/>
          </a:xfrm>
          <a:prstGeom prst="roundRect">
            <a:avLst>
              <a:gd fmla="val 6154" name="adj"/>
            </a:avLst>
          </a:prstGeom>
          <a:solidFill>
            <a:srgbClr val="F5F7FA"/>
          </a:solidFill>
          <a:ln>
            <a:noFill/>
          </a:ln>
          <a:effectLst>
            <a:outerShdw blurRad="101600" rotWithShape="0" algn="bl" dir="5400000" dist="38100">
              <a:srgbClr val="1C2B3E">
                <a:alpha val="10196"/>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753" name="Google Shape;1753;p74"/>
          <p:cNvSpPr/>
          <p:nvPr/>
        </p:nvSpPr>
        <p:spPr>
          <a:xfrm>
            <a:off x="3404035" y="3127247"/>
            <a:ext cx="1371673" cy="315468"/>
          </a:xfrm>
          <a:prstGeom prst="roundRect">
            <a:avLst>
              <a:gd fmla="val 50000"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Truck_white.png" id="1754" name="Google Shape;1754;p74"/>
          <p:cNvPicPr preferRelativeResize="0"/>
          <p:nvPr/>
        </p:nvPicPr>
        <p:blipFill rotWithShape="1">
          <a:blip r:embed="rId6">
            <a:alphaModFix/>
          </a:blip>
          <a:srcRect b="0" l="0" r="0" t="0"/>
          <a:stretch/>
        </p:blipFill>
        <p:spPr>
          <a:xfrm>
            <a:off x="3518807" y="3202686"/>
            <a:ext cx="157734" cy="157734"/>
          </a:xfrm>
          <a:prstGeom prst="rect">
            <a:avLst/>
          </a:prstGeom>
          <a:noFill/>
          <a:ln>
            <a:noFill/>
          </a:ln>
        </p:spPr>
      </p:pic>
      <p:sp>
        <p:nvSpPr>
          <p:cNvPr id="1755" name="Google Shape;1755;p74"/>
          <p:cNvSpPr/>
          <p:nvPr/>
        </p:nvSpPr>
        <p:spPr>
          <a:xfrm>
            <a:off x="3739348" y="3127247"/>
            <a:ext cx="2073600" cy="315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DRIVER</a:t>
            </a:r>
            <a:endParaRPr sz="800">
              <a:solidFill>
                <a:schemeClr val="dk1"/>
              </a:solidFill>
              <a:latin typeface="Calibri"/>
              <a:ea typeface="Calibri"/>
              <a:cs typeface="Calibri"/>
              <a:sym typeface="Calibri"/>
            </a:endParaRPr>
          </a:p>
        </p:txBody>
      </p:sp>
      <p:sp>
        <p:nvSpPr>
          <p:cNvPr id="1756" name="Google Shape;1756;p74"/>
          <p:cNvSpPr/>
          <p:nvPr/>
        </p:nvSpPr>
        <p:spPr>
          <a:xfrm>
            <a:off x="3404035" y="3566160"/>
            <a:ext cx="2334130" cy="6172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B3E"/>
              </a:buClr>
              <a:buSzPts val="1200"/>
              <a:buFont typeface="Arial"/>
              <a:buNone/>
            </a:pPr>
            <a:r>
              <a:rPr b="1" lang="en-GB" sz="1200">
                <a:solidFill>
                  <a:srgbClr val="1C2B3E"/>
                </a:solidFill>
                <a:latin typeface="Arial"/>
                <a:ea typeface="Arial"/>
                <a:cs typeface="Arial"/>
                <a:sym typeface="Arial"/>
              </a:rPr>
              <a:t>Complete one delivery with POD captured.</a:t>
            </a:r>
            <a:endParaRPr sz="1200">
              <a:solidFill>
                <a:schemeClr val="dk1"/>
              </a:solidFill>
              <a:latin typeface="Calibri"/>
              <a:ea typeface="Calibri"/>
              <a:cs typeface="Calibri"/>
              <a:sym typeface="Calibri"/>
            </a:endParaRPr>
          </a:p>
        </p:txBody>
      </p:sp>
      <p:sp>
        <p:nvSpPr>
          <p:cNvPr id="1757" name="Google Shape;1757;p74"/>
          <p:cNvSpPr/>
          <p:nvPr/>
        </p:nvSpPr>
        <p:spPr>
          <a:xfrm>
            <a:off x="6039934" y="1405889"/>
            <a:ext cx="2690765" cy="1337310"/>
          </a:xfrm>
          <a:prstGeom prst="roundRect">
            <a:avLst>
              <a:gd fmla="val 6154" name="adj"/>
            </a:avLst>
          </a:prstGeom>
          <a:solidFill>
            <a:srgbClr val="F5F7FA"/>
          </a:solidFill>
          <a:ln>
            <a:noFill/>
          </a:ln>
          <a:effectLst>
            <a:outerShdw blurRad="101600" rotWithShape="0" algn="bl" dir="5400000" dist="38100">
              <a:srgbClr val="1C2B3E">
                <a:alpha val="10196"/>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758" name="Google Shape;1758;p74"/>
          <p:cNvSpPr/>
          <p:nvPr/>
        </p:nvSpPr>
        <p:spPr>
          <a:xfrm>
            <a:off x="6218252" y="1584197"/>
            <a:ext cx="1371673" cy="315468"/>
          </a:xfrm>
          <a:prstGeom prst="roundRect">
            <a:avLst>
              <a:gd fmla="val 50000"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Package_white.png" id="1759" name="Google Shape;1759;p74"/>
          <p:cNvPicPr preferRelativeResize="0"/>
          <p:nvPr/>
        </p:nvPicPr>
        <p:blipFill rotWithShape="1">
          <a:blip r:embed="rId5">
            <a:alphaModFix/>
          </a:blip>
          <a:srcRect b="0" l="0" r="0" t="0"/>
          <a:stretch/>
        </p:blipFill>
        <p:spPr>
          <a:xfrm>
            <a:off x="6333023" y="1659636"/>
            <a:ext cx="157734" cy="157734"/>
          </a:xfrm>
          <a:prstGeom prst="rect">
            <a:avLst/>
          </a:prstGeom>
          <a:noFill/>
          <a:ln>
            <a:noFill/>
          </a:ln>
        </p:spPr>
      </p:pic>
      <p:sp>
        <p:nvSpPr>
          <p:cNvPr id="1760" name="Google Shape;1760;p74"/>
          <p:cNvSpPr/>
          <p:nvPr/>
        </p:nvSpPr>
        <p:spPr>
          <a:xfrm>
            <a:off x="6553564" y="1584197"/>
            <a:ext cx="2073600" cy="315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FINANCE · AR</a:t>
            </a:r>
            <a:endParaRPr sz="800">
              <a:solidFill>
                <a:schemeClr val="dk1"/>
              </a:solidFill>
              <a:latin typeface="Calibri"/>
              <a:ea typeface="Calibri"/>
              <a:cs typeface="Calibri"/>
              <a:sym typeface="Calibri"/>
            </a:endParaRPr>
          </a:p>
        </p:txBody>
      </p:sp>
      <p:sp>
        <p:nvSpPr>
          <p:cNvPr id="1761" name="Google Shape;1761;p74"/>
          <p:cNvSpPr/>
          <p:nvPr/>
        </p:nvSpPr>
        <p:spPr>
          <a:xfrm>
            <a:off x="6218252" y="2023109"/>
            <a:ext cx="2334130" cy="6172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B3E"/>
              </a:buClr>
              <a:buSzPts val="1200"/>
              <a:buFont typeface="Arial"/>
              <a:buNone/>
            </a:pPr>
            <a:r>
              <a:rPr b="1" lang="en-GB" sz="1200">
                <a:solidFill>
                  <a:srgbClr val="1C2B3E"/>
                </a:solidFill>
                <a:latin typeface="Arial"/>
                <a:ea typeface="Arial"/>
                <a:cs typeface="Arial"/>
                <a:sym typeface="Arial"/>
              </a:rPr>
              <a:t>Match one bank receipt to its invoice.</a:t>
            </a:r>
            <a:endParaRPr sz="1200">
              <a:solidFill>
                <a:schemeClr val="dk1"/>
              </a:solidFill>
              <a:latin typeface="Calibri"/>
              <a:ea typeface="Calibri"/>
              <a:cs typeface="Calibri"/>
              <a:sym typeface="Calibri"/>
            </a:endParaRPr>
          </a:p>
        </p:txBody>
      </p:sp>
      <p:sp>
        <p:nvSpPr>
          <p:cNvPr id="1762" name="Google Shape;1762;p74"/>
          <p:cNvSpPr/>
          <p:nvPr/>
        </p:nvSpPr>
        <p:spPr>
          <a:xfrm>
            <a:off x="6039934" y="2948940"/>
            <a:ext cx="2690765" cy="1337310"/>
          </a:xfrm>
          <a:prstGeom prst="roundRect">
            <a:avLst>
              <a:gd fmla="val 6154" name="adj"/>
            </a:avLst>
          </a:prstGeom>
          <a:solidFill>
            <a:srgbClr val="F5F7FA"/>
          </a:solidFill>
          <a:ln>
            <a:noFill/>
          </a:ln>
          <a:effectLst>
            <a:outerShdw blurRad="101600" rotWithShape="0" algn="bl" dir="5400000" dist="38100">
              <a:srgbClr val="1C2B3E">
                <a:alpha val="10196"/>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763" name="Google Shape;1763;p74"/>
          <p:cNvSpPr/>
          <p:nvPr/>
        </p:nvSpPr>
        <p:spPr>
          <a:xfrm>
            <a:off x="6218252" y="3127247"/>
            <a:ext cx="1371673" cy="315468"/>
          </a:xfrm>
          <a:prstGeom prst="roundRect">
            <a:avLst>
              <a:gd fmla="val 50000"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Truck_white.png" id="1764" name="Google Shape;1764;p74"/>
          <p:cNvPicPr preferRelativeResize="0"/>
          <p:nvPr/>
        </p:nvPicPr>
        <p:blipFill rotWithShape="1">
          <a:blip r:embed="rId6">
            <a:alphaModFix/>
          </a:blip>
          <a:srcRect b="0" l="0" r="0" t="0"/>
          <a:stretch/>
        </p:blipFill>
        <p:spPr>
          <a:xfrm>
            <a:off x="6333023" y="3202686"/>
            <a:ext cx="157734" cy="157734"/>
          </a:xfrm>
          <a:prstGeom prst="rect">
            <a:avLst/>
          </a:prstGeom>
          <a:noFill/>
          <a:ln>
            <a:noFill/>
          </a:ln>
        </p:spPr>
      </p:pic>
      <p:sp>
        <p:nvSpPr>
          <p:cNvPr id="1765" name="Google Shape;1765;p74"/>
          <p:cNvSpPr/>
          <p:nvPr/>
        </p:nvSpPr>
        <p:spPr>
          <a:xfrm>
            <a:off x="6553564" y="3127247"/>
            <a:ext cx="2073600" cy="315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FINANCE · AP</a:t>
            </a:r>
            <a:endParaRPr sz="800">
              <a:solidFill>
                <a:schemeClr val="dk1"/>
              </a:solidFill>
              <a:latin typeface="Calibri"/>
              <a:ea typeface="Calibri"/>
              <a:cs typeface="Calibri"/>
              <a:sym typeface="Calibri"/>
            </a:endParaRPr>
          </a:p>
        </p:txBody>
      </p:sp>
      <p:sp>
        <p:nvSpPr>
          <p:cNvPr id="1766" name="Google Shape;1766;p74"/>
          <p:cNvSpPr/>
          <p:nvPr/>
        </p:nvSpPr>
        <p:spPr>
          <a:xfrm>
            <a:off x="6218252" y="3566160"/>
            <a:ext cx="2334130" cy="6172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B3E"/>
              </a:buClr>
              <a:buSzPts val="1200"/>
              <a:buFont typeface="Arial"/>
              <a:buNone/>
            </a:pPr>
            <a:r>
              <a:rPr b="1" lang="en-GB" sz="1200">
                <a:solidFill>
                  <a:srgbClr val="1C2B3E"/>
                </a:solidFill>
                <a:latin typeface="Arial"/>
                <a:ea typeface="Arial"/>
                <a:cs typeface="Arial"/>
                <a:sym typeface="Arial"/>
              </a:rPr>
              <a:t>Match one supplier invoice before paying.</a:t>
            </a:r>
            <a:endParaRPr sz="1200">
              <a:solidFill>
                <a:schemeClr val="dk1"/>
              </a:solidFill>
              <a:latin typeface="Calibri"/>
              <a:ea typeface="Calibri"/>
              <a:cs typeface="Calibri"/>
              <a:sym typeface="Calibri"/>
            </a:endParaRPr>
          </a:p>
        </p:txBody>
      </p:sp>
      <p:sp>
        <p:nvSpPr>
          <p:cNvPr id="1767" name="Google Shape;1767;p74"/>
          <p:cNvSpPr txBox="1"/>
          <p:nvPr>
            <p:ph idx="12" type="sldNum"/>
          </p:nvPr>
        </p:nvSpPr>
        <p:spPr>
          <a:xfrm>
            <a:off x="8347216" y="4750189"/>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72" name="Shape 1772"/>
        <p:cNvGrpSpPr/>
        <p:nvPr/>
      </p:nvGrpSpPr>
      <p:grpSpPr>
        <a:xfrm>
          <a:off x="0" y="0"/>
          <a:ext cx="0" cy="0"/>
          <a:chOff x="0" y="0"/>
          <a:chExt cx="0" cy="0"/>
        </a:xfrm>
      </p:grpSpPr>
      <p:sp>
        <p:nvSpPr>
          <p:cNvPr id="1773" name="Google Shape;1773;p75"/>
          <p:cNvSpPr/>
          <p:nvPr/>
        </p:nvSpPr>
        <p:spPr>
          <a:xfrm>
            <a:off x="411502" y="260604"/>
            <a:ext cx="6858366"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CLOSE</a:t>
            </a:r>
            <a:endParaRPr sz="800">
              <a:solidFill>
                <a:schemeClr val="dk1"/>
              </a:solidFill>
              <a:latin typeface="Calibri"/>
              <a:ea typeface="Calibri"/>
              <a:cs typeface="Calibri"/>
              <a:sym typeface="Calibri"/>
            </a:endParaRPr>
          </a:p>
        </p:txBody>
      </p:sp>
      <p:sp>
        <p:nvSpPr>
          <p:cNvPr id="1774" name="Google Shape;1774;p75"/>
          <p:cNvSpPr/>
          <p:nvPr/>
        </p:nvSpPr>
        <p:spPr>
          <a:xfrm>
            <a:off x="411502" y="438912"/>
            <a:ext cx="8321255" cy="4800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C2B3E"/>
              </a:buClr>
              <a:buSzPts val="2200"/>
              <a:buFont typeface="Arial"/>
              <a:buNone/>
            </a:pPr>
            <a:r>
              <a:rPr b="1" lang="en-GB" sz="2200">
                <a:solidFill>
                  <a:srgbClr val="1C2B3E"/>
                </a:solidFill>
                <a:latin typeface="Poppins"/>
                <a:ea typeface="Poppins"/>
                <a:cs typeface="Poppins"/>
                <a:sym typeface="Poppins"/>
              </a:rPr>
              <a:t>When you get stuck.</a:t>
            </a:r>
            <a:endParaRPr sz="2200">
              <a:solidFill>
                <a:schemeClr val="dk1"/>
              </a:solidFill>
              <a:latin typeface="Poppins"/>
              <a:ea typeface="Poppins"/>
              <a:cs typeface="Poppins"/>
              <a:sym typeface="Poppins"/>
            </a:endParaRPr>
          </a:p>
        </p:txBody>
      </p:sp>
      <p:sp>
        <p:nvSpPr>
          <p:cNvPr id="1775" name="Google Shape;1775;p75"/>
          <p:cNvSpPr/>
          <p:nvPr/>
        </p:nvSpPr>
        <p:spPr>
          <a:xfrm>
            <a:off x="411477" y="2556995"/>
            <a:ext cx="1783200" cy="1440300"/>
          </a:xfrm>
          <a:prstGeom prst="roundRect">
            <a:avLst>
              <a:gd fmla="val 5714" name="adj"/>
            </a:avLst>
          </a:prstGeom>
          <a:solidFill>
            <a:srgbClr val="F5F7FA"/>
          </a:solidFill>
          <a:ln>
            <a:noFill/>
          </a:ln>
          <a:effectLst>
            <a:outerShdw blurRad="101600" rotWithShape="0" algn="bl" dir="5400000" dist="38100">
              <a:srgbClr val="1C2B3E">
                <a:alpha val="10196"/>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776" name="Google Shape;1776;p75"/>
          <p:cNvSpPr/>
          <p:nvPr/>
        </p:nvSpPr>
        <p:spPr>
          <a:xfrm>
            <a:off x="994438" y="2865605"/>
            <a:ext cx="617400" cy="617100"/>
          </a:xfrm>
          <a:prstGeom prst="ellipse">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HelpCircle_white.png" id="1777" name="Google Shape;1777;p75"/>
          <p:cNvPicPr preferRelativeResize="0"/>
          <p:nvPr/>
        </p:nvPicPr>
        <p:blipFill rotWithShape="1">
          <a:blip r:embed="rId3">
            <a:alphaModFix/>
          </a:blip>
          <a:srcRect b="0" l="0" r="0" t="0"/>
          <a:stretch/>
        </p:blipFill>
        <p:spPr>
          <a:xfrm>
            <a:off x="1148751" y="3019910"/>
            <a:ext cx="308610" cy="308610"/>
          </a:xfrm>
          <a:prstGeom prst="rect">
            <a:avLst/>
          </a:prstGeom>
          <a:noFill/>
          <a:ln>
            <a:noFill/>
          </a:ln>
        </p:spPr>
      </p:pic>
      <p:sp>
        <p:nvSpPr>
          <p:cNvPr id="1778" name="Google Shape;1778;p75"/>
          <p:cNvSpPr/>
          <p:nvPr/>
        </p:nvSpPr>
        <p:spPr>
          <a:xfrm>
            <a:off x="411477" y="3585695"/>
            <a:ext cx="17832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2B3E"/>
              </a:buClr>
              <a:buSzPts val="1200"/>
              <a:buFont typeface="Arial"/>
              <a:buNone/>
            </a:pPr>
            <a:r>
              <a:rPr b="1" lang="en-GB" sz="1200">
                <a:solidFill>
                  <a:srgbClr val="1C2B3E"/>
                </a:solidFill>
                <a:latin typeface="Arial"/>
                <a:ea typeface="Arial"/>
                <a:cs typeface="Arial"/>
                <a:sym typeface="Arial"/>
              </a:rPr>
              <a:t>Stuck?</a:t>
            </a:r>
            <a:endParaRPr sz="1200">
              <a:solidFill>
                <a:schemeClr val="dk1"/>
              </a:solidFill>
              <a:latin typeface="Calibri"/>
              <a:ea typeface="Calibri"/>
              <a:cs typeface="Calibri"/>
              <a:sym typeface="Calibri"/>
            </a:endParaRPr>
          </a:p>
        </p:txBody>
      </p:sp>
      <p:sp>
        <p:nvSpPr>
          <p:cNvPr id="1779" name="Google Shape;1779;p75"/>
          <p:cNvSpPr/>
          <p:nvPr/>
        </p:nvSpPr>
        <p:spPr>
          <a:xfrm>
            <a:off x="2297527" y="3105635"/>
            <a:ext cx="2742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821E"/>
              </a:buClr>
              <a:buSzPts val="2600"/>
              <a:buFont typeface="Arial"/>
              <a:buNone/>
            </a:pPr>
            <a:r>
              <a:rPr b="1" lang="en-GB" sz="2600">
                <a:solidFill>
                  <a:srgbClr val="E8821E"/>
                </a:solidFill>
                <a:latin typeface="Arial"/>
                <a:ea typeface="Arial"/>
                <a:cs typeface="Arial"/>
                <a:sym typeface="Arial"/>
              </a:rPr>
              <a:t>›</a:t>
            </a:r>
            <a:endParaRPr sz="2600">
              <a:solidFill>
                <a:schemeClr val="dk1"/>
              </a:solidFill>
              <a:latin typeface="Calibri"/>
              <a:ea typeface="Calibri"/>
              <a:cs typeface="Calibri"/>
              <a:sym typeface="Calibri"/>
            </a:endParaRPr>
          </a:p>
        </p:txBody>
      </p:sp>
      <p:sp>
        <p:nvSpPr>
          <p:cNvPr id="1780" name="Google Shape;1780;p75"/>
          <p:cNvSpPr/>
          <p:nvPr/>
        </p:nvSpPr>
        <p:spPr>
          <a:xfrm>
            <a:off x="411302" y="1219255"/>
            <a:ext cx="8321400" cy="1028700"/>
          </a:xfrm>
          <a:prstGeom prst="roundRect">
            <a:avLst>
              <a:gd fmla="val 8000" name="adj"/>
            </a:avLst>
          </a:prstGeom>
          <a:solidFill>
            <a:srgbClr val="FBEBD9"/>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781" name="Google Shape;1781;p75"/>
          <p:cNvSpPr/>
          <p:nvPr/>
        </p:nvSpPr>
        <p:spPr>
          <a:xfrm>
            <a:off x="575903" y="1342699"/>
            <a:ext cx="79920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1000"/>
              <a:buFont typeface="Arial"/>
              <a:buNone/>
            </a:pPr>
            <a:r>
              <a:rPr b="1" lang="en-GB" sz="1000">
                <a:solidFill>
                  <a:srgbClr val="1C2B3E"/>
                </a:solidFill>
                <a:latin typeface="Arial"/>
                <a:ea typeface="Arial"/>
                <a:cs typeface="Arial"/>
                <a:sym typeface="Arial"/>
              </a:rPr>
              <a:t>Most common block — low-confidence item map</a:t>
            </a:r>
            <a:endParaRPr sz="1000">
              <a:solidFill>
                <a:schemeClr val="dk1"/>
              </a:solidFill>
              <a:latin typeface="Calibri"/>
              <a:ea typeface="Calibri"/>
              <a:cs typeface="Calibri"/>
              <a:sym typeface="Calibri"/>
            </a:endParaRPr>
          </a:p>
        </p:txBody>
      </p:sp>
      <p:sp>
        <p:nvSpPr>
          <p:cNvPr id="1782" name="Google Shape;1782;p75"/>
          <p:cNvSpPr/>
          <p:nvPr/>
        </p:nvSpPr>
        <p:spPr>
          <a:xfrm>
            <a:off x="575903" y="1699315"/>
            <a:ext cx="274200" cy="274200"/>
          </a:xfrm>
          <a:prstGeom prst="ellipse">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783" name="Google Shape;1783;p75"/>
          <p:cNvSpPr/>
          <p:nvPr/>
        </p:nvSpPr>
        <p:spPr>
          <a:xfrm>
            <a:off x="575903" y="1699315"/>
            <a:ext cx="2742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Arial"/>
              <a:buNone/>
            </a:pPr>
            <a:r>
              <a:rPr b="1" lang="en-GB" sz="1000">
                <a:solidFill>
                  <a:srgbClr val="FFFFFF"/>
                </a:solidFill>
                <a:latin typeface="Arial"/>
                <a:ea typeface="Arial"/>
                <a:cs typeface="Arial"/>
                <a:sym typeface="Arial"/>
              </a:rPr>
              <a:t>1</a:t>
            </a:r>
            <a:endParaRPr sz="1000">
              <a:solidFill>
                <a:schemeClr val="dk1"/>
              </a:solidFill>
              <a:latin typeface="Calibri"/>
              <a:ea typeface="Calibri"/>
              <a:cs typeface="Calibri"/>
              <a:sym typeface="Calibri"/>
            </a:endParaRPr>
          </a:p>
        </p:txBody>
      </p:sp>
      <p:sp>
        <p:nvSpPr>
          <p:cNvPr id="1784" name="Google Shape;1784;p75"/>
          <p:cNvSpPr/>
          <p:nvPr/>
        </p:nvSpPr>
        <p:spPr>
          <a:xfrm>
            <a:off x="918821" y="1671883"/>
            <a:ext cx="151800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900"/>
              <a:buFont typeface="Arial"/>
              <a:buNone/>
            </a:pPr>
            <a:r>
              <a:rPr b="1" lang="en-GB" sz="900">
                <a:solidFill>
                  <a:srgbClr val="1C2B3E"/>
                </a:solidFill>
                <a:latin typeface="Arial"/>
                <a:ea typeface="Arial"/>
                <a:cs typeface="Arial"/>
                <a:sym typeface="Arial"/>
              </a:rPr>
              <a:t>Tap the amber line</a:t>
            </a:r>
            <a:endParaRPr sz="900">
              <a:solidFill>
                <a:schemeClr val="dk1"/>
              </a:solidFill>
              <a:latin typeface="Calibri"/>
              <a:ea typeface="Calibri"/>
              <a:cs typeface="Calibri"/>
              <a:sym typeface="Calibri"/>
            </a:endParaRPr>
          </a:p>
        </p:txBody>
      </p:sp>
      <p:sp>
        <p:nvSpPr>
          <p:cNvPr id="1785" name="Google Shape;1785;p75"/>
          <p:cNvSpPr/>
          <p:nvPr/>
        </p:nvSpPr>
        <p:spPr>
          <a:xfrm>
            <a:off x="2333873" y="1671883"/>
            <a:ext cx="2742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821E"/>
              </a:buClr>
              <a:buSzPts val="1500"/>
              <a:buFont typeface="Arial"/>
              <a:buNone/>
            </a:pPr>
            <a:r>
              <a:rPr b="1" lang="en-GB" sz="1500">
                <a:solidFill>
                  <a:srgbClr val="E8821E"/>
                </a:solidFill>
                <a:latin typeface="Arial"/>
                <a:ea typeface="Arial"/>
                <a:cs typeface="Arial"/>
                <a:sym typeface="Arial"/>
              </a:rPr>
              <a:t>›</a:t>
            </a:r>
            <a:endParaRPr sz="1500">
              <a:solidFill>
                <a:schemeClr val="dk1"/>
              </a:solidFill>
              <a:latin typeface="Calibri"/>
              <a:ea typeface="Calibri"/>
              <a:cs typeface="Calibri"/>
              <a:sym typeface="Calibri"/>
            </a:endParaRPr>
          </a:p>
        </p:txBody>
      </p:sp>
      <p:sp>
        <p:nvSpPr>
          <p:cNvPr id="1786" name="Google Shape;1786;p75"/>
          <p:cNvSpPr/>
          <p:nvPr/>
        </p:nvSpPr>
        <p:spPr>
          <a:xfrm>
            <a:off x="2573916" y="1699315"/>
            <a:ext cx="274200" cy="274200"/>
          </a:xfrm>
          <a:prstGeom prst="ellipse">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787" name="Google Shape;1787;p75"/>
          <p:cNvSpPr/>
          <p:nvPr/>
        </p:nvSpPr>
        <p:spPr>
          <a:xfrm>
            <a:off x="2573916" y="1699315"/>
            <a:ext cx="2742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Arial"/>
              <a:buNone/>
            </a:pPr>
            <a:r>
              <a:rPr b="1" lang="en-GB" sz="1000">
                <a:solidFill>
                  <a:srgbClr val="FFFFFF"/>
                </a:solidFill>
                <a:latin typeface="Arial"/>
                <a:ea typeface="Arial"/>
                <a:cs typeface="Arial"/>
                <a:sym typeface="Arial"/>
              </a:rPr>
              <a:t>2</a:t>
            </a:r>
            <a:endParaRPr sz="1000">
              <a:solidFill>
                <a:schemeClr val="dk1"/>
              </a:solidFill>
              <a:latin typeface="Calibri"/>
              <a:ea typeface="Calibri"/>
              <a:cs typeface="Calibri"/>
              <a:sym typeface="Calibri"/>
            </a:endParaRPr>
          </a:p>
        </p:txBody>
      </p:sp>
      <p:sp>
        <p:nvSpPr>
          <p:cNvPr id="1788" name="Google Shape;1788;p75"/>
          <p:cNvSpPr/>
          <p:nvPr/>
        </p:nvSpPr>
        <p:spPr>
          <a:xfrm>
            <a:off x="2916835" y="1671883"/>
            <a:ext cx="151800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900"/>
              <a:buFont typeface="Arial"/>
              <a:buNone/>
            </a:pPr>
            <a:r>
              <a:rPr b="1" lang="en-GB" sz="900">
                <a:solidFill>
                  <a:srgbClr val="1C2B3E"/>
                </a:solidFill>
                <a:latin typeface="Arial"/>
                <a:ea typeface="Arial"/>
                <a:cs typeface="Arial"/>
                <a:sym typeface="Arial"/>
              </a:rPr>
              <a:t>Pick the right item</a:t>
            </a:r>
            <a:endParaRPr sz="900">
              <a:solidFill>
                <a:schemeClr val="dk1"/>
              </a:solidFill>
              <a:latin typeface="Calibri"/>
              <a:ea typeface="Calibri"/>
              <a:cs typeface="Calibri"/>
              <a:sym typeface="Calibri"/>
            </a:endParaRPr>
          </a:p>
        </p:txBody>
      </p:sp>
      <p:sp>
        <p:nvSpPr>
          <p:cNvPr id="1789" name="Google Shape;1789;p75"/>
          <p:cNvSpPr/>
          <p:nvPr/>
        </p:nvSpPr>
        <p:spPr>
          <a:xfrm>
            <a:off x="4331887" y="1671883"/>
            <a:ext cx="2742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821E"/>
              </a:buClr>
              <a:buSzPts val="1500"/>
              <a:buFont typeface="Arial"/>
              <a:buNone/>
            </a:pPr>
            <a:r>
              <a:rPr b="1" lang="en-GB" sz="1500">
                <a:solidFill>
                  <a:srgbClr val="E8821E"/>
                </a:solidFill>
                <a:latin typeface="Arial"/>
                <a:ea typeface="Arial"/>
                <a:cs typeface="Arial"/>
                <a:sym typeface="Arial"/>
              </a:rPr>
              <a:t>›</a:t>
            </a:r>
            <a:endParaRPr sz="1500">
              <a:solidFill>
                <a:schemeClr val="dk1"/>
              </a:solidFill>
              <a:latin typeface="Calibri"/>
              <a:ea typeface="Calibri"/>
              <a:cs typeface="Calibri"/>
              <a:sym typeface="Calibri"/>
            </a:endParaRPr>
          </a:p>
        </p:txBody>
      </p:sp>
      <p:sp>
        <p:nvSpPr>
          <p:cNvPr id="1790" name="Google Shape;1790;p75"/>
          <p:cNvSpPr/>
          <p:nvPr/>
        </p:nvSpPr>
        <p:spPr>
          <a:xfrm>
            <a:off x="4571930" y="1699315"/>
            <a:ext cx="274200" cy="274200"/>
          </a:xfrm>
          <a:prstGeom prst="ellipse">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791" name="Google Shape;1791;p75"/>
          <p:cNvSpPr/>
          <p:nvPr/>
        </p:nvSpPr>
        <p:spPr>
          <a:xfrm>
            <a:off x="4571930" y="1699315"/>
            <a:ext cx="2742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Arial"/>
              <a:buNone/>
            </a:pPr>
            <a:r>
              <a:rPr b="1" lang="en-GB" sz="1000">
                <a:solidFill>
                  <a:srgbClr val="FFFFFF"/>
                </a:solidFill>
                <a:latin typeface="Arial"/>
                <a:ea typeface="Arial"/>
                <a:cs typeface="Arial"/>
                <a:sym typeface="Arial"/>
              </a:rPr>
              <a:t>3</a:t>
            </a:r>
            <a:endParaRPr sz="1000">
              <a:solidFill>
                <a:schemeClr val="dk1"/>
              </a:solidFill>
              <a:latin typeface="Calibri"/>
              <a:ea typeface="Calibri"/>
              <a:cs typeface="Calibri"/>
              <a:sym typeface="Calibri"/>
            </a:endParaRPr>
          </a:p>
        </p:txBody>
      </p:sp>
      <p:sp>
        <p:nvSpPr>
          <p:cNvPr id="1792" name="Google Shape;1792;p75"/>
          <p:cNvSpPr/>
          <p:nvPr/>
        </p:nvSpPr>
        <p:spPr>
          <a:xfrm>
            <a:off x="4914848" y="1671883"/>
            <a:ext cx="151800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900"/>
              <a:buFont typeface="Arial"/>
              <a:buNone/>
            </a:pPr>
            <a:r>
              <a:rPr b="1" lang="en-GB" sz="900">
                <a:solidFill>
                  <a:srgbClr val="1C2B3E"/>
                </a:solidFill>
                <a:latin typeface="Arial"/>
                <a:ea typeface="Arial"/>
                <a:cs typeface="Arial"/>
                <a:sym typeface="Arial"/>
              </a:rPr>
              <a:t>Confirm</a:t>
            </a:r>
            <a:endParaRPr sz="900">
              <a:solidFill>
                <a:schemeClr val="dk1"/>
              </a:solidFill>
              <a:latin typeface="Calibri"/>
              <a:ea typeface="Calibri"/>
              <a:cs typeface="Calibri"/>
              <a:sym typeface="Calibri"/>
            </a:endParaRPr>
          </a:p>
        </p:txBody>
      </p:sp>
      <p:sp>
        <p:nvSpPr>
          <p:cNvPr id="1793" name="Google Shape;1793;p75"/>
          <p:cNvSpPr/>
          <p:nvPr/>
        </p:nvSpPr>
        <p:spPr>
          <a:xfrm>
            <a:off x="6329900" y="1671883"/>
            <a:ext cx="2742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821E"/>
              </a:buClr>
              <a:buSzPts val="1500"/>
              <a:buFont typeface="Arial"/>
              <a:buNone/>
            </a:pPr>
            <a:r>
              <a:rPr b="1" lang="en-GB" sz="1500">
                <a:solidFill>
                  <a:srgbClr val="E8821E"/>
                </a:solidFill>
                <a:latin typeface="Arial"/>
                <a:ea typeface="Arial"/>
                <a:cs typeface="Arial"/>
                <a:sym typeface="Arial"/>
              </a:rPr>
              <a:t>›</a:t>
            </a:r>
            <a:endParaRPr sz="1500">
              <a:solidFill>
                <a:schemeClr val="dk1"/>
              </a:solidFill>
              <a:latin typeface="Calibri"/>
              <a:ea typeface="Calibri"/>
              <a:cs typeface="Calibri"/>
              <a:sym typeface="Calibri"/>
            </a:endParaRPr>
          </a:p>
        </p:txBody>
      </p:sp>
      <p:sp>
        <p:nvSpPr>
          <p:cNvPr id="1794" name="Google Shape;1794;p75"/>
          <p:cNvSpPr/>
          <p:nvPr/>
        </p:nvSpPr>
        <p:spPr>
          <a:xfrm>
            <a:off x="6569943" y="1699315"/>
            <a:ext cx="274200" cy="274200"/>
          </a:xfrm>
          <a:prstGeom prst="ellipse">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795" name="Google Shape;1795;p75"/>
          <p:cNvSpPr/>
          <p:nvPr/>
        </p:nvSpPr>
        <p:spPr>
          <a:xfrm>
            <a:off x="6569943" y="1699315"/>
            <a:ext cx="2742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Arial"/>
              <a:buNone/>
            </a:pPr>
            <a:r>
              <a:rPr b="1" lang="en-GB" sz="1000">
                <a:solidFill>
                  <a:srgbClr val="FFFFFF"/>
                </a:solidFill>
                <a:latin typeface="Arial"/>
                <a:ea typeface="Arial"/>
                <a:cs typeface="Arial"/>
                <a:sym typeface="Arial"/>
              </a:rPr>
              <a:t>4</a:t>
            </a:r>
            <a:endParaRPr sz="1000">
              <a:solidFill>
                <a:schemeClr val="dk1"/>
              </a:solidFill>
              <a:latin typeface="Calibri"/>
              <a:ea typeface="Calibri"/>
              <a:cs typeface="Calibri"/>
              <a:sym typeface="Calibri"/>
            </a:endParaRPr>
          </a:p>
        </p:txBody>
      </p:sp>
      <p:sp>
        <p:nvSpPr>
          <p:cNvPr id="1796" name="Google Shape;1796;p75"/>
          <p:cNvSpPr/>
          <p:nvPr/>
        </p:nvSpPr>
        <p:spPr>
          <a:xfrm>
            <a:off x="6912861" y="1671883"/>
            <a:ext cx="151800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900"/>
              <a:buFont typeface="Arial"/>
              <a:buNone/>
            </a:pPr>
            <a:r>
              <a:rPr b="1" lang="en-GB" sz="900">
                <a:solidFill>
                  <a:srgbClr val="1C2B3E"/>
                </a:solidFill>
                <a:latin typeface="Arial"/>
                <a:ea typeface="Arial"/>
                <a:cs typeface="Arial"/>
                <a:sym typeface="Arial"/>
              </a:rPr>
              <a:t>MAIA learns it</a:t>
            </a:r>
            <a:endParaRPr sz="900">
              <a:solidFill>
                <a:schemeClr val="dk1"/>
              </a:solidFill>
              <a:latin typeface="Calibri"/>
              <a:ea typeface="Calibri"/>
              <a:cs typeface="Calibri"/>
              <a:sym typeface="Calibri"/>
            </a:endParaRPr>
          </a:p>
        </p:txBody>
      </p:sp>
      <p:sp>
        <p:nvSpPr>
          <p:cNvPr id="1797" name="Google Shape;1797;p75"/>
          <p:cNvSpPr txBox="1"/>
          <p:nvPr>
            <p:ph idx="12" type="sldNum"/>
          </p:nvPr>
        </p:nvSpPr>
        <p:spPr>
          <a:xfrm>
            <a:off x="8347216" y="4750189"/>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798" name="Google Shape;1798;p75"/>
          <p:cNvSpPr/>
          <p:nvPr/>
        </p:nvSpPr>
        <p:spPr>
          <a:xfrm>
            <a:off x="2777613" y="2556995"/>
            <a:ext cx="5955000" cy="1440300"/>
          </a:xfrm>
          <a:prstGeom prst="roundRect">
            <a:avLst>
              <a:gd fmla="val 5714"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rgbClr val="1B2B3E"/>
              </a:solidFill>
              <a:latin typeface="Calibri"/>
              <a:ea typeface="Calibri"/>
              <a:cs typeface="Calibri"/>
              <a:sym typeface="Calibri"/>
            </a:endParaRPr>
          </a:p>
        </p:txBody>
      </p:sp>
      <p:sp>
        <p:nvSpPr>
          <p:cNvPr id="1799" name="Google Shape;1799;p75"/>
          <p:cNvSpPr/>
          <p:nvPr/>
        </p:nvSpPr>
        <p:spPr>
          <a:xfrm>
            <a:off x="2983364" y="2762735"/>
            <a:ext cx="411600" cy="411600"/>
          </a:xfrm>
          <a:prstGeom prst="ellipse">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rgbClr val="1B2B3E"/>
              </a:solidFill>
              <a:latin typeface="Calibri"/>
              <a:ea typeface="Calibri"/>
              <a:cs typeface="Calibri"/>
              <a:sym typeface="Calibri"/>
            </a:endParaRPr>
          </a:p>
        </p:txBody>
      </p:sp>
      <p:pic>
        <p:nvPicPr>
          <p:cNvPr descr="/home/claude/maia/icons/FiMessageCircle_white.png" id="1800" name="Google Shape;1800;p75"/>
          <p:cNvPicPr preferRelativeResize="0"/>
          <p:nvPr/>
        </p:nvPicPr>
        <p:blipFill rotWithShape="1">
          <a:blip r:embed="rId4">
            <a:alphaModFix/>
          </a:blip>
          <a:srcRect b="0" l="0" r="0" t="0"/>
          <a:stretch/>
        </p:blipFill>
        <p:spPr>
          <a:xfrm>
            <a:off x="3086240" y="2865605"/>
            <a:ext cx="205740" cy="205740"/>
          </a:xfrm>
          <a:prstGeom prst="rect">
            <a:avLst/>
          </a:prstGeom>
          <a:noFill/>
          <a:ln>
            <a:noFill/>
          </a:ln>
        </p:spPr>
      </p:pic>
      <p:sp>
        <p:nvSpPr>
          <p:cNvPr id="1801" name="Google Shape;1801;p75"/>
          <p:cNvSpPr/>
          <p:nvPr/>
        </p:nvSpPr>
        <p:spPr>
          <a:xfrm>
            <a:off x="3532083" y="2845076"/>
            <a:ext cx="4995000" cy="246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Arial"/>
              <a:buNone/>
            </a:pPr>
            <a:r>
              <a:rPr b="1" lang="en-GB" sz="1100">
                <a:solidFill>
                  <a:srgbClr val="FFFFFF"/>
                </a:solidFill>
              </a:rPr>
              <a:t>WhatsApp</a:t>
            </a:r>
            <a:endParaRPr sz="1100">
              <a:solidFill>
                <a:srgbClr val="1B2B3E"/>
              </a:solidFill>
              <a:latin typeface="Calibri"/>
              <a:ea typeface="Calibri"/>
              <a:cs typeface="Calibri"/>
              <a:sym typeface="Calibri"/>
            </a:endParaRPr>
          </a:p>
        </p:txBody>
      </p:sp>
      <p:sp>
        <p:nvSpPr>
          <p:cNvPr id="1802" name="Google Shape;1802;p75"/>
          <p:cNvSpPr/>
          <p:nvPr/>
        </p:nvSpPr>
        <p:spPr>
          <a:xfrm>
            <a:off x="2983364" y="3482825"/>
            <a:ext cx="5543700" cy="274200"/>
          </a:xfrm>
          <a:prstGeom prst="roundRect">
            <a:avLst>
              <a:gd fmla="val 50000" name="adj"/>
            </a:avLst>
          </a:prstGeom>
          <a:solidFill>
            <a:srgbClr val="32495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rgbClr val="1B2B3E"/>
              </a:solidFill>
              <a:latin typeface="Calibri"/>
              <a:ea typeface="Calibri"/>
              <a:cs typeface="Calibri"/>
              <a:sym typeface="Calibri"/>
            </a:endParaRPr>
          </a:p>
        </p:txBody>
      </p:sp>
      <p:sp>
        <p:nvSpPr>
          <p:cNvPr id="1803" name="Google Shape;1803;p75"/>
          <p:cNvSpPr/>
          <p:nvPr/>
        </p:nvSpPr>
        <p:spPr>
          <a:xfrm>
            <a:off x="2983364" y="3482825"/>
            <a:ext cx="55437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2A6BE"/>
              </a:buClr>
              <a:buSzPts val="900"/>
              <a:buFont typeface="Arial"/>
              <a:buNone/>
            </a:pPr>
            <a:r>
              <a:rPr lang="en-GB" sz="900">
                <a:solidFill>
                  <a:srgbClr val="92A6BE"/>
                </a:solidFill>
                <a:latin typeface="Arial"/>
                <a:ea typeface="Arial"/>
                <a:cs typeface="Arial"/>
                <a:sym typeface="Arial"/>
              </a:rPr>
              <a:t>Group: MAIA Support Team</a:t>
            </a:r>
            <a:endParaRPr sz="900">
              <a:solidFill>
                <a:srgbClr val="1B2B3E"/>
              </a:solidFill>
              <a:latin typeface="Calibri"/>
              <a:ea typeface="Calibri"/>
              <a:cs typeface="Calibri"/>
              <a:sym typeface="Calibri"/>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08" name="Shape 1808"/>
        <p:cNvGrpSpPr/>
        <p:nvPr/>
      </p:nvGrpSpPr>
      <p:grpSpPr>
        <a:xfrm>
          <a:off x="0" y="0"/>
          <a:ext cx="0" cy="0"/>
          <a:chOff x="0" y="0"/>
          <a:chExt cx="0" cy="0"/>
        </a:xfrm>
      </p:grpSpPr>
      <p:sp>
        <p:nvSpPr>
          <p:cNvPr id="1809" name="Google Shape;1809;p76"/>
          <p:cNvSpPr/>
          <p:nvPr/>
        </p:nvSpPr>
        <p:spPr>
          <a:xfrm>
            <a:off x="411502" y="260604"/>
            <a:ext cx="6858366"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CLOSE</a:t>
            </a:r>
            <a:endParaRPr sz="800">
              <a:solidFill>
                <a:schemeClr val="dk1"/>
              </a:solidFill>
              <a:latin typeface="Calibri"/>
              <a:ea typeface="Calibri"/>
              <a:cs typeface="Calibri"/>
              <a:sym typeface="Calibri"/>
            </a:endParaRPr>
          </a:p>
        </p:txBody>
      </p:sp>
      <p:sp>
        <p:nvSpPr>
          <p:cNvPr id="1810" name="Google Shape;1810;p76"/>
          <p:cNvSpPr/>
          <p:nvPr/>
        </p:nvSpPr>
        <p:spPr>
          <a:xfrm>
            <a:off x="411502" y="438912"/>
            <a:ext cx="8321255" cy="4800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C2B3E"/>
              </a:buClr>
              <a:buSzPts val="2200"/>
              <a:buFont typeface="Arial"/>
              <a:buNone/>
            </a:pPr>
            <a:r>
              <a:rPr b="1" lang="en-GB" sz="2200">
                <a:solidFill>
                  <a:srgbClr val="1C2B3E"/>
                </a:solidFill>
                <a:latin typeface="Poppins"/>
                <a:ea typeface="Poppins"/>
                <a:cs typeface="Poppins"/>
                <a:sym typeface="Poppins"/>
              </a:rPr>
              <a:t>60 seconds. One order. No help.</a:t>
            </a:r>
            <a:endParaRPr sz="2200">
              <a:solidFill>
                <a:schemeClr val="dk1"/>
              </a:solidFill>
              <a:latin typeface="Poppins"/>
              <a:ea typeface="Poppins"/>
              <a:cs typeface="Poppins"/>
              <a:sym typeface="Poppins"/>
            </a:endParaRPr>
          </a:p>
        </p:txBody>
      </p:sp>
      <p:sp>
        <p:nvSpPr>
          <p:cNvPr id="1811" name="Google Shape;1811;p76"/>
          <p:cNvSpPr/>
          <p:nvPr/>
        </p:nvSpPr>
        <p:spPr>
          <a:xfrm>
            <a:off x="1657324" y="1577340"/>
            <a:ext cx="5829611" cy="2468880"/>
          </a:xfrm>
          <a:prstGeom prst="roundRect">
            <a:avLst>
              <a:gd fmla="val 4444" name="adj"/>
            </a:avLst>
          </a:prstGeom>
          <a:solidFill>
            <a:srgbClr val="F5F7FA"/>
          </a:solidFill>
          <a:ln>
            <a:noFill/>
          </a:ln>
          <a:effectLst>
            <a:outerShdw blurRad="127000" rotWithShape="0" algn="bl" dir="5400000" dist="50800">
              <a:srgbClr val="1C2B3E">
                <a:alpha val="16078"/>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812" name="Google Shape;1812;p76"/>
          <p:cNvSpPr/>
          <p:nvPr/>
        </p:nvSpPr>
        <p:spPr>
          <a:xfrm>
            <a:off x="1931659" y="1817370"/>
            <a:ext cx="1097339" cy="315468"/>
          </a:xfrm>
          <a:prstGeom prst="roundRect">
            <a:avLst>
              <a:gd fmla="val 50000" name="adj"/>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813" name="Google Shape;1813;p76"/>
          <p:cNvSpPr/>
          <p:nvPr/>
        </p:nvSpPr>
        <p:spPr>
          <a:xfrm>
            <a:off x="1931659" y="1817370"/>
            <a:ext cx="1097339" cy="3154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Arial"/>
              <a:buNone/>
            </a:pPr>
            <a:r>
              <a:rPr b="1" lang="en-GB" sz="1000">
                <a:solidFill>
                  <a:srgbClr val="FFFFFF"/>
                </a:solidFill>
                <a:latin typeface="Arial"/>
                <a:ea typeface="Arial"/>
                <a:cs typeface="Arial"/>
                <a:sym typeface="Arial"/>
              </a:rPr>
              <a:t>M · Solo</a:t>
            </a:r>
            <a:endParaRPr sz="1000">
              <a:solidFill>
                <a:schemeClr val="dk1"/>
              </a:solidFill>
              <a:latin typeface="Calibri"/>
              <a:ea typeface="Calibri"/>
              <a:cs typeface="Calibri"/>
              <a:sym typeface="Calibri"/>
            </a:endParaRPr>
          </a:p>
        </p:txBody>
      </p:sp>
      <p:sp>
        <p:nvSpPr>
          <p:cNvPr id="1814" name="Google Shape;1814;p76"/>
          <p:cNvSpPr/>
          <p:nvPr/>
        </p:nvSpPr>
        <p:spPr>
          <a:xfrm>
            <a:off x="6321013" y="1783080"/>
            <a:ext cx="891588" cy="384048"/>
          </a:xfrm>
          <a:prstGeom prst="roundRect">
            <a:avLst>
              <a:gd fmla="val 17857"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Clock_white.png" id="1815" name="Google Shape;1815;p76"/>
          <p:cNvPicPr preferRelativeResize="0"/>
          <p:nvPr/>
        </p:nvPicPr>
        <p:blipFill rotWithShape="1">
          <a:blip r:embed="rId3">
            <a:alphaModFix/>
          </a:blip>
          <a:srcRect b="0" l="0" r="0" t="0"/>
          <a:stretch/>
        </p:blipFill>
        <p:spPr>
          <a:xfrm>
            <a:off x="6403313" y="1865376"/>
            <a:ext cx="219456" cy="219456"/>
          </a:xfrm>
          <a:prstGeom prst="rect">
            <a:avLst/>
          </a:prstGeom>
          <a:noFill/>
          <a:ln>
            <a:noFill/>
          </a:ln>
        </p:spPr>
      </p:pic>
      <p:sp>
        <p:nvSpPr>
          <p:cNvPr id="1816" name="Google Shape;1816;p76"/>
          <p:cNvSpPr/>
          <p:nvPr/>
        </p:nvSpPr>
        <p:spPr>
          <a:xfrm>
            <a:off x="6698223" y="1783080"/>
            <a:ext cx="480086"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Arial"/>
              <a:buNone/>
            </a:pPr>
            <a:r>
              <a:rPr b="1" lang="en-GB" sz="1400">
                <a:solidFill>
                  <a:srgbClr val="FFFFFF"/>
                </a:solidFill>
                <a:latin typeface="Arial"/>
                <a:ea typeface="Arial"/>
                <a:cs typeface="Arial"/>
                <a:sym typeface="Arial"/>
              </a:rPr>
              <a:t>60s</a:t>
            </a:r>
            <a:endParaRPr sz="1400">
              <a:solidFill>
                <a:schemeClr val="dk1"/>
              </a:solidFill>
              <a:latin typeface="Calibri"/>
              <a:ea typeface="Calibri"/>
              <a:cs typeface="Calibri"/>
              <a:sym typeface="Calibri"/>
            </a:endParaRPr>
          </a:p>
        </p:txBody>
      </p:sp>
      <p:sp>
        <p:nvSpPr>
          <p:cNvPr id="1817" name="Google Shape;1817;p76"/>
          <p:cNvSpPr/>
          <p:nvPr/>
        </p:nvSpPr>
        <p:spPr>
          <a:xfrm>
            <a:off x="1931659" y="2331720"/>
            <a:ext cx="5280942"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1700"/>
              <a:buFont typeface="Arial"/>
              <a:buNone/>
            </a:pPr>
            <a:r>
              <a:rPr b="1" lang="en-GB" sz="1700">
                <a:solidFill>
                  <a:srgbClr val="1C2B3E"/>
                </a:solidFill>
                <a:latin typeface="Arial"/>
                <a:ea typeface="Arial"/>
                <a:cs typeface="Arial"/>
                <a:sym typeface="Arial"/>
              </a:rPr>
              <a:t>Restoran Maju Jaya</a:t>
            </a:r>
            <a:endParaRPr sz="1700">
              <a:solidFill>
                <a:schemeClr val="dk1"/>
              </a:solidFill>
              <a:latin typeface="Calibri"/>
              <a:ea typeface="Calibri"/>
              <a:cs typeface="Calibri"/>
              <a:sym typeface="Calibri"/>
            </a:endParaRPr>
          </a:p>
        </p:txBody>
      </p:sp>
      <p:sp>
        <p:nvSpPr>
          <p:cNvPr id="1818" name="Google Shape;1818;p76"/>
          <p:cNvSpPr/>
          <p:nvPr/>
        </p:nvSpPr>
        <p:spPr>
          <a:xfrm>
            <a:off x="1931659" y="2708910"/>
            <a:ext cx="528094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D"/>
              </a:buClr>
              <a:buSzPts val="1200"/>
              <a:buFont typeface="Arial"/>
              <a:buNone/>
            </a:pPr>
            <a:r>
              <a:rPr lang="en-GB" sz="1200">
                <a:solidFill>
                  <a:srgbClr val="5B6B7D"/>
                </a:solidFill>
                <a:latin typeface="Arial"/>
                <a:ea typeface="Arial"/>
                <a:cs typeface="Arial"/>
                <a:sym typeface="Arial"/>
              </a:rPr>
              <a:t>2× Cooking Oil 17kg   ·   1× Jasmine Rice 10kg</a:t>
            </a:r>
            <a:endParaRPr sz="1200">
              <a:solidFill>
                <a:schemeClr val="dk1"/>
              </a:solidFill>
              <a:latin typeface="Calibri"/>
              <a:ea typeface="Calibri"/>
              <a:cs typeface="Calibri"/>
              <a:sym typeface="Calibri"/>
            </a:endParaRPr>
          </a:p>
        </p:txBody>
      </p:sp>
      <p:sp>
        <p:nvSpPr>
          <p:cNvPr id="1819" name="Google Shape;1819;p76"/>
          <p:cNvSpPr/>
          <p:nvPr/>
        </p:nvSpPr>
        <p:spPr>
          <a:xfrm>
            <a:off x="1931659" y="3154680"/>
            <a:ext cx="5280942" cy="582930"/>
          </a:xfrm>
          <a:prstGeom prst="roundRect">
            <a:avLst>
              <a:gd fmla="val 11765" name="adj"/>
            </a:avLst>
          </a:prstGeom>
          <a:solidFill>
            <a:srgbClr val="FFFFFF"/>
          </a:solidFill>
          <a:ln cap="flat" cmpd="sng" w="12700">
            <a:solidFill>
              <a:srgbClr val="E3E8EF"/>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820" name="Google Shape;1820;p76"/>
          <p:cNvSpPr/>
          <p:nvPr/>
        </p:nvSpPr>
        <p:spPr>
          <a:xfrm>
            <a:off x="1931659" y="3154680"/>
            <a:ext cx="5280942" cy="58293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821E"/>
              </a:buClr>
              <a:buSzPts val="1400"/>
              <a:buFont typeface="Arial"/>
              <a:buNone/>
            </a:pPr>
            <a:r>
              <a:rPr b="1" lang="en-GB" sz="1400">
                <a:solidFill>
                  <a:srgbClr val="E8821E"/>
                </a:solidFill>
                <a:latin typeface="Arial"/>
                <a:ea typeface="Arial"/>
                <a:cs typeface="Arial"/>
                <a:sym typeface="Arial"/>
              </a:rPr>
              <a:t>Task: Create the Sales Order.</a:t>
            </a:r>
            <a:endParaRPr sz="1400">
              <a:solidFill>
                <a:schemeClr val="dk1"/>
              </a:solidFill>
              <a:latin typeface="Calibri"/>
              <a:ea typeface="Calibri"/>
              <a:cs typeface="Calibri"/>
              <a:sym typeface="Calibri"/>
            </a:endParaRPr>
          </a:p>
        </p:txBody>
      </p:sp>
      <p:sp>
        <p:nvSpPr>
          <p:cNvPr id="1821" name="Google Shape;1821;p76"/>
          <p:cNvSpPr txBox="1"/>
          <p:nvPr>
            <p:ph idx="12" type="sldNum"/>
          </p:nvPr>
        </p:nvSpPr>
        <p:spPr>
          <a:xfrm>
            <a:off x="8347216" y="4750189"/>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26" name="Shape 1826"/>
        <p:cNvGrpSpPr/>
        <p:nvPr/>
      </p:nvGrpSpPr>
      <p:grpSpPr>
        <a:xfrm>
          <a:off x="0" y="0"/>
          <a:ext cx="0" cy="0"/>
          <a:chOff x="0" y="0"/>
          <a:chExt cx="0" cy="0"/>
        </a:xfrm>
      </p:grpSpPr>
      <p:sp>
        <p:nvSpPr>
          <p:cNvPr id="1827" name="Google Shape;1827;p77"/>
          <p:cNvSpPr txBox="1"/>
          <p:nvPr>
            <p:ph idx="12" type="sldNum"/>
          </p:nvPr>
        </p:nvSpPr>
        <p:spPr>
          <a:xfrm>
            <a:off x="8347216" y="4750189"/>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828" name="Google Shape;1828;p77"/>
          <p:cNvSpPr/>
          <p:nvPr/>
        </p:nvSpPr>
        <p:spPr>
          <a:xfrm>
            <a:off x="1027951" y="1015950"/>
            <a:ext cx="3083700" cy="3111600"/>
          </a:xfrm>
          <a:prstGeom prst="roundRect">
            <a:avLst>
              <a:gd fmla="val 5876" name="adj"/>
            </a:avLst>
          </a:prstGeom>
          <a:solidFill>
            <a:srgbClr val="FFFFFF"/>
          </a:solidFill>
          <a:ln cap="flat" cmpd="sng" w="16800">
            <a:solidFill>
              <a:srgbClr val="E3E8EF"/>
            </a:solidFill>
            <a:prstDash val="solid"/>
            <a:round/>
            <a:headEnd len="sm" w="sm" type="none"/>
            <a:tailEnd len="sm" w="sm" type="none"/>
          </a:ln>
        </p:spPr>
        <p:txBody>
          <a:bodyPr anchorCtr="0" anchor="t" bIns="45325" lIns="90675" spcFirstLastPara="1" rIns="90675" wrap="square" tIns="45325">
            <a:noAutofit/>
          </a:bodyPr>
          <a:lstStyle/>
          <a:p>
            <a:pPr indent="0" lvl="0" marL="0" marR="0" rtl="0" algn="l">
              <a:spcBef>
                <a:spcPts val="0"/>
              </a:spcBef>
              <a:spcAft>
                <a:spcPts val="0"/>
              </a:spcAft>
              <a:buNone/>
            </a:pPr>
            <a:r>
              <a:t/>
            </a:r>
            <a:endParaRPr sz="1851">
              <a:solidFill>
                <a:srgbClr val="1B2B3E"/>
              </a:solidFill>
              <a:latin typeface="Calibri"/>
              <a:ea typeface="Calibri"/>
              <a:cs typeface="Calibri"/>
              <a:sym typeface="Calibri"/>
            </a:endParaRPr>
          </a:p>
        </p:txBody>
      </p:sp>
      <p:sp>
        <p:nvSpPr>
          <p:cNvPr id="1829" name="Google Shape;1829;p77"/>
          <p:cNvSpPr txBox="1"/>
          <p:nvPr/>
        </p:nvSpPr>
        <p:spPr>
          <a:xfrm>
            <a:off x="4493926" y="1415425"/>
            <a:ext cx="3714300" cy="1482900"/>
          </a:xfrm>
          <a:prstGeom prst="rect">
            <a:avLst/>
          </a:prstGeom>
          <a:noFill/>
          <a:ln>
            <a:noFill/>
          </a:ln>
        </p:spPr>
        <p:txBody>
          <a:bodyPr anchorCtr="0" anchor="ctr" bIns="91425" lIns="91425" spcFirstLastPara="1" rIns="91425" wrap="square" tIns="91425">
            <a:spAutoFit/>
          </a:bodyPr>
          <a:lstStyle/>
          <a:p>
            <a:pPr indent="0" lvl="0" marL="0" rtl="0" algn="l">
              <a:spcBef>
                <a:spcPts val="0"/>
              </a:spcBef>
              <a:spcAft>
                <a:spcPts val="0"/>
              </a:spcAft>
              <a:buNone/>
            </a:pPr>
            <a:r>
              <a:rPr b="1" lang="en-GB" sz="3000">
                <a:solidFill>
                  <a:srgbClr val="44546A"/>
                </a:solidFill>
                <a:latin typeface="Poppins"/>
                <a:ea typeface="Poppins"/>
                <a:cs typeface="Poppins"/>
                <a:sym typeface="Poppins"/>
              </a:rPr>
              <a:t>We love your honest feedback!</a:t>
            </a:r>
            <a:endParaRPr b="1" sz="3000">
              <a:solidFill>
                <a:srgbClr val="44546A"/>
              </a:solidFill>
              <a:latin typeface="Poppins"/>
              <a:ea typeface="Poppins"/>
              <a:cs typeface="Poppins"/>
              <a:sym typeface="Poppins"/>
            </a:endParaRPr>
          </a:p>
          <a:p>
            <a:pPr indent="0" lvl="0" marL="0" rtl="0" algn="l">
              <a:spcBef>
                <a:spcPts val="1000"/>
              </a:spcBef>
              <a:spcAft>
                <a:spcPts val="0"/>
              </a:spcAft>
              <a:buNone/>
            </a:pPr>
            <a:r>
              <a:rPr lang="en-GB" sz="1600">
                <a:solidFill>
                  <a:srgbClr val="44546A"/>
                </a:solidFill>
                <a:latin typeface="Poppins"/>
                <a:ea typeface="Poppins"/>
                <a:cs typeface="Poppins"/>
                <a:sym typeface="Poppins"/>
              </a:rPr>
              <a:t>It takes only 2 minutes.</a:t>
            </a:r>
            <a:endParaRPr sz="1600">
              <a:solidFill>
                <a:srgbClr val="44546A"/>
              </a:solidFill>
              <a:latin typeface="Poppins"/>
              <a:ea typeface="Poppins"/>
              <a:cs typeface="Poppins"/>
              <a:sym typeface="Poppins"/>
            </a:endParaRPr>
          </a:p>
        </p:txBody>
      </p:sp>
      <p:sp>
        <p:nvSpPr>
          <p:cNvPr id="1830" name="Google Shape;1830;p77"/>
          <p:cNvSpPr/>
          <p:nvPr/>
        </p:nvSpPr>
        <p:spPr>
          <a:xfrm>
            <a:off x="4598301" y="3237538"/>
            <a:ext cx="2178900" cy="480000"/>
          </a:xfrm>
          <a:prstGeom prst="roundRect">
            <a:avLst>
              <a:gd fmla="val 50000" name="adj"/>
            </a:avLst>
          </a:prstGeom>
          <a:solidFill>
            <a:srgbClr val="E8821F"/>
          </a:solidFill>
          <a:ln cap="flat" cmpd="sng" w="9525">
            <a:solidFill>
              <a:srgbClr val="E8821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rgbClr val="FFFFFF"/>
                </a:solidFill>
              </a:rPr>
              <a:t>SCAN NOW</a:t>
            </a:r>
            <a:endParaRPr b="1">
              <a:solidFill>
                <a:srgbClr val="FFFFFF"/>
              </a:solidFill>
            </a:endParaRPr>
          </a:p>
        </p:txBody>
      </p:sp>
      <p:pic>
        <p:nvPicPr>
          <p:cNvPr id="1831" name="Google Shape;1831;p77" title="MAIA Feedback Form.png"/>
          <p:cNvPicPr preferRelativeResize="0"/>
          <p:nvPr/>
        </p:nvPicPr>
        <p:blipFill>
          <a:blip r:embed="rId3">
            <a:alphaModFix/>
          </a:blip>
          <a:stretch>
            <a:fillRect/>
          </a:stretch>
        </p:blipFill>
        <p:spPr>
          <a:xfrm>
            <a:off x="1081575" y="1083525"/>
            <a:ext cx="2976425" cy="2976425"/>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C2B3E"/>
        </a:solidFill>
      </p:bgPr>
    </p:bg>
    <p:spTree>
      <p:nvGrpSpPr>
        <p:cNvPr id="1836" name="Shape 1836"/>
        <p:cNvGrpSpPr/>
        <p:nvPr/>
      </p:nvGrpSpPr>
      <p:grpSpPr>
        <a:xfrm>
          <a:off x="0" y="0"/>
          <a:ext cx="0" cy="0"/>
          <a:chOff x="0" y="0"/>
          <a:chExt cx="0" cy="0"/>
        </a:xfrm>
      </p:grpSpPr>
      <p:sp>
        <p:nvSpPr>
          <p:cNvPr id="1837" name="Google Shape;1837;p78"/>
          <p:cNvSpPr txBox="1"/>
          <p:nvPr>
            <p:ph idx="12" type="sldNum"/>
          </p:nvPr>
        </p:nvSpPr>
        <p:spPr>
          <a:xfrm>
            <a:off x="8347216" y="4750189"/>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838" name="Google Shape;1838;p78"/>
          <p:cNvSpPr/>
          <p:nvPr/>
        </p:nvSpPr>
        <p:spPr>
          <a:xfrm>
            <a:off x="1627350" y="1932299"/>
            <a:ext cx="5889300" cy="1278900"/>
          </a:xfrm>
          <a:prstGeom prst="rect">
            <a:avLst/>
          </a:prstGeom>
          <a:noFill/>
          <a:ln>
            <a:noFill/>
          </a:ln>
        </p:spPr>
        <p:txBody>
          <a:bodyPr anchorCtr="0" anchor="ctr" bIns="0" lIns="0" spcFirstLastPara="1" rIns="0" wrap="square" tIns="0">
            <a:noAutofit/>
          </a:bodyPr>
          <a:lstStyle/>
          <a:p>
            <a:pPr indent="0" lvl="0" marL="0" marR="0" rtl="0" algn="ctr">
              <a:lnSpc>
                <a:spcPct val="95000"/>
              </a:lnSpc>
              <a:spcBef>
                <a:spcPts val="0"/>
              </a:spcBef>
              <a:spcAft>
                <a:spcPts val="0"/>
              </a:spcAft>
              <a:buClr>
                <a:srgbClr val="FFFFFF"/>
              </a:buClr>
              <a:buSzPts val="5300"/>
              <a:buFont typeface="Inter"/>
              <a:buNone/>
            </a:pPr>
            <a:r>
              <a:rPr b="1" i="0" lang="en-GB" sz="5300" u="none" cap="none" strike="noStrike">
                <a:solidFill>
                  <a:schemeClr val="lt1"/>
                </a:solidFill>
                <a:latin typeface="Poppins"/>
                <a:ea typeface="Poppins"/>
                <a:cs typeface="Poppins"/>
                <a:sym typeface="Poppins"/>
              </a:rPr>
              <a:t>You're </a:t>
            </a:r>
            <a:r>
              <a:rPr b="1" lang="en-GB" sz="5300">
                <a:solidFill>
                  <a:schemeClr val="lt1"/>
                </a:solidFill>
                <a:latin typeface="Poppins"/>
                <a:ea typeface="Poppins"/>
                <a:cs typeface="Poppins"/>
                <a:sym typeface="Poppins"/>
              </a:rPr>
              <a:t>r</a:t>
            </a:r>
            <a:r>
              <a:rPr b="1" i="0" lang="en-GB" sz="5300" u="none" cap="none" strike="noStrike">
                <a:solidFill>
                  <a:schemeClr val="lt1"/>
                </a:solidFill>
                <a:latin typeface="Poppins"/>
                <a:ea typeface="Poppins"/>
                <a:cs typeface="Poppins"/>
                <a:sym typeface="Poppins"/>
              </a:rPr>
              <a:t>eady to</a:t>
            </a:r>
            <a:br>
              <a:rPr b="1" i="0" lang="en-GB" sz="5300" u="none" cap="none" strike="noStrike">
                <a:solidFill>
                  <a:srgbClr val="FFFFFF"/>
                </a:solidFill>
                <a:latin typeface="Poppins"/>
                <a:ea typeface="Poppins"/>
                <a:cs typeface="Poppins"/>
                <a:sym typeface="Poppins"/>
              </a:rPr>
            </a:br>
            <a:r>
              <a:rPr b="1" lang="en-GB" sz="5300">
                <a:solidFill>
                  <a:schemeClr val="lt1"/>
                </a:solidFill>
                <a:latin typeface="Poppins"/>
                <a:ea typeface="Poppins"/>
                <a:cs typeface="Poppins"/>
                <a:sym typeface="Poppins"/>
              </a:rPr>
              <a:t>u</a:t>
            </a:r>
            <a:r>
              <a:rPr b="1" i="0" lang="en-GB" sz="5300" u="none" cap="none" strike="noStrike">
                <a:solidFill>
                  <a:schemeClr val="lt1"/>
                </a:solidFill>
                <a:latin typeface="Poppins"/>
                <a:ea typeface="Poppins"/>
                <a:cs typeface="Poppins"/>
                <a:sym typeface="Poppins"/>
              </a:rPr>
              <a:t>se</a:t>
            </a:r>
            <a:r>
              <a:rPr b="1" lang="en-GB" sz="5300">
                <a:solidFill>
                  <a:srgbClr val="E67E22"/>
                </a:solidFill>
                <a:latin typeface="Poppins"/>
                <a:ea typeface="Poppins"/>
                <a:cs typeface="Poppins"/>
                <a:sym typeface="Poppins"/>
              </a:rPr>
              <a:t>             </a:t>
            </a:r>
            <a:r>
              <a:rPr b="1" i="0" lang="en-GB" sz="5300" u="none" cap="none" strike="noStrike">
                <a:solidFill>
                  <a:srgbClr val="EE9A00"/>
                </a:solidFill>
                <a:latin typeface="Poppins"/>
                <a:ea typeface="Poppins"/>
                <a:cs typeface="Poppins"/>
                <a:sym typeface="Poppins"/>
              </a:rPr>
              <a:t>!</a:t>
            </a:r>
            <a:endParaRPr b="1" i="0" sz="5300" u="none" cap="none" strike="noStrike">
              <a:solidFill>
                <a:srgbClr val="EE9A00"/>
              </a:solidFill>
              <a:latin typeface="Poppins"/>
              <a:ea typeface="Poppins"/>
              <a:cs typeface="Poppins"/>
              <a:sym typeface="Poppins"/>
            </a:endParaRPr>
          </a:p>
        </p:txBody>
      </p:sp>
      <p:sp>
        <p:nvSpPr>
          <p:cNvPr id="1839" name="Google Shape;1839;p78"/>
          <p:cNvSpPr/>
          <p:nvPr/>
        </p:nvSpPr>
        <p:spPr>
          <a:xfrm>
            <a:off x="0" y="4453313"/>
            <a:ext cx="9144000" cy="228600"/>
          </a:xfrm>
          <a:prstGeom prst="rect">
            <a:avLst/>
          </a:prstGeom>
          <a:noFill/>
          <a:ln>
            <a:noFill/>
          </a:ln>
        </p:spPr>
        <p:txBody>
          <a:bodyPr anchorCtr="0" anchor="ctr" bIns="0" lIns="0" spcFirstLastPara="1" rIns="0" wrap="square" tIns="0">
            <a:noAutofit/>
          </a:bodyPr>
          <a:lstStyle/>
          <a:p>
            <a:pPr indent="0" lvl="0" marL="0" marR="0" rtl="0" algn="ctr">
              <a:lnSpc>
                <a:spcPct val="150000"/>
              </a:lnSpc>
              <a:spcBef>
                <a:spcPts val="0"/>
              </a:spcBef>
              <a:spcAft>
                <a:spcPts val="0"/>
              </a:spcAft>
              <a:buClr>
                <a:srgbClr val="64748B"/>
              </a:buClr>
              <a:buSzPts val="1200"/>
              <a:buFont typeface="Inter"/>
              <a:buNone/>
            </a:pPr>
            <a:r>
              <a:rPr b="1" i="0" lang="en-GB" sz="1200" u="none" cap="none" strike="noStrike">
                <a:solidFill>
                  <a:srgbClr val="94A3B8"/>
                </a:solidFill>
              </a:rPr>
              <a:t>Questions? Contact MAIA Support Team</a:t>
            </a:r>
            <a:endParaRPr b="1" i="0" sz="1200" u="none" cap="none" strike="noStrike">
              <a:solidFill>
                <a:srgbClr val="94A3B8"/>
              </a:solidFill>
            </a:endParaRPr>
          </a:p>
        </p:txBody>
      </p:sp>
      <p:pic>
        <p:nvPicPr>
          <p:cNvPr id="1840" name="Google Shape;1840;p78" title="MAIA.png"/>
          <p:cNvPicPr preferRelativeResize="0"/>
          <p:nvPr/>
        </p:nvPicPr>
        <p:blipFill rotWithShape="1">
          <a:blip r:embed="rId3">
            <a:alphaModFix/>
          </a:blip>
          <a:srcRect b="0" l="0" r="0" t="0"/>
          <a:stretch/>
        </p:blipFill>
        <p:spPr>
          <a:xfrm>
            <a:off x="4330820" y="2645800"/>
            <a:ext cx="1630799" cy="540000"/>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C2B3E"/>
        </a:solidFill>
      </p:bgPr>
    </p:bg>
    <p:spTree>
      <p:nvGrpSpPr>
        <p:cNvPr id="1845" name="Shape 1845"/>
        <p:cNvGrpSpPr/>
        <p:nvPr/>
      </p:nvGrpSpPr>
      <p:grpSpPr>
        <a:xfrm>
          <a:off x="0" y="0"/>
          <a:ext cx="0" cy="0"/>
          <a:chOff x="0" y="0"/>
          <a:chExt cx="0" cy="0"/>
        </a:xfrm>
      </p:grpSpPr>
      <p:sp>
        <p:nvSpPr>
          <p:cNvPr id="1846" name="Google Shape;1846;p79"/>
          <p:cNvSpPr/>
          <p:nvPr/>
        </p:nvSpPr>
        <p:spPr>
          <a:xfrm>
            <a:off x="411502" y="1783080"/>
            <a:ext cx="205751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21E"/>
              </a:buClr>
              <a:buSzPts val="1100"/>
              <a:buFont typeface="Arial"/>
              <a:buNone/>
            </a:pPr>
            <a:r>
              <a:rPr b="1" lang="en-GB" sz="1100">
                <a:solidFill>
                  <a:srgbClr val="E8821E"/>
                </a:solidFill>
              </a:rPr>
              <a:t>MISSION CARD</a:t>
            </a:r>
            <a:endParaRPr sz="1100">
              <a:solidFill>
                <a:schemeClr val="dk1"/>
              </a:solidFill>
              <a:latin typeface="Calibri"/>
              <a:ea typeface="Calibri"/>
              <a:cs typeface="Calibri"/>
              <a:sym typeface="Calibri"/>
            </a:endParaRPr>
          </a:p>
        </p:txBody>
      </p:sp>
      <p:sp>
        <p:nvSpPr>
          <p:cNvPr id="1847" name="Google Shape;1847;p79"/>
          <p:cNvSpPr/>
          <p:nvPr/>
        </p:nvSpPr>
        <p:spPr>
          <a:xfrm>
            <a:off x="411502" y="2057400"/>
            <a:ext cx="8321255"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000"/>
              <a:buFont typeface="Arial"/>
              <a:buNone/>
            </a:pPr>
            <a:r>
              <a:rPr b="1" lang="en-GB" sz="3000">
                <a:solidFill>
                  <a:srgbClr val="FFFFFF"/>
                </a:solidFill>
              </a:rPr>
              <a:t>Mission Card QC</a:t>
            </a:r>
            <a:endParaRPr sz="3000">
              <a:solidFill>
                <a:schemeClr val="dk1"/>
              </a:solidFill>
              <a:latin typeface="Calibri"/>
              <a:ea typeface="Calibri"/>
              <a:cs typeface="Calibri"/>
              <a:sym typeface="Calibri"/>
            </a:endParaRPr>
          </a:p>
        </p:txBody>
      </p:sp>
      <p:sp>
        <p:nvSpPr>
          <p:cNvPr id="1848" name="Google Shape;1848;p79"/>
          <p:cNvSpPr txBox="1"/>
          <p:nvPr>
            <p:ph idx="12" type="sldNum"/>
          </p:nvPr>
        </p:nvSpPr>
        <p:spPr>
          <a:xfrm>
            <a:off x="8347216" y="4750189"/>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53" name="Shape 1853"/>
        <p:cNvGrpSpPr/>
        <p:nvPr/>
      </p:nvGrpSpPr>
      <p:grpSpPr>
        <a:xfrm>
          <a:off x="0" y="0"/>
          <a:ext cx="0" cy="0"/>
          <a:chOff x="0" y="0"/>
          <a:chExt cx="0" cy="0"/>
        </a:xfrm>
      </p:grpSpPr>
      <p:sp>
        <p:nvSpPr>
          <p:cNvPr id="1854" name="Google Shape;1854;p80"/>
          <p:cNvSpPr/>
          <p:nvPr/>
        </p:nvSpPr>
        <p:spPr>
          <a:xfrm>
            <a:off x="411502" y="260604"/>
            <a:ext cx="68583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MISSION CARDS · M1 OF 10</a:t>
            </a:r>
            <a:endParaRPr sz="800">
              <a:solidFill>
                <a:schemeClr val="dk1"/>
              </a:solidFill>
              <a:latin typeface="Calibri"/>
              <a:ea typeface="Calibri"/>
              <a:cs typeface="Calibri"/>
              <a:sym typeface="Calibri"/>
            </a:endParaRPr>
          </a:p>
        </p:txBody>
      </p:sp>
      <p:sp>
        <p:nvSpPr>
          <p:cNvPr id="1855" name="Google Shape;1855;p80"/>
          <p:cNvSpPr/>
          <p:nvPr/>
        </p:nvSpPr>
        <p:spPr>
          <a:xfrm>
            <a:off x="411502" y="438912"/>
            <a:ext cx="8321400" cy="480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C2B3E"/>
              </a:buClr>
              <a:buSzPts val="2200"/>
              <a:buFont typeface="Arial"/>
              <a:buNone/>
            </a:pPr>
            <a:r>
              <a:rPr b="1" lang="en-GB" sz="2200">
                <a:solidFill>
                  <a:srgbClr val="1C2B3E"/>
                </a:solidFill>
                <a:latin typeface="Poppins"/>
                <a:ea typeface="Poppins"/>
                <a:cs typeface="Poppins"/>
                <a:sym typeface="Poppins"/>
              </a:rPr>
              <a:t>Restoran Maju Jaya</a:t>
            </a:r>
            <a:endParaRPr sz="2200">
              <a:solidFill>
                <a:schemeClr val="dk1"/>
              </a:solidFill>
              <a:latin typeface="Poppins"/>
              <a:ea typeface="Poppins"/>
              <a:cs typeface="Poppins"/>
              <a:sym typeface="Poppins"/>
            </a:endParaRPr>
          </a:p>
        </p:txBody>
      </p:sp>
      <p:sp>
        <p:nvSpPr>
          <p:cNvPr id="1856" name="Google Shape;1856;p80"/>
          <p:cNvSpPr/>
          <p:nvPr/>
        </p:nvSpPr>
        <p:spPr>
          <a:xfrm>
            <a:off x="7765727" y="308610"/>
            <a:ext cx="966900" cy="274200"/>
          </a:xfrm>
          <a:prstGeom prst="roundRect">
            <a:avLst>
              <a:gd fmla="val 50000" name="adj"/>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857" name="Google Shape;1857;p80"/>
          <p:cNvSpPr/>
          <p:nvPr/>
        </p:nvSpPr>
        <p:spPr>
          <a:xfrm>
            <a:off x="7765727" y="308610"/>
            <a:ext cx="9669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Arial"/>
              <a:buNone/>
            </a:pPr>
            <a:r>
              <a:rPr b="1" lang="en-GB" sz="900">
                <a:solidFill>
                  <a:srgbClr val="FFFFFF"/>
                </a:solidFill>
                <a:latin typeface="Arial"/>
                <a:ea typeface="Arial"/>
                <a:cs typeface="Arial"/>
                <a:sym typeface="Arial"/>
              </a:rPr>
              <a:t>WARM-UP</a:t>
            </a:r>
            <a:endParaRPr sz="900">
              <a:solidFill>
                <a:schemeClr val="dk1"/>
              </a:solidFill>
              <a:latin typeface="Calibri"/>
              <a:ea typeface="Calibri"/>
              <a:cs typeface="Calibri"/>
              <a:sym typeface="Calibri"/>
            </a:endParaRPr>
          </a:p>
        </p:txBody>
      </p:sp>
      <p:sp>
        <p:nvSpPr>
          <p:cNvPr id="1858" name="Google Shape;1858;p80"/>
          <p:cNvSpPr/>
          <p:nvPr/>
        </p:nvSpPr>
        <p:spPr>
          <a:xfrm>
            <a:off x="411502" y="1337310"/>
            <a:ext cx="4040700" cy="3463200"/>
          </a:xfrm>
          <a:prstGeom prst="roundRect">
            <a:avLst>
              <a:gd fmla="val 2376" name="adj"/>
            </a:avLst>
          </a:prstGeom>
          <a:solidFill>
            <a:srgbClr val="F5F7FA"/>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859" name="Google Shape;1859;p80"/>
          <p:cNvSpPr/>
          <p:nvPr/>
        </p:nvSpPr>
        <p:spPr>
          <a:xfrm>
            <a:off x="548669" y="1447038"/>
            <a:ext cx="1508700" cy="233100"/>
          </a:xfrm>
          <a:prstGeom prst="roundRect">
            <a:avLst>
              <a:gd fmla="val 50000"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860" name="Google Shape;1860;p80"/>
          <p:cNvSpPr/>
          <p:nvPr/>
        </p:nvSpPr>
        <p:spPr>
          <a:xfrm>
            <a:off x="548669" y="1447038"/>
            <a:ext cx="1508700" cy="233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FRONT · TEAM SEES</a:t>
            </a:r>
            <a:endParaRPr sz="800">
              <a:solidFill>
                <a:schemeClr val="dk1"/>
              </a:solidFill>
              <a:latin typeface="Calibri"/>
              <a:ea typeface="Calibri"/>
              <a:cs typeface="Calibri"/>
              <a:sym typeface="Calibri"/>
            </a:endParaRPr>
          </a:p>
        </p:txBody>
      </p:sp>
      <p:sp>
        <p:nvSpPr>
          <p:cNvPr id="1861" name="Google Shape;1861;p80"/>
          <p:cNvSpPr/>
          <p:nvPr/>
        </p:nvSpPr>
        <p:spPr>
          <a:xfrm>
            <a:off x="548669" y="1789938"/>
            <a:ext cx="3766200" cy="788700"/>
          </a:xfrm>
          <a:prstGeom prst="roundRect">
            <a:avLst>
              <a:gd fmla="val 6957" name="adj"/>
            </a:avLst>
          </a:prstGeom>
          <a:solidFill>
            <a:srgbClr val="FFFFFF"/>
          </a:solidFill>
          <a:ln cap="flat" cmpd="sng" w="12700">
            <a:solidFill>
              <a:srgbClr val="E3E8EF"/>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862" name="Google Shape;1862;p80"/>
          <p:cNvSpPr/>
          <p:nvPr/>
        </p:nvSpPr>
        <p:spPr>
          <a:xfrm>
            <a:off x="658403" y="1858518"/>
            <a:ext cx="3546900" cy="6516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C2B3E"/>
              </a:buClr>
              <a:buSzPts val="900"/>
              <a:buFont typeface="Arial"/>
              <a:buNone/>
            </a:pPr>
            <a:r>
              <a:rPr i="1" lang="en-GB" sz="900">
                <a:solidFill>
                  <a:srgbClr val="1C2B3E"/>
                </a:solidFill>
                <a:latin typeface="Arial"/>
                <a:ea typeface="Arial"/>
                <a:cs typeface="Arial"/>
                <a:sym typeface="Arial"/>
              </a:rPr>
              <a:t>“Mr. Tan sent over their weekly order. It's clean. Process it and get it delivered.”</a:t>
            </a:r>
            <a:endParaRPr sz="900">
              <a:solidFill>
                <a:schemeClr val="dk1"/>
              </a:solidFill>
              <a:latin typeface="Calibri"/>
              <a:ea typeface="Calibri"/>
              <a:cs typeface="Calibri"/>
              <a:sym typeface="Calibri"/>
            </a:endParaRPr>
          </a:p>
        </p:txBody>
      </p:sp>
      <p:sp>
        <p:nvSpPr>
          <p:cNvPr id="1863" name="Google Shape;1863;p80"/>
          <p:cNvSpPr/>
          <p:nvPr/>
        </p:nvSpPr>
        <p:spPr>
          <a:xfrm>
            <a:off x="548669" y="2715768"/>
            <a:ext cx="3766200" cy="178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800"/>
              <a:buFont typeface="Arial"/>
              <a:buNone/>
            </a:pPr>
            <a:r>
              <a:rPr b="1" lang="en-GB" sz="800">
                <a:solidFill>
                  <a:srgbClr val="94A3B8"/>
                </a:solidFill>
                <a:latin typeface="Arial"/>
                <a:ea typeface="Arial"/>
                <a:cs typeface="Arial"/>
                <a:sym typeface="Arial"/>
              </a:rPr>
              <a:t>ORDER ARRIVES AS — clean repeat-order WhatsApp + attached PO</a:t>
            </a:r>
            <a:endParaRPr sz="800">
              <a:solidFill>
                <a:schemeClr val="dk1"/>
              </a:solidFill>
              <a:latin typeface="Calibri"/>
              <a:ea typeface="Calibri"/>
              <a:cs typeface="Calibri"/>
              <a:sym typeface="Calibri"/>
            </a:endParaRPr>
          </a:p>
        </p:txBody>
      </p:sp>
      <p:sp>
        <p:nvSpPr>
          <p:cNvPr id="1864" name="Google Shape;1864;p80"/>
          <p:cNvSpPr/>
          <p:nvPr/>
        </p:nvSpPr>
        <p:spPr>
          <a:xfrm>
            <a:off x="548669" y="2935224"/>
            <a:ext cx="3766200" cy="233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B3E"/>
              </a:buClr>
              <a:buSzPts val="900"/>
              <a:buFont typeface="Arial"/>
              <a:buNone/>
            </a:pPr>
            <a:r>
              <a:rPr lang="en-GB" sz="900">
                <a:solidFill>
                  <a:srgbClr val="1C2B3E"/>
                </a:solidFill>
                <a:latin typeface="Arial"/>
                <a:ea typeface="Arial"/>
                <a:cs typeface="Arial"/>
                <a:sym typeface="Arial"/>
              </a:rPr>
              <a:t>•  Cooking Oil 17kg × 10</a:t>
            </a:r>
            <a:endParaRPr sz="900">
              <a:solidFill>
                <a:schemeClr val="dk1"/>
              </a:solidFill>
              <a:latin typeface="Calibri"/>
              <a:ea typeface="Calibri"/>
              <a:cs typeface="Calibri"/>
              <a:sym typeface="Calibri"/>
            </a:endParaRPr>
          </a:p>
        </p:txBody>
      </p:sp>
      <p:sp>
        <p:nvSpPr>
          <p:cNvPr id="1865" name="Google Shape;1865;p80"/>
          <p:cNvSpPr/>
          <p:nvPr/>
        </p:nvSpPr>
        <p:spPr>
          <a:xfrm>
            <a:off x="548669" y="3168396"/>
            <a:ext cx="3766200" cy="233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B3E"/>
              </a:buClr>
              <a:buSzPts val="900"/>
              <a:buFont typeface="Arial"/>
              <a:buNone/>
            </a:pPr>
            <a:r>
              <a:rPr lang="en-GB" sz="900">
                <a:solidFill>
                  <a:srgbClr val="1C2B3E"/>
                </a:solidFill>
                <a:latin typeface="Arial"/>
                <a:ea typeface="Arial"/>
                <a:cs typeface="Arial"/>
                <a:sym typeface="Arial"/>
              </a:rPr>
              <a:t>•  Jasmine Rice 10kg × 5</a:t>
            </a:r>
            <a:endParaRPr sz="900">
              <a:solidFill>
                <a:schemeClr val="dk1"/>
              </a:solidFill>
              <a:latin typeface="Calibri"/>
              <a:ea typeface="Calibri"/>
              <a:cs typeface="Calibri"/>
              <a:sym typeface="Calibri"/>
            </a:endParaRPr>
          </a:p>
        </p:txBody>
      </p:sp>
      <p:sp>
        <p:nvSpPr>
          <p:cNvPr id="1866" name="Google Shape;1866;p80"/>
          <p:cNvSpPr/>
          <p:nvPr/>
        </p:nvSpPr>
        <p:spPr>
          <a:xfrm>
            <a:off x="548669" y="3429000"/>
            <a:ext cx="3766200" cy="342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94A3B8"/>
              </a:buClr>
              <a:buSzPts val="900"/>
              <a:buFont typeface="Arial"/>
              <a:buNone/>
            </a:pPr>
            <a:r>
              <a:rPr i="1" lang="en-GB" sz="900">
                <a:solidFill>
                  <a:srgbClr val="94A3B8"/>
                </a:solidFill>
                <a:latin typeface="Arial"/>
                <a:ea typeface="Arial"/>
                <a:cs typeface="Arial"/>
                <a:sym typeface="Arial"/>
              </a:rPr>
              <a:t>No anomalies — all items in stock.</a:t>
            </a:r>
            <a:endParaRPr sz="900">
              <a:solidFill>
                <a:schemeClr val="dk1"/>
              </a:solidFill>
              <a:latin typeface="Calibri"/>
              <a:ea typeface="Calibri"/>
              <a:cs typeface="Calibri"/>
              <a:sym typeface="Calibri"/>
            </a:endParaRPr>
          </a:p>
        </p:txBody>
      </p:sp>
      <p:sp>
        <p:nvSpPr>
          <p:cNvPr id="1867" name="Google Shape;1867;p80"/>
          <p:cNvSpPr/>
          <p:nvPr/>
        </p:nvSpPr>
        <p:spPr>
          <a:xfrm>
            <a:off x="548669" y="4265676"/>
            <a:ext cx="3766200" cy="178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800"/>
              <a:buFont typeface="Arial"/>
              <a:buNone/>
            </a:pPr>
            <a:r>
              <a:rPr b="1" lang="en-GB" sz="800">
                <a:solidFill>
                  <a:srgbClr val="94A3B8"/>
                </a:solidFill>
                <a:latin typeface="Arial"/>
                <a:ea typeface="Arial"/>
                <a:cs typeface="Arial"/>
                <a:sym typeface="Arial"/>
              </a:rPr>
              <a:t>RECORD ON BOARD</a:t>
            </a:r>
            <a:endParaRPr sz="800">
              <a:solidFill>
                <a:schemeClr val="dk1"/>
              </a:solidFill>
              <a:latin typeface="Calibri"/>
              <a:ea typeface="Calibri"/>
              <a:cs typeface="Calibri"/>
              <a:sym typeface="Calibri"/>
            </a:endParaRPr>
          </a:p>
        </p:txBody>
      </p:sp>
      <p:sp>
        <p:nvSpPr>
          <p:cNvPr id="1868" name="Google Shape;1868;p80"/>
          <p:cNvSpPr/>
          <p:nvPr/>
        </p:nvSpPr>
        <p:spPr>
          <a:xfrm>
            <a:off x="548669" y="4471416"/>
            <a:ext cx="565800" cy="274200"/>
          </a:xfrm>
          <a:prstGeom prst="roundRect">
            <a:avLst>
              <a:gd fmla="val 50000" name="adj"/>
            </a:avLst>
          </a:prstGeom>
          <a:solidFill>
            <a:srgbClr val="FBEBD9"/>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869" name="Google Shape;1869;p80"/>
          <p:cNvSpPr/>
          <p:nvPr/>
        </p:nvSpPr>
        <p:spPr>
          <a:xfrm>
            <a:off x="548669" y="4471416"/>
            <a:ext cx="5658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SO ID</a:t>
            </a:r>
            <a:endParaRPr sz="800">
              <a:solidFill>
                <a:schemeClr val="dk1"/>
              </a:solidFill>
              <a:latin typeface="Calibri"/>
              <a:ea typeface="Calibri"/>
              <a:cs typeface="Calibri"/>
              <a:sym typeface="Calibri"/>
            </a:endParaRPr>
          </a:p>
        </p:txBody>
      </p:sp>
      <p:sp>
        <p:nvSpPr>
          <p:cNvPr id="1870" name="Google Shape;1870;p80"/>
          <p:cNvSpPr/>
          <p:nvPr/>
        </p:nvSpPr>
        <p:spPr>
          <a:xfrm>
            <a:off x="1217360" y="4471416"/>
            <a:ext cx="565800" cy="274200"/>
          </a:xfrm>
          <a:prstGeom prst="roundRect">
            <a:avLst>
              <a:gd fmla="val 50000" name="adj"/>
            </a:avLst>
          </a:prstGeom>
          <a:solidFill>
            <a:srgbClr val="FBEBD9"/>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871" name="Google Shape;1871;p80"/>
          <p:cNvSpPr/>
          <p:nvPr/>
        </p:nvSpPr>
        <p:spPr>
          <a:xfrm>
            <a:off x="1217360" y="4471416"/>
            <a:ext cx="5658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DN ID</a:t>
            </a:r>
            <a:endParaRPr sz="800">
              <a:solidFill>
                <a:schemeClr val="dk1"/>
              </a:solidFill>
              <a:latin typeface="Calibri"/>
              <a:ea typeface="Calibri"/>
              <a:cs typeface="Calibri"/>
              <a:sym typeface="Calibri"/>
            </a:endParaRPr>
          </a:p>
        </p:txBody>
      </p:sp>
      <p:sp>
        <p:nvSpPr>
          <p:cNvPr id="1872" name="Google Shape;1872;p80"/>
          <p:cNvSpPr/>
          <p:nvPr/>
        </p:nvSpPr>
        <p:spPr>
          <a:xfrm>
            <a:off x="4692151" y="1337310"/>
            <a:ext cx="4040700" cy="3463200"/>
          </a:xfrm>
          <a:prstGeom prst="roundRect">
            <a:avLst>
              <a:gd fmla="val 2376"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873" name="Google Shape;1873;p80"/>
          <p:cNvSpPr/>
          <p:nvPr/>
        </p:nvSpPr>
        <p:spPr>
          <a:xfrm>
            <a:off x="4829318" y="1447038"/>
            <a:ext cx="1714500" cy="233100"/>
          </a:xfrm>
          <a:prstGeom prst="roundRect">
            <a:avLst>
              <a:gd fmla="val 50000" name="adj"/>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874" name="Google Shape;1874;p80"/>
          <p:cNvSpPr/>
          <p:nvPr/>
        </p:nvSpPr>
        <p:spPr>
          <a:xfrm>
            <a:off x="4829318" y="1447038"/>
            <a:ext cx="1714500" cy="233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BACK · FACILITATOR QC</a:t>
            </a:r>
            <a:endParaRPr sz="800">
              <a:solidFill>
                <a:schemeClr val="dk1"/>
              </a:solidFill>
              <a:latin typeface="Calibri"/>
              <a:ea typeface="Calibri"/>
              <a:cs typeface="Calibri"/>
              <a:sym typeface="Calibri"/>
            </a:endParaRPr>
          </a:p>
        </p:txBody>
      </p:sp>
      <p:sp>
        <p:nvSpPr>
          <p:cNvPr id="1875" name="Google Shape;1875;p80"/>
          <p:cNvSpPr/>
          <p:nvPr/>
        </p:nvSpPr>
        <p:spPr>
          <a:xfrm>
            <a:off x="4829318" y="4114800"/>
            <a:ext cx="3766200" cy="514500"/>
          </a:xfrm>
          <a:prstGeom prst="roundRect">
            <a:avLst>
              <a:gd fmla="val 10667" name="adj"/>
            </a:avLst>
          </a:prstGeom>
          <a:solidFill>
            <a:srgbClr val="32495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876" name="Google Shape;1876;p80"/>
          <p:cNvSpPr/>
          <p:nvPr/>
        </p:nvSpPr>
        <p:spPr>
          <a:xfrm>
            <a:off x="4925336" y="4217670"/>
            <a:ext cx="274200" cy="274200"/>
          </a:xfrm>
          <a:prstGeom prst="roundRect">
            <a:avLst>
              <a:gd fmla="val 22000" name="adj"/>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AlertTriangle_white.png" id="1877" name="Google Shape;1877;p80"/>
          <p:cNvPicPr preferRelativeResize="0"/>
          <p:nvPr/>
        </p:nvPicPr>
        <p:blipFill rotWithShape="1">
          <a:blip r:embed="rId3">
            <a:alphaModFix/>
          </a:blip>
          <a:srcRect b="0" l="0" r="0" t="0"/>
          <a:stretch/>
        </p:blipFill>
        <p:spPr>
          <a:xfrm>
            <a:off x="4993919" y="4286250"/>
            <a:ext cx="137160" cy="137160"/>
          </a:xfrm>
          <a:prstGeom prst="rect">
            <a:avLst/>
          </a:prstGeom>
          <a:noFill/>
          <a:ln>
            <a:noFill/>
          </a:ln>
        </p:spPr>
      </p:pic>
      <p:sp>
        <p:nvSpPr>
          <p:cNvPr id="1878" name="Google Shape;1878;p80"/>
          <p:cNvSpPr/>
          <p:nvPr/>
        </p:nvSpPr>
        <p:spPr>
          <a:xfrm>
            <a:off x="5281971" y="4169664"/>
            <a:ext cx="3300000" cy="4116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FFFFFF"/>
              </a:buClr>
              <a:buSzPts val="900"/>
              <a:buFont typeface="Arial"/>
              <a:buNone/>
            </a:pPr>
            <a:r>
              <a:rPr b="1" lang="en-GB" sz="900">
                <a:solidFill>
                  <a:srgbClr val="FFFFFF"/>
                </a:solidFill>
                <a:latin typeface="Arial"/>
                <a:ea typeface="Arial"/>
                <a:cs typeface="Arial"/>
                <a:sym typeface="Arial"/>
              </a:rPr>
              <a:t>No trap — this is the on-ramp.</a:t>
            </a:r>
            <a:endParaRPr sz="900">
              <a:solidFill>
                <a:schemeClr val="dk1"/>
              </a:solidFill>
              <a:latin typeface="Calibri"/>
              <a:ea typeface="Calibri"/>
              <a:cs typeface="Calibri"/>
              <a:sym typeface="Calibri"/>
            </a:endParaRPr>
          </a:p>
        </p:txBody>
      </p:sp>
      <p:sp>
        <p:nvSpPr>
          <p:cNvPr id="1879" name="Google Shape;1879;p80"/>
          <p:cNvSpPr txBox="1"/>
          <p:nvPr>
            <p:ph idx="12" type="sldNum"/>
          </p:nvPr>
        </p:nvSpPr>
        <p:spPr>
          <a:xfrm>
            <a:off x="8347216" y="4750189"/>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grpSp>
        <p:nvGrpSpPr>
          <p:cNvPr id="1880" name="Google Shape;1880;p80"/>
          <p:cNvGrpSpPr/>
          <p:nvPr/>
        </p:nvGrpSpPr>
        <p:grpSpPr>
          <a:xfrm>
            <a:off x="4864560" y="1789950"/>
            <a:ext cx="3439116" cy="323100"/>
            <a:chOff x="4843035" y="1789950"/>
            <a:chExt cx="3439116" cy="323100"/>
          </a:xfrm>
        </p:grpSpPr>
        <p:pic>
          <p:nvPicPr>
            <p:cNvPr descr="/home/claude/maia/icons/FiCheck_accent.png" id="1881" name="Google Shape;1881;p80"/>
            <p:cNvPicPr preferRelativeResize="0"/>
            <p:nvPr/>
          </p:nvPicPr>
          <p:blipFill rotWithShape="1">
            <a:blip r:embed="rId4">
              <a:alphaModFix/>
            </a:blip>
            <a:srcRect b="0" l="0" r="0" t="0"/>
            <a:stretch/>
          </p:blipFill>
          <p:spPr>
            <a:xfrm>
              <a:off x="4843035" y="1876049"/>
              <a:ext cx="150876" cy="150876"/>
            </a:xfrm>
            <a:prstGeom prst="rect">
              <a:avLst/>
            </a:prstGeom>
            <a:noFill/>
            <a:ln>
              <a:noFill/>
            </a:ln>
          </p:spPr>
        </p:pic>
        <p:sp>
          <p:nvSpPr>
            <p:cNvPr id="1882" name="Google Shape;1882;p80"/>
            <p:cNvSpPr txBox="1"/>
            <p:nvPr/>
          </p:nvSpPr>
          <p:spPr>
            <a:xfrm>
              <a:off x="4982151" y="1789950"/>
              <a:ext cx="3300000" cy="323100"/>
            </a:xfrm>
            <a:prstGeom prst="rect">
              <a:avLst/>
            </a:prstGeom>
            <a:noFill/>
            <a:ln>
              <a:noFill/>
            </a:ln>
          </p:spPr>
          <p:txBody>
            <a:bodyPr anchorCtr="0" anchor="t" bIns="91425" lIns="91425" spcFirstLastPara="1" rIns="91425" wrap="square" tIns="91425">
              <a:spAutoFit/>
            </a:bodyPr>
            <a:lstStyle/>
            <a:p>
              <a:pPr indent="0" lvl="0" marL="0" rtl="0" algn="l">
                <a:lnSpc>
                  <a:spcPct val="105000"/>
                </a:lnSpc>
                <a:spcBef>
                  <a:spcPts val="0"/>
                </a:spcBef>
                <a:spcAft>
                  <a:spcPts val="0"/>
                </a:spcAft>
                <a:buNone/>
              </a:pPr>
              <a:r>
                <a:rPr lang="en-GB" sz="900">
                  <a:solidFill>
                    <a:schemeClr val="lt1"/>
                  </a:solidFill>
                </a:rPr>
                <a:t>Correct items and quantities</a:t>
              </a:r>
              <a:endParaRPr sz="900">
                <a:solidFill>
                  <a:schemeClr val="dk1"/>
                </a:solidFill>
                <a:latin typeface="Calibri"/>
                <a:ea typeface="Calibri"/>
                <a:cs typeface="Calibri"/>
                <a:sym typeface="Calibri"/>
              </a:endParaRPr>
            </a:p>
          </p:txBody>
        </p:sp>
      </p:grpSp>
      <p:grpSp>
        <p:nvGrpSpPr>
          <p:cNvPr id="1883" name="Google Shape;1883;p80"/>
          <p:cNvGrpSpPr/>
          <p:nvPr/>
        </p:nvGrpSpPr>
        <p:grpSpPr>
          <a:xfrm>
            <a:off x="4864560" y="2164850"/>
            <a:ext cx="3439116" cy="323100"/>
            <a:chOff x="4843035" y="1789950"/>
            <a:chExt cx="3439116" cy="323100"/>
          </a:xfrm>
        </p:grpSpPr>
        <p:pic>
          <p:nvPicPr>
            <p:cNvPr descr="/home/claude/maia/icons/FiCheck_accent.png" id="1884" name="Google Shape;1884;p80"/>
            <p:cNvPicPr preferRelativeResize="0"/>
            <p:nvPr/>
          </p:nvPicPr>
          <p:blipFill rotWithShape="1">
            <a:blip r:embed="rId4">
              <a:alphaModFix/>
            </a:blip>
            <a:srcRect b="0" l="0" r="0" t="0"/>
            <a:stretch/>
          </p:blipFill>
          <p:spPr>
            <a:xfrm>
              <a:off x="4843035" y="1876049"/>
              <a:ext cx="150876" cy="150876"/>
            </a:xfrm>
            <a:prstGeom prst="rect">
              <a:avLst/>
            </a:prstGeom>
            <a:noFill/>
            <a:ln>
              <a:noFill/>
            </a:ln>
          </p:spPr>
        </p:pic>
        <p:sp>
          <p:nvSpPr>
            <p:cNvPr id="1885" name="Google Shape;1885;p80"/>
            <p:cNvSpPr txBox="1"/>
            <p:nvPr/>
          </p:nvSpPr>
          <p:spPr>
            <a:xfrm>
              <a:off x="4982151" y="1789950"/>
              <a:ext cx="3300000" cy="323100"/>
            </a:xfrm>
            <a:prstGeom prst="rect">
              <a:avLst/>
            </a:prstGeom>
            <a:noFill/>
            <a:ln>
              <a:noFill/>
            </a:ln>
          </p:spPr>
          <p:txBody>
            <a:bodyPr anchorCtr="0" anchor="t" bIns="91425" lIns="91425" spcFirstLastPara="1" rIns="91425" wrap="square" tIns="91425">
              <a:spAutoFit/>
            </a:bodyPr>
            <a:lstStyle/>
            <a:p>
              <a:pPr indent="0" lvl="0" marL="0" rtl="0" algn="l">
                <a:lnSpc>
                  <a:spcPct val="105000"/>
                </a:lnSpc>
                <a:spcBef>
                  <a:spcPts val="0"/>
                </a:spcBef>
                <a:spcAft>
                  <a:spcPts val="0"/>
                </a:spcAft>
                <a:buNone/>
              </a:pPr>
              <a:r>
                <a:rPr lang="en-GB" sz="900">
                  <a:solidFill>
                    <a:schemeClr val="lt1"/>
                  </a:solidFill>
                </a:rPr>
                <a:t>No credit issue (RM8k outstanding, RM30k limit)</a:t>
              </a:r>
              <a:endParaRPr sz="900">
                <a:solidFill>
                  <a:schemeClr val="lt1"/>
                </a:solidFill>
              </a:endParaRPr>
            </a:p>
          </p:txBody>
        </p:sp>
      </p:grpSp>
      <p:grpSp>
        <p:nvGrpSpPr>
          <p:cNvPr id="1886" name="Google Shape;1886;p80"/>
          <p:cNvGrpSpPr/>
          <p:nvPr/>
        </p:nvGrpSpPr>
        <p:grpSpPr>
          <a:xfrm>
            <a:off x="4864560" y="2539750"/>
            <a:ext cx="3439116" cy="323100"/>
            <a:chOff x="4843035" y="1789950"/>
            <a:chExt cx="3439116" cy="323100"/>
          </a:xfrm>
        </p:grpSpPr>
        <p:pic>
          <p:nvPicPr>
            <p:cNvPr descr="/home/claude/maia/icons/FiCheck_accent.png" id="1887" name="Google Shape;1887;p80"/>
            <p:cNvPicPr preferRelativeResize="0"/>
            <p:nvPr/>
          </p:nvPicPr>
          <p:blipFill rotWithShape="1">
            <a:blip r:embed="rId4">
              <a:alphaModFix/>
            </a:blip>
            <a:srcRect b="0" l="0" r="0" t="0"/>
            <a:stretch/>
          </p:blipFill>
          <p:spPr>
            <a:xfrm>
              <a:off x="4843035" y="1876049"/>
              <a:ext cx="150876" cy="150876"/>
            </a:xfrm>
            <a:prstGeom prst="rect">
              <a:avLst/>
            </a:prstGeom>
            <a:noFill/>
            <a:ln>
              <a:noFill/>
            </a:ln>
          </p:spPr>
        </p:pic>
        <p:sp>
          <p:nvSpPr>
            <p:cNvPr id="1888" name="Google Shape;1888;p80"/>
            <p:cNvSpPr txBox="1"/>
            <p:nvPr/>
          </p:nvSpPr>
          <p:spPr>
            <a:xfrm>
              <a:off x="4982151" y="1789950"/>
              <a:ext cx="3300000" cy="323100"/>
            </a:xfrm>
            <a:prstGeom prst="rect">
              <a:avLst/>
            </a:prstGeom>
            <a:noFill/>
            <a:ln>
              <a:noFill/>
            </a:ln>
          </p:spPr>
          <p:txBody>
            <a:bodyPr anchorCtr="0" anchor="t" bIns="91425" lIns="91425" spcFirstLastPara="1" rIns="91425" wrap="square" tIns="91425">
              <a:spAutoFit/>
            </a:bodyPr>
            <a:lstStyle/>
            <a:p>
              <a:pPr indent="0" lvl="0" marL="0" rtl="0" algn="l">
                <a:lnSpc>
                  <a:spcPct val="105000"/>
                </a:lnSpc>
                <a:spcBef>
                  <a:spcPts val="0"/>
                </a:spcBef>
                <a:spcAft>
                  <a:spcPts val="0"/>
                </a:spcAft>
                <a:buNone/>
              </a:pPr>
              <a:r>
                <a:rPr lang="en-GB" sz="900">
                  <a:solidFill>
                    <a:schemeClr val="lt1"/>
                  </a:solidFill>
                </a:rPr>
                <a:t>DN marked Delivered</a:t>
              </a:r>
              <a:endParaRPr sz="900">
                <a:solidFill>
                  <a:schemeClr val="lt1"/>
                </a:solidFill>
              </a:endParaRPr>
            </a:p>
          </p:txBody>
        </p:sp>
      </p:gr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93" name="Shape 1893"/>
        <p:cNvGrpSpPr/>
        <p:nvPr/>
      </p:nvGrpSpPr>
      <p:grpSpPr>
        <a:xfrm>
          <a:off x="0" y="0"/>
          <a:ext cx="0" cy="0"/>
          <a:chOff x="0" y="0"/>
          <a:chExt cx="0" cy="0"/>
        </a:xfrm>
      </p:grpSpPr>
      <p:sp>
        <p:nvSpPr>
          <p:cNvPr id="1894" name="Google Shape;1894;p81"/>
          <p:cNvSpPr/>
          <p:nvPr/>
        </p:nvSpPr>
        <p:spPr>
          <a:xfrm>
            <a:off x="411502" y="260604"/>
            <a:ext cx="6858366"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MISSION CARDS · M2 OF 10</a:t>
            </a:r>
            <a:endParaRPr sz="800">
              <a:solidFill>
                <a:schemeClr val="dk1"/>
              </a:solidFill>
              <a:latin typeface="Calibri"/>
              <a:ea typeface="Calibri"/>
              <a:cs typeface="Calibri"/>
              <a:sym typeface="Calibri"/>
            </a:endParaRPr>
          </a:p>
        </p:txBody>
      </p:sp>
      <p:sp>
        <p:nvSpPr>
          <p:cNvPr id="1895" name="Google Shape;1895;p81"/>
          <p:cNvSpPr/>
          <p:nvPr/>
        </p:nvSpPr>
        <p:spPr>
          <a:xfrm>
            <a:off x="411502" y="438912"/>
            <a:ext cx="8321255" cy="4800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C2B3E"/>
              </a:buClr>
              <a:buSzPts val="2200"/>
              <a:buFont typeface="Arial"/>
              <a:buNone/>
            </a:pPr>
            <a:r>
              <a:rPr b="1" lang="en-GB" sz="2200">
                <a:solidFill>
                  <a:srgbClr val="1C2B3E"/>
                </a:solidFill>
                <a:latin typeface="Poppins"/>
                <a:ea typeface="Poppins"/>
                <a:cs typeface="Poppins"/>
                <a:sym typeface="Poppins"/>
              </a:rPr>
              <a:t>Warung Pak Din Sdn Bhd</a:t>
            </a:r>
            <a:endParaRPr sz="2200">
              <a:solidFill>
                <a:schemeClr val="dk1"/>
              </a:solidFill>
              <a:latin typeface="Poppins"/>
              <a:ea typeface="Poppins"/>
              <a:cs typeface="Poppins"/>
              <a:sym typeface="Poppins"/>
            </a:endParaRPr>
          </a:p>
        </p:txBody>
      </p:sp>
      <p:sp>
        <p:nvSpPr>
          <p:cNvPr id="1896" name="Google Shape;1896;p81"/>
          <p:cNvSpPr/>
          <p:nvPr/>
        </p:nvSpPr>
        <p:spPr>
          <a:xfrm>
            <a:off x="411502" y="1337310"/>
            <a:ext cx="4040606" cy="3463290"/>
          </a:xfrm>
          <a:prstGeom prst="roundRect">
            <a:avLst>
              <a:gd fmla="val 2376" name="adj"/>
            </a:avLst>
          </a:prstGeom>
          <a:solidFill>
            <a:srgbClr val="F5F7FA"/>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897" name="Google Shape;1897;p81"/>
          <p:cNvSpPr/>
          <p:nvPr/>
        </p:nvSpPr>
        <p:spPr>
          <a:xfrm>
            <a:off x="548669" y="1447038"/>
            <a:ext cx="1508840" cy="233172"/>
          </a:xfrm>
          <a:prstGeom prst="roundRect">
            <a:avLst>
              <a:gd fmla="val 50000"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898" name="Google Shape;1898;p81"/>
          <p:cNvSpPr/>
          <p:nvPr/>
        </p:nvSpPr>
        <p:spPr>
          <a:xfrm>
            <a:off x="548669" y="1447038"/>
            <a:ext cx="1508840" cy="2331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FRONT · TEAM SEES</a:t>
            </a:r>
            <a:endParaRPr sz="800">
              <a:solidFill>
                <a:schemeClr val="dk1"/>
              </a:solidFill>
              <a:latin typeface="Calibri"/>
              <a:ea typeface="Calibri"/>
              <a:cs typeface="Calibri"/>
              <a:sym typeface="Calibri"/>
            </a:endParaRPr>
          </a:p>
        </p:txBody>
      </p:sp>
      <p:sp>
        <p:nvSpPr>
          <p:cNvPr id="1899" name="Google Shape;1899;p81"/>
          <p:cNvSpPr/>
          <p:nvPr/>
        </p:nvSpPr>
        <p:spPr>
          <a:xfrm>
            <a:off x="548669" y="1789938"/>
            <a:ext cx="3766272" cy="788670"/>
          </a:xfrm>
          <a:prstGeom prst="roundRect">
            <a:avLst>
              <a:gd fmla="val 6957" name="adj"/>
            </a:avLst>
          </a:prstGeom>
          <a:solidFill>
            <a:srgbClr val="FFFFFF"/>
          </a:solidFill>
          <a:ln cap="flat" cmpd="sng" w="12700">
            <a:solidFill>
              <a:srgbClr val="E3E8EF"/>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900" name="Google Shape;1900;p81"/>
          <p:cNvSpPr/>
          <p:nvPr/>
        </p:nvSpPr>
        <p:spPr>
          <a:xfrm>
            <a:off x="658403" y="1858518"/>
            <a:ext cx="3546804" cy="65151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C2B3E"/>
              </a:buClr>
              <a:buSzPts val="900"/>
              <a:buFont typeface="Arial"/>
              <a:buNone/>
            </a:pPr>
            <a:r>
              <a:rPr i="1" lang="en-GB" sz="900">
                <a:solidFill>
                  <a:srgbClr val="1C2B3E"/>
                </a:solidFill>
                <a:latin typeface="Arial"/>
                <a:ea typeface="Arial"/>
                <a:cs typeface="Arial"/>
                <a:sym typeface="Arial"/>
              </a:rPr>
              <a:t>“Their ordering clerk sent a photo PO. Some items are described in their own words. Make sure every line is correctly matched before you submit.”</a:t>
            </a:r>
            <a:endParaRPr sz="900">
              <a:solidFill>
                <a:schemeClr val="dk1"/>
              </a:solidFill>
              <a:latin typeface="Calibri"/>
              <a:ea typeface="Calibri"/>
              <a:cs typeface="Calibri"/>
              <a:sym typeface="Calibri"/>
            </a:endParaRPr>
          </a:p>
        </p:txBody>
      </p:sp>
      <p:sp>
        <p:nvSpPr>
          <p:cNvPr id="1901" name="Google Shape;1901;p81"/>
          <p:cNvSpPr/>
          <p:nvPr/>
        </p:nvSpPr>
        <p:spPr>
          <a:xfrm>
            <a:off x="548669" y="2715768"/>
            <a:ext cx="3766272" cy="1783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800"/>
              <a:buFont typeface="Arial"/>
              <a:buNone/>
            </a:pPr>
            <a:r>
              <a:rPr b="1" lang="en-GB" sz="800">
                <a:solidFill>
                  <a:srgbClr val="94A3B8"/>
                </a:solidFill>
                <a:latin typeface="Arial"/>
                <a:ea typeface="Arial"/>
                <a:cs typeface="Arial"/>
                <a:sym typeface="Arial"/>
              </a:rPr>
              <a:t>ORDER ARRIVES AS — messy photo PO + clerk voice-note</a:t>
            </a:r>
            <a:endParaRPr sz="800">
              <a:solidFill>
                <a:schemeClr val="dk1"/>
              </a:solidFill>
              <a:latin typeface="Calibri"/>
              <a:ea typeface="Calibri"/>
              <a:cs typeface="Calibri"/>
              <a:sym typeface="Calibri"/>
            </a:endParaRPr>
          </a:p>
        </p:txBody>
      </p:sp>
      <p:sp>
        <p:nvSpPr>
          <p:cNvPr id="1902" name="Google Shape;1902;p81"/>
          <p:cNvSpPr/>
          <p:nvPr/>
        </p:nvSpPr>
        <p:spPr>
          <a:xfrm>
            <a:off x="548669" y="2935224"/>
            <a:ext cx="3766272" cy="23317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B3E"/>
              </a:buClr>
              <a:buSzPts val="900"/>
              <a:buFont typeface="Arial"/>
              <a:buNone/>
            </a:pPr>
            <a:r>
              <a:rPr lang="en-GB" sz="900">
                <a:solidFill>
                  <a:srgbClr val="1C2B3E"/>
                </a:solidFill>
                <a:latin typeface="Arial"/>
                <a:ea typeface="Arial"/>
                <a:cs typeface="Arial"/>
                <a:sym typeface="Arial"/>
              </a:rPr>
              <a:t>•  Photo PO — “minyak masak besar” → Cooking Oil</a:t>
            </a:r>
            <a:endParaRPr sz="900">
              <a:solidFill>
                <a:schemeClr val="dk1"/>
              </a:solidFill>
              <a:latin typeface="Calibri"/>
              <a:ea typeface="Calibri"/>
              <a:cs typeface="Calibri"/>
              <a:sym typeface="Calibri"/>
            </a:endParaRPr>
          </a:p>
        </p:txBody>
      </p:sp>
      <p:sp>
        <p:nvSpPr>
          <p:cNvPr id="1903" name="Google Shape;1903;p81"/>
          <p:cNvSpPr/>
          <p:nvPr/>
        </p:nvSpPr>
        <p:spPr>
          <a:xfrm>
            <a:off x="548669" y="3168396"/>
            <a:ext cx="3766272" cy="23317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B3E"/>
              </a:buClr>
              <a:buSzPts val="900"/>
              <a:buFont typeface="Arial"/>
              <a:buNone/>
            </a:pPr>
            <a:r>
              <a:rPr lang="en-GB" sz="900">
                <a:solidFill>
                  <a:srgbClr val="1C2B3E"/>
                </a:solidFill>
                <a:latin typeface="Arial"/>
                <a:ea typeface="Arial"/>
                <a:cs typeface="Arial"/>
                <a:sym typeface="Arial"/>
              </a:rPr>
              <a:t>•  “tepung banjir 25kg” → All-Purpose Flour</a:t>
            </a:r>
            <a:endParaRPr sz="900">
              <a:solidFill>
                <a:schemeClr val="dk1"/>
              </a:solidFill>
              <a:latin typeface="Calibri"/>
              <a:ea typeface="Calibri"/>
              <a:cs typeface="Calibri"/>
              <a:sym typeface="Calibri"/>
            </a:endParaRPr>
          </a:p>
        </p:txBody>
      </p:sp>
      <p:sp>
        <p:nvSpPr>
          <p:cNvPr id="1904" name="Google Shape;1904;p81"/>
          <p:cNvSpPr/>
          <p:nvPr/>
        </p:nvSpPr>
        <p:spPr>
          <a:xfrm>
            <a:off x="548669" y="3401568"/>
            <a:ext cx="3766272" cy="23317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B3E"/>
              </a:buClr>
              <a:buSzPts val="900"/>
              <a:buFont typeface="Arial"/>
              <a:buNone/>
            </a:pPr>
            <a:r>
              <a:rPr lang="en-GB" sz="900">
                <a:solidFill>
                  <a:srgbClr val="1C2B3E"/>
                </a:solidFill>
                <a:latin typeface="Arial"/>
                <a:ea typeface="Arial"/>
                <a:cs typeface="Arial"/>
                <a:sym typeface="Arial"/>
              </a:rPr>
              <a:t>•  Soy sauce, in their carton size</a:t>
            </a:r>
            <a:endParaRPr sz="900">
              <a:solidFill>
                <a:schemeClr val="dk1"/>
              </a:solidFill>
              <a:latin typeface="Calibri"/>
              <a:ea typeface="Calibri"/>
              <a:cs typeface="Calibri"/>
              <a:sym typeface="Calibri"/>
            </a:endParaRPr>
          </a:p>
        </p:txBody>
      </p:sp>
      <p:sp>
        <p:nvSpPr>
          <p:cNvPr id="1905" name="Google Shape;1905;p81"/>
          <p:cNvSpPr/>
          <p:nvPr/>
        </p:nvSpPr>
        <p:spPr>
          <a:xfrm>
            <a:off x="548669" y="3662172"/>
            <a:ext cx="3766272" cy="342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94A3B8"/>
              </a:buClr>
              <a:buSzPts val="900"/>
              <a:buFont typeface="Arial"/>
              <a:buNone/>
            </a:pPr>
            <a:r>
              <a:rPr i="1" lang="en-GB" sz="900">
                <a:solidFill>
                  <a:srgbClr val="94A3B8"/>
                </a:solidFill>
                <a:latin typeface="Arial"/>
                <a:ea typeface="Arial"/>
                <a:cs typeface="Arial"/>
                <a:sym typeface="Arial"/>
              </a:rPr>
              <a:t>One line is low-confidence.</a:t>
            </a:r>
            <a:endParaRPr sz="900">
              <a:solidFill>
                <a:schemeClr val="dk1"/>
              </a:solidFill>
              <a:latin typeface="Calibri"/>
              <a:ea typeface="Calibri"/>
              <a:cs typeface="Calibri"/>
              <a:sym typeface="Calibri"/>
            </a:endParaRPr>
          </a:p>
        </p:txBody>
      </p:sp>
      <p:sp>
        <p:nvSpPr>
          <p:cNvPr id="1906" name="Google Shape;1906;p81"/>
          <p:cNvSpPr/>
          <p:nvPr/>
        </p:nvSpPr>
        <p:spPr>
          <a:xfrm>
            <a:off x="548669" y="4265676"/>
            <a:ext cx="3766272" cy="1783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800"/>
              <a:buFont typeface="Arial"/>
              <a:buNone/>
            </a:pPr>
            <a:r>
              <a:rPr b="1" lang="en-GB" sz="800">
                <a:solidFill>
                  <a:srgbClr val="94A3B8"/>
                </a:solidFill>
                <a:latin typeface="Arial"/>
                <a:ea typeface="Arial"/>
                <a:cs typeface="Arial"/>
                <a:sym typeface="Arial"/>
              </a:rPr>
              <a:t>RECORD ON BOARD</a:t>
            </a:r>
            <a:endParaRPr sz="800">
              <a:solidFill>
                <a:schemeClr val="dk1"/>
              </a:solidFill>
              <a:latin typeface="Calibri"/>
              <a:ea typeface="Calibri"/>
              <a:cs typeface="Calibri"/>
              <a:sym typeface="Calibri"/>
            </a:endParaRPr>
          </a:p>
        </p:txBody>
      </p:sp>
      <p:sp>
        <p:nvSpPr>
          <p:cNvPr id="1907" name="Google Shape;1907;p81"/>
          <p:cNvSpPr/>
          <p:nvPr/>
        </p:nvSpPr>
        <p:spPr>
          <a:xfrm>
            <a:off x="548669" y="4471416"/>
            <a:ext cx="565815" cy="274320"/>
          </a:xfrm>
          <a:prstGeom prst="roundRect">
            <a:avLst>
              <a:gd fmla="val 50000" name="adj"/>
            </a:avLst>
          </a:prstGeom>
          <a:solidFill>
            <a:srgbClr val="FBEBD9"/>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908" name="Google Shape;1908;p81"/>
          <p:cNvSpPr/>
          <p:nvPr/>
        </p:nvSpPr>
        <p:spPr>
          <a:xfrm>
            <a:off x="548669" y="4471416"/>
            <a:ext cx="565815"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SO ID</a:t>
            </a:r>
            <a:endParaRPr sz="800">
              <a:solidFill>
                <a:schemeClr val="dk1"/>
              </a:solidFill>
              <a:latin typeface="Calibri"/>
              <a:ea typeface="Calibri"/>
              <a:cs typeface="Calibri"/>
              <a:sym typeface="Calibri"/>
            </a:endParaRPr>
          </a:p>
        </p:txBody>
      </p:sp>
      <p:sp>
        <p:nvSpPr>
          <p:cNvPr id="1909" name="Google Shape;1909;p81"/>
          <p:cNvSpPr/>
          <p:nvPr/>
        </p:nvSpPr>
        <p:spPr>
          <a:xfrm>
            <a:off x="1217360" y="4471416"/>
            <a:ext cx="565815" cy="274320"/>
          </a:xfrm>
          <a:prstGeom prst="roundRect">
            <a:avLst>
              <a:gd fmla="val 50000" name="adj"/>
            </a:avLst>
          </a:prstGeom>
          <a:solidFill>
            <a:srgbClr val="FBEBD9"/>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910" name="Google Shape;1910;p81"/>
          <p:cNvSpPr/>
          <p:nvPr/>
        </p:nvSpPr>
        <p:spPr>
          <a:xfrm>
            <a:off x="1217360" y="4471416"/>
            <a:ext cx="565815"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DN ID</a:t>
            </a:r>
            <a:endParaRPr sz="800">
              <a:solidFill>
                <a:schemeClr val="dk1"/>
              </a:solidFill>
              <a:latin typeface="Calibri"/>
              <a:ea typeface="Calibri"/>
              <a:cs typeface="Calibri"/>
              <a:sym typeface="Calibri"/>
            </a:endParaRPr>
          </a:p>
        </p:txBody>
      </p:sp>
      <p:sp>
        <p:nvSpPr>
          <p:cNvPr id="1911" name="Google Shape;1911;p81"/>
          <p:cNvSpPr/>
          <p:nvPr/>
        </p:nvSpPr>
        <p:spPr>
          <a:xfrm>
            <a:off x="1886051" y="4471416"/>
            <a:ext cx="1790033" cy="274320"/>
          </a:xfrm>
          <a:prstGeom prst="roundRect">
            <a:avLst>
              <a:gd fmla="val 50000" name="adj"/>
            </a:avLst>
          </a:prstGeom>
          <a:solidFill>
            <a:srgbClr val="FBEBD9"/>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912" name="Google Shape;1912;p81"/>
          <p:cNvSpPr/>
          <p:nvPr/>
        </p:nvSpPr>
        <p:spPr>
          <a:xfrm>
            <a:off x="1886051" y="4471416"/>
            <a:ext cx="1790033"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Caught low-confidence? Y/N</a:t>
            </a:r>
            <a:endParaRPr sz="800">
              <a:solidFill>
                <a:schemeClr val="dk1"/>
              </a:solidFill>
              <a:latin typeface="Calibri"/>
              <a:ea typeface="Calibri"/>
              <a:cs typeface="Calibri"/>
              <a:sym typeface="Calibri"/>
            </a:endParaRPr>
          </a:p>
        </p:txBody>
      </p:sp>
      <p:sp>
        <p:nvSpPr>
          <p:cNvPr id="1913" name="Google Shape;1913;p81"/>
          <p:cNvSpPr/>
          <p:nvPr/>
        </p:nvSpPr>
        <p:spPr>
          <a:xfrm>
            <a:off x="4692151" y="1337310"/>
            <a:ext cx="4040606" cy="3463290"/>
          </a:xfrm>
          <a:prstGeom prst="roundRect">
            <a:avLst>
              <a:gd fmla="val 2376"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914" name="Google Shape;1914;p81"/>
          <p:cNvSpPr/>
          <p:nvPr/>
        </p:nvSpPr>
        <p:spPr>
          <a:xfrm>
            <a:off x="4829318" y="1447038"/>
            <a:ext cx="1714591" cy="233172"/>
          </a:xfrm>
          <a:prstGeom prst="roundRect">
            <a:avLst>
              <a:gd fmla="val 50000" name="adj"/>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915" name="Google Shape;1915;p81"/>
          <p:cNvSpPr/>
          <p:nvPr/>
        </p:nvSpPr>
        <p:spPr>
          <a:xfrm>
            <a:off x="4829318" y="1447038"/>
            <a:ext cx="1714591" cy="2331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BACK · FACILITATOR QC</a:t>
            </a:r>
            <a:endParaRPr sz="800">
              <a:solidFill>
                <a:schemeClr val="dk1"/>
              </a:solidFill>
              <a:latin typeface="Calibri"/>
              <a:ea typeface="Calibri"/>
              <a:cs typeface="Calibri"/>
              <a:sym typeface="Calibri"/>
            </a:endParaRPr>
          </a:p>
        </p:txBody>
      </p:sp>
      <p:pic>
        <p:nvPicPr>
          <p:cNvPr descr="/home/claude/maia/icons/FiCheck_accent.png" id="1916" name="Google Shape;1916;p81"/>
          <p:cNvPicPr preferRelativeResize="0"/>
          <p:nvPr/>
        </p:nvPicPr>
        <p:blipFill rotWithShape="1">
          <a:blip r:embed="rId3">
            <a:alphaModFix/>
          </a:blip>
          <a:srcRect b="0" l="0" r="0" t="0"/>
          <a:stretch/>
        </p:blipFill>
        <p:spPr>
          <a:xfrm>
            <a:off x="4843035" y="1831086"/>
            <a:ext cx="150876" cy="150876"/>
          </a:xfrm>
          <a:prstGeom prst="rect">
            <a:avLst/>
          </a:prstGeom>
          <a:noFill/>
          <a:ln>
            <a:noFill/>
          </a:ln>
        </p:spPr>
      </p:pic>
      <p:sp>
        <p:nvSpPr>
          <p:cNvPr id="1917" name="Google Shape;1917;p81"/>
          <p:cNvSpPr/>
          <p:nvPr/>
        </p:nvSpPr>
        <p:spPr>
          <a:xfrm>
            <a:off x="5076220" y="1776222"/>
            <a:ext cx="3505654" cy="546926"/>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FFFFFF"/>
              </a:buClr>
              <a:buSzPts val="900"/>
              <a:buFont typeface="Arial"/>
              <a:buNone/>
            </a:pPr>
            <a:r>
              <a:rPr lang="en-GB" sz="900">
                <a:solidFill>
                  <a:srgbClr val="FFFFFF"/>
                </a:solidFill>
                <a:latin typeface="Arial"/>
                <a:ea typeface="Arial"/>
                <a:cs typeface="Arial"/>
                <a:sym typeface="Arial"/>
              </a:rPr>
              <a:t>All items correctly mapped — no wrong substitution</a:t>
            </a:r>
            <a:endParaRPr sz="900">
              <a:solidFill>
                <a:schemeClr val="dk1"/>
              </a:solidFill>
              <a:latin typeface="Calibri"/>
              <a:ea typeface="Calibri"/>
              <a:cs typeface="Calibri"/>
              <a:sym typeface="Calibri"/>
            </a:endParaRPr>
          </a:p>
        </p:txBody>
      </p:sp>
      <p:pic>
        <p:nvPicPr>
          <p:cNvPr descr="/home/claude/maia/icons/FiCheck_accent.png" id="1918" name="Google Shape;1918;p81"/>
          <p:cNvPicPr preferRelativeResize="0"/>
          <p:nvPr/>
        </p:nvPicPr>
        <p:blipFill rotWithShape="1">
          <a:blip r:embed="rId3">
            <a:alphaModFix/>
          </a:blip>
          <a:srcRect b="0" l="0" r="0" t="0"/>
          <a:stretch/>
        </p:blipFill>
        <p:spPr>
          <a:xfrm>
            <a:off x="4843035" y="2378012"/>
            <a:ext cx="150876" cy="150876"/>
          </a:xfrm>
          <a:prstGeom prst="rect">
            <a:avLst/>
          </a:prstGeom>
          <a:noFill/>
          <a:ln>
            <a:noFill/>
          </a:ln>
        </p:spPr>
      </p:pic>
      <p:sp>
        <p:nvSpPr>
          <p:cNvPr id="1919" name="Google Shape;1919;p81"/>
          <p:cNvSpPr/>
          <p:nvPr/>
        </p:nvSpPr>
        <p:spPr>
          <a:xfrm>
            <a:off x="5076220" y="2323148"/>
            <a:ext cx="3505654" cy="546926"/>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FFFFFF"/>
              </a:buClr>
              <a:buSzPts val="900"/>
              <a:buFont typeface="Arial"/>
              <a:buNone/>
            </a:pPr>
            <a:r>
              <a:rPr lang="en-GB" sz="900">
                <a:solidFill>
                  <a:srgbClr val="FFFFFF"/>
                </a:solidFill>
                <a:latin typeface="Arial"/>
                <a:ea typeface="Arial"/>
                <a:cs typeface="Arial"/>
                <a:sym typeface="Arial"/>
              </a:rPr>
              <a:t>UOM matches the customer's intent</a:t>
            </a:r>
            <a:endParaRPr sz="900">
              <a:solidFill>
                <a:schemeClr val="dk1"/>
              </a:solidFill>
              <a:latin typeface="Calibri"/>
              <a:ea typeface="Calibri"/>
              <a:cs typeface="Calibri"/>
              <a:sym typeface="Calibri"/>
            </a:endParaRPr>
          </a:p>
        </p:txBody>
      </p:sp>
      <p:pic>
        <p:nvPicPr>
          <p:cNvPr descr="/home/claude/maia/icons/FiCheck_accent.png" id="1920" name="Google Shape;1920;p81"/>
          <p:cNvPicPr preferRelativeResize="0"/>
          <p:nvPr/>
        </p:nvPicPr>
        <p:blipFill rotWithShape="1">
          <a:blip r:embed="rId3">
            <a:alphaModFix/>
          </a:blip>
          <a:srcRect b="0" l="0" r="0" t="0"/>
          <a:stretch/>
        </p:blipFill>
        <p:spPr>
          <a:xfrm>
            <a:off x="4843035" y="2924937"/>
            <a:ext cx="150876" cy="150876"/>
          </a:xfrm>
          <a:prstGeom prst="rect">
            <a:avLst/>
          </a:prstGeom>
          <a:noFill/>
          <a:ln>
            <a:noFill/>
          </a:ln>
        </p:spPr>
      </p:pic>
      <p:sp>
        <p:nvSpPr>
          <p:cNvPr id="1921" name="Google Shape;1921;p81"/>
          <p:cNvSpPr/>
          <p:nvPr/>
        </p:nvSpPr>
        <p:spPr>
          <a:xfrm>
            <a:off x="5076220" y="2870073"/>
            <a:ext cx="3505654" cy="546926"/>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FFFFFF"/>
              </a:buClr>
              <a:buSzPts val="900"/>
              <a:buFont typeface="Arial"/>
              <a:buNone/>
            </a:pPr>
            <a:r>
              <a:rPr lang="en-GB" sz="900">
                <a:solidFill>
                  <a:srgbClr val="FFFFFF"/>
                </a:solidFill>
                <a:latin typeface="Arial"/>
                <a:ea typeface="Arial"/>
                <a:cs typeface="Arial"/>
                <a:sym typeface="Arial"/>
              </a:rPr>
              <a:t>Low-confidence line corrected before confirming</a:t>
            </a:r>
            <a:endParaRPr sz="900">
              <a:solidFill>
                <a:schemeClr val="dk1"/>
              </a:solidFill>
              <a:latin typeface="Calibri"/>
              <a:ea typeface="Calibri"/>
              <a:cs typeface="Calibri"/>
              <a:sym typeface="Calibri"/>
            </a:endParaRPr>
          </a:p>
        </p:txBody>
      </p:sp>
      <p:pic>
        <p:nvPicPr>
          <p:cNvPr descr="/home/claude/maia/icons/FiCheck_accent.png" id="1922" name="Google Shape;1922;p81"/>
          <p:cNvPicPr preferRelativeResize="0"/>
          <p:nvPr/>
        </p:nvPicPr>
        <p:blipFill rotWithShape="1">
          <a:blip r:embed="rId3">
            <a:alphaModFix/>
          </a:blip>
          <a:srcRect b="0" l="0" r="0" t="0"/>
          <a:stretch/>
        </p:blipFill>
        <p:spPr>
          <a:xfrm>
            <a:off x="4843035" y="3471863"/>
            <a:ext cx="150876" cy="150876"/>
          </a:xfrm>
          <a:prstGeom prst="rect">
            <a:avLst/>
          </a:prstGeom>
          <a:noFill/>
          <a:ln>
            <a:noFill/>
          </a:ln>
        </p:spPr>
      </p:pic>
      <p:sp>
        <p:nvSpPr>
          <p:cNvPr id="1923" name="Google Shape;1923;p81"/>
          <p:cNvSpPr/>
          <p:nvPr/>
        </p:nvSpPr>
        <p:spPr>
          <a:xfrm>
            <a:off x="5076220" y="3416999"/>
            <a:ext cx="3505654" cy="546925"/>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FFFFFF"/>
              </a:buClr>
              <a:buSzPts val="900"/>
              <a:buFont typeface="Arial"/>
              <a:buNone/>
            </a:pPr>
            <a:r>
              <a:rPr lang="en-GB" sz="900">
                <a:solidFill>
                  <a:srgbClr val="FFFFFF"/>
                </a:solidFill>
                <a:latin typeface="Arial"/>
                <a:ea typeface="Arial"/>
                <a:cs typeface="Arial"/>
                <a:sym typeface="Arial"/>
              </a:rPr>
              <a:t>DN marked Delivered</a:t>
            </a:r>
            <a:endParaRPr sz="900">
              <a:solidFill>
                <a:schemeClr val="dk1"/>
              </a:solidFill>
              <a:latin typeface="Calibri"/>
              <a:ea typeface="Calibri"/>
              <a:cs typeface="Calibri"/>
              <a:sym typeface="Calibri"/>
            </a:endParaRPr>
          </a:p>
        </p:txBody>
      </p:sp>
      <p:sp>
        <p:nvSpPr>
          <p:cNvPr id="1924" name="Google Shape;1924;p81"/>
          <p:cNvSpPr/>
          <p:nvPr/>
        </p:nvSpPr>
        <p:spPr>
          <a:xfrm>
            <a:off x="4829318" y="4114800"/>
            <a:ext cx="3766272" cy="514350"/>
          </a:xfrm>
          <a:prstGeom prst="roundRect">
            <a:avLst>
              <a:gd fmla="val 10667" name="adj"/>
            </a:avLst>
          </a:prstGeom>
          <a:solidFill>
            <a:srgbClr val="32495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925" name="Google Shape;1925;p81"/>
          <p:cNvSpPr/>
          <p:nvPr/>
        </p:nvSpPr>
        <p:spPr>
          <a:xfrm>
            <a:off x="4925336" y="4217670"/>
            <a:ext cx="274335" cy="274320"/>
          </a:xfrm>
          <a:prstGeom prst="roundRect">
            <a:avLst>
              <a:gd fmla="val 22000" name="adj"/>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AlertTriangle_white.png" id="1926" name="Google Shape;1926;p81"/>
          <p:cNvPicPr preferRelativeResize="0"/>
          <p:nvPr/>
        </p:nvPicPr>
        <p:blipFill rotWithShape="1">
          <a:blip r:embed="rId4">
            <a:alphaModFix/>
          </a:blip>
          <a:srcRect b="0" l="0" r="0" t="0"/>
          <a:stretch/>
        </p:blipFill>
        <p:spPr>
          <a:xfrm>
            <a:off x="4993919" y="4286250"/>
            <a:ext cx="137160" cy="137160"/>
          </a:xfrm>
          <a:prstGeom prst="rect">
            <a:avLst/>
          </a:prstGeom>
          <a:noFill/>
          <a:ln>
            <a:noFill/>
          </a:ln>
        </p:spPr>
      </p:pic>
      <p:sp>
        <p:nvSpPr>
          <p:cNvPr id="1927" name="Google Shape;1927;p81"/>
          <p:cNvSpPr/>
          <p:nvPr/>
        </p:nvSpPr>
        <p:spPr>
          <a:xfrm>
            <a:off x="5281971" y="4169664"/>
            <a:ext cx="3299903" cy="41148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FFFFFF"/>
              </a:buClr>
              <a:buSzPts val="900"/>
              <a:buFont typeface="Arial"/>
              <a:buNone/>
            </a:pPr>
            <a:r>
              <a:rPr b="1" lang="en-GB" sz="900">
                <a:solidFill>
                  <a:srgbClr val="FFFFFF"/>
                </a:solidFill>
                <a:latin typeface="Arial"/>
                <a:ea typeface="Arial"/>
                <a:cs typeface="Arial"/>
                <a:sym typeface="Arial"/>
              </a:rPr>
              <a:t>Trap: the low-confidence line. If confirmed without review, QC fails.</a:t>
            </a:r>
            <a:endParaRPr sz="900">
              <a:solidFill>
                <a:schemeClr val="dk1"/>
              </a:solidFill>
              <a:latin typeface="Calibri"/>
              <a:ea typeface="Calibri"/>
              <a:cs typeface="Calibri"/>
              <a:sym typeface="Calibri"/>
            </a:endParaRPr>
          </a:p>
        </p:txBody>
      </p:sp>
      <p:sp>
        <p:nvSpPr>
          <p:cNvPr id="1928" name="Google Shape;1928;p81"/>
          <p:cNvSpPr txBox="1"/>
          <p:nvPr>
            <p:ph idx="12" type="sldNum"/>
          </p:nvPr>
        </p:nvSpPr>
        <p:spPr>
          <a:xfrm>
            <a:off x="8347216" y="4750189"/>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33" name="Shape 1933"/>
        <p:cNvGrpSpPr/>
        <p:nvPr/>
      </p:nvGrpSpPr>
      <p:grpSpPr>
        <a:xfrm>
          <a:off x="0" y="0"/>
          <a:ext cx="0" cy="0"/>
          <a:chOff x="0" y="0"/>
          <a:chExt cx="0" cy="0"/>
        </a:xfrm>
      </p:grpSpPr>
      <p:sp>
        <p:nvSpPr>
          <p:cNvPr id="1934" name="Google Shape;1934;p82"/>
          <p:cNvSpPr/>
          <p:nvPr/>
        </p:nvSpPr>
        <p:spPr>
          <a:xfrm>
            <a:off x="411502" y="260604"/>
            <a:ext cx="68583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MISSION CARDS · M3 OF 10</a:t>
            </a:r>
            <a:endParaRPr sz="800">
              <a:solidFill>
                <a:schemeClr val="dk1"/>
              </a:solidFill>
              <a:latin typeface="Calibri"/>
              <a:ea typeface="Calibri"/>
              <a:cs typeface="Calibri"/>
              <a:sym typeface="Calibri"/>
            </a:endParaRPr>
          </a:p>
        </p:txBody>
      </p:sp>
      <p:sp>
        <p:nvSpPr>
          <p:cNvPr id="1935" name="Google Shape;1935;p82"/>
          <p:cNvSpPr/>
          <p:nvPr/>
        </p:nvSpPr>
        <p:spPr>
          <a:xfrm>
            <a:off x="411502" y="438912"/>
            <a:ext cx="8321400" cy="480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C2B3E"/>
              </a:buClr>
              <a:buSzPts val="2200"/>
              <a:buFont typeface="Arial"/>
              <a:buNone/>
            </a:pPr>
            <a:r>
              <a:rPr b="1" lang="en-GB" sz="2200">
                <a:solidFill>
                  <a:srgbClr val="1C2B3E"/>
                </a:solidFill>
                <a:latin typeface="Poppins"/>
                <a:ea typeface="Poppins"/>
                <a:cs typeface="Poppins"/>
                <a:sym typeface="Poppins"/>
              </a:rPr>
              <a:t>Lim Heng Trading Sdn Bhd</a:t>
            </a:r>
            <a:endParaRPr sz="2200">
              <a:solidFill>
                <a:schemeClr val="dk1"/>
              </a:solidFill>
              <a:latin typeface="Poppins"/>
              <a:ea typeface="Poppins"/>
              <a:cs typeface="Poppins"/>
              <a:sym typeface="Poppins"/>
            </a:endParaRPr>
          </a:p>
        </p:txBody>
      </p:sp>
      <p:sp>
        <p:nvSpPr>
          <p:cNvPr id="1936" name="Google Shape;1936;p82"/>
          <p:cNvSpPr/>
          <p:nvPr/>
        </p:nvSpPr>
        <p:spPr>
          <a:xfrm>
            <a:off x="411502" y="1337310"/>
            <a:ext cx="4040700" cy="3463200"/>
          </a:xfrm>
          <a:prstGeom prst="roundRect">
            <a:avLst>
              <a:gd fmla="val 2376" name="adj"/>
            </a:avLst>
          </a:prstGeom>
          <a:solidFill>
            <a:srgbClr val="F5F7FA"/>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937" name="Google Shape;1937;p82"/>
          <p:cNvSpPr/>
          <p:nvPr/>
        </p:nvSpPr>
        <p:spPr>
          <a:xfrm>
            <a:off x="548669" y="1447038"/>
            <a:ext cx="1508700" cy="233100"/>
          </a:xfrm>
          <a:prstGeom prst="roundRect">
            <a:avLst>
              <a:gd fmla="val 50000"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938" name="Google Shape;1938;p82"/>
          <p:cNvSpPr/>
          <p:nvPr/>
        </p:nvSpPr>
        <p:spPr>
          <a:xfrm>
            <a:off x="548669" y="1447038"/>
            <a:ext cx="1508700" cy="233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FRONT · TEAM SEES</a:t>
            </a:r>
            <a:endParaRPr sz="800">
              <a:solidFill>
                <a:schemeClr val="dk1"/>
              </a:solidFill>
              <a:latin typeface="Calibri"/>
              <a:ea typeface="Calibri"/>
              <a:cs typeface="Calibri"/>
              <a:sym typeface="Calibri"/>
            </a:endParaRPr>
          </a:p>
        </p:txBody>
      </p:sp>
      <p:sp>
        <p:nvSpPr>
          <p:cNvPr id="1939" name="Google Shape;1939;p82"/>
          <p:cNvSpPr/>
          <p:nvPr/>
        </p:nvSpPr>
        <p:spPr>
          <a:xfrm>
            <a:off x="548669" y="1789938"/>
            <a:ext cx="3766200" cy="788700"/>
          </a:xfrm>
          <a:prstGeom prst="roundRect">
            <a:avLst>
              <a:gd fmla="val 6957" name="adj"/>
            </a:avLst>
          </a:prstGeom>
          <a:solidFill>
            <a:srgbClr val="FFFFFF"/>
          </a:solidFill>
          <a:ln cap="flat" cmpd="sng" w="12700">
            <a:solidFill>
              <a:srgbClr val="E3E8EF"/>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940" name="Google Shape;1940;p82"/>
          <p:cNvSpPr/>
          <p:nvPr/>
        </p:nvSpPr>
        <p:spPr>
          <a:xfrm>
            <a:off x="658403" y="1858518"/>
            <a:ext cx="3546900" cy="6516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C2B3E"/>
              </a:buClr>
              <a:buSzPts val="900"/>
              <a:buFont typeface="Arial"/>
              <a:buNone/>
            </a:pPr>
            <a:r>
              <a:rPr i="1" lang="en-GB" sz="900">
                <a:solidFill>
                  <a:srgbClr val="1C2B3E"/>
                </a:solidFill>
                <a:latin typeface="Arial"/>
                <a:ea typeface="Arial"/>
                <a:cs typeface="Arial"/>
                <a:sym typeface="Arial"/>
              </a:rPr>
              <a:t>“En. Lim ordered 10 cartons of soy sauce. But their definition of a carton is not the same as yours. Check before you confirm.”</a:t>
            </a:r>
            <a:endParaRPr sz="900">
              <a:solidFill>
                <a:schemeClr val="dk1"/>
              </a:solidFill>
              <a:latin typeface="Calibri"/>
              <a:ea typeface="Calibri"/>
              <a:cs typeface="Calibri"/>
              <a:sym typeface="Calibri"/>
            </a:endParaRPr>
          </a:p>
        </p:txBody>
      </p:sp>
      <p:sp>
        <p:nvSpPr>
          <p:cNvPr id="1941" name="Google Shape;1941;p82"/>
          <p:cNvSpPr/>
          <p:nvPr/>
        </p:nvSpPr>
        <p:spPr>
          <a:xfrm>
            <a:off x="548669" y="2715768"/>
            <a:ext cx="3766200" cy="178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800"/>
              <a:buFont typeface="Arial"/>
              <a:buNone/>
            </a:pPr>
            <a:r>
              <a:rPr b="1" lang="en-GB" sz="800">
                <a:solidFill>
                  <a:srgbClr val="94A3B8"/>
                </a:solidFill>
                <a:latin typeface="Arial"/>
                <a:ea typeface="Arial"/>
                <a:cs typeface="Arial"/>
                <a:sym typeface="Arial"/>
              </a:rPr>
              <a:t>ORDER ARRIVES AS — short WhatsApp order</a:t>
            </a:r>
            <a:endParaRPr sz="800">
              <a:solidFill>
                <a:schemeClr val="dk1"/>
              </a:solidFill>
              <a:latin typeface="Calibri"/>
              <a:ea typeface="Calibri"/>
              <a:cs typeface="Calibri"/>
              <a:sym typeface="Calibri"/>
            </a:endParaRPr>
          </a:p>
        </p:txBody>
      </p:sp>
      <p:sp>
        <p:nvSpPr>
          <p:cNvPr id="1942" name="Google Shape;1942;p82"/>
          <p:cNvSpPr/>
          <p:nvPr/>
        </p:nvSpPr>
        <p:spPr>
          <a:xfrm>
            <a:off x="548669" y="2935224"/>
            <a:ext cx="3766200" cy="233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B3E"/>
              </a:buClr>
              <a:buSzPts val="900"/>
              <a:buFont typeface="Arial"/>
              <a:buNone/>
            </a:pPr>
            <a:r>
              <a:rPr lang="en-GB" sz="900">
                <a:solidFill>
                  <a:srgbClr val="1C2B3E"/>
                </a:solidFill>
                <a:latin typeface="Arial"/>
                <a:ea typeface="Arial"/>
                <a:cs typeface="Arial"/>
                <a:sym typeface="Arial"/>
              </a:rPr>
              <a:t>•  Light Soy Sauce 750ml × 10 cartons</a:t>
            </a:r>
            <a:endParaRPr sz="900">
              <a:solidFill>
                <a:schemeClr val="dk1"/>
              </a:solidFill>
              <a:latin typeface="Calibri"/>
              <a:ea typeface="Calibri"/>
              <a:cs typeface="Calibri"/>
              <a:sym typeface="Calibri"/>
            </a:endParaRPr>
          </a:p>
        </p:txBody>
      </p:sp>
      <p:sp>
        <p:nvSpPr>
          <p:cNvPr id="1943" name="Google Shape;1943;p82"/>
          <p:cNvSpPr/>
          <p:nvPr/>
        </p:nvSpPr>
        <p:spPr>
          <a:xfrm>
            <a:off x="548669" y="3168396"/>
            <a:ext cx="3766200" cy="233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B3E"/>
              </a:buClr>
              <a:buSzPts val="900"/>
              <a:buFont typeface="Arial"/>
              <a:buNone/>
            </a:pPr>
            <a:r>
              <a:rPr lang="en-GB" sz="900">
                <a:solidFill>
                  <a:srgbClr val="1C2B3E"/>
                </a:solidFill>
                <a:latin typeface="Arial"/>
                <a:ea typeface="Arial"/>
                <a:cs typeface="Arial"/>
                <a:sym typeface="Arial"/>
              </a:rPr>
              <a:t>•  Lim Heng's carton = 24 bottles · ours = 12</a:t>
            </a:r>
            <a:endParaRPr sz="900">
              <a:solidFill>
                <a:schemeClr val="dk1"/>
              </a:solidFill>
              <a:latin typeface="Calibri"/>
              <a:ea typeface="Calibri"/>
              <a:cs typeface="Calibri"/>
              <a:sym typeface="Calibri"/>
            </a:endParaRPr>
          </a:p>
        </p:txBody>
      </p:sp>
      <p:sp>
        <p:nvSpPr>
          <p:cNvPr id="1944" name="Google Shape;1944;p82"/>
          <p:cNvSpPr/>
          <p:nvPr/>
        </p:nvSpPr>
        <p:spPr>
          <a:xfrm>
            <a:off x="548669" y="4265676"/>
            <a:ext cx="3766200" cy="178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800"/>
              <a:buFont typeface="Arial"/>
              <a:buNone/>
            </a:pPr>
            <a:r>
              <a:rPr b="1" lang="en-GB" sz="800">
                <a:solidFill>
                  <a:srgbClr val="94A3B8"/>
                </a:solidFill>
                <a:latin typeface="Arial"/>
                <a:ea typeface="Arial"/>
                <a:cs typeface="Arial"/>
                <a:sym typeface="Arial"/>
              </a:rPr>
              <a:t>RECORD ON BOARD</a:t>
            </a:r>
            <a:endParaRPr sz="800">
              <a:solidFill>
                <a:schemeClr val="dk1"/>
              </a:solidFill>
              <a:latin typeface="Calibri"/>
              <a:ea typeface="Calibri"/>
              <a:cs typeface="Calibri"/>
              <a:sym typeface="Calibri"/>
            </a:endParaRPr>
          </a:p>
        </p:txBody>
      </p:sp>
      <p:sp>
        <p:nvSpPr>
          <p:cNvPr id="1945" name="Google Shape;1945;p82"/>
          <p:cNvSpPr/>
          <p:nvPr/>
        </p:nvSpPr>
        <p:spPr>
          <a:xfrm>
            <a:off x="548669" y="4471416"/>
            <a:ext cx="565800" cy="274200"/>
          </a:xfrm>
          <a:prstGeom prst="roundRect">
            <a:avLst>
              <a:gd fmla="val 50000" name="adj"/>
            </a:avLst>
          </a:prstGeom>
          <a:solidFill>
            <a:srgbClr val="FBEBD9"/>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946" name="Google Shape;1946;p82"/>
          <p:cNvSpPr/>
          <p:nvPr/>
        </p:nvSpPr>
        <p:spPr>
          <a:xfrm>
            <a:off x="548669" y="4471416"/>
            <a:ext cx="5658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SO ID</a:t>
            </a:r>
            <a:endParaRPr sz="800">
              <a:solidFill>
                <a:schemeClr val="dk1"/>
              </a:solidFill>
              <a:latin typeface="Calibri"/>
              <a:ea typeface="Calibri"/>
              <a:cs typeface="Calibri"/>
              <a:sym typeface="Calibri"/>
            </a:endParaRPr>
          </a:p>
        </p:txBody>
      </p:sp>
      <p:sp>
        <p:nvSpPr>
          <p:cNvPr id="1947" name="Google Shape;1947;p82"/>
          <p:cNvSpPr/>
          <p:nvPr/>
        </p:nvSpPr>
        <p:spPr>
          <a:xfrm>
            <a:off x="1217360" y="4471416"/>
            <a:ext cx="565800" cy="274200"/>
          </a:xfrm>
          <a:prstGeom prst="roundRect">
            <a:avLst>
              <a:gd fmla="val 50000" name="adj"/>
            </a:avLst>
          </a:prstGeom>
          <a:solidFill>
            <a:srgbClr val="FBEBD9"/>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948" name="Google Shape;1948;p82"/>
          <p:cNvSpPr/>
          <p:nvPr/>
        </p:nvSpPr>
        <p:spPr>
          <a:xfrm>
            <a:off x="1217360" y="4471416"/>
            <a:ext cx="5658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DN ID</a:t>
            </a:r>
            <a:endParaRPr sz="800">
              <a:solidFill>
                <a:schemeClr val="dk1"/>
              </a:solidFill>
              <a:latin typeface="Calibri"/>
              <a:ea typeface="Calibri"/>
              <a:cs typeface="Calibri"/>
              <a:sym typeface="Calibri"/>
            </a:endParaRPr>
          </a:p>
        </p:txBody>
      </p:sp>
      <p:sp>
        <p:nvSpPr>
          <p:cNvPr id="1949" name="Google Shape;1949;p82"/>
          <p:cNvSpPr/>
          <p:nvPr/>
        </p:nvSpPr>
        <p:spPr>
          <a:xfrm>
            <a:off x="1886051" y="4471416"/>
            <a:ext cx="1673400" cy="274200"/>
          </a:xfrm>
          <a:prstGeom prst="roundRect">
            <a:avLst>
              <a:gd fmla="val 50000" name="adj"/>
            </a:avLst>
          </a:prstGeom>
          <a:solidFill>
            <a:srgbClr val="FBEBD9"/>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950" name="Google Shape;1950;p82"/>
          <p:cNvSpPr/>
          <p:nvPr/>
        </p:nvSpPr>
        <p:spPr>
          <a:xfrm>
            <a:off x="1886051" y="4471416"/>
            <a:ext cx="16734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Caught UOM mismatch? Y/N</a:t>
            </a:r>
            <a:endParaRPr sz="800">
              <a:solidFill>
                <a:schemeClr val="dk1"/>
              </a:solidFill>
              <a:latin typeface="Calibri"/>
              <a:ea typeface="Calibri"/>
              <a:cs typeface="Calibri"/>
              <a:sym typeface="Calibri"/>
            </a:endParaRPr>
          </a:p>
        </p:txBody>
      </p:sp>
      <p:sp>
        <p:nvSpPr>
          <p:cNvPr id="1951" name="Google Shape;1951;p82"/>
          <p:cNvSpPr/>
          <p:nvPr/>
        </p:nvSpPr>
        <p:spPr>
          <a:xfrm>
            <a:off x="4692151" y="1337310"/>
            <a:ext cx="4040700" cy="3463200"/>
          </a:xfrm>
          <a:prstGeom prst="roundRect">
            <a:avLst>
              <a:gd fmla="val 2376"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952" name="Google Shape;1952;p82"/>
          <p:cNvSpPr/>
          <p:nvPr/>
        </p:nvSpPr>
        <p:spPr>
          <a:xfrm>
            <a:off x="4829318" y="1447038"/>
            <a:ext cx="1714500" cy="233100"/>
          </a:xfrm>
          <a:prstGeom prst="roundRect">
            <a:avLst>
              <a:gd fmla="val 50000" name="adj"/>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953" name="Google Shape;1953;p82"/>
          <p:cNvSpPr/>
          <p:nvPr/>
        </p:nvSpPr>
        <p:spPr>
          <a:xfrm>
            <a:off x="4829318" y="1447038"/>
            <a:ext cx="1714500" cy="233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BACK · FACILITATOR QC</a:t>
            </a:r>
            <a:endParaRPr sz="800">
              <a:solidFill>
                <a:schemeClr val="dk1"/>
              </a:solidFill>
              <a:latin typeface="Calibri"/>
              <a:ea typeface="Calibri"/>
              <a:cs typeface="Calibri"/>
              <a:sym typeface="Calibri"/>
            </a:endParaRPr>
          </a:p>
        </p:txBody>
      </p:sp>
      <p:pic>
        <p:nvPicPr>
          <p:cNvPr descr="/home/claude/maia/icons/FiCheck_accent.png" id="1954" name="Google Shape;1954;p82"/>
          <p:cNvPicPr preferRelativeResize="0"/>
          <p:nvPr/>
        </p:nvPicPr>
        <p:blipFill rotWithShape="1">
          <a:blip r:embed="rId3">
            <a:alphaModFix/>
          </a:blip>
          <a:srcRect b="0" l="0" r="0" t="0"/>
          <a:stretch/>
        </p:blipFill>
        <p:spPr>
          <a:xfrm>
            <a:off x="4843035" y="1831086"/>
            <a:ext cx="150876" cy="150876"/>
          </a:xfrm>
          <a:prstGeom prst="rect">
            <a:avLst/>
          </a:prstGeom>
          <a:noFill/>
          <a:ln>
            <a:noFill/>
          </a:ln>
        </p:spPr>
      </p:pic>
      <p:sp>
        <p:nvSpPr>
          <p:cNvPr id="1955" name="Google Shape;1955;p82"/>
          <p:cNvSpPr/>
          <p:nvPr/>
        </p:nvSpPr>
        <p:spPr>
          <a:xfrm>
            <a:off x="5076220" y="1776222"/>
            <a:ext cx="3505800" cy="10938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FFFFFF"/>
              </a:buClr>
              <a:buSzPts val="900"/>
              <a:buFont typeface="Arial"/>
              <a:buNone/>
            </a:pPr>
            <a:r>
              <a:rPr lang="en-GB" sz="900">
                <a:solidFill>
                  <a:srgbClr val="FFFFFF"/>
                </a:solidFill>
                <a:latin typeface="Arial"/>
                <a:ea typeface="Arial"/>
                <a:cs typeface="Arial"/>
                <a:sym typeface="Arial"/>
              </a:rPr>
              <a:t>SO line shows the correct quantity (240 bottles, or 10 cartons with conversion confirmed)</a:t>
            </a:r>
            <a:endParaRPr sz="900">
              <a:solidFill>
                <a:schemeClr val="dk1"/>
              </a:solidFill>
              <a:latin typeface="Calibri"/>
              <a:ea typeface="Calibri"/>
              <a:cs typeface="Calibri"/>
              <a:sym typeface="Calibri"/>
            </a:endParaRPr>
          </a:p>
        </p:txBody>
      </p:sp>
      <p:pic>
        <p:nvPicPr>
          <p:cNvPr descr="/home/claude/maia/icons/FiCheck_accent.png" id="1956" name="Google Shape;1956;p82"/>
          <p:cNvPicPr preferRelativeResize="0"/>
          <p:nvPr/>
        </p:nvPicPr>
        <p:blipFill rotWithShape="1">
          <a:blip r:embed="rId3">
            <a:alphaModFix/>
          </a:blip>
          <a:srcRect b="0" l="0" r="0" t="0"/>
          <a:stretch/>
        </p:blipFill>
        <p:spPr>
          <a:xfrm>
            <a:off x="4843035" y="2924937"/>
            <a:ext cx="150876" cy="150876"/>
          </a:xfrm>
          <a:prstGeom prst="rect">
            <a:avLst/>
          </a:prstGeom>
          <a:noFill/>
          <a:ln>
            <a:noFill/>
          </a:ln>
        </p:spPr>
      </p:pic>
      <p:sp>
        <p:nvSpPr>
          <p:cNvPr id="1957" name="Google Shape;1957;p82"/>
          <p:cNvSpPr/>
          <p:nvPr/>
        </p:nvSpPr>
        <p:spPr>
          <a:xfrm>
            <a:off x="5076220" y="2870073"/>
            <a:ext cx="3505800" cy="10938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FFFFFF"/>
              </a:buClr>
              <a:buSzPts val="900"/>
              <a:buFont typeface="Arial"/>
              <a:buNone/>
            </a:pPr>
            <a:r>
              <a:rPr lang="en-GB" sz="900">
                <a:solidFill>
                  <a:srgbClr val="FFFFFF"/>
                </a:solidFill>
                <a:latin typeface="Arial"/>
                <a:ea typeface="Arial"/>
                <a:cs typeface="Arial"/>
                <a:sym typeface="Arial"/>
              </a:rPr>
              <a:t>DN marked Delivered</a:t>
            </a:r>
            <a:endParaRPr sz="900">
              <a:solidFill>
                <a:schemeClr val="dk1"/>
              </a:solidFill>
              <a:latin typeface="Calibri"/>
              <a:ea typeface="Calibri"/>
              <a:cs typeface="Calibri"/>
              <a:sym typeface="Calibri"/>
            </a:endParaRPr>
          </a:p>
        </p:txBody>
      </p:sp>
      <p:sp>
        <p:nvSpPr>
          <p:cNvPr id="1958" name="Google Shape;1958;p82"/>
          <p:cNvSpPr/>
          <p:nvPr/>
        </p:nvSpPr>
        <p:spPr>
          <a:xfrm>
            <a:off x="4829318" y="4114800"/>
            <a:ext cx="3766200" cy="514500"/>
          </a:xfrm>
          <a:prstGeom prst="roundRect">
            <a:avLst>
              <a:gd fmla="val 10667" name="adj"/>
            </a:avLst>
          </a:prstGeom>
          <a:solidFill>
            <a:srgbClr val="32495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959" name="Google Shape;1959;p82"/>
          <p:cNvSpPr/>
          <p:nvPr/>
        </p:nvSpPr>
        <p:spPr>
          <a:xfrm>
            <a:off x="4925336" y="4217670"/>
            <a:ext cx="274200" cy="274200"/>
          </a:xfrm>
          <a:prstGeom prst="roundRect">
            <a:avLst>
              <a:gd fmla="val 22000" name="adj"/>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AlertTriangle_white.png" id="1960" name="Google Shape;1960;p82"/>
          <p:cNvPicPr preferRelativeResize="0"/>
          <p:nvPr/>
        </p:nvPicPr>
        <p:blipFill rotWithShape="1">
          <a:blip r:embed="rId4">
            <a:alphaModFix/>
          </a:blip>
          <a:srcRect b="0" l="0" r="0" t="0"/>
          <a:stretch/>
        </p:blipFill>
        <p:spPr>
          <a:xfrm>
            <a:off x="4993919" y="4286250"/>
            <a:ext cx="137160" cy="137160"/>
          </a:xfrm>
          <a:prstGeom prst="rect">
            <a:avLst/>
          </a:prstGeom>
          <a:noFill/>
          <a:ln>
            <a:noFill/>
          </a:ln>
        </p:spPr>
      </p:pic>
      <p:sp>
        <p:nvSpPr>
          <p:cNvPr id="1961" name="Google Shape;1961;p82"/>
          <p:cNvSpPr/>
          <p:nvPr/>
        </p:nvSpPr>
        <p:spPr>
          <a:xfrm>
            <a:off x="5281971" y="4169664"/>
            <a:ext cx="3300000" cy="4116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FFFFFF"/>
              </a:buClr>
              <a:buSzPts val="900"/>
              <a:buFont typeface="Arial"/>
              <a:buNone/>
            </a:pPr>
            <a:r>
              <a:rPr b="1" lang="en-GB" sz="900">
                <a:solidFill>
                  <a:srgbClr val="FFFFFF"/>
                </a:solidFill>
                <a:latin typeface="Arial"/>
                <a:ea typeface="Arial"/>
                <a:cs typeface="Arial"/>
                <a:sym typeface="Arial"/>
              </a:rPr>
              <a:t>Trap: UOM mismatch — must be caught and converted before confirming.</a:t>
            </a:r>
            <a:endParaRPr sz="900">
              <a:solidFill>
                <a:schemeClr val="dk1"/>
              </a:solidFill>
              <a:latin typeface="Calibri"/>
              <a:ea typeface="Calibri"/>
              <a:cs typeface="Calibri"/>
              <a:sym typeface="Calibri"/>
            </a:endParaRPr>
          </a:p>
        </p:txBody>
      </p:sp>
      <p:sp>
        <p:nvSpPr>
          <p:cNvPr id="1962" name="Google Shape;1962;p82"/>
          <p:cNvSpPr txBox="1"/>
          <p:nvPr>
            <p:ph idx="12" type="sldNum"/>
          </p:nvPr>
        </p:nvSpPr>
        <p:spPr>
          <a:xfrm>
            <a:off x="8347216" y="4750189"/>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67" name="Shape 1967"/>
        <p:cNvGrpSpPr/>
        <p:nvPr/>
      </p:nvGrpSpPr>
      <p:grpSpPr>
        <a:xfrm>
          <a:off x="0" y="0"/>
          <a:ext cx="0" cy="0"/>
          <a:chOff x="0" y="0"/>
          <a:chExt cx="0" cy="0"/>
        </a:xfrm>
      </p:grpSpPr>
      <p:sp>
        <p:nvSpPr>
          <p:cNvPr id="1968" name="Google Shape;1968;p83"/>
          <p:cNvSpPr/>
          <p:nvPr/>
        </p:nvSpPr>
        <p:spPr>
          <a:xfrm>
            <a:off x="411502" y="260604"/>
            <a:ext cx="68583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MISSION CARDS · M4 OF 10</a:t>
            </a:r>
            <a:endParaRPr sz="800">
              <a:solidFill>
                <a:schemeClr val="dk1"/>
              </a:solidFill>
              <a:latin typeface="Calibri"/>
              <a:ea typeface="Calibri"/>
              <a:cs typeface="Calibri"/>
              <a:sym typeface="Calibri"/>
            </a:endParaRPr>
          </a:p>
        </p:txBody>
      </p:sp>
      <p:sp>
        <p:nvSpPr>
          <p:cNvPr id="1969" name="Google Shape;1969;p83"/>
          <p:cNvSpPr/>
          <p:nvPr/>
        </p:nvSpPr>
        <p:spPr>
          <a:xfrm>
            <a:off x="411502" y="438912"/>
            <a:ext cx="8321400" cy="480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C2B3E"/>
              </a:buClr>
              <a:buSzPts val="2200"/>
              <a:buFont typeface="Arial"/>
              <a:buNone/>
            </a:pPr>
            <a:r>
              <a:rPr b="1" lang="en-GB" sz="2200">
                <a:solidFill>
                  <a:srgbClr val="1C2B3E"/>
                </a:solidFill>
                <a:latin typeface="Poppins"/>
                <a:ea typeface="Poppins"/>
                <a:cs typeface="Poppins"/>
                <a:sym typeface="Poppins"/>
              </a:rPr>
              <a:t>Selera Catering &amp; Events Sdn Bhd</a:t>
            </a:r>
            <a:endParaRPr sz="2200">
              <a:solidFill>
                <a:schemeClr val="dk1"/>
              </a:solidFill>
              <a:latin typeface="Poppins"/>
              <a:ea typeface="Poppins"/>
              <a:cs typeface="Poppins"/>
              <a:sym typeface="Poppins"/>
            </a:endParaRPr>
          </a:p>
        </p:txBody>
      </p:sp>
      <p:sp>
        <p:nvSpPr>
          <p:cNvPr id="1970" name="Google Shape;1970;p83"/>
          <p:cNvSpPr/>
          <p:nvPr/>
        </p:nvSpPr>
        <p:spPr>
          <a:xfrm>
            <a:off x="411502" y="1337310"/>
            <a:ext cx="4040700" cy="3463200"/>
          </a:xfrm>
          <a:prstGeom prst="roundRect">
            <a:avLst>
              <a:gd fmla="val 2376" name="adj"/>
            </a:avLst>
          </a:prstGeom>
          <a:solidFill>
            <a:srgbClr val="F5F7FA"/>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971" name="Google Shape;1971;p83"/>
          <p:cNvSpPr/>
          <p:nvPr/>
        </p:nvSpPr>
        <p:spPr>
          <a:xfrm>
            <a:off x="548669" y="1447038"/>
            <a:ext cx="1508700" cy="233100"/>
          </a:xfrm>
          <a:prstGeom prst="roundRect">
            <a:avLst>
              <a:gd fmla="val 50000"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972" name="Google Shape;1972;p83"/>
          <p:cNvSpPr/>
          <p:nvPr/>
        </p:nvSpPr>
        <p:spPr>
          <a:xfrm>
            <a:off x="548669" y="1447038"/>
            <a:ext cx="1508700" cy="233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FRONT · TEAM SEES</a:t>
            </a:r>
            <a:endParaRPr sz="800">
              <a:solidFill>
                <a:schemeClr val="dk1"/>
              </a:solidFill>
              <a:latin typeface="Calibri"/>
              <a:ea typeface="Calibri"/>
              <a:cs typeface="Calibri"/>
              <a:sym typeface="Calibri"/>
            </a:endParaRPr>
          </a:p>
        </p:txBody>
      </p:sp>
      <p:sp>
        <p:nvSpPr>
          <p:cNvPr id="1973" name="Google Shape;1973;p83"/>
          <p:cNvSpPr/>
          <p:nvPr/>
        </p:nvSpPr>
        <p:spPr>
          <a:xfrm>
            <a:off x="548669" y="1789938"/>
            <a:ext cx="3766200" cy="788700"/>
          </a:xfrm>
          <a:prstGeom prst="roundRect">
            <a:avLst>
              <a:gd fmla="val 6957" name="adj"/>
            </a:avLst>
          </a:prstGeom>
          <a:solidFill>
            <a:srgbClr val="FFFFFF"/>
          </a:solidFill>
          <a:ln cap="flat" cmpd="sng" w="12700">
            <a:solidFill>
              <a:srgbClr val="E3E8EF"/>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974" name="Google Shape;1974;p83"/>
          <p:cNvSpPr/>
          <p:nvPr/>
        </p:nvSpPr>
        <p:spPr>
          <a:xfrm>
            <a:off x="658403" y="1858518"/>
            <a:ext cx="3546900" cy="6516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C2B3E"/>
              </a:buClr>
              <a:buSzPts val="900"/>
              <a:buFont typeface="Arial"/>
              <a:buNone/>
            </a:pPr>
            <a:r>
              <a:rPr i="1" lang="en-GB" sz="900">
                <a:solidFill>
                  <a:srgbClr val="1C2B3E"/>
                </a:solidFill>
                <a:latin typeface="Arial"/>
                <a:ea typeface="Arial"/>
                <a:cs typeface="Arial"/>
                <a:sym typeface="Arial"/>
              </a:rPr>
              <a:t>“Ms. Priya is a contract customer. She has special rates on a few items. Make sure you're not quoting her the wrong price.”</a:t>
            </a:r>
            <a:endParaRPr sz="900">
              <a:solidFill>
                <a:schemeClr val="dk1"/>
              </a:solidFill>
              <a:latin typeface="Calibri"/>
              <a:ea typeface="Calibri"/>
              <a:cs typeface="Calibri"/>
              <a:sym typeface="Calibri"/>
            </a:endParaRPr>
          </a:p>
        </p:txBody>
      </p:sp>
      <p:sp>
        <p:nvSpPr>
          <p:cNvPr id="1975" name="Google Shape;1975;p83"/>
          <p:cNvSpPr/>
          <p:nvPr/>
        </p:nvSpPr>
        <p:spPr>
          <a:xfrm>
            <a:off x="548669" y="2715768"/>
            <a:ext cx="3766200" cy="178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800"/>
              <a:buFont typeface="Arial"/>
              <a:buNone/>
            </a:pPr>
            <a:r>
              <a:rPr b="1" lang="en-GB" sz="800">
                <a:solidFill>
                  <a:srgbClr val="94A3B8"/>
                </a:solidFill>
                <a:latin typeface="Arial"/>
                <a:ea typeface="Arial"/>
                <a:cs typeface="Arial"/>
                <a:sym typeface="Arial"/>
              </a:rPr>
              <a:t>ORDER ARRIVES AS — contract-customer WhatsApp / email</a:t>
            </a:r>
            <a:endParaRPr sz="800">
              <a:solidFill>
                <a:schemeClr val="dk1"/>
              </a:solidFill>
              <a:latin typeface="Calibri"/>
              <a:ea typeface="Calibri"/>
              <a:cs typeface="Calibri"/>
              <a:sym typeface="Calibri"/>
            </a:endParaRPr>
          </a:p>
        </p:txBody>
      </p:sp>
      <p:sp>
        <p:nvSpPr>
          <p:cNvPr id="1976" name="Google Shape;1976;p83"/>
          <p:cNvSpPr/>
          <p:nvPr/>
        </p:nvSpPr>
        <p:spPr>
          <a:xfrm>
            <a:off x="548669" y="2935224"/>
            <a:ext cx="3766200" cy="233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B3E"/>
              </a:buClr>
              <a:buSzPts val="900"/>
              <a:buFont typeface="Arial"/>
              <a:buNone/>
            </a:pPr>
            <a:r>
              <a:rPr lang="en-GB" sz="900">
                <a:solidFill>
                  <a:srgbClr val="1C2B3E"/>
                </a:solidFill>
                <a:latin typeface="Arial"/>
                <a:ea typeface="Arial"/>
                <a:cs typeface="Arial"/>
                <a:sym typeface="Arial"/>
              </a:rPr>
              <a:t>•  Cooking Oil 17kg × 20</a:t>
            </a:r>
            <a:endParaRPr sz="900">
              <a:solidFill>
                <a:schemeClr val="dk1"/>
              </a:solidFill>
              <a:latin typeface="Calibri"/>
              <a:ea typeface="Calibri"/>
              <a:cs typeface="Calibri"/>
              <a:sym typeface="Calibri"/>
            </a:endParaRPr>
          </a:p>
        </p:txBody>
      </p:sp>
      <p:sp>
        <p:nvSpPr>
          <p:cNvPr id="1977" name="Google Shape;1977;p83"/>
          <p:cNvSpPr/>
          <p:nvPr/>
        </p:nvSpPr>
        <p:spPr>
          <a:xfrm>
            <a:off x="548669" y="3168396"/>
            <a:ext cx="3766200" cy="233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B3E"/>
              </a:buClr>
              <a:buSzPts val="900"/>
              <a:buFont typeface="Arial"/>
              <a:buNone/>
            </a:pPr>
            <a:r>
              <a:rPr lang="en-GB" sz="900">
                <a:solidFill>
                  <a:srgbClr val="1C2B3E"/>
                </a:solidFill>
                <a:latin typeface="Arial"/>
                <a:ea typeface="Arial"/>
                <a:cs typeface="Arial"/>
                <a:sym typeface="Arial"/>
              </a:rPr>
              <a:t>•  Jasmine Rice 10kg × 10</a:t>
            </a:r>
            <a:endParaRPr sz="900">
              <a:solidFill>
                <a:schemeClr val="dk1"/>
              </a:solidFill>
              <a:latin typeface="Calibri"/>
              <a:ea typeface="Calibri"/>
              <a:cs typeface="Calibri"/>
              <a:sym typeface="Calibri"/>
            </a:endParaRPr>
          </a:p>
        </p:txBody>
      </p:sp>
      <p:sp>
        <p:nvSpPr>
          <p:cNvPr id="1978" name="Google Shape;1978;p83"/>
          <p:cNvSpPr/>
          <p:nvPr/>
        </p:nvSpPr>
        <p:spPr>
          <a:xfrm>
            <a:off x="548669" y="3429000"/>
            <a:ext cx="3766200" cy="342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94A3B8"/>
              </a:buClr>
              <a:buSzPts val="900"/>
              <a:buFont typeface="Arial"/>
              <a:buNone/>
            </a:pPr>
            <a:r>
              <a:rPr i="1" lang="en-GB" sz="900">
                <a:solidFill>
                  <a:srgbClr val="94A3B8"/>
                </a:solidFill>
                <a:latin typeface="Arial"/>
                <a:ea typeface="Arial"/>
                <a:cs typeface="Arial"/>
                <a:sym typeface="Arial"/>
              </a:rPr>
              <a:t>Both items have a Customer Item Price below standard.</a:t>
            </a:r>
            <a:endParaRPr sz="900">
              <a:solidFill>
                <a:schemeClr val="dk1"/>
              </a:solidFill>
              <a:latin typeface="Calibri"/>
              <a:ea typeface="Calibri"/>
              <a:cs typeface="Calibri"/>
              <a:sym typeface="Calibri"/>
            </a:endParaRPr>
          </a:p>
        </p:txBody>
      </p:sp>
      <p:sp>
        <p:nvSpPr>
          <p:cNvPr id="1979" name="Google Shape;1979;p83"/>
          <p:cNvSpPr/>
          <p:nvPr/>
        </p:nvSpPr>
        <p:spPr>
          <a:xfrm>
            <a:off x="548669" y="4265676"/>
            <a:ext cx="3766200" cy="178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800"/>
              <a:buFont typeface="Arial"/>
              <a:buNone/>
            </a:pPr>
            <a:r>
              <a:rPr b="1" lang="en-GB" sz="800">
                <a:solidFill>
                  <a:srgbClr val="94A3B8"/>
                </a:solidFill>
                <a:latin typeface="Arial"/>
                <a:ea typeface="Arial"/>
                <a:cs typeface="Arial"/>
                <a:sym typeface="Arial"/>
              </a:rPr>
              <a:t>RECORD ON BOARD</a:t>
            </a:r>
            <a:endParaRPr sz="800">
              <a:solidFill>
                <a:schemeClr val="dk1"/>
              </a:solidFill>
              <a:latin typeface="Calibri"/>
              <a:ea typeface="Calibri"/>
              <a:cs typeface="Calibri"/>
              <a:sym typeface="Calibri"/>
            </a:endParaRPr>
          </a:p>
        </p:txBody>
      </p:sp>
      <p:sp>
        <p:nvSpPr>
          <p:cNvPr id="1980" name="Google Shape;1980;p83"/>
          <p:cNvSpPr/>
          <p:nvPr/>
        </p:nvSpPr>
        <p:spPr>
          <a:xfrm>
            <a:off x="548669" y="4471416"/>
            <a:ext cx="565800" cy="274200"/>
          </a:xfrm>
          <a:prstGeom prst="roundRect">
            <a:avLst>
              <a:gd fmla="val 50000" name="adj"/>
            </a:avLst>
          </a:prstGeom>
          <a:solidFill>
            <a:srgbClr val="FBEBD9"/>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981" name="Google Shape;1981;p83"/>
          <p:cNvSpPr/>
          <p:nvPr/>
        </p:nvSpPr>
        <p:spPr>
          <a:xfrm>
            <a:off x="548669" y="4471416"/>
            <a:ext cx="5658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SO ID</a:t>
            </a:r>
            <a:endParaRPr sz="800">
              <a:solidFill>
                <a:schemeClr val="dk1"/>
              </a:solidFill>
              <a:latin typeface="Calibri"/>
              <a:ea typeface="Calibri"/>
              <a:cs typeface="Calibri"/>
              <a:sym typeface="Calibri"/>
            </a:endParaRPr>
          </a:p>
        </p:txBody>
      </p:sp>
      <p:sp>
        <p:nvSpPr>
          <p:cNvPr id="1982" name="Google Shape;1982;p83"/>
          <p:cNvSpPr/>
          <p:nvPr/>
        </p:nvSpPr>
        <p:spPr>
          <a:xfrm>
            <a:off x="1217360" y="4471416"/>
            <a:ext cx="565800" cy="274200"/>
          </a:xfrm>
          <a:prstGeom prst="roundRect">
            <a:avLst>
              <a:gd fmla="val 50000" name="adj"/>
            </a:avLst>
          </a:prstGeom>
          <a:solidFill>
            <a:srgbClr val="FBEBD9"/>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983" name="Google Shape;1983;p83"/>
          <p:cNvSpPr/>
          <p:nvPr/>
        </p:nvSpPr>
        <p:spPr>
          <a:xfrm>
            <a:off x="1217360" y="4471416"/>
            <a:ext cx="5658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DN ID</a:t>
            </a:r>
            <a:endParaRPr sz="800">
              <a:solidFill>
                <a:schemeClr val="dk1"/>
              </a:solidFill>
              <a:latin typeface="Calibri"/>
              <a:ea typeface="Calibri"/>
              <a:cs typeface="Calibri"/>
              <a:sym typeface="Calibri"/>
            </a:endParaRPr>
          </a:p>
        </p:txBody>
      </p:sp>
      <p:sp>
        <p:nvSpPr>
          <p:cNvPr id="1984" name="Google Shape;1984;p83"/>
          <p:cNvSpPr/>
          <p:nvPr/>
        </p:nvSpPr>
        <p:spPr>
          <a:xfrm>
            <a:off x="1886051" y="4471416"/>
            <a:ext cx="2081400" cy="274200"/>
          </a:xfrm>
          <a:prstGeom prst="roundRect">
            <a:avLst>
              <a:gd fmla="val 50000" name="adj"/>
            </a:avLst>
          </a:prstGeom>
          <a:solidFill>
            <a:srgbClr val="FBEBD9"/>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985" name="Google Shape;1985;p83"/>
          <p:cNvSpPr/>
          <p:nvPr/>
        </p:nvSpPr>
        <p:spPr>
          <a:xfrm>
            <a:off x="1886051" y="4471416"/>
            <a:ext cx="20814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Preferential price applied? Y/N</a:t>
            </a:r>
            <a:endParaRPr sz="800">
              <a:solidFill>
                <a:schemeClr val="dk1"/>
              </a:solidFill>
              <a:latin typeface="Calibri"/>
              <a:ea typeface="Calibri"/>
              <a:cs typeface="Calibri"/>
              <a:sym typeface="Calibri"/>
            </a:endParaRPr>
          </a:p>
        </p:txBody>
      </p:sp>
      <p:sp>
        <p:nvSpPr>
          <p:cNvPr id="1986" name="Google Shape;1986;p83"/>
          <p:cNvSpPr/>
          <p:nvPr/>
        </p:nvSpPr>
        <p:spPr>
          <a:xfrm>
            <a:off x="4692151" y="1337310"/>
            <a:ext cx="4040700" cy="3463200"/>
          </a:xfrm>
          <a:prstGeom prst="roundRect">
            <a:avLst>
              <a:gd fmla="val 2376"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987" name="Google Shape;1987;p83"/>
          <p:cNvSpPr/>
          <p:nvPr/>
        </p:nvSpPr>
        <p:spPr>
          <a:xfrm>
            <a:off x="4829318" y="1447038"/>
            <a:ext cx="1714500" cy="233100"/>
          </a:xfrm>
          <a:prstGeom prst="roundRect">
            <a:avLst>
              <a:gd fmla="val 50000" name="adj"/>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988" name="Google Shape;1988;p83"/>
          <p:cNvSpPr/>
          <p:nvPr/>
        </p:nvSpPr>
        <p:spPr>
          <a:xfrm>
            <a:off x="4829318" y="1447038"/>
            <a:ext cx="1714500" cy="233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BACK · FACILITATOR QC</a:t>
            </a:r>
            <a:endParaRPr sz="800">
              <a:solidFill>
                <a:schemeClr val="dk1"/>
              </a:solidFill>
              <a:latin typeface="Calibri"/>
              <a:ea typeface="Calibri"/>
              <a:cs typeface="Calibri"/>
              <a:sym typeface="Calibri"/>
            </a:endParaRPr>
          </a:p>
        </p:txBody>
      </p:sp>
      <p:pic>
        <p:nvPicPr>
          <p:cNvPr descr="/home/claude/maia/icons/FiCheck_accent.png" id="1989" name="Google Shape;1989;p83"/>
          <p:cNvPicPr preferRelativeResize="0"/>
          <p:nvPr/>
        </p:nvPicPr>
        <p:blipFill rotWithShape="1">
          <a:blip r:embed="rId3">
            <a:alphaModFix/>
          </a:blip>
          <a:srcRect b="0" l="0" r="0" t="0"/>
          <a:stretch/>
        </p:blipFill>
        <p:spPr>
          <a:xfrm>
            <a:off x="4843035" y="1831086"/>
            <a:ext cx="150876" cy="150876"/>
          </a:xfrm>
          <a:prstGeom prst="rect">
            <a:avLst/>
          </a:prstGeom>
          <a:noFill/>
          <a:ln>
            <a:noFill/>
          </a:ln>
        </p:spPr>
      </p:pic>
      <p:sp>
        <p:nvSpPr>
          <p:cNvPr id="1990" name="Google Shape;1990;p83"/>
          <p:cNvSpPr/>
          <p:nvPr/>
        </p:nvSpPr>
        <p:spPr>
          <a:xfrm>
            <a:off x="5076220" y="1776222"/>
            <a:ext cx="3505800" cy="10938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FFFFFF"/>
              </a:buClr>
              <a:buSzPts val="900"/>
              <a:buFont typeface="Arial"/>
              <a:buNone/>
            </a:pPr>
            <a:r>
              <a:rPr lang="en-GB" sz="900">
                <a:solidFill>
                  <a:srgbClr val="FFFFFF"/>
                </a:solidFill>
                <a:latin typeface="Arial"/>
                <a:ea typeface="Arial"/>
                <a:cs typeface="Arial"/>
                <a:sym typeface="Arial"/>
              </a:rPr>
              <a:t>SO unit prices match Selera's Customer Item Price — not the standard rate</a:t>
            </a:r>
            <a:endParaRPr sz="900">
              <a:solidFill>
                <a:schemeClr val="dk1"/>
              </a:solidFill>
              <a:latin typeface="Calibri"/>
              <a:ea typeface="Calibri"/>
              <a:cs typeface="Calibri"/>
              <a:sym typeface="Calibri"/>
            </a:endParaRPr>
          </a:p>
        </p:txBody>
      </p:sp>
      <p:pic>
        <p:nvPicPr>
          <p:cNvPr descr="/home/claude/maia/icons/FiCheck_accent.png" id="1991" name="Google Shape;1991;p83"/>
          <p:cNvPicPr preferRelativeResize="0"/>
          <p:nvPr/>
        </p:nvPicPr>
        <p:blipFill rotWithShape="1">
          <a:blip r:embed="rId3">
            <a:alphaModFix/>
          </a:blip>
          <a:srcRect b="0" l="0" r="0" t="0"/>
          <a:stretch/>
        </p:blipFill>
        <p:spPr>
          <a:xfrm>
            <a:off x="4843035" y="2924937"/>
            <a:ext cx="150876" cy="150876"/>
          </a:xfrm>
          <a:prstGeom prst="rect">
            <a:avLst/>
          </a:prstGeom>
          <a:noFill/>
          <a:ln>
            <a:noFill/>
          </a:ln>
        </p:spPr>
      </p:pic>
      <p:sp>
        <p:nvSpPr>
          <p:cNvPr id="1992" name="Google Shape;1992;p83"/>
          <p:cNvSpPr/>
          <p:nvPr/>
        </p:nvSpPr>
        <p:spPr>
          <a:xfrm>
            <a:off x="5076220" y="2870073"/>
            <a:ext cx="3505800" cy="10938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FFFFFF"/>
              </a:buClr>
              <a:buSzPts val="900"/>
              <a:buFont typeface="Arial"/>
              <a:buNone/>
            </a:pPr>
            <a:r>
              <a:rPr lang="en-GB" sz="900">
                <a:solidFill>
                  <a:srgbClr val="FFFFFF"/>
                </a:solidFill>
                <a:latin typeface="Arial"/>
                <a:ea typeface="Arial"/>
                <a:cs typeface="Arial"/>
                <a:sym typeface="Arial"/>
              </a:rPr>
              <a:t>DN marked Delivered</a:t>
            </a:r>
            <a:endParaRPr sz="900">
              <a:solidFill>
                <a:schemeClr val="dk1"/>
              </a:solidFill>
              <a:latin typeface="Calibri"/>
              <a:ea typeface="Calibri"/>
              <a:cs typeface="Calibri"/>
              <a:sym typeface="Calibri"/>
            </a:endParaRPr>
          </a:p>
        </p:txBody>
      </p:sp>
      <p:sp>
        <p:nvSpPr>
          <p:cNvPr id="1993" name="Google Shape;1993;p83"/>
          <p:cNvSpPr/>
          <p:nvPr/>
        </p:nvSpPr>
        <p:spPr>
          <a:xfrm>
            <a:off x="4829318" y="4114800"/>
            <a:ext cx="3766200" cy="514500"/>
          </a:xfrm>
          <a:prstGeom prst="roundRect">
            <a:avLst>
              <a:gd fmla="val 10667" name="adj"/>
            </a:avLst>
          </a:prstGeom>
          <a:solidFill>
            <a:srgbClr val="32495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994" name="Google Shape;1994;p83"/>
          <p:cNvSpPr/>
          <p:nvPr/>
        </p:nvSpPr>
        <p:spPr>
          <a:xfrm>
            <a:off x="4925336" y="4217670"/>
            <a:ext cx="274200" cy="274200"/>
          </a:xfrm>
          <a:prstGeom prst="roundRect">
            <a:avLst>
              <a:gd fmla="val 22000" name="adj"/>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AlertTriangle_white.png" id="1995" name="Google Shape;1995;p83"/>
          <p:cNvPicPr preferRelativeResize="0"/>
          <p:nvPr/>
        </p:nvPicPr>
        <p:blipFill rotWithShape="1">
          <a:blip r:embed="rId4">
            <a:alphaModFix/>
          </a:blip>
          <a:srcRect b="0" l="0" r="0" t="0"/>
          <a:stretch/>
        </p:blipFill>
        <p:spPr>
          <a:xfrm>
            <a:off x="4993919" y="4286250"/>
            <a:ext cx="137160" cy="137160"/>
          </a:xfrm>
          <a:prstGeom prst="rect">
            <a:avLst/>
          </a:prstGeom>
          <a:noFill/>
          <a:ln>
            <a:noFill/>
          </a:ln>
        </p:spPr>
      </p:pic>
      <p:sp>
        <p:nvSpPr>
          <p:cNvPr id="1996" name="Google Shape;1996;p83"/>
          <p:cNvSpPr/>
          <p:nvPr/>
        </p:nvSpPr>
        <p:spPr>
          <a:xfrm>
            <a:off x="5281971" y="4169664"/>
            <a:ext cx="3300000" cy="4116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FFFFFF"/>
              </a:buClr>
              <a:buSzPts val="900"/>
              <a:buFont typeface="Arial"/>
              <a:buNone/>
            </a:pPr>
            <a:r>
              <a:rPr b="1" lang="en-GB" sz="900">
                <a:solidFill>
                  <a:srgbClr val="FFFFFF"/>
                </a:solidFill>
                <a:latin typeface="Arial"/>
                <a:ea typeface="Arial"/>
                <a:cs typeface="Arial"/>
                <a:sym typeface="Arial"/>
              </a:rPr>
              <a:t>Trap: verify the preferential rate auto-applied — don't override with standard pricing.</a:t>
            </a:r>
            <a:endParaRPr sz="900">
              <a:solidFill>
                <a:schemeClr val="dk1"/>
              </a:solidFill>
              <a:latin typeface="Calibri"/>
              <a:ea typeface="Calibri"/>
              <a:cs typeface="Calibri"/>
              <a:sym typeface="Calibri"/>
            </a:endParaRPr>
          </a:p>
        </p:txBody>
      </p:sp>
      <p:sp>
        <p:nvSpPr>
          <p:cNvPr id="1997" name="Google Shape;1997;p83"/>
          <p:cNvSpPr txBox="1"/>
          <p:nvPr>
            <p:ph idx="12" type="sldNum"/>
          </p:nvPr>
        </p:nvSpPr>
        <p:spPr>
          <a:xfrm>
            <a:off x="8347216" y="4750189"/>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02" name="Shape 2002"/>
        <p:cNvGrpSpPr/>
        <p:nvPr/>
      </p:nvGrpSpPr>
      <p:grpSpPr>
        <a:xfrm>
          <a:off x="0" y="0"/>
          <a:ext cx="0" cy="0"/>
          <a:chOff x="0" y="0"/>
          <a:chExt cx="0" cy="0"/>
        </a:xfrm>
      </p:grpSpPr>
      <p:sp>
        <p:nvSpPr>
          <p:cNvPr id="2003" name="Google Shape;2003;p84"/>
          <p:cNvSpPr/>
          <p:nvPr/>
        </p:nvSpPr>
        <p:spPr>
          <a:xfrm>
            <a:off x="411502" y="260604"/>
            <a:ext cx="68583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MISSION CARDS · M5 OF 10</a:t>
            </a:r>
            <a:endParaRPr sz="800">
              <a:solidFill>
                <a:schemeClr val="dk1"/>
              </a:solidFill>
              <a:latin typeface="Calibri"/>
              <a:ea typeface="Calibri"/>
              <a:cs typeface="Calibri"/>
              <a:sym typeface="Calibri"/>
            </a:endParaRPr>
          </a:p>
        </p:txBody>
      </p:sp>
      <p:sp>
        <p:nvSpPr>
          <p:cNvPr id="2004" name="Google Shape;2004;p84"/>
          <p:cNvSpPr/>
          <p:nvPr/>
        </p:nvSpPr>
        <p:spPr>
          <a:xfrm>
            <a:off x="411502" y="438912"/>
            <a:ext cx="8321400" cy="480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C2B3E"/>
              </a:buClr>
              <a:buSzPts val="2200"/>
              <a:buFont typeface="Arial"/>
              <a:buNone/>
            </a:pPr>
            <a:r>
              <a:rPr b="1" lang="en-GB" sz="2200">
                <a:solidFill>
                  <a:srgbClr val="1C2B3E"/>
                </a:solidFill>
                <a:latin typeface="Poppins"/>
                <a:ea typeface="Poppins"/>
                <a:cs typeface="Poppins"/>
                <a:sym typeface="Poppins"/>
              </a:rPr>
              <a:t>Kafe Santai Enterprise</a:t>
            </a:r>
            <a:endParaRPr sz="2200">
              <a:solidFill>
                <a:schemeClr val="dk1"/>
              </a:solidFill>
              <a:latin typeface="Poppins"/>
              <a:ea typeface="Poppins"/>
              <a:cs typeface="Poppins"/>
              <a:sym typeface="Poppins"/>
            </a:endParaRPr>
          </a:p>
        </p:txBody>
      </p:sp>
      <p:sp>
        <p:nvSpPr>
          <p:cNvPr id="2005" name="Google Shape;2005;p84"/>
          <p:cNvSpPr/>
          <p:nvPr/>
        </p:nvSpPr>
        <p:spPr>
          <a:xfrm>
            <a:off x="411502" y="1337310"/>
            <a:ext cx="4040700" cy="3463200"/>
          </a:xfrm>
          <a:prstGeom prst="roundRect">
            <a:avLst>
              <a:gd fmla="val 2376" name="adj"/>
            </a:avLst>
          </a:prstGeom>
          <a:solidFill>
            <a:srgbClr val="F5F7FA"/>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006" name="Google Shape;2006;p84"/>
          <p:cNvSpPr/>
          <p:nvPr/>
        </p:nvSpPr>
        <p:spPr>
          <a:xfrm>
            <a:off x="548669" y="1447038"/>
            <a:ext cx="1508700" cy="233100"/>
          </a:xfrm>
          <a:prstGeom prst="roundRect">
            <a:avLst>
              <a:gd fmla="val 50000"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007" name="Google Shape;2007;p84"/>
          <p:cNvSpPr/>
          <p:nvPr/>
        </p:nvSpPr>
        <p:spPr>
          <a:xfrm>
            <a:off x="548669" y="1447038"/>
            <a:ext cx="1508700" cy="233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FRONT · TEAM SEES</a:t>
            </a:r>
            <a:endParaRPr sz="800">
              <a:solidFill>
                <a:schemeClr val="dk1"/>
              </a:solidFill>
              <a:latin typeface="Calibri"/>
              <a:ea typeface="Calibri"/>
              <a:cs typeface="Calibri"/>
              <a:sym typeface="Calibri"/>
            </a:endParaRPr>
          </a:p>
        </p:txBody>
      </p:sp>
      <p:sp>
        <p:nvSpPr>
          <p:cNvPr id="2008" name="Google Shape;2008;p84"/>
          <p:cNvSpPr/>
          <p:nvPr/>
        </p:nvSpPr>
        <p:spPr>
          <a:xfrm>
            <a:off x="548669" y="1789938"/>
            <a:ext cx="3766200" cy="788700"/>
          </a:xfrm>
          <a:prstGeom prst="roundRect">
            <a:avLst>
              <a:gd fmla="val 6957" name="adj"/>
            </a:avLst>
          </a:prstGeom>
          <a:solidFill>
            <a:srgbClr val="FFFFFF"/>
          </a:solidFill>
          <a:ln cap="flat" cmpd="sng" w="12700">
            <a:solidFill>
              <a:srgbClr val="E3E8EF"/>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009" name="Google Shape;2009;p84"/>
          <p:cNvSpPr/>
          <p:nvPr/>
        </p:nvSpPr>
        <p:spPr>
          <a:xfrm>
            <a:off x="658403" y="1858518"/>
            <a:ext cx="3546900" cy="6516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C2B3E"/>
              </a:buClr>
              <a:buSzPts val="900"/>
              <a:buFont typeface="Arial"/>
              <a:buNone/>
            </a:pPr>
            <a:r>
              <a:rPr i="1" lang="en-GB" sz="900">
                <a:solidFill>
                  <a:srgbClr val="1C2B3E"/>
                </a:solidFill>
                <a:latin typeface="Arial"/>
                <a:ea typeface="Arial"/>
                <a:cs typeface="Arial"/>
                <a:sym typeface="Arial"/>
              </a:rPr>
              <a:t>“Ms. Lina wants to place a new order. Before you say yes — check.”</a:t>
            </a:r>
            <a:endParaRPr sz="900">
              <a:solidFill>
                <a:schemeClr val="dk1"/>
              </a:solidFill>
              <a:latin typeface="Calibri"/>
              <a:ea typeface="Calibri"/>
              <a:cs typeface="Calibri"/>
              <a:sym typeface="Calibri"/>
            </a:endParaRPr>
          </a:p>
        </p:txBody>
      </p:sp>
      <p:sp>
        <p:nvSpPr>
          <p:cNvPr id="2010" name="Google Shape;2010;p84"/>
          <p:cNvSpPr/>
          <p:nvPr/>
        </p:nvSpPr>
        <p:spPr>
          <a:xfrm>
            <a:off x="548669" y="2715768"/>
            <a:ext cx="3766200" cy="178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800"/>
              <a:buFont typeface="Arial"/>
              <a:buNone/>
            </a:pPr>
            <a:r>
              <a:rPr b="1" lang="en-GB" sz="800">
                <a:solidFill>
                  <a:srgbClr val="94A3B8"/>
                </a:solidFill>
                <a:latin typeface="Arial"/>
                <a:ea typeface="Arial"/>
                <a:cs typeface="Arial"/>
                <a:sym typeface="Arial"/>
              </a:rPr>
              <a:t>ORDER ARRIVES AS — short WhatsApp reorder (overdue)</a:t>
            </a:r>
            <a:endParaRPr sz="800">
              <a:solidFill>
                <a:schemeClr val="dk1"/>
              </a:solidFill>
              <a:latin typeface="Calibri"/>
              <a:ea typeface="Calibri"/>
              <a:cs typeface="Calibri"/>
              <a:sym typeface="Calibri"/>
            </a:endParaRPr>
          </a:p>
        </p:txBody>
      </p:sp>
      <p:sp>
        <p:nvSpPr>
          <p:cNvPr id="2011" name="Google Shape;2011;p84"/>
          <p:cNvSpPr/>
          <p:nvPr/>
        </p:nvSpPr>
        <p:spPr>
          <a:xfrm>
            <a:off x="548669" y="2935224"/>
            <a:ext cx="3766200" cy="233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B3E"/>
              </a:buClr>
              <a:buSzPts val="900"/>
              <a:buFont typeface="Arial"/>
              <a:buNone/>
            </a:pPr>
            <a:r>
              <a:rPr lang="en-GB" sz="900">
                <a:solidFill>
                  <a:srgbClr val="1C2B3E"/>
                </a:solidFill>
                <a:latin typeface="Arial"/>
                <a:ea typeface="Arial"/>
                <a:cs typeface="Arial"/>
                <a:sym typeface="Arial"/>
              </a:rPr>
              <a:t>•  Oyster Sauce × 20</a:t>
            </a:r>
            <a:endParaRPr sz="900">
              <a:solidFill>
                <a:schemeClr val="dk1"/>
              </a:solidFill>
              <a:latin typeface="Calibri"/>
              <a:ea typeface="Calibri"/>
              <a:cs typeface="Calibri"/>
              <a:sym typeface="Calibri"/>
            </a:endParaRPr>
          </a:p>
        </p:txBody>
      </p:sp>
      <p:sp>
        <p:nvSpPr>
          <p:cNvPr id="2012" name="Google Shape;2012;p84"/>
          <p:cNvSpPr/>
          <p:nvPr/>
        </p:nvSpPr>
        <p:spPr>
          <a:xfrm>
            <a:off x="548669" y="3168396"/>
            <a:ext cx="3766200" cy="233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B3E"/>
              </a:buClr>
              <a:buSzPts val="900"/>
              <a:buFont typeface="Arial"/>
              <a:buNone/>
            </a:pPr>
            <a:r>
              <a:rPr lang="en-GB" sz="900">
                <a:solidFill>
                  <a:srgbClr val="1C2B3E"/>
                </a:solidFill>
                <a:latin typeface="Arial"/>
                <a:ea typeface="Arial"/>
                <a:cs typeface="Arial"/>
                <a:sym typeface="Arial"/>
              </a:rPr>
              <a:t>•  Instant Coffee × 10</a:t>
            </a:r>
            <a:endParaRPr sz="900">
              <a:solidFill>
                <a:schemeClr val="dk1"/>
              </a:solidFill>
              <a:latin typeface="Calibri"/>
              <a:ea typeface="Calibri"/>
              <a:cs typeface="Calibri"/>
              <a:sym typeface="Calibri"/>
            </a:endParaRPr>
          </a:p>
        </p:txBody>
      </p:sp>
      <p:sp>
        <p:nvSpPr>
          <p:cNvPr id="2013" name="Google Shape;2013;p84"/>
          <p:cNvSpPr/>
          <p:nvPr/>
        </p:nvSpPr>
        <p:spPr>
          <a:xfrm>
            <a:off x="548669" y="3429000"/>
            <a:ext cx="3766200" cy="342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94A3B8"/>
              </a:buClr>
              <a:buSzPts val="900"/>
              <a:buFont typeface="Arial"/>
              <a:buNone/>
            </a:pPr>
            <a:r>
              <a:rPr i="1" lang="en-GB" sz="900">
                <a:solidFill>
                  <a:srgbClr val="94A3B8"/>
                </a:solidFill>
                <a:latin typeface="Arial"/>
                <a:ea typeface="Arial"/>
                <a:cs typeface="Arial"/>
                <a:sym typeface="Arial"/>
              </a:rPr>
              <a:t>Order value: RM4,500.</a:t>
            </a:r>
            <a:endParaRPr sz="900">
              <a:solidFill>
                <a:schemeClr val="dk1"/>
              </a:solidFill>
              <a:latin typeface="Calibri"/>
              <a:ea typeface="Calibri"/>
              <a:cs typeface="Calibri"/>
              <a:sym typeface="Calibri"/>
            </a:endParaRPr>
          </a:p>
        </p:txBody>
      </p:sp>
      <p:sp>
        <p:nvSpPr>
          <p:cNvPr id="2014" name="Google Shape;2014;p84"/>
          <p:cNvSpPr/>
          <p:nvPr/>
        </p:nvSpPr>
        <p:spPr>
          <a:xfrm>
            <a:off x="548669" y="4265676"/>
            <a:ext cx="3766200" cy="178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800"/>
              <a:buFont typeface="Arial"/>
              <a:buNone/>
            </a:pPr>
            <a:r>
              <a:rPr b="1" lang="en-GB" sz="800">
                <a:solidFill>
                  <a:srgbClr val="94A3B8"/>
                </a:solidFill>
                <a:latin typeface="Arial"/>
                <a:ea typeface="Arial"/>
                <a:cs typeface="Arial"/>
                <a:sym typeface="Arial"/>
              </a:rPr>
              <a:t>RECORD ON BOARD</a:t>
            </a:r>
            <a:endParaRPr sz="800">
              <a:solidFill>
                <a:schemeClr val="dk1"/>
              </a:solidFill>
              <a:latin typeface="Calibri"/>
              <a:ea typeface="Calibri"/>
              <a:cs typeface="Calibri"/>
              <a:sym typeface="Calibri"/>
            </a:endParaRPr>
          </a:p>
        </p:txBody>
      </p:sp>
      <p:sp>
        <p:nvSpPr>
          <p:cNvPr id="2015" name="Google Shape;2015;p84"/>
          <p:cNvSpPr/>
          <p:nvPr/>
        </p:nvSpPr>
        <p:spPr>
          <a:xfrm>
            <a:off x="548669" y="4471416"/>
            <a:ext cx="565800" cy="274200"/>
          </a:xfrm>
          <a:prstGeom prst="roundRect">
            <a:avLst>
              <a:gd fmla="val 50000" name="adj"/>
            </a:avLst>
          </a:prstGeom>
          <a:solidFill>
            <a:srgbClr val="FBEBD9"/>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016" name="Google Shape;2016;p84"/>
          <p:cNvSpPr/>
          <p:nvPr/>
        </p:nvSpPr>
        <p:spPr>
          <a:xfrm>
            <a:off x="548669" y="4471416"/>
            <a:ext cx="5658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SO ID</a:t>
            </a:r>
            <a:endParaRPr sz="800">
              <a:solidFill>
                <a:schemeClr val="dk1"/>
              </a:solidFill>
              <a:latin typeface="Calibri"/>
              <a:ea typeface="Calibri"/>
              <a:cs typeface="Calibri"/>
              <a:sym typeface="Calibri"/>
            </a:endParaRPr>
          </a:p>
        </p:txBody>
      </p:sp>
      <p:sp>
        <p:nvSpPr>
          <p:cNvPr id="2017" name="Google Shape;2017;p84"/>
          <p:cNvSpPr/>
          <p:nvPr/>
        </p:nvSpPr>
        <p:spPr>
          <a:xfrm>
            <a:off x="1217360" y="4471416"/>
            <a:ext cx="565800" cy="274200"/>
          </a:xfrm>
          <a:prstGeom prst="roundRect">
            <a:avLst>
              <a:gd fmla="val 50000" name="adj"/>
            </a:avLst>
          </a:prstGeom>
          <a:solidFill>
            <a:srgbClr val="FBEBD9"/>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018" name="Google Shape;2018;p84"/>
          <p:cNvSpPr/>
          <p:nvPr/>
        </p:nvSpPr>
        <p:spPr>
          <a:xfrm>
            <a:off x="1217360" y="4471416"/>
            <a:ext cx="5658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DN ID</a:t>
            </a:r>
            <a:endParaRPr sz="800">
              <a:solidFill>
                <a:schemeClr val="dk1"/>
              </a:solidFill>
              <a:latin typeface="Calibri"/>
              <a:ea typeface="Calibri"/>
              <a:cs typeface="Calibri"/>
              <a:sym typeface="Calibri"/>
            </a:endParaRPr>
          </a:p>
        </p:txBody>
      </p:sp>
      <p:sp>
        <p:nvSpPr>
          <p:cNvPr id="2019" name="Google Shape;2019;p84"/>
          <p:cNvSpPr/>
          <p:nvPr/>
        </p:nvSpPr>
        <p:spPr>
          <a:xfrm>
            <a:off x="1886051" y="4471416"/>
            <a:ext cx="1498500" cy="274200"/>
          </a:xfrm>
          <a:prstGeom prst="roundRect">
            <a:avLst>
              <a:gd fmla="val 50000" name="adj"/>
            </a:avLst>
          </a:prstGeom>
          <a:solidFill>
            <a:srgbClr val="FBEBD9"/>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020" name="Google Shape;2020;p84"/>
          <p:cNvSpPr/>
          <p:nvPr/>
        </p:nvSpPr>
        <p:spPr>
          <a:xfrm>
            <a:off x="1886051" y="4471416"/>
            <a:ext cx="14985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Who escalated? (name)</a:t>
            </a:r>
            <a:endParaRPr sz="800">
              <a:solidFill>
                <a:schemeClr val="dk1"/>
              </a:solidFill>
              <a:latin typeface="Calibri"/>
              <a:ea typeface="Calibri"/>
              <a:cs typeface="Calibri"/>
              <a:sym typeface="Calibri"/>
            </a:endParaRPr>
          </a:p>
        </p:txBody>
      </p:sp>
      <p:sp>
        <p:nvSpPr>
          <p:cNvPr id="2021" name="Google Shape;2021;p84"/>
          <p:cNvSpPr/>
          <p:nvPr/>
        </p:nvSpPr>
        <p:spPr>
          <a:xfrm>
            <a:off x="4692151" y="1337310"/>
            <a:ext cx="4040700" cy="3463200"/>
          </a:xfrm>
          <a:prstGeom prst="roundRect">
            <a:avLst>
              <a:gd fmla="val 2376"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022" name="Google Shape;2022;p84"/>
          <p:cNvSpPr/>
          <p:nvPr/>
        </p:nvSpPr>
        <p:spPr>
          <a:xfrm>
            <a:off x="4829318" y="1447038"/>
            <a:ext cx="1714500" cy="233100"/>
          </a:xfrm>
          <a:prstGeom prst="roundRect">
            <a:avLst>
              <a:gd fmla="val 50000" name="adj"/>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023" name="Google Shape;2023;p84"/>
          <p:cNvSpPr/>
          <p:nvPr/>
        </p:nvSpPr>
        <p:spPr>
          <a:xfrm>
            <a:off x="4829318" y="1447038"/>
            <a:ext cx="1714500" cy="233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BACK · FACILITATOR QC</a:t>
            </a:r>
            <a:endParaRPr sz="800">
              <a:solidFill>
                <a:schemeClr val="dk1"/>
              </a:solidFill>
              <a:latin typeface="Calibri"/>
              <a:ea typeface="Calibri"/>
              <a:cs typeface="Calibri"/>
              <a:sym typeface="Calibri"/>
            </a:endParaRPr>
          </a:p>
        </p:txBody>
      </p:sp>
      <p:pic>
        <p:nvPicPr>
          <p:cNvPr descr="/home/claude/maia/icons/FiCheck_accent.png" id="2024" name="Google Shape;2024;p84"/>
          <p:cNvPicPr preferRelativeResize="0"/>
          <p:nvPr/>
        </p:nvPicPr>
        <p:blipFill rotWithShape="1">
          <a:blip r:embed="rId3">
            <a:alphaModFix/>
          </a:blip>
          <a:srcRect b="0" l="0" r="0" t="0"/>
          <a:stretch/>
        </p:blipFill>
        <p:spPr>
          <a:xfrm>
            <a:off x="4843035" y="1831086"/>
            <a:ext cx="150876" cy="150876"/>
          </a:xfrm>
          <a:prstGeom prst="rect">
            <a:avLst/>
          </a:prstGeom>
          <a:noFill/>
          <a:ln>
            <a:noFill/>
          </a:ln>
        </p:spPr>
      </p:pic>
      <p:sp>
        <p:nvSpPr>
          <p:cNvPr id="2025" name="Google Shape;2025;p84"/>
          <p:cNvSpPr/>
          <p:nvPr/>
        </p:nvSpPr>
        <p:spPr>
          <a:xfrm>
            <a:off x="5076220" y="1776222"/>
            <a:ext cx="3505800" cy="4527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FFFFFF"/>
              </a:buClr>
              <a:buSzPts val="900"/>
              <a:buFont typeface="Arial"/>
              <a:buNone/>
            </a:pPr>
            <a:r>
              <a:rPr lang="en-GB" sz="900">
                <a:solidFill>
                  <a:srgbClr val="FFFFFF"/>
                </a:solidFill>
                <a:latin typeface="Arial"/>
                <a:ea typeface="Arial"/>
                <a:cs typeface="Arial"/>
                <a:sym typeface="Arial"/>
              </a:rPr>
              <a:t>Credit check flagged (T0 overdue RM6,200 · 45 days)</a:t>
            </a:r>
            <a:endParaRPr sz="900">
              <a:solidFill>
                <a:schemeClr val="dk1"/>
              </a:solidFill>
              <a:latin typeface="Calibri"/>
              <a:ea typeface="Calibri"/>
              <a:cs typeface="Calibri"/>
              <a:sym typeface="Calibri"/>
            </a:endParaRPr>
          </a:p>
        </p:txBody>
      </p:sp>
      <p:pic>
        <p:nvPicPr>
          <p:cNvPr descr="/home/claude/maia/icons/FiCheck_accent.png" id="2026" name="Google Shape;2026;p84"/>
          <p:cNvPicPr preferRelativeResize="0"/>
          <p:nvPr/>
        </p:nvPicPr>
        <p:blipFill rotWithShape="1">
          <a:blip r:embed="rId3">
            <a:alphaModFix/>
          </a:blip>
          <a:srcRect b="0" l="0" r="0" t="0"/>
          <a:stretch/>
        </p:blipFill>
        <p:spPr>
          <a:xfrm>
            <a:off x="4843035" y="2283714"/>
            <a:ext cx="150876" cy="150876"/>
          </a:xfrm>
          <a:prstGeom prst="rect">
            <a:avLst/>
          </a:prstGeom>
          <a:noFill/>
          <a:ln>
            <a:noFill/>
          </a:ln>
        </p:spPr>
      </p:pic>
      <p:sp>
        <p:nvSpPr>
          <p:cNvPr id="2027" name="Google Shape;2027;p84"/>
          <p:cNvSpPr/>
          <p:nvPr/>
        </p:nvSpPr>
        <p:spPr>
          <a:xfrm>
            <a:off x="5076220" y="2228850"/>
            <a:ext cx="3505800" cy="4527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FFFFFF"/>
              </a:buClr>
              <a:buSzPts val="900"/>
              <a:buFont typeface="Arial"/>
              <a:buNone/>
            </a:pPr>
            <a:r>
              <a:rPr lang="en-GB" sz="900">
                <a:solidFill>
                  <a:srgbClr val="FFFFFF"/>
                </a:solidFill>
                <a:latin typeface="Arial"/>
                <a:ea typeface="Arial"/>
                <a:cs typeface="Arial"/>
                <a:sym typeface="Arial"/>
              </a:rPr>
              <a:t>Sales escalated to Credit Controller — handoff completed</a:t>
            </a:r>
            <a:endParaRPr sz="900">
              <a:solidFill>
                <a:schemeClr val="dk1"/>
              </a:solidFill>
              <a:latin typeface="Calibri"/>
              <a:ea typeface="Calibri"/>
              <a:cs typeface="Calibri"/>
              <a:sym typeface="Calibri"/>
            </a:endParaRPr>
          </a:p>
        </p:txBody>
      </p:sp>
      <p:pic>
        <p:nvPicPr>
          <p:cNvPr descr="/home/claude/maia/icons/FiCheck_accent.png" id="2028" name="Google Shape;2028;p84"/>
          <p:cNvPicPr preferRelativeResize="0"/>
          <p:nvPr/>
        </p:nvPicPr>
        <p:blipFill rotWithShape="1">
          <a:blip r:embed="rId3">
            <a:alphaModFix/>
          </a:blip>
          <a:srcRect b="0" l="0" r="0" t="0"/>
          <a:stretch/>
        </p:blipFill>
        <p:spPr>
          <a:xfrm>
            <a:off x="4843035" y="2736342"/>
            <a:ext cx="150876" cy="150876"/>
          </a:xfrm>
          <a:prstGeom prst="rect">
            <a:avLst/>
          </a:prstGeom>
          <a:noFill/>
          <a:ln>
            <a:noFill/>
          </a:ln>
        </p:spPr>
      </p:pic>
      <p:sp>
        <p:nvSpPr>
          <p:cNvPr id="2029" name="Google Shape;2029;p84"/>
          <p:cNvSpPr/>
          <p:nvPr/>
        </p:nvSpPr>
        <p:spPr>
          <a:xfrm>
            <a:off x="5076220" y="2681478"/>
            <a:ext cx="3505800" cy="4527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FFFFFF"/>
              </a:buClr>
              <a:buSzPts val="900"/>
              <a:buFont typeface="Arial"/>
              <a:buNone/>
            </a:pPr>
            <a:r>
              <a:rPr lang="en-GB" sz="900">
                <a:solidFill>
                  <a:srgbClr val="FFFFFF"/>
                </a:solidFill>
                <a:latin typeface="Arial"/>
                <a:ea typeface="Arial"/>
                <a:cs typeface="Arial"/>
                <a:sym typeface="Arial"/>
              </a:rPr>
              <a:t>Controller override decision logged</a:t>
            </a:r>
            <a:endParaRPr sz="900">
              <a:solidFill>
                <a:schemeClr val="dk1"/>
              </a:solidFill>
              <a:latin typeface="Calibri"/>
              <a:ea typeface="Calibri"/>
              <a:cs typeface="Calibri"/>
              <a:sym typeface="Calibri"/>
            </a:endParaRPr>
          </a:p>
        </p:txBody>
      </p:sp>
      <p:pic>
        <p:nvPicPr>
          <p:cNvPr descr="/home/claude/maia/icons/FiCheck_accent.png" id="2030" name="Google Shape;2030;p84"/>
          <p:cNvPicPr preferRelativeResize="0"/>
          <p:nvPr/>
        </p:nvPicPr>
        <p:blipFill rotWithShape="1">
          <a:blip r:embed="rId3">
            <a:alphaModFix/>
          </a:blip>
          <a:srcRect b="0" l="0" r="0" t="0"/>
          <a:stretch/>
        </p:blipFill>
        <p:spPr>
          <a:xfrm>
            <a:off x="4843035" y="3188970"/>
            <a:ext cx="150876" cy="150876"/>
          </a:xfrm>
          <a:prstGeom prst="rect">
            <a:avLst/>
          </a:prstGeom>
          <a:noFill/>
          <a:ln>
            <a:noFill/>
          </a:ln>
        </p:spPr>
      </p:pic>
      <p:sp>
        <p:nvSpPr>
          <p:cNvPr id="2031" name="Google Shape;2031;p84"/>
          <p:cNvSpPr/>
          <p:nvPr/>
        </p:nvSpPr>
        <p:spPr>
          <a:xfrm>
            <a:off x="5076220" y="3134106"/>
            <a:ext cx="3505800" cy="4527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FFFFFF"/>
              </a:buClr>
              <a:buSzPts val="900"/>
              <a:buFont typeface="Arial"/>
              <a:buNone/>
            </a:pPr>
            <a:r>
              <a:rPr lang="en-GB" sz="900">
                <a:solidFill>
                  <a:srgbClr val="FFFFFF"/>
                </a:solidFill>
                <a:latin typeface="Arial"/>
                <a:ea typeface="Arial"/>
                <a:cs typeface="Arial"/>
                <a:sym typeface="Arial"/>
              </a:rPr>
              <a:t>If overridden: SO confirmed and DN marked Delivered</a:t>
            </a:r>
            <a:endParaRPr sz="900">
              <a:solidFill>
                <a:schemeClr val="dk1"/>
              </a:solidFill>
              <a:latin typeface="Calibri"/>
              <a:ea typeface="Calibri"/>
              <a:cs typeface="Calibri"/>
              <a:sym typeface="Calibri"/>
            </a:endParaRPr>
          </a:p>
        </p:txBody>
      </p:sp>
      <p:sp>
        <p:nvSpPr>
          <p:cNvPr id="2032" name="Google Shape;2032;p84"/>
          <p:cNvSpPr/>
          <p:nvPr/>
        </p:nvSpPr>
        <p:spPr>
          <a:xfrm>
            <a:off x="4829318" y="3737610"/>
            <a:ext cx="3766200" cy="651600"/>
          </a:xfrm>
          <a:prstGeom prst="roundRect">
            <a:avLst>
              <a:gd fmla="val 8421" name="adj"/>
            </a:avLst>
          </a:prstGeom>
          <a:solidFill>
            <a:srgbClr val="32495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033" name="Google Shape;2033;p84"/>
          <p:cNvSpPr/>
          <p:nvPr/>
        </p:nvSpPr>
        <p:spPr>
          <a:xfrm>
            <a:off x="4925336" y="3840480"/>
            <a:ext cx="274200" cy="274200"/>
          </a:xfrm>
          <a:prstGeom prst="roundRect">
            <a:avLst>
              <a:gd fmla="val 22000" name="adj"/>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AlertTriangle_white.png" id="2034" name="Google Shape;2034;p84"/>
          <p:cNvPicPr preferRelativeResize="0"/>
          <p:nvPr/>
        </p:nvPicPr>
        <p:blipFill rotWithShape="1">
          <a:blip r:embed="rId4">
            <a:alphaModFix/>
          </a:blip>
          <a:srcRect b="0" l="0" r="0" t="0"/>
          <a:stretch/>
        </p:blipFill>
        <p:spPr>
          <a:xfrm>
            <a:off x="4993919" y="3909060"/>
            <a:ext cx="137160" cy="137160"/>
          </a:xfrm>
          <a:prstGeom prst="rect">
            <a:avLst/>
          </a:prstGeom>
          <a:noFill/>
          <a:ln>
            <a:noFill/>
          </a:ln>
        </p:spPr>
      </p:pic>
      <p:sp>
        <p:nvSpPr>
          <p:cNvPr id="2035" name="Google Shape;2035;p84"/>
          <p:cNvSpPr/>
          <p:nvPr/>
        </p:nvSpPr>
        <p:spPr>
          <a:xfrm>
            <a:off x="5281971" y="3792474"/>
            <a:ext cx="3300000" cy="5829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FFFFFF"/>
              </a:buClr>
              <a:buSzPts val="900"/>
              <a:buFont typeface="Arial"/>
              <a:buNone/>
            </a:pPr>
            <a:r>
              <a:rPr b="1" lang="en-GB" sz="900">
                <a:solidFill>
                  <a:srgbClr val="FFFFFF"/>
                </a:solidFill>
                <a:latin typeface="Arial"/>
                <a:ea typeface="Arial"/>
                <a:cs typeface="Arial"/>
                <a:sym typeface="Arial"/>
              </a:rPr>
              <a:t>Trap: the credit escalation handoff itself.</a:t>
            </a:r>
            <a:endParaRPr sz="900">
              <a:solidFill>
                <a:schemeClr val="dk1"/>
              </a:solidFill>
              <a:latin typeface="Calibri"/>
              <a:ea typeface="Calibri"/>
              <a:cs typeface="Calibri"/>
              <a:sym typeface="Calibri"/>
            </a:endParaRPr>
          </a:p>
        </p:txBody>
      </p:sp>
      <p:sp>
        <p:nvSpPr>
          <p:cNvPr id="2036" name="Google Shape;2036;p84"/>
          <p:cNvSpPr/>
          <p:nvPr/>
        </p:nvSpPr>
        <p:spPr>
          <a:xfrm>
            <a:off x="4829318" y="4457700"/>
            <a:ext cx="3766200" cy="288000"/>
          </a:xfrm>
          <a:prstGeom prst="roundRect">
            <a:avLst>
              <a:gd fmla="val 50000" name="adj"/>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037" name="Google Shape;2037;p84"/>
          <p:cNvSpPr/>
          <p:nvPr/>
        </p:nvSpPr>
        <p:spPr>
          <a:xfrm>
            <a:off x="4829318" y="4457700"/>
            <a:ext cx="3766200" cy="288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First cross-role handoff — skip it and QC fails.</a:t>
            </a:r>
            <a:endParaRPr sz="800">
              <a:solidFill>
                <a:schemeClr val="dk1"/>
              </a:solidFill>
              <a:latin typeface="Calibri"/>
              <a:ea typeface="Calibri"/>
              <a:cs typeface="Calibri"/>
              <a:sym typeface="Calibri"/>
            </a:endParaRPr>
          </a:p>
        </p:txBody>
      </p:sp>
      <p:sp>
        <p:nvSpPr>
          <p:cNvPr id="2038" name="Google Shape;2038;p84"/>
          <p:cNvSpPr txBox="1"/>
          <p:nvPr>
            <p:ph idx="12" type="sldNum"/>
          </p:nvPr>
        </p:nvSpPr>
        <p:spPr>
          <a:xfrm>
            <a:off x="8347216" y="4750189"/>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43" name="Shape 2043"/>
        <p:cNvGrpSpPr/>
        <p:nvPr/>
      </p:nvGrpSpPr>
      <p:grpSpPr>
        <a:xfrm>
          <a:off x="0" y="0"/>
          <a:ext cx="0" cy="0"/>
          <a:chOff x="0" y="0"/>
          <a:chExt cx="0" cy="0"/>
        </a:xfrm>
      </p:grpSpPr>
      <p:sp>
        <p:nvSpPr>
          <p:cNvPr id="2044" name="Google Shape;2044;p85"/>
          <p:cNvSpPr/>
          <p:nvPr/>
        </p:nvSpPr>
        <p:spPr>
          <a:xfrm>
            <a:off x="411502" y="260604"/>
            <a:ext cx="68583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MISSION CARDS · M6 OF 10</a:t>
            </a:r>
            <a:endParaRPr sz="800">
              <a:solidFill>
                <a:schemeClr val="dk1"/>
              </a:solidFill>
              <a:latin typeface="Calibri"/>
              <a:ea typeface="Calibri"/>
              <a:cs typeface="Calibri"/>
              <a:sym typeface="Calibri"/>
            </a:endParaRPr>
          </a:p>
        </p:txBody>
      </p:sp>
      <p:sp>
        <p:nvSpPr>
          <p:cNvPr id="2045" name="Google Shape;2045;p85"/>
          <p:cNvSpPr/>
          <p:nvPr/>
        </p:nvSpPr>
        <p:spPr>
          <a:xfrm>
            <a:off x="411502" y="438912"/>
            <a:ext cx="8321400" cy="480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C2B3E"/>
              </a:buClr>
              <a:buSzPts val="2200"/>
              <a:buFont typeface="Arial"/>
              <a:buNone/>
            </a:pPr>
            <a:r>
              <a:rPr b="1" lang="en-GB" sz="2200">
                <a:solidFill>
                  <a:srgbClr val="1C2B3E"/>
                </a:solidFill>
                <a:latin typeface="Poppins"/>
                <a:ea typeface="Poppins"/>
                <a:cs typeface="Poppins"/>
                <a:sym typeface="Poppins"/>
              </a:rPr>
              <a:t>Hotel Permai Group Sdn Bhd</a:t>
            </a:r>
            <a:endParaRPr sz="2200">
              <a:solidFill>
                <a:schemeClr val="dk1"/>
              </a:solidFill>
              <a:latin typeface="Poppins"/>
              <a:ea typeface="Poppins"/>
              <a:cs typeface="Poppins"/>
              <a:sym typeface="Poppins"/>
            </a:endParaRPr>
          </a:p>
        </p:txBody>
      </p:sp>
      <p:sp>
        <p:nvSpPr>
          <p:cNvPr id="2046" name="Google Shape;2046;p85"/>
          <p:cNvSpPr/>
          <p:nvPr/>
        </p:nvSpPr>
        <p:spPr>
          <a:xfrm>
            <a:off x="411502" y="1337310"/>
            <a:ext cx="4040700" cy="3463200"/>
          </a:xfrm>
          <a:prstGeom prst="roundRect">
            <a:avLst>
              <a:gd fmla="val 2376" name="adj"/>
            </a:avLst>
          </a:prstGeom>
          <a:solidFill>
            <a:srgbClr val="F5F7FA"/>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047" name="Google Shape;2047;p85"/>
          <p:cNvSpPr/>
          <p:nvPr/>
        </p:nvSpPr>
        <p:spPr>
          <a:xfrm>
            <a:off x="548669" y="1447038"/>
            <a:ext cx="1508700" cy="233100"/>
          </a:xfrm>
          <a:prstGeom prst="roundRect">
            <a:avLst>
              <a:gd fmla="val 50000"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048" name="Google Shape;2048;p85"/>
          <p:cNvSpPr/>
          <p:nvPr/>
        </p:nvSpPr>
        <p:spPr>
          <a:xfrm>
            <a:off x="548669" y="1447038"/>
            <a:ext cx="1508700" cy="233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FRONT · TEAM SEES</a:t>
            </a:r>
            <a:endParaRPr sz="800">
              <a:solidFill>
                <a:schemeClr val="dk1"/>
              </a:solidFill>
              <a:latin typeface="Calibri"/>
              <a:ea typeface="Calibri"/>
              <a:cs typeface="Calibri"/>
              <a:sym typeface="Calibri"/>
            </a:endParaRPr>
          </a:p>
        </p:txBody>
      </p:sp>
      <p:sp>
        <p:nvSpPr>
          <p:cNvPr id="2049" name="Google Shape;2049;p85"/>
          <p:cNvSpPr/>
          <p:nvPr/>
        </p:nvSpPr>
        <p:spPr>
          <a:xfrm>
            <a:off x="548669" y="1789938"/>
            <a:ext cx="3766200" cy="788700"/>
          </a:xfrm>
          <a:prstGeom prst="roundRect">
            <a:avLst>
              <a:gd fmla="val 6957" name="adj"/>
            </a:avLst>
          </a:prstGeom>
          <a:solidFill>
            <a:srgbClr val="FFFFFF"/>
          </a:solidFill>
          <a:ln cap="flat" cmpd="sng" w="12700">
            <a:solidFill>
              <a:srgbClr val="E3E8EF"/>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050" name="Google Shape;2050;p85"/>
          <p:cNvSpPr/>
          <p:nvPr/>
        </p:nvSpPr>
        <p:spPr>
          <a:xfrm>
            <a:off x="658403" y="1858518"/>
            <a:ext cx="3546900" cy="6516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C2B3E"/>
              </a:buClr>
              <a:buSzPts val="900"/>
              <a:buFont typeface="Arial"/>
              <a:buNone/>
            </a:pPr>
            <a:r>
              <a:rPr i="1" lang="en-GB" sz="900">
                <a:solidFill>
                  <a:srgbClr val="1C2B3E"/>
                </a:solidFill>
                <a:latin typeface="Arial"/>
                <a:ea typeface="Arial"/>
                <a:cs typeface="Arial"/>
                <a:sym typeface="Arial"/>
              </a:rPr>
              <a:t>“En. Faizal wants a large order — RM20,000 worth. Good customer. But check their exposure before you confirm.”</a:t>
            </a:r>
            <a:endParaRPr sz="900">
              <a:solidFill>
                <a:schemeClr val="dk1"/>
              </a:solidFill>
              <a:latin typeface="Calibri"/>
              <a:ea typeface="Calibri"/>
              <a:cs typeface="Calibri"/>
              <a:sym typeface="Calibri"/>
            </a:endParaRPr>
          </a:p>
        </p:txBody>
      </p:sp>
      <p:sp>
        <p:nvSpPr>
          <p:cNvPr id="2051" name="Google Shape;2051;p85"/>
          <p:cNvSpPr/>
          <p:nvPr/>
        </p:nvSpPr>
        <p:spPr>
          <a:xfrm>
            <a:off x="548669" y="2715768"/>
            <a:ext cx="3766200" cy="178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800"/>
              <a:buFont typeface="Arial"/>
              <a:buNone/>
            </a:pPr>
            <a:r>
              <a:rPr b="1" lang="en-GB" sz="800">
                <a:solidFill>
                  <a:srgbClr val="94A3B8"/>
                </a:solidFill>
                <a:latin typeface="Arial"/>
                <a:ea typeface="Arial"/>
                <a:cs typeface="Arial"/>
                <a:sym typeface="Arial"/>
              </a:rPr>
              <a:t>ORDER ARRIVES AS — email requisition from procurement</a:t>
            </a:r>
            <a:endParaRPr sz="800">
              <a:solidFill>
                <a:schemeClr val="dk1"/>
              </a:solidFill>
              <a:latin typeface="Calibri"/>
              <a:ea typeface="Calibri"/>
              <a:cs typeface="Calibri"/>
              <a:sym typeface="Calibri"/>
            </a:endParaRPr>
          </a:p>
        </p:txBody>
      </p:sp>
      <p:sp>
        <p:nvSpPr>
          <p:cNvPr id="2052" name="Google Shape;2052;p85"/>
          <p:cNvSpPr/>
          <p:nvPr/>
        </p:nvSpPr>
        <p:spPr>
          <a:xfrm>
            <a:off x="548669" y="2935224"/>
            <a:ext cx="3766200" cy="233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B3E"/>
              </a:buClr>
              <a:buSzPts val="900"/>
              <a:buFont typeface="Arial"/>
              <a:buNone/>
            </a:pPr>
            <a:r>
              <a:rPr lang="en-GB" sz="900">
                <a:solidFill>
                  <a:srgbClr val="1C2B3E"/>
                </a:solidFill>
                <a:latin typeface="Arial"/>
                <a:ea typeface="Arial"/>
                <a:cs typeface="Arial"/>
                <a:sym typeface="Arial"/>
              </a:rPr>
              <a:t>•  Cooking Oil × 50</a:t>
            </a:r>
            <a:endParaRPr sz="900">
              <a:solidFill>
                <a:schemeClr val="dk1"/>
              </a:solidFill>
              <a:latin typeface="Calibri"/>
              <a:ea typeface="Calibri"/>
              <a:cs typeface="Calibri"/>
              <a:sym typeface="Calibri"/>
            </a:endParaRPr>
          </a:p>
        </p:txBody>
      </p:sp>
      <p:sp>
        <p:nvSpPr>
          <p:cNvPr id="2053" name="Google Shape;2053;p85"/>
          <p:cNvSpPr/>
          <p:nvPr/>
        </p:nvSpPr>
        <p:spPr>
          <a:xfrm>
            <a:off x="548669" y="3168396"/>
            <a:ext cx="3766200" cy="233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B3E"/>
              </a:buClr>
              <a:buSzPts val="900"/>
              <a:buFont typeface="Arial"/>
              <a:buNone/>
            </a:pPr>
            <a:r>
              <a:rPr lang="en-GB" sz="900">
                <a:solidFill>
                  <a:srgbClr val="1C2B3E"/>
                </a:solidFill>
                <a:latin typeface="Arial"/>
                <a:ea typeface="Arial"/>
                <a:cs typeface="Arial"/>
                <a:sym typeface="Arial"/>
              </a:rPr>
              <a:t>•  Flour × 20</a:t>
            </a:r>
            <a:endParaRPr sz="900">
              <a:solidFill>
                <a:schemeClr val="dk1"/>
              </a:solidFill>
              <a:latin typeface="Calibri"/>
              <a:ea typeface="Calibri"/>
              <a:cs typeface="Calibri"/>
              <a:sym typeface="Calibri"/>
            </a:endParaRPr>
          </a:p>
        </p:txBody>
      </p:sp>
      <p:sp>
        <p:nvSpPr>
          <p:cNvPr id="2054" name="Google Shape;2054;p85"/>
          <p:cNvSpPr/>
          <p:nvPr/>
        </p:nvSpPr>
        <p:spPr>
          <a:xfrm>
            <a:off x="548669" y="3401568"/>
            <a:ext cx="3766200" cy="233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B3E"/>
              </a:buClr>
              <a:buSzPts val="900"/>
              <a:buFont typeface="Arial"/>
              <a:buNone/>
            </a:pPr>
            <a:r>
              <a:rPr lang="en-GB" sz="900">
                <a:solidFill>
                  <a:srgbClr val="1C2B3E"/>
                </a:solidFill>
                <a:latin typeface="Arial"/>
                <a:ea typeface="Arial"/>
                <a:cs typeface="Arial"/>
                <a:sym typeface="Arial"/>
              </a:rPr>
              <a:t>•  Mushrooms × 100</a:t>
            </a:r>
            <a:endParaRPr sz="900">
              <a:solidFill>
                <a:schemeClr val="dk1"/>
              </a:solidFill>
              <a:latin typeface="Calibri"/>
              <a:ea typeface="Calibri"/>
              <a:cs typeface="Calibri"/>
              <a:sym typeface="Calibri"/>
            </a:endParaRPr>
          </a:p>
        </p:txBody>
      </p:sp>
      <p:sp>
        <p:nvSpPr>
          <p:cNvPr id="2055" name="Google Shape;2055;p85"/>
          <p:cNvSpPr/>
          <p:nvPr/>
        </p:nvSpPr>
        <p:spPr>
          <a:xfrm>
            <a:off x="548669" y="3662172"/>
            <a:ext cx="3766200" cy="342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94A3B8"/>
              </a:buClr>
              <a:buSzPts val="900"/>
              <a:buFont typeface="Arial"/>
              <a:buNone/>
            </a:pPr>
            <a:r>
              <a:rPr i="1" lang="en-GB" sz="900">
                <a:solidFill>
                  <a:srgbClr val="94A3B8"/>
                </a:solidFill>
                <a:latin typeface="Arial"/>
                <a:ea typeface="Arial"/>
                <a:cs typeface="Arial"/>
                <a:sym typeface="Arial"/>
              </a:rPr>
              <a:t>Order value: ~RM20,000.</a:t>
            </a:r>
            <a:endParaRPr sz="900">
              <a:solidFill>
                <a:schemeClr val="dk1"/>
              </a:solidFill>
              <a:latin typeface="Calibri"/>
              <a:ea typeface="Calibri"/>
              <a:cs typeface="Calibri"/>
              <a:sym typeface="Calibri"/>
            </a:endParaRPr>
          </a:p>
        </p:txBody>
      </p:sp>
      <p:sp>
        <p:nvSpPr>
          <p:cNvPr id="2056" name="Google Shape;2056;p85"/>
          <p:cNvSpPr/>
          <p:nvPr/>
        </p:nvSpPr>
        <p:spPr>
          <a:xfrm>
            <a:off x="548669" y="4265676"/>
            <a:ext cx="3766200" cy="178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800"/>
              <a:buFont typeface="Arial"/>
              <a:buNone/>
            </a:pPr>
            <a:r>
              <a:rPr b="1" lang="en-GB" sz="800">
                <a:solidFill>
                  <a:srgbClr val="94A3B8"/>
                </a:solidFill>
                <a:latin typeface="Arial"/>
                <a:ea typeface="Arial"/>
                <a:cs typeface="Arial"/>
                <a:sym typeface="Arial"/>
              </a:rPr>
              <a:t>RECORD ON BOARD</a:t>
            </a:r>
            <a:endParaRPr sz="800">
              <a:solidFill>
                <a:schemeClr val="dk1"/>
              </a:solidFill>
              <a:latin typeface="Calibri"/>
              <a:ea typeface="Calibri"/>
              <a:cs typeface="Calibri"/>
              <a:sym typeface="Calibri"/>
            </a:endParaRPr>
          </a:p>
        </p:txBody>
      </p:sp>
      <p:sp>
        <p:nvSpPr>
          <p:cNvPr id="2057" name="Google Shape;2057;p85"/>
          <p:cNvSpPr/>
          <p:nvPr/>
        </p:nvSpPr>
        <p:spPr>
          <a:xfrm>
            <a:off x="548669" y="4471416"/>
            <a:ext cx="565800" cy="274200"/>
          </a:xfrm>
          <a:prstGeom prst="roundRect">
            <a:avLst>
              <a:gd fmla="val 50000" name="adj"/>
            </a:avLst>
          </a:prstGeom>
          <a:solidFill>
            <a:srgbClr val="FBEBD9"/>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058" name="Google Shape;2058;p85"/>
          <p:cNvSpPr/>
          <p:nvPr/>
        </p:nvSpPr>
        <p:spPr>
          <a:xfrm>
            <a:off x="548669" y="4471416"/>
            <a:ext cx="5658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SO ID</a:t>
            </a:r>
            <a:endParaRPr sz="800">
              <a:solidFill>
                <a:schemeClr val="dk1"/>
              </a:solidFill>
              <a:latin typeface="Calibri"/>
              <a:ea typeface="Calibri"/>
              <a:cs typeface="Calibri"/>
              <a:sym typeface="Calibri"/>
            </a:endParaRPr>
          </a:p>
        </p:txBody>
      </p:sp>
      <p:sp>
        <p:nvSpPr>
          <p:cNvPr id="2059" name="Google Shape;2059;p85"/>
          <p:cNvSpPr/>
          <p:nvPr/>
        </p:nvSpPr>
        <p:spPr>
          <a:xfrm>
            <a:off x="1217360" y="4471416"/>
            <a:ext cx="565800" cy="274200"/>
          </a:xfrm>
          <a:prstGeom prst="roundRect">
            <a:avLst>
              <a:gd fmla="val 50000" name="adj"/>
            </a:avLst>
          </a:prstGeom>
          <a:solidFill>
            <a:srgbClr val="FBEBD9"/>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060" name="Google Shape;2060;p85"/>
          <p:cNvSpPr/>
          <p:nvPr/>
        </p:nvSpPr>
        <p:spPr>
          <a:xfrm>
            <a:off x="1217360" y="4471416"/>
            <a:ext cx="5658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DN ID</a:t>
            </a:r>
            <a:endParaRPr sz="800">
              <a:solidFill>
                <a:schemeClr val="dk1"/>
              </a:solidFill>
              <a:latin typeface="Calibri"/>
              <a:ea typeface="Calibri"/>
              <a:cs typeface="Calibri"/>
              <a:sym typeface="Calibri"/>
            </a:endParaRPr>
          </a:p>
        </p:txBody>
      </p:sp>
      <p:sp>
        <p:nvSpPr>
          <p:cNvPr id="2061" name="Google Shape;2061;p85"/>
          <p:cNvSpPr/>
          <p:nvPr/>
        </p:nvSpPr>
        <p:spPr>
          <a:xfrm>
            <a:off x="1886051" y="4471416"/>
            <a:ext cx="1731600" cy="274200"/>
          </a:xfrm>
          <a:prstGeom prst="roundRect">
            <a:avLst>
              <a:gd fmla="val 50000" name="adj"/>
            </a:avLst>
          </a:prstGeom>
          <a:solidFill>
            <a:srgbClr val="FBEBD9"/>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062" name="Google Shape;2062;p85"/>
          <p:cNvSpPr/>
          <p:nvPr/>
        </p:nvSpPr>
        <p:spPr>
          <a:xfrm>
            <a:off x="1886051" y="4471416"/>
            <a:ext cx="17316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Routed to controller? Y/N</a:t>
            </a:r>
            <a:endParaRPr sz="800">
              <a:solidFill>
                <a:schemeClr val="dk1"/>
              </a:solidFill>
              <a:latin typeface="Calibri"/>
              <a:ea typeface="Calibri"/>
              <a:cs typeface="Calibri"/>
              <a:sym typeface="Calibri"/>
            </a:endParaRPr>
          </a:p>
        </p:txBody>
      </p:sp>
      <p:sp>
        <p:nvSpPr>
          <p:cNvPr id="2063" name="Google Shape;2063;p85"/>
          <p:cNvSpPr/>
          <p:nvPr/>
        </p:nvSpPr>
        <p:spPr>
          <a:xfrm>
            <a:off x="4692151" y="1337310"/>
            <a:ext cx="4040700" cy="3463200"/>
          </a:xfrm>
          <a:prstGeom prst="roundRect">
            <a:avLst>
              <a:gd fmla="val 2376"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064" name="Google Shape;2064;p85"/>
          <p:cNvSpPr/>
          <p:nvPr/>
        </p:nvSpPr>
        <p:spPr>
          <a:xfrm>
            <a:off x="4829318" y="1447038"/>
            <a:ext cx="1714500" cy="233100"/>
          </a:xfrm>
          <a:prstGeom prst="roundRect">
            <a:avLst>
              <a:gd fmla="val 50000" name="adj"/>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065" name="Google Shape;2065;p85"/>
          <p:cNvSpPr/>
          <p:nvPr/>
        </p:nvSpPr>
        <p:spPr>
          <a:xfrm>
            <a:off x="4829318" y="1447038"/>
            <a:ext cx="1714500" cy="233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BACK · FACILITATOR QC</a:t>
            </a:r>
            <a:endParaRPr sz="800">
              <a:solidFill>
                <a:schemeClr val="dk1"/>
              </a:solidFill>
              <a:latin typeface="Calibri"/>
              <a:ea typeface="Calibri"/>
              <a:cs typeface="Calibri"/>
              <a:sym typeface="Calibri"/>
            </a:endParaRPr>
          </a:p>
        </p:txBody>
      </p:sp>
      <p:pic>
        <p:nvPicPr>
          <p:cNvPr descr="/home/claude/maia/icons/FiCheck_accent.png" id="2066" name="Google Shape;2066;p85"/>
          <p:cNvPicPr preferRelativeResize="0"/>
          <p:nvPr/>
        </p:nvPicPr>
        <p:blipFill rotWithShape="1">
          <a:blip r:embed="rId3">
            <a:alphaModFix/>
          </a:blip>
          <a:srcRect b="0" l="0" r="0" t="0"/>
          <a:stretch/>
        </p:blipFill>
        <p:spPr>
          <a:xfrm>
            <a:off x="4843035" y="1831086"/>
            <a:ext cx="150876" cy="150876"/>
          </a:xfrm>
          <a:prstGeom prst="rect">
            <a:avLst/>
          </a:prstGeom>
          <a:noFill/>
          <a:ln>
            <a:noFill/>
          </a:ln>
        </p:spPr>
      </p:pic>
      <p:sp>
        <p:nvSpPr>
          <p:cNvPr id="2067" name="Google Shape;2067;p85"/>
          <p:cNvSpPr/>
          <p:nvPr/>
        </p:nvSpPr>
        <p:spPr>
          <a:xfrm>
            <a:off x="5076220" y="1776222"/>
            <a:ext cx="3505800" cy="5469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FFFFFF"/>
              </a:buClr>
              <a:buSzPts val="900"/>
              <a:buFont typeface="Arial"/>
              <a:buNone/>
            </a:pPr>
            <a:r>
              <a:rPr lang="en-GB" sz="900">
                <a:solidFill>
                  <a:srgbClr val="FFFFFF"/>
                </a:solidFill>
                <a:latin typeface="Arial"/>
                <a:ea typeface="Arial"/>
                <a:cs typeface="Arial"/>
                <a:sym typeface="Arial"/>
              </a:rPr>
              <a:t>Billed-unpaid RM62k + unbilled SO RM15k = RM77k of RM80k limit</a:t>
            </a:r>
            <a:endParaRPr sz="900">
              <a:solidFill>
                <a:schemeClr val="dk1"/>
              </a:solidFill>
              <a:latin typeface="Calibri"/>
              <a:ea typeface="Calibri"/>
              <a:cs typeface="Calibri"/>
              <a:sym typeface="Calibri"/>
            </a:endParaRPr>
          </a:p>
        </p:txBody>
      </p:sp>
      <p:pic>
        <p:nvPicPr>
          <p:cNvPr descr="/home/claude/maia/icons/FiCheck_accent.png" id="2068" name="Google Shape;2068;p85"/>
          <p:cNvPicPr preferRelativeResize="0"/>
          <p:nvPr/>
        </p:nvPicPr>
        <p:blipFill rotWithShape="1">
          <a:blip r:embed="rId3">
            <a:alphaModFix/>
          </a:blip>
          <a:srcRect b="0" l="0" r="0" t="0"/>
          <a:stretch/>
        </p:blipFill>
        <p:spPr>
          <a:xfrm>
            <a:off x="4843035" y="2378012"/>
            <a:ext cx="150876" cy="150876"/>
          </a:xfrm>
          <a:prstGeom prst="rect">
            <a:avLst/>
          </a:prstGeom>
          <a:noFill/>
          <a:ln>
            <a:noFill/>
          </a:ln>
        </p:spPr>
      </p:pic>
      <p:sp>
        <p:nvSpPr>
          <p:cNvPr id="2069" name="Google Shape;2069;p85"/>
          <p:cNvSpPr/>
          <p:nvPr/>
        </p:nvSpPr>
        <p:spPr>
          <a:xfrm>
            <a:off x="5076220" y="2323148"/>
            <a:ext cx="3505800" cy="5469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FFFFFF"/>
              </a:buClr>
              <a:buSzPts val="900"/>
              <a:buFont typeface="Arial"/>
              <a:buNone/>
            </a:pPr>
            <a:r>
              <a:rPr lang="en-GB" sz="900">
                <a:solidFill>
                  <a:srgbClr val="FFFFFF"/>
                </a:solidFill>
                <a:latin typeface="Arial"/>
                <a:ea typeface="Arial"/>
                <a:cs typeface="Arial"/>
                <a:sym typeface="Arial"/>
              </a:rPr>
              <a:t>New RM20k order pushes exposure to RM97k</a:t>
            </a:r>
            <a:endParaRPr sz="900">
              <a:solidFill>
                <a:schemeClr val="dk1"/>
              </a:solidFill>
              <a:latin typeface="Calibri"/>
              <a:ea typeface="Calibri"/>
              <a:cs typeface="Calibri"/>
              <a:sym typeface="Calibri"/>
            </a:endParaRPr>
          </a:p>
        </p:txBody>
      </p:sp>
      <p:pic>
        <p:nvPicPr>
          <p:cNvPr descr="/home/claude/maia/icons/FiCheck_accent.png" id="2070" name="Google Shape;2070;p85"/>
          <p:cNvPicPr preferRelativeResize="0"/>
          <p:nvPr/>
        </p:nvPicPr>
        <p:blipFill rotWithShape="1">
          <a:blip r:embed="rId3">
            <a:alphaModFix/>
          </a:blip>
          <a:srcRect b="0" l="0" r="0" t="0"/>
          <a:stretch/>
        </p:blipFill>
        <p:spPr>
          <a:xfrm>
            <a:off x="4843035" y="2924937"/>
            <a:ext cx="150876" cy="150876"/>
          </a:xfrm>
          <a:prstGeom prst="rect">
            <a:avLst/>
          </a:prstGeom>
          <a:noFill/>
          <a:ln>
            <a:noFill/>
          </a:ln>
        </p:spPr>
      </p:pic>
      <p:sp>
        <p:nvSpPr>
          <p:cNvPr id="2071" name="Google Shape;2071;p85"/>
          <p:cNvSpPr/>
          <p:nvPr/>
        </p:nvSpPr>
        <p:spPr>
          <a:xfrm>
            <a:off x="5076220" y="2870073"/>
            <a:ext cx="3505800" cy="5469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FFFFFF"/>
              </a:buClr>
              <a:buSzPts val="900"/>
              <a:buFont typeface="Arial"/>
              <a:buNone/>
            </a:pPr>
            <a:r>
              <a:rPr lang="en-GB" sz="900">
                <a:solidFill>
                  <a:srgbClr val="FFFFFF"/>
                </a:solidFill>
                <a:latin typeface="Arial"/>
                <a:ea typeface="Arial"/>
                <a:cs typeface="Arial"/>
                <a:sym typeface="Arial"/>
              </a:rPr>
              <a:t>Escalated — controller override applied with judgment</a:t>
            </a:r>
            <a:endParaRPr sz="900">
              <a:solidFill>
                <a:schemeClr val="dk1"/>
              </a:solidFill>
              <a:latin typeface="Calibri"/>
              <a:ea typeface="Calibri"/>
              <a:cs typeface="Calibri"/>
              <a:sym typeface="Calibri"/>
            </a:endParaRPr>
          </a:p>
        </p:txBody>
      </p:sp>
      <p:pic>
        <p:nvPicPr>
          <p:cNvPr descr="/home/claude/maia/icons/FiCheck_accent.png" id="2072" name="Google Shape;2072;p85"/>
          <p:cNvPicPr preferRelativeResize="0"/>
          <p:nvPr/>
        </p:nvPicPr>
        <p:blipFill rotWithShape="1">
          <a:blip r:embed="rId3">
            <a:alphaModFix/>
          </a:blip>
          <a:srcRect b="0" l="0" r="0" t="0"/>
          <a:stretch/>
        </p:blipFill>
        <p:spPr>
          <a:xfrm>
            <a:off x="4843035" y="3471863"/>
            <a:ext cx="150876" cy="150876"/>
          </a:xfrm>
          <a:prstGeom prst="rect">
            <a:avLst/>
          </a:prstGeom>
          <a:noFill/>
          <a:ln>
            <a:noFill/>
          </a:ln>
        </p:spPr>
      </p:pic>
      <p:sp>
        <p:nvSpPr>
          <p:cNvPr id="2073" name="Google Shape;2073;p85"/>
          <p:cNvSpPr/>
          <p:nvPr/>
        </p:nvSpPr>
        <p:spPr>
          <a:xfrm>
            <a:off x="5076220" y="3416999"/>
            <a:ext cx="3505800" cy="5469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FFFFFF"/>
              </a:buClr>
              <a:buSzPts val="900"/>
              <a:buFont typeface="Arial"/>
              <a:buNone/>
            </a:pPr>
            <a:r>
              <a:rPr lang="en-GB" sz="900">
                <a:solidFill>
                  <a:srgbClr val="FFFFFF"/>
                </a:solidFill>
                <a:latin typeface="Arial"/>
                <a:ea typeface="Arial"/>
                <a:cs typeface="Arial"/>
                <a:sym typeface="Arial"/>
              </a:rPr>
              <a:t>SO confirmed and DN marked Delivered</a:t>
            </a:r>
            <a:endParaRPr sz="900">
              <a:solidFill>
                <a:schemeClr val="dk1"/>
              </a:solidFill>
              <a:latin typeface="Calibri"/>
              <a:ea typeface="Calibri"/>
              <a:cs typeface="Calibri"/>
              <a:sym typeface="Calibri"/>
            </a:endParaRPr>
          </a:p>
        </p:txBody>
      </p:sp>
      <p:sp>
        <p:nvSpPr>
          <p:cNvPr id="2074" name="Google Shape;2074;p85"/>
          <p:cNvSpPr/>
          <p:nvPr/>
        </p:nvSpPr>
        <p:spPr>
          <a:xfrm>
            <a:off x="4829318" y="4114800"/>
            <a:ext cx="3766200" cy="514500"/>
          </a:xfrm>
          <a:prstGeom prst="roundRect">
            <a:avLst>
              <a:gd fmla="val 10667" name="adj"/>
            </a:avLst>
          </a:prstGeom>
          <a:solidFill>
            <a:srgbClr val="32495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075" name="Google Shape;2075;p85"/>
          <p:cNvSpPr/>
          <p:nvPr/>
        </p:nvSpPr>
        <p:spPr>
          <a:xfrm>
            <a:off x="4925336" y="4217670"/>
            <a:ext cx="274200" cy="274200"/>
          </a:xfrm>
          <a:prstGeom prst="roundRect">
            <a:avLst>
              <a:gd fmla="val 22000" name="adj"/>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AlertTriangle_white.png" id="2076" name="Google Shape;2076;p85"/>
          <p:cNvPicPr preferRelativeResize="0"/>
          <p:nvPr/>
        </p:nvPicPr>
        <p:blipFill rotWithShape="1">
          <a:blip r:embed="rId4">
            <a:alphaModFix/>
          </a:blip>
          <a:srcRect b="0" l="0" r="0" t="0"/>
          <a:stretch/>
        </p:blipFill>
        <p:spPr>
          <a:xfrm>
            <a:off x="4993919" y="4286250"/>
            <a:ext cx="137160" cy="137160"/>
          </a:xfrm>
          <a:prstGeom prst="rect">
            <a:avLst/>
          </a:prstGeom>
          <a:noFill/>
          <a:ln>
            <a:noFill/>
          </a:ln>
        </p:spPr>
      </p:pic>
      <p:sp>
        <p:nvSpPr>
          <p:cNvPr id="2077" name="Google Shape;2077;p85"/>
          <p:cNvSpPr/>
          <p:nvPr/>
        </p:nvSpPr>
        <p:spPr>
          <a:xfrm>
            <a:off x="5281971" y="4169664"/>
            <a:ext cx="3300000" cy="4116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FFFFFF"/>
              </a:buClr>
              <a:buSzPts val="900"/>
              <a:buFont typeface="Arial"/>
              <a:buNone/>
            </a:pPr>
            <a:r>
              <a:rPr b="1" lang="en-GB" sz="900">
                <a:solidFill>
                  <a:srgbClr val="FFFFFF"/>
                </a:solidFill>
                <a:latin typeface="Arial"/>
                <a:ea typeface="Arial"/>
                <a:cs typeface="Arial"/>
                <a:sym typeface="Arial"/>
              </a:rPr>
              <a:t>Trap: near-limit exposure — subtler than M5, requires adding multiple numbers.</a:t>
            </a:r>
            <a:endParaRPr sz="900">
              <a:solidFill>
                <a:schemeClr val="dk1"/>
              </a:solidFill>
              <a:latin typeface="Calibri"/>
              <a:ea typeface="Calibri"/>
              <a:cs typeface="Calibri"/>
              <a:sym typeface="Calibri"/>
            </a:endParaRPr>
          </a:p>
        </p:txBody>
      </p:sp>
      <p:sp>
        <p:nvSpPr>
          <p:cNvPr id="2078" name="Google Shape;2078;p85"/>
          <p:cNvSpPr txBox="1"/>
          <p:nvPr>
            <p:ph idx="12" type="sldNum"/>
          </p:nvPr>
        </p:nvSpPr>
        <p:spPr>
          <a:xfrm>
            <a:off x="8347216" y="4750189"/>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83" name="Shape 2083"/>
        <p:cNvGrpSpPr/>
        <p:nvPr/>
      </p:nvGrpSpPr>
      <p:grpSpPr>
        <a:xfrm>
          <a:off x="0" y="0"/>
          <a:ext cx="0" cy="0"/>
          <a:chOff x="0" y="0"/>
          <a:chExt cx="0" cy="0"/>
        </a:xfrm>
      </p:grpSpPr>
      <p:sp>
        <p:nvSpPr>
          <p:cNvPr id="2084" name="Google Shape;2084;p86"/>
          <p:cNvSpPr/>
          <p:nvPr/>
        </p:nvSpPr>
        <p:spPr>
          <a:xfrm>
            <a:off x="411502" y="260604"/>
            <a:ext cx="68583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MISSION CARDS · M7 OF 10</a:t>
            </a:r>
            <a:endParaRPr sz="800">
              <a:solidFill>
                <a:schemeClr val="dk1"/>
              </a:solidFill>
              <a:latin typeface="Calibri"/>
              <a:ea typeface="Calibri"/>
              <a:cs typeface="Calibri"/>
              <a:sym typeface="Calibri"/>
            </a:endParaRPr>
          </a:p>
        </p:txBody>
      </p:sp>
      <p:sp>
        <p:nvSpPr>
          <p:cNvPr id="2085" name="Google Shape;2085;p86"/>
          <p:cNvSpPr/>
          <p:nvPr/>
        </p:nvSpPr>
        <p:spPr>
          <a:xfrm>
            <a:off x="411502" y="438912"/>
            <a:ext cx="8321400" cy="480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C2B3E"/>
              </a:buClr>
              <a:buSzPts val="2200"/>
              <a:buFont typeface="Arial"/>
              <a:buNone/>
            </a:pPr>
            <a:r>
              <a:rPr b="1" lang="en-GB" sz="2200">
                <a:solidFill>
                  <a:srgbClr val="1C2B3E"/>
                </a:solidFill>
                <a:latin typeface="Poppins"/>
                <a:ea typeface="Poppins"/>
                <a:cs typeface="Poppins"/>
                <a:sym typeface="Poppins"/>
              </a:rPr>
              <a:t>The Brew Lab</a:t>
            </a:r>
            <a:endParaRPr sz="2200">
              <a:solidFill>
                <a:schemeClr val="dk1"/>
              </a:solidFill>
              <a:latin typeface="Poppins"/>
              <a:ea typeface="Poppins"/>
              <a:cs typeface="Poppins"/>
              <a:sym typeface="Poppins"/>
            </a:endParaRPr>
          </a:p>
        </p:txBody>
      </p:sp>
      <p:sp>
        <p:nvSpPr>
          <p:cNvPr id="2086" name="Google Shape;2086;p86"/>
          <p:cNvSpPr/>
          <p:nvPr/>
        </p:nvSpPr>
        <p:spPr>
          <a:xfrm>
            <a:off x="411502" y="1337310"/>
            <a:ext cx="4040700" cy="3463200"/>
          </a:xfrm>
          <a:prstGeom prst="roundRect">
            <a:avLst>
              <a:gd fmla="val 2376" name="adj"/>
            </a:avLst>
          </a:prstGeom>
          <a:solidFill>
            <a:srgbClr val="F5F7FA"/>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087" name="Google Shape;2087;p86"/>
          <p:cNvSpPr/>
          <p:nvPr/>
        </p:nvSpPr>
        <p:spPr>
          <a:xfrm>
            <a:off x="548669" y="1447038"/>
            <a:ext cx="1508700" cy="233100"/>
          </a:xfrm>
          <a:prstGeom prst="roundRect">
            <a:avLst>
              <a:gd fmla="val 50000"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088" name="Google Shape;2088;p86"/>
          <p:cNvSpPr/>
          <p:nvPr/>
        </p:nvSpPr>
        <p:spPr>
          <a:xfrm>
            <a:off x="548669" y="1447038"/>
            <a:ext cx="1508700" cy="233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FRONT · TEAM SEES</a:t>
            </a:r>
            <a:endParaRPr sz="800">
              <a:solidFill>
                <a:schemeClr val="dk1"/>
              </a:solidFill>
              <a:latin typeface="Calibri"/>
              <a:ea typeface="Calibri"/>
              <a:cs typeface="Calibri"/>
              <a:sym typeface="Calibri"/>
            </a:endParaRPr>
          </a:p>
        </p:txBody>
      </p:sp>
      <p:sp>
        <p:nvSpPr>
          <p:cNvPr id="2089" name="Google Shape;2089;p86"/>
          <p:cNvSpPr/>
          <p:nvPr/>
        </p:nvSpPr>
        <p:spPr>
          <a:xfrm>
            <a:off x="548669" y="1789938"/>
            <a:ext cx="3766200" cy="788700"/>
          </a:xfrm>
          <a:prstGeom prst="roundRect">
            <a:avLst>
              <a:gd fmla="val 6957" name="adj"/>
            </a:avLst>
          </a:prstGeom>
          <a:solidFill>
            <a:srgbClr val="FFFFFF"/>
          </a:solidFill>
          <a:ln cap="flat" cmpd="sng" w="12700">
            <a:solidFill>
              <a:srgbClr val="E3E8EF"/>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090" name="Google Shape;2090;p86"/>
          <p:cNvSpPr/>
          <p:nvPr/>
        </p:nvSpPr>
        <p:spPr>
          <a:xfrm>
            <a:off x="658403" y="1858518"/>
            <a:ext cx="3546900" cy="6516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C2B3E"/>
              </a:buClr>
              <a:buSzPts val="900"/>
              <a:buFont typeface="Arial"/>
              <a:buNone/>
            </a:pPr>
            <a:r>
              <a:rPr i="1" lang="en-GB" sz="900">
                <a:solidFill>
                  <a:srgbClr val="1C2B3E"/>
                </a:solidFill>
                <a:latin typeface="Arial"/>
                <a:ea typeface="Arial"/>
                <a:cs typeface="Arial"/>
                <a:sym typeface="Arial"/>
              </a:rPr>
              <a:t>“Daniel from The Brew Lab is interested. He's not a customer yet — he wants a quote. Give him one.”</a:t>
            </a:r>
            <a:endParaRPr sz="900">
              <a:solidFill>
                <a:schemeClr val="dk1"/>
              </a:solidFill>
              <a:latin typeface="Calibri"/>
              <a:ea typeface="Calibri"/>
              <a:cs typeface="Calibri"/>
              <a:sym typeface="Calibri"/>
            </a:endParaRPr>
          </a:p>
        </p:txBody>
      </p:sp>
      <p:sp>
        <p:nvSpPr>
          <p:cNvPr id="2091" name="Google Shape;2091;p86"/>
          <p:cNvSpPr/>
          <p:nvPr/>
        </p:nvSpPr>
        <p:spPr>
          <a:xfrm>
            <a:off x="548669" y="2715768"/>
            <a:ext cx="3766200" cy="178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800"/>
              <a:buFont typeface="Arial"/>
              <a:buNone/>
            </a:pPr>
            <a:r>
              <a:rPr b="1" lang="en-GB" sz="800">
                <a:solidFill>
                  <a:srgbClr val="94A3B8"/>
                </a:solidFill>
                <a:latin typeface="Arial"/>
                <a:ea typeface="Arial"/>
                <a:cs typeface="Arial"/>
                <a:sym typeface="Arial"/>
              </a:rPr>
              <a:t>ORDER ARRIVES AS — new prospect enquiry (WhatsApp)</a:t>
            </a:r>
            <a:endParaRPr sz="800">
              <a:solidFill>
                <a:schemeClr val="dk1"/>
              </a:solidFill>
              <a:latin typeface="Calibri"/>
              <a:ea typeface="Calibri"/>
              <a:cs typeface="Calibri"/>
              <a:sym typeface="Calibri"/>
            </a:endParaRPr>
          </a:p>
        </p:txBody>
      </p:sp>
      <p:sp>
        <p:nvSpPr>
          <p:cNvPr id="2092" name="Google Shape;2092;p86"/>
          <p:cNvSpPr/>
          <p:nvPr/>
        </p:nvSpPr>
        <p:spPr>
          <a:xfrm>
            <a:off x="548669" y="2948940"/>
            <a:ext cx="3766200" cy="582900"/>
          </a:xfrm>
          <a:prstGeom prst="roundRect">
            <a:avLst>
              <a:gd fmla="val 9412"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093" name="Google Shape;2093;p86"/>
          <p:cNvSpPr/>
          <p:nvPr/>
        </p:nvSpPr>
        <p:spPr>
          <a:xfrm>
            <a:off x="658403" y="2948940"/>
            <a:ext cx="3546900" cy="58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Arial"/>
              <a:buNone/>
            </a:pPr>
            <a:r>
              <a:rPr i="1" lang="en-GB" sz="900">
                <a:solidFill>
                  <a:srgbClr val="FFFFFF"/>
                </a:solidFill>
                <a:latin typeface="Arial"/>
                <a:ea typeface="Arial"/>
                <a:cs typeface="Arial"/>
                <a:sym typeface="Arial"/>
              </a:rPr>
              <a:t>“quote: 20 bags house blend coffee + 10× coffee machine servicing visits?”</a:t>
            </a:r>
            <a:endParaRPr sz="900">
              <a:solidFill>
                <a:schemeClr val="dk1"/>
              </a:solidFill>
              <a:latin typeface="Calibri"/>
              <a:ea typeface="Calibri"/>
              <a:cs typeface="Calibri"/>
              <a:sym typeface="Calibri"/>
            </a:endParaRPr>
          </a:p>
        </p:txBody>
      </p:sp>
      <p:sp>
        <p:nvSpPr>
          <p:cNvPr id="2094" name="Google Shape;2094;p86"/>
          <p:cNvSpPr/>
          <p:nvPr/>
        </p:nvSpPr>
        <p:spPr>
          <a:xfrm>
            <a:off x="548669" y="4265676"/>
            <a:ext cx="3766200" cy="178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800"/>
              <a:buFont typeface="Arial"/>
              <a:buNone/>
            </a:pPr>
            <a:r>
              <a:rPr b="1" lang="en-GB" sz="800">
                <a:solidFill>
                  <a:srgbClr val="94A3B8"/>
                </a:solidFill>
                <a:latin typeface="Arial"/>
                <a:ea typeface="Arial"/>
                <a:cs typeface="Arial"/>
                <a:sym typeface="Arial"/>
              </a:rPr>
              <a:t>RECORD ON BOARD</a:t>
            </a:r>
            <a:endParaRPr sz="800">
              <a:solidFill>
                <a:schemeClr val="dk1"/>
              </a:solidFill>
              <a:latin typeface="Calibri"/>
              <a:ea typeface="Calibri"/>
              <a:cs typeface="Calibri"/>
              <a:sym typeface="Calibri"/>
            </a:endParaRPr>
          </a:p>
        </p:txBody>
      </p:sp>
      <p:sp>
        <p:nvSpPr>
          <p:cNvPr id="2095" name="Google Shape;2095;p86"/>
          <p:cNvSpPr/>
          <p:nvPr/>
        </p:nvSpPr>
        <p:spPr>
          <a:xfrm>
            <a:off x="548669" y="4471416"/>
            <a:ext cx="1673400" cy="274200"/>
          </a:xfrm>
          <a:prstGeom prst="roundRect">
            <a:avLst>
              <a:gd fmla="val 50000" name="adj"/>
            </a:avLst>
          </a:prstGeom>
          <a:solidFill>
            <a:srgbClr val="FBEBD9"/>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096" name="Google Shape;2096;p86"/>
          <p:cNvSpPr/>
          <p:nvPr/>
        </p:nvSpPr>
        <p:spPr>
          <a:xfrm>
            <a:off x="548669" y="4471416"/>
            <a:ext cx="16734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Quotation ID (not SO ID)</a:t>
            </a:r>
            <a:endParaRPr sz="800">
              <a:solidFill>
                <a:schemeClr val="dk1"/>
              </a:solidFill>
              <a:latin typeface="Calibri"/>
              <a:ea typeface="Calibri"/>
              <a:cs typeface="Calibri"/>
              <a:sym typeface="Calibri"/>
            </a:endParaRPr>
          </a:p>
        </p:txBody>
      </p:sp>
      <p:sp>
        <p:nvSpPr>
          <p:cNvPr id="2097" name="Google Shape;2097;p86"/>
          <p:cNvSpPr/>
          <p:nvPr/>
        </p:nvSpPr>
        <p:spPr>
          <a:xfrm>
            <a:off x="4692151" y="1337310"/>
            <a:ext cx="4040700" cy="3463200"/>
          </a:xfrm>
          <a:prstGeom prst="roundRect">
            <a:avLst>
              <a:gd fmla="val 2376"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098" name="Google Shape;2098;p86"/>
          <p:cNvSpPr/>
          <p:nvPr/>
        </p:nvSpPr>
        <p:spPr>
          <a:xfrm>
            <a:off x="4829318" y="1447038"/>
            <a:ext cx="1714500" cy="233100"/>
          </a:xfrm>
          <a:prstGeom prst="roundRect">
            <a:avLst>
              <a:gd fmla="val 50000" name="adj"/>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099" name="Google Shape;2099;p86"/>
          <p:cNvSpPr/>
          <p:nvPr/>
        </p:nvSpPr>
        <p:spPr>
          <a:xfrm>
            <a:off x="4829318" y="1447038"/>
            <a:ext cx="1714500" cy="233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BACK · FACILITATOR QC</a:t>
            </a:r>
            <a:endParaRPr sz="800">
              <a:solidFill>
                <a:schemeClr val="dk1"/>
              </a:solidFill>
              <a:latin typeface="Calibri"/>
              <a:ea typeface="Calibri"/>
              <a:cs typeface="Calibri"/>
              <a:sym typeface="Calibri"/>
            </a:endParaRPr>
          </a:p>
        </p:txBody>
      </p:sp>
      <p:pic>
        <p:nvPicPr>
          <p:cNvPr descr="/home/claude/maia/icons/FiCheck_accent.png" id="2100" name="Google Shape;2100;p86"/>
          <p:cNvPicPr preferRelativeResize="0"/>
          <p:nvPr/>
        </p:nvPicPr>
        <p:blipFill rotWithShape="1">
          <a:blip r:embed="rId3">
            <a:alphaModFix/>
          </a:blip>
          <a:srcRect b="0" l="0" r="0" t="0"/>
          <a:stretch/>
        </p:blipFill>
        <p:spPr>
          <a:xfrm>
            <a:off x="4843035" y="1831086"/>
            <a:ext cx="150876" cy="150876"/>
          </a:xfrm>
          <a:prstGeom prst="rect">
            <a:avLst/>
          </a:prstGeom>
          <a:noFill/>
          <a:ln>
            <a:noFill/>
          </a:ln>
        </p:spPr>
      </p:pic>
      <p:sp>
        <p:nvSpPr>
          <p:cNvPr id="2101" name="Google Shape;2101;p86"/>
          <p:cNvSpPr/>
          <p:nvPr/>
        </p:nvSpPr>
        <p:spPr>
          <a:xfrm>
            <a:off x="5076220" y="1776222"/>
            <a:ext cx="3505800" cy="7293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FFFFFF"/>
              </a:buClr>
              <a:buSzPts val="900"/>
              <a:buFont typeface="Arial"/>
              <a:buNone/>
            </a:pPr>
            <a:r>
              <a:rPr lang="en-GB" sz="900">
                <a:solidFill>
                  <a:srgbClr val="FFFFFF"/>
                </a:solidFill>
                <a:latin typeface="Arial"/>
                <a:ea typeface="Arial"/>
                <a:cs typeface="Arial"/>
                <a:sym typeface="Arial"/>
              </a:rPr>
              <a:t>Quotation created — not a Sales Order</a:t>
            </a:r>
            <a:endParaRPr sz="900">
              <a:solidFill>
                <a:schemeClr val="dk1"/>
              </a:solidFill>
              <a:latin typeface="Calibri"/>
              <a:ea typeface="Calibri"/>
              <a:cs typeface="Calibri"/>
              <a:sym typeface="Calibri"/>
            </a:endParaRPr>
          </a:p>
        </p:txBody>
      </p:sp>
      <p:pic>
        <p:nvPicPr>
          <p:cNvPr descr="/home/claude/maia/icons/FiCheck_accent.png" id="2102" name="Google Shape;2102;p86"/>
          <p:cNvPicPr preferRelativeResize="0"/>
          <p:nvPr/>
        </p:nvPicPr>
        <p:blipFill rotWithShape="1">
          <a:blip r:embed="rId3">
            <a:alphaModFix/>
          </a:blip>
          <a:srcRect b="0" l="0" r="0" t="0"/>
          <a:stretch/>
        </p:blipFill>
        <p:spPr>
          <a:xfrm>
            <a:off x="4843035" y="2560320"/>
            <a:ext cx="150876" cy="150876"/>
          </a:xfrm>
          <a:prstGeom prst="rect">
            <a:avLst/>
          </a:prstGeom>
          <a:noFill/>
          <a:ln>
            <a:noFill/>
          </a:ln>
        </p:spPr>
      </p:pic>
      <p:sp>
        <p:nvSpPr>
          <p:cNvPr id="2103" name="Google Shape;2103;p86"/>
          <p:cNvSpPr/>
          <p:nvPr/>
        </p:nvSpPr>
        <p:spPr>
          <a:xfrm>
            <a:off x="5076220" y="2505456"/>
            <a:ext cx="3505800" cy="7293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FFFFFF"/>
              </a:buClr>
              <a:buSzPts val="900"/>
              <a:buFont typeface="Arial"/>
              <a:buNone/>
            </a:pPr>
            <a:r>
              <a:rPr lang="en-GB" sz="900">
                <a:solidFill>
                  <a:srgbClr val="FFFFFF"/>
                </a:solidFill>
                <a:latin typeface="Arial"/>
                <a:ea typeface="Arial"/>
                <a:cs typeface="Arial"/>
                <a:sym typeface="Arial"/>
              </a:rPr>
              <a:t>The Brew Lab recorded as a lead / prospect, no customer account</a:t>
            </a:r>
            <a:endParaRPr sz="900">
              <a:solidFill>
                <a:schemeClr val="dk1"/>
              </a:solidFill>
              <a:latin typeface="Calibri"/>
              <a:ea typeface="Calibri"/>
              <a:cs typeface="Calibri"/>
              <a:sym typeface="Calibri"/>
            </a:endParaRPr>
          </a:p>
        </p:txBody>
      </p:sp>
      <p:pic>
        <p:nvPicPr>
          <p:cNvPr descr="/home/claude/maia/icons/FiCheck_accent.png" id="2104" name="Google Shape;2104;p86"/>
          <p:cNvPicPr preferRelativeResize="0"/>
          <p:nvPr/>
        </p:nvPicPr>
        <p:blipFill rotWithShape="1">
          <a:blip r:embed="rId3">
            <a:alphaModFix/>
          </a:blip>
          <a:srcRect b="0" l="0" r="0" t="0"/>
          <a:stretch/>
        </p:blipFill>
        <p:spPr>
          <a:xfrm>
            <a:off x="4843035" y="3289554"/>
            <a:ext cx="150876" cy="150876"/>
          </a:xfrm>
          <a:prstGeom prst="rect">
            <a:avLst/>
          </a:prstGeom>
          <a:noFill/>
          <a:ln>
            <a:noFill/>
          </a:ln>
        </p:spPr>
      </p:pic>
      <p:sp>
        <p:nvSpPr>
          <p:cNvPr id="2105" name="Google Shape;2105;p86"/>
          <p:cNvSpPr/>
          <p:nvPr/>
        </p:nvSpPr>
        <p:spPr>
          <a:xfrm>
            <a:off x="5076220" y="3234690"/>
            <a:ext cx="3505800" cy="7293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FFFFFF"/>
              </a:buClr>
              <a:buSzPts val="900"/>
              <a:buFont typeface="Arial"/>
              <a:buNone/>
            </a:pPr>
            <a:r>
              <a:rPr lang="en-GB" sz="900">
                <a:solidFill>
                  <a:srgbClr val="FFFFFF"/>
                </a:solidFill>
                <a:latin typeface="Arial"/>
                <a:ea typeface="Arial"/>
                <a:cs typeface="Arial"/>
                <a:sym typeface="Arial"/>
              </a:rPr>
              <a:t>Quote includes both the coffee bags and the service visits</a:t>
            </a:r>
            <a:endParaRPr sz="900">
              <a:solidFill>
                <a:schemeClr val="dk1"/>
              </a:solidFill>
              <a:latin typeface="Calibri"/>
              <a:ea typeface="Calibri"/>
              <a:cs typeface="Calibri"/>
              <a:sym typeface="Calibri"/>
            </a:endParaRPr>
          </a:p>
        </p:txBody>
      </p:sp>
      <p:sp>
        <p:nvSpPr>
          <p:cNvPr id="2106" name="Google Shape;2106;p86"/>
          <p:cNvSpPr/>
          <p:nvPr/>
        </p:nvSpPr>
        <p:spPr>
          <a:xfrm>
            <a:off x="4829318" y="4114800"/>
            <a:ext cx="3766200" cy="514500"/>
          </a:xfrm>
          <a:prstGeom prst="roundRect">
            <a:avLst>
              <a:gd fmla="val 10667" name="adj"/>
            </a:avLst>
          </a:prstGeom>
          <a:solidFill>
            <a:srgbClr val="32495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107" name="Google Shape;2107;p86"/>
          <p:cNvSpPr/>
          <p:nvPr/>
        </p:nvSpPr>
        <p:spPr>
          <a:xfrm>
            <a:off x="4925336" y="4217670"/>
            <a:ext cx="274200" cy="274200"/>
          </a:xfrm>
          <a:prstGeom prst="roundRect">
            <a:avLst>
              <a:gd fmla="val 22000" name="adj"/>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AlertTriangle_white.png" id="2108" name="Google Shape;2108;p86"/>
          <p:cNvPicPr preferRelativeResize="0"/>
          <p:nvPr/>
        </p:nvPicPr>
        <p:blipFill rotWithShape="1">
          <a:blip r:embed="rId4">
            <a:alphaModFix/>
          </a:blip>
          <a:srcRect b="0" l="0" r="0" t="0"/>
          <a:stretch/>
        </p:blipFill>
        <p:spPr>
          <a:xfrm>
            <a:off x="4993919" y="4286250"/>
            <a:ext cx="137160" cy="137160"/>
          </a:xfrm>
          <a:prstGeom prst="rect">
            <a:avLst/>
          </a:prstGeom>
          <a:noFill/>
          <a:ln>
            <a:noFill/>
          </a:ln>
        </p:spPr>
      </p:pic>
      <p:sp>
        <p:nvSpPr>
          <p:cNvPr id="2109" name="Google Shape;2109;p86"/>
          <p:cNvSpPr/>
          <p:nvPr/>
        </p:nvSpPr>
        <p:spPr>
          <a:xfrm>
            <a:off x="5281971" y="4169664"/>
            <a:ext cx="3300000" cy="4116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FFFFFF"/>
              </a:buClr>
              <a:buSzPts val="900"/>
              <a:buFont typeface="Arial"/>
              <a:buNone/>
            </a:pPr>
            <a:r>
              <a:rPr b="1" lang="en-GB" sz="900">
                <a:solidFill>
                  <a:srgbClr val="FFFFFF"/>
                </a:solidFill>
                <a:latin typeface="Arial"/>
                <a:ea typeface="Arial"/>
                <a:cs typeface="Arial"/>
                <a:sym typeface="Arial"/>
              </a:rPr>
              <a:t>Trap: creating a Sales Order instead of a Quotation.</a:t>
            </a:r>
            <a:endParaRPr sz="900">
              <a:solidFill>
                <a:schemeClr val="dk1"/>
              </a:solidFill>
              <a:latin typeface="Calibri"/>
              <a:ea typeface="Calibri"/>
              <a:cs typeface="Calibri"/>
              <a:sym typeface="Calibri"/>
            </a:endParaRPr>
          </a:p>
        </p:txBody>
      </p:sp>
      <p:sp>
        <p:nvSpPr>
          <p:cNvPr id="2110" name="Google Shape;2110;p86"/>
          <p:cNvSpPr txBox="1"/>
          <p:nvPr>
            <p:ph idx="12" type="sldNum"/>
          </p:nvPr>
        </p:nvSpPr>
        <p:spPr>
          <a:xfrm>
            <a:off x="8347216" y="4750189"/>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15" name="Shape 2115"/>
        <p:cNvGrpSpPr/>
        <p:nvPr/>
      </p:nvGrpSpPr>
      <p:grpSpPr>
        <a:xfrm>
          <a:off x="0" y="0"/>
          <a:ext cx="0" cy="0"/>
          <a:chOff x="0" y="0"/>
          <a:chExt cx="0" cy="0"/>
        </a:xfrm>
      </p:grpSpPr>
      <p:sp>
        <p:nvSpPr>
          <p:cNvPr id="2116" name="Google Shape;2116;p87"/>
          <p:cNvSpPr/>
          <p:nvPr/>
        </p:nvSpPr>
        <p:spPr>
          <a:xfrm>
            <a:off x="411502" y="260604"/>
            <a:ext cx="68583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MISSION CARDS · M8 OF 10</a:t>
            </a:r>
            <a:endParaRPr sz="800">
              <a:solidFill>
                <a:schemeClr val="dk1"/>
              </a:solidFill>
              <a:latin typeface="Calibri"/>
              <a:ea typeface="Calibri"/>
              <a:cs typeface="Calibri"/>
              <a:sym typeface="Calibri"/>
            </a:endParaRPr>
          </a:p>
        </p:txBody>
      </p:sp>
      <p:sp>
        <p:nvSpPr>
          <p:cNvPr id="2117" name="Google Shape;2117;p87"/>
          <p:cNvSpPr/>
          <p:nvPr/>
        </p:nvSpPr>
        <p:spPr>
          <a:xfrm>
            <a:off x="411502" y="462725"/>
            <a:ext cx="8321400" cy="480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C2B3E"/>
              </a:buClr>
              <a:buSzPts val="2200"/>
              <a:buFont typeface="Arial"/>
              <a:buNone/>
            </a:pPr>
            <a:r>
              <a:rPr b="1" lang="en-GB" sz="2200">
                <a:solidFill>
                  <a:srgbClr val="1C2B3E"/>
                </a:solidFill>
                <a:latin typeface="Poppins"/>
                <a:ea typeface="Poppins"/>
                <a:cs typeface="Poppins"/>
                <a:sym typeface="Poppins"/>
              </a:rPr>
              <a:t>Grand Ballroom Catering Sdn Bhd</a:t>
            </a:r>
            <a:endParaRPr sz="2200">
              <a:solidFill>
                <a:schemeClr val="dk1"/>
              </a:solidFill>
              <a:latin typeface="Poppins"/>
              <a:ea typeface="Poppins"/>
              <a:cs typeface="Poppins"/>
              <a:sym typeface="Poppins"/>
            </a:endParaRPr>
          </a:p>
        </p:txBody>
      </p:sp>
      <p:sp>
        <p:nvSpPr>
          <p:cNvPr id="2118" name="Google Shape;2118;p87"/>
          <p:cNvSpPr/>
          <p:nvPr/>
        </p:nvSpPr>
        <p:spPr>
          <a:xfrm>
            <a:off x="411502" y="1337310"/>
            <a:ext cx="4040700" cy="3463200"/>
          </a:xfrm>
          <a:prstGeom prst="roundRect">
            <a:avLst>
              <a:gd fmla="val 2376" name="adj"/>
            </a:avLst>
          </a:prstGeom>
          <a:solidFill>
            <a:srgbClr val="F5F7FA"/>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119" name="Google Shape;2119;p87"/>
          <p:cNvSpPr/>
          <p:nvPr/>
        </p:nvSpPr>
        <p:spPr>
          <a:xfrm>
            <a:off x="548669" y="1447038"/>
            <a:ext cx="1508700" cy="233100"/>
          </a:xfrm>
          <a:prstGeom prst="roundRect">
            <a:avLst>
              <a:gd fmla="val 50000"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120" name="Google Shape;2120;p87"/>
          <p:cNvSpPr/>
          <p:nvPr/>
        </p:nvSpPr>
        <p:spPr>
          <a:xfrm>
            <a:off x="548669" y="1447038"/>
            <a:ext cx="1508700" cy="233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FRONT · TEAM SEES</a:t>
            </a:r>
            <a:endParaRPr sz="800">
              <a:solidFill>
                <a:schemeClr val="dk1"/>
              </a:solidFill>
              <a:latin typeface="Calibri"/>
              <a:ea typeface="Calibri"/>
              <a:cs typeface="Calibri"/>
              <a:sym typeface="Calibri"/>
            </a:endParaRPr>
          </a:p>
        </p:txBody>
      </p:sp>
      <p:sp>
        <p:nvSpPr>
          <p:cNvPr id="2121" name="Google Shape;2121;p87"/>
          <p:cNvSpPr/>
          <p:nvPr/>
        </p:nvSpPr>
        <p:spPr>
          <a:xfrm>
            <a:off x="548669" y="1789938"/>
            <a:ext cx="3766200" cy="788700"/>
          </a:xfrm>
          <a:prstGeom prst="roundRect">
            <a:avLst>
              <a:gd fmla="val 6957" name="adj"/>
            </a:avLst>
          </a:prstGeom>
          <a:solidFill>
            <a:srgbClr val="FFFFFF"/>
          </a:solidFill>
          <a:ln cap="flat" cmpd="sng" w="12700">
            <a:solidFill>
              <a:srgbClr val="E3E8EF"/>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122" name="Google Shape;2122;p87"/>
          <p:cNvSpPr/>
          <p:nvPr/>
        </p:nvSpPr>
        <p:spPr>
          <a:xfrm>
            <a:off x="658403" y="1858518"/>
            <a:ext cx="3546900" cy="6516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C2B3E"/>
              </a:buClr>
              <a:buSzPts val="900"/>
              <a:buFont typeface="Arial"/>
              <a:buNone/>
            </a:pPr>
            <a:r>
              <a:rPr i="1" lang="en-GB" sz="900">
                <a:solidFill>
                  <a:srgbClr val="1C2B3E"/>
                </a:solidFill>
                <a:latin typeface="Arial"/>
                <a:ea typeface="Arial"/>
                <a:cs typeface="Arial"/>
                <a:sym typeface="Arial"/>
              </a:rPr>
              <a:t>“Grand Ballroom is ordering supplies AND booking a service. Make sure each part is fulfilled the right way — they're not the same.”</a:t>
            </a:r>
            <a:endParaRPr sz="900">
              <a:solidFill>
                <a:schemeClr val="dk1"/>
              </a:solidFill>
              <a:latin typeface="Calibri"/>
              <a:ea typeface="Calibri"/>
              <a:cs typeface="Calibri"/>
              <a:sym typeface="Calibri"/>
            </a:endParaRPr>
          </a:p>
        </p:txBody>
      </p:sp>
      <p:sp>
        <p:nvSpPr>
          <p:cNvPr id="2123" name="Google Shape;2123;p87"/>
          <p:cNvSpPr/>
          <p:nvPr/>
        </p:nvSpPr>
        <p:spPr>
          <a:xfrm>
            <a:off x="548669" y="2715768"/>
            <a:ext cx="3766200" cy="178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800"/>
              <a:buFont typeface="Arial"/>
              <a:buNone/>
            </a:pPr>
            <a:r>
              <a:rPr b="1" lang="en-GB" sz="800">
                <a:solidFill>
                  <a:srgbClr val="94A3B8"/>
                </a:solidFill>
                <a:latin typeface="Arial"/>
                <a:ea typeface="Arial"/>
                <a:cs typeface="Arial"/>
                <a:sym typeface="Arial"/>
              </a:rPr>
              <a:t>ORDER ARRIVES AS — event order email / WhatsApp thread</a:t>
            </a:r>
            <a:endParaRPr sz="800">
              <a:solidFill>
                <a:schemeClr val="dk1"/>
              </a:solidFill>
              <a:latin typeface="Calibri"/>
              <a:ea typeface="Calibri"/>
              <a:cs typeface="Calibri"/>
              <a:sym typeface="Calibri"/>
            </a:endParaRPr>
          </a:p>
        </p:txBody>
      </p:sp>
      <p:sp>
        <p:nvSpPr>
          <p:cNvPr id="2124" name="Google Shape;2124;p87"/>
          <p:cNvSpPr/>
          <p:nvPr/>
        </p:nvSpPr>
        <p:spPr>
          <a:xfrm>
            <a:off x="548669" y="2935224"/>
            <a:ext cx="3766200" cy="233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B3E"/>
              </a:buClr>
              <a:buSzPts val="900"/>
              <a:buFont typeface="Arial"/>
              <a:buNone/>
            </a:pPr>
            <a:r>
              <a:rPr lang="en-GB" sz="900">
                <a:solidFill>
                  <a:srgbClr val="1C2B3E"/>
                </a:solidFill>
                <a:latin typeface="Arial"/>
                <a:ea typeface="Arial"/>
                <a:cs typeface="Arial"/>
                <a:sym typeface="Arial"/>
              </a:rPr>
              <a:t>•  Cooking Oil × 5</a:t>
            </a:r>
            <a:endParaRPr sz="900">
              <a:solidFill>
                <a:schemeClr val="dk1"/>
              </a:solidFill>
              <a:latin typeface="Calibri"/>
              <a:ea typeface="Calibri"/>
              <a:cs typeface="Calibri"/>
              <a:sym typeface="Calibri"/>
            </a:endParaRPr>
          </a:p>
        </p:txBody>
      </p:sp>
      <p:sp>
        <p:nvSpPr>
          <p:cNvPr id="2125" name="Google Shape;2125;p87"/>
          <p:cNvSpPr/>
          <p:nvPr/>
        </p:nvSpPr>
        <p:spPr>
          <a:xfrm>
            <a:off x="548669" y="3168396"/>
            <a:ext cx="3766200" cy="233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B3E"/>
              </a:buClr>
              <a:buSzPts val="900"/>
              <a:buFont typeface="Arial"/>
              <a:buNone/>
            </a:pPr>
            <a:r>
              <a:rPr lang="en-GB" sz="900">
                <a:solidFill>
                  <a:srgbClr val="1C2B3E"/>
                </a:solidFill>
                <a:latin typeface="Arial"/>
                <a:ea typeface="Arial"/>
                <a:cs typeface="Arial"/>
                <a:sym typeface="Arial"/>
              </a:rPr>
              <a:t>•  Festive Hamper × 3</a:t>
            </a:r>
            <a:endParaRPr sz="900">
              <a:solidFill>
                <a:schemeClr val="dk1"/>
              </a:solidFill>
              <a:latin typeface="Calibri"/>
              <a:ea typeface="Calibri"/>
              <a:cs typeface="Calibri"/>
              <a:sym typeface="Calibri"/>
            </a:endParaRPr>
          </a:p>
        </p:txBody>
      </p:sp>
      <p:sp>
        <p:nvSpPr>
          <p:cNvPr id="2126" name="Google Shape;2126;p87"/>
          <p:cNvSpPr/>
          <p:nvPr/>
        </p:nvSpPr>
        <p:spPr>
          <a:xfrm>
            <a:off x="548669" y="3401568"/>
            <a:ext cx="3766200" cy="233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B3E"/>
              </a:buClr>
              <a:buSzPts val="900"/>
              <a:buFont typeface="Arial"/>
              <a:buNone/>
            </a:pPr>
            <a:r>
              <a:rPr lang="en-GB" sz="900">
                <a:solidFill>
                  <a:srgbClr val="1C2B3E"/>
                </a:solidFill>
                <a:latin typeface="Arial"/>
                <a:ea typeface="Arial"/>
                <a:cs typeface="Arial"/>
                <a:sym typeface="Arial"/>
              </a:rPr>
              <a:t>•  Coffee Machine Servicing × 1 visit</a:t>
            </a:r>
            <a:endParaRPr sz="900">
              <a:solidFill>
                <a:schemeClr val="dk1"/>
              </a:solidFill>
              <a:latin typeface="Calibri"/>
              <a:ea typeface="Calibri"/>
              <a:cs typeface="Calibri"/>
              <a:sym typeface="Calibri"/>
            </a:endParaRPr>
          </a:p>
        </p:txBody>
      </p:sp>
      <p:sp>
        <p:nvSpPr>
          <p:cNvPr id="2127" name="Google Shape;2127;p87"/>
          <p:cNvSpPr/>
          <p:nvPr/>
        </p:nvSpPr>
        <p:spPr>
          <a:xfrm>
            <a:off x="548669" y="4265676"/>
            <a:ext cx="3766200" cy="178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800"/>
              <a:buFont typeface="Arial"/>
              <a:buNone/>
            </a:pPr>
            <a:r>
              <a:rPr b="1" lang="en-GB" sz="800">
                <a:solidFill>
                  <a:srgbClr val="94A3B8"/>
                </a:solidFill>
                <a:latin typeface="Arial"/>
                <a:ea typeface="Arial"/>
                <a:cs typeface="Arial"/>
                <a:sym typeface="Arial"/>
              </a:rPr>
              <a:t>RECORD ON BOARD</a:t>
            </a:r>
            <a:endParaRPr sz="800">
              <a:solidFill>
                <a:schemeClr val="dk1"/>
              </a:solidFill>
              <a:latin typeface="Calibri"/>
              <a:ea typeface="Calibri"/>
              <a:cs typeface="Calibri"/>
              <a:sym typeface="Calibri"/>
            </a:endParaRPr>
          </a:p>
        </p:txBody>
      </p:sp>
      <p:sp>
        <p:nvSpPr>
          <p:cNvPr id="2128" name="Google Shape;2128;p87"/>
          <p:cNvSpPr/>
          <p:nvPr/>
        </p:nvSpPr>
        <p:spPr>
          <a:xfrm>
            <a:off x="548669" y="4471416"/>
            <a:ext cx="565800" cy="274200"/>
          </a:xfrm>
          <a:prstGeom prst="roundRect">
            <a:avLst>
              <a:gd fmla="val 50000" name="adj"/>
            </a:avLst>
          </a:prstGeom>
          <a:solidFill>
            <a:srgbClr val="FBEBD9"/>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129" name="Google Shape;2129;p87"/>
          <p:cNvSpPr/>
          <p:nvPr/>
        </p:nvSpPr>
        <p:spPr>
          <a:xfrm>
            <a:off x="548669" y="4471416"/>
            <a:ext cx="5658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SO ID</a:t>
            </a:r>
            <a:endParaRPr sz="800">
              <a:solidFill>
                <a:schemeClr val="dk1"/>
              </a:solidFill>
              <a:latin typeface="Calibri"/>
              <a:ea typeface="Calibri"/>
              <a:cs typeface="Calibri"/>
              <a:sym typeface="Calibri"/>
            </a:endParaRPr>
          </a:p>
        </p:txBody>
      </p:sp>
      <p:sp>
        <p:nvSpPr>
          <p:cNvPr id="2130" name="Google Shape;2130;p87"/>
          <p:cNvSpPr/>
          <p:nvPr/>
        </p:nvSpPr>
        <p:spPr>
          <a:xfrm>
            <a:off x="1217360" y="4471416"/>
            <a:ext cx="1032300" cy="274200"/>
          </a:xfrm>
          <a:prstGeom prst="roundRect">
            <a:avLst>
              <a:gd fmla="val 50000" name="adj"/>
            </a:avLst>
          </a:prstGeom>
          <a:solidFill>
            <a:srgbClr val="FBEBD9"/>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131" name="Google Shape;2131;p87"/>
          <p:cNvSpPr/>
          <p:nvPr/>
        </p:nvSpPr>
        <p:spPr>
          <a:xfrm>
            <a:off x="1217360" y="4471416"/>
            <a:ext cx="10323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DN ID (goods)</a:t>
            </a:r>
            <a:endParaRPr sz="800">
              <a:solidFill>
                <a:schemeClr val="dk1"/>
              </a:solidFill>
              <a:latin typeface="Calibri"/>
              <a:ea typeface="Calibri"/>
              <a:cs typeface="Calibri"/>
              <a:sym typeface="Calibri"/>
            </a:endParaRPr>
          </a:p>
        </p:txBody>
      </p:sp>
      <p:sp>
        <p:nvSpPr>
          <p:cNvPr id="2132" name="Google Shape;2132;p87"/>
          <p:cNvSpPr/>
          <p:nvPr/>
        </p:nvSpPr>
        <p:spPr>
          <a:xfrm>
            <a:off x="2352419" y="4471416"/>
            <a:ext cx="1207200" cy="274200"/>
          </a:xfrm>
          <a:prstGeom prst="roundRect">
            <a:avLst>
              <a:gd fmla="val 50000" name="adj"/>
            </a:avLst>
          </a:prstGeom>
          <a:solidFill>
            <a:srgbClr val="FBEBD9"/>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133" name="Google Shape;2133;p87"/>
          <p:cNvSpPr/>
          <p:nvPr/>
        </p:nvSpPr>
        <p:spPr>
          <a:xfrm>
            <a:off x="2352419" y="4471416"/>
            <a:ext cx="12072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SWO ID (service)</a:t>
            </a:r>
            <a:endParaRPr sz="800">
              <a:solidFill>
                <a:schemeClr val="dk1"/>
              </a:solidFill>
              <a:latin typeface="Calibri"/>
              <a:ea typeface="Calibri"/>
              <a:cs typeface="Calibri"/>
              <a:sym typeface="Calibri"/>
            </a:endParaRPr>
          </a:p>
        </p:txBody>
      </p:sp>
      <p:sp>
        <p:nvSpPr>
          <p:cNvPr id="2134" name="Google Shape;2134;p87"/>
          <p:cNvSpPr/>
          <p:nvPr/>
        </p:nvSpPr>
        <p:spPr>
          <a:xfrm>
            <a:off x="4692151" y="1337310"/>
            <a:ext cx="4040700" cy="3463200"/>
          </a:xfrm>
          <a:prstGeom prst="roundRect">
            <a:avLst>
              <a:gd fmla="val 2376"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135" name="Google Shape;2135;p87"/>
          <p:cNvSpPr/>
          <p:nvPr/>
        </p:nvSpPr>
        <p:spPr>
          <a:xfrm>
            <a:off x="4829318" y="1447038"/>
            <a:ext cx="1714500" cy="233100"/>
          </a:xfrm>
          <a:prstGeom prst="roundRect">
            <a:avLst>
              <a:gd fmla="val 50000" name="adj"/>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136" name="Google Shape;2136;p87"/>
          <p:cNvSpPr/>
          <p:nvPr/>
        </p:nvSpPr>
        <p:spPr>
          <a:xfrm>
            <a:off x="4829318" y="1447038"/>
            <a:ext cx="1714500" cy="233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BACK · FACILITATOR QC</a:t>
            </a:r>
            <a:endParaRPr sz="800">
              <a:solidFill>
                <a:schemeClr val="dk1"/>
              </a:solidFill>
              <a:latin typeface="Calibri"/>
              <a:ea typeface="Calibri"/>
              <a:cs typeface="Calibri"/>
              <a:sym typeface="Calibri"/>
            </a:endParaRPr>
          </a:p>
        </p:txBody>
      </p:sp>
      <p:pic>
        <p:nvPicPr>
          <p:cNvPr descr="/home/claude/maia/icons/FiCheck_accent.png" id="2137" name="Google Shape;2137;p87"/>
          <p:cNvPicPr preferRelativeResize="0"/>
          <p:nvPr/>
        </p:nvPicPr>
        <p:blipFill rotWithShape="1">
          <a:blip r:embed="rId3">
            <a:alphaModFix/>
          </a:blip>
          <a:srcRect b="0" l="0" r="0" t="0"/>
          <a:stretch/>
        </p:blipFill>
        <p:spPr>
          <a:xfrm>
            <a:off x="4843035" y="1831086"/>
            <a:ext cx="150876" cy="150876"/>
          </a:xfrm>
          <a:prstGeom prst="rect">
            <a:avLst/>
          </a:prstGeom>
          <a:noFill/>
          <a:ln>
            <a:noFill/>
          </a:ln>
        </p:spPr>
      </p:pic>
      <p:sp>
        <p:nvSpPr>
          <p:cNvPr id="2138" name="Google Shape;2138;p87"/>
          <p:cNvSpPr/>
          <p:nvPr/>
        </p:nvSpPr>
        <p:spPr>
          <a:xfrm>
            <a:off x="5076220" y="1776222"/>
            <a:ext cx="3505800" cy="7293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FFFFFF"/>
              </a:buClr>
              <a:buSzPts val="900"/>
              <a:buFont typeface="Arial"/>
              <a:buNone/>
            </a:pPr>
            <a:r>
              <a:rPr lang="en-GB" sz="900">
                <a:solidFill>
                  <a:srgbClr val="FFFFFF"/>
                </a:solidFill>
                <a:latin typeface="Arial"/>
                <a:ea typeface="Arial"/>
                <a:cs typeface="Arial"/>
                <a:sym typeface="Arial"/>
              </a:rPr>
              <a:t>SO created with all three lines</a:t>
            </a:r>
            <a:endParaRPr sz="900">
              <a:solidFill>
                <a:schemeClr val="dk1"/>
              </a:solidFill>
              <a:latin typeface="Calibri"/>
              <a:ea typeface="Calibri"/>
              <a:cs typeface="Calibri"/>
              <a:sym typeface="Calibri"/>
            </a:endParaRPr>
          </a:p>
        </p:txBody>
      </p:sp>
      <p:pic>
        <p:nvPicPr>
          <p:cNvPr descr="/home/claude/maia/icons/FiCheck_accent.png" id="2139" name="Google Shape;2139;p87"/>
          <p:cNvPicPr preferRelativeResize="0"/>
          <p:nvPr/>
        </p:nvPicPr>
        <p:blipFill rotWithShape="1">
          <a:blip r:embed="rId3">
            <a:alphaModFix/>
          </a:blip>
          <a:srcRect b="0" l="0" r="0" t="0"/>
          <a:stretch/>
        </p:blipFill>
        <p:spPr>
          <a:xfrm>
            <a:off x="4843035" y="2560320"/>
            <a:ext cx="150876" cy="150876"/>
          </a:xfrm>
          <a:prstGeom prst="rect">
            <a:avLst/>
          </a:prstGeom>
          <a:noFill/>
          <a:ln>
            <a:noFill/>
          </a:ln>
        </p:spPr>
      </p:pic>
      <p:sp>
        <p:nvSpPr>
          <p:cNvPr id="2140" name="Google Shape;2140;p87"/>
          <p:cNvSpPr/>
          <p:nvPr/>
        </p:nvSpPr>
        <p:spPr>
          <a:xfrm>
            <a:off x="5076220" y="2505456"/>
            <a:ext cx="3505800" cy="7293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FFFFFF"/>
              </a:buClr>
              <a:buSzPts val="900"/>
              <a:buFont typeface="Arial"/>
              <a:buNone/>
            </a:pPr>
            <a:r>
              <a:rPr lang="en-GB" sz="900">
                <a:solidFill>
                  <a:srgbClr val="FFFFFF"/>
                </a:solidFill>
                <a:latin typeface="Arial"/>
                <a:ea typeface="Arial"/>
                <a:cs typeface="Arial"/>
                <a:sym typeface="Arial"/>
              </a:rPr>
              <a:t>Goods fulfilled via DN — marked Delivered</a:t>
            </a:r>
            <a:endParaRPr sz="900">
              <a:solidFill>
                <a:schemeClr val="dk1"/>
              </a:solidFill>
              <a:latin typeface="Calibri"/>
              <a:ea typeface="Calibri"/>
              <a:cs typeface="Calibri"/>
              <a:sym typeface="Calibri"/>
            </a:endParaRPr>
          </a:p>
        </p:txBody>
      </p:sp>
      <p:pic>
        <p:nvPicPr>
          <p:cNvPr descr="/home/claude/maia/icons/FiCheck_accent.png" id="2141" name="Google Shape;2141;p87"/>
          <p:cNvPicPr preferRelativeResize="0"/>
          <p:nvPr/>
        </p:nvPicPr>
        <p:blipFill rotWithShape="1">
          <a:blip r:embed="rId3">
            <a:alphaModFix/>
          </a:blip>
          <a:srcRect b="0" l="0" r="0" t="0"/>
          <a:stretch/>
        </p:blipFill>
        <p:spPr>
          <a:xfrm>
            <a:off x="4843035" y="3289554"/>
            <a:ext cx="150876" cy="150876"/>
          </a:xfrm>
          <a:prstGeom prst="rect">
            <a:avLst/>
          </a:prstGeom>
          <a:noFill/>
          <a:ln>
            <a:noFill/>
          </a:ln>
        </p:spPr>
      </p:pic>
      <p:sp>
        <p:nvSpPr>
          <p:cNvPr id="2142" name="Google Shape;2142;p87"/>
          <p:cNvSpPr/>
          <p:nvPr/>
        </p:nvSpPr>
        <p:spPr>
          <a:xfrm>
            <a:off x="5076220" y="3234690"/>
            <a:ext cx="3505800" cy="7293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FFFFFF"/>
              </a:buClr>
              <a:buSzPts val="900"/>
              <a:buFont typeface="Arial"/>
              <a:buNone/>
            </a:pPr>
            <a:r>
              <a:rPr lang="en-GB" sz="900">
                <a:solidFill>
                  <a:srgbClr val="FFFFFF"/>
                </a:solidFill>
                <a:latin typeface="Arial"/>
                <a:ea typeface="Arial"/>
                <a:cs typeface="Arial"/>
                <a:sym typeface="Arial"/>
              </a:rPr>
              <a:t>Service line (item_type = Service) fulfilled via SWO, not DN</a:t>
            </a:r>
            <a:endParaRPr sz="900">
              <a:solidFill>
                <a:schemeClr val="dk1"/>
              </a:solidFill>
              <a:latin typeface="Calibri"/>
              <a:ea typeface="Calibri"/>
              <a:cs typeface="Calibri"/>
              <a:sym typeface="Calibri"/>
            </a:endParaRPr>
          </a:p>
        </p:txBody>
      </p:sp>
      <p:sp>
        <p:nvSpPr>
          <p:cNvPr id="2143" name="Google Shape;2143;p87"/>
          <p:cNvSpPr/>
          <p:nvPr/>
        </p:nvSpPr>
        <p:spPr>
          <a:xfrm>
            <a:off x="4829318" y="4114800"/>
            <a:ext cx="3766200" cy="514500"/>
          </a:xfrm>
          <a:prstGeom prst="roundRect">
            <a:avLst>
              <a:gd fmla="val 10667" name="adj"/>
            </a:avLst>
          </a:prstGeom>
          <a:solidFill>
            <a:srgbClr val="32495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144" name="Google Shape;2144;p87"/>
          <p:cNvSpPr/>
          <p:nvPr/>
        </p:nvSpPr>
        <p:spPr>
          <a:xfrm>
            <a:off x="4925336" y="4217670"/>
            <a:ext cx="274200" cy="274200"/>
          </a:xfrm>
          <a:prstGeom prst="roundRect">
            <a:avLst>
              <a:gd fmla="val 22000" name="adj"/>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AlertTriangle_white.png" id="2145" name="Google Shape;2145;p87"/>
          <p:cNvPicPr preferRelativeResize="0"/>
          <p:nvPr/>
        </p:nvPicPr>
        <p:blipFill rotWithShape="1">
          <a:blip r:embed="rId4">
            <a:alphaModFix/>
          </a:blip>
          <a:srcRect b="0" l="0" r="0" t="0"/>
          <a:stretch/>
        </p:blipFill>
        <p:spPr>
          <a:xfrm>
            <a:off x="4993919" y="4286250"/>
            <a:ext cx="137160" cy="137160"/>
          </a:xfrm>
          <a:prstGeom prst="rect">
            <a:avLst/>
          </a:prstGeom>
          <a:noFill/>
          <a:ln>
            <a:noFill/>
          </a:ln>
        </p:spPr>
      </p:pic>
      <p:sp>
        <p:nvSpPr>
          <p:cNvPr id="2146" name="Google Shape;2146;p87"/>
          <p:cNvSpPr/>
          <p:nvPr/>
        </p:nvSpPr>
        <p:spPr>
          <a:xfrm>
            <a:off x="5281971" y="4169664"/>
            <a:ext cx="3300000" cy="4116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FFFFFF"/>
              </a:buClr>
              <a:buSzPts val="900"/>
              <a:buFont typeface="Arial"/>
              <a:buNone/>
            </a:pPr>
            <a:r>
              <a:rPr b="1" lang="en-GB" sz="900">
                <a:solidFill>
                  <a:srgbClr val="FFFFFF"/>
                </a:solidFill>
                <a:latin typeface="Arial"/>
                <a:ea typeface="Arial"/>
                <a:cs typeface="Arial"/>
                <a:sym typeface="Arial"/>
              </a:rPr>
              <a:t>Trap: attempting to put the service line on the Delivery Note.</a:t>
            </a:r>
            <a:endParaRPr sz="900">
              <a:solidFill>
                <a:schemeClr val="dk1"/>
              </a:solidFill>
              <a:latin typeface="Calibri"/>
              <a:ea typeface="Calibri"/>
              <a:cs typeface="Calibri"/>
              <a:sym typeface="Calibri"/>
            </a:endParaRPr>
          </a:p>
        </p:txBody>
      </p:sp>
      <p:sp>
        <p:nvSpPr>
          <p:cNvPr id="2147" name="Google Shape;2147;p87"/>
          <p:cNvSpPr txBox="1"/>
          <p:nvPr>
            <p:ph idx="12" type="sldNum"/>
          </p:nvPr>
        </p:nvSpPr>
        <p:spPr>
          <a:xfrm>
            <a:off x="8347216" y="4750189"/>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52" name="Shape 2152"/>
        <p:cNvGrpSpPr/>
        <p:nvPr/>
      </p:nvGrpSpPr>
      <p:grpSpPr>
        <a:xfrm>
          <a:off x="0" y="0"/>
          <a:ext cx="0" cy="0"/>
          <a:chOff x="0" y="0"/>
          <a:chExt cx="0" cy="0"/>
        </a:xfrm>
      </p:grpSpPr>
      <p:sp>
        <p:nvSpPr>
          <p:cNvPr id="2153" name="Google Shape;2153;p88"/>
          <p:cNvSpPr/>
          <p:nvPr/>
        </p:nvSpPr>
        <p:spPr>
          <a:xfrm>
            <a:off x="411502" y="260604"/>
            <a:ext cx="68583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MISSION CARDS · M9 OF 10</a:t>
            </a:r>
            <a:endParaRPr sz="800">
              <a:solidFill>
                <a:schemeClr val="dk1"/>
              </a:solidFill>
              <a:latin typeface="Calibri"/>
              <a:ea typeface="Calibri"/>
              <a:cs typeface="Calibri"/>
              <a:sym typeface="Calibri"/>
            </a:endParaRPr>
          </a:p>
        </p:txBody>
      </p:sp>
      <p:sp>
        <p:nvSpPr>
          <p:cNvPr id="2154" name="Google Shape;2154;p88"/>
          <p:cNvSpPr/>
          <p:nvPr/>
        </p:nvSpPr>
        <p:spPr>
          <a:xfrm>
            <a:off x="411502" y="438912"/>
            <a:ext cx="8321400" cy="480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C2B3E"/>
              </a:buClr>
              <a:buSzPts val="2200"/>
              <a:buFont typeface="Arial"/>
              <a:buNone/>
            </a:pPr>
            <a:r>
              <a:rPr b="1" lang="en-GB" sz="2200">
                <a:solidFill>
                  <a:srgbClr val="1C2B3E"/>
                </a:solidFill>
                <a:latin typeface="Poppins"/>
                <a:ea typeface="Poppins"/>
                <a:cs typeface="Poppins"/>
                <a:sym typeface="Poppins"/>
              </a:rPr>
              <a:t>Encik Rahman</a:t>
            </a:r>
            <a:endParaRPr sz="2200">
              <a:solidFill>
                <a:schemeClr val="dk1"/>
              </a:solidFill>
              <a:latin typeface="Poppins"/>
              <a:ea typeface="Poppins"/>
              <a:cs typeface="Poppins"/>
              <a:sym typeface="Poppins"/>
            </a:endParaRPr>
          </a:p>
        </p:txBody>
      </p:sp>
      <p:sp>
        <p:nvSpPr>
          <p:cNvPr id="2155" name="Google Shape;2155;p88"/>
          <p:cNvSpPr/>
          <p:nvPr/>
        </p:nvSpPr>
        <p:spPr>
          <a:xfrm>
            <a:off x="411502" y="1337310"/>
            <a:ext cx="4040700" cy="3463200"/>
          </a:xfrm>
          <a:prstGeom prst="roundRect">
            <a:avLst>
              <a:gd fmla="val 2376" name="adj"/>
            </a:avLst>
          </a:prstGeom>
          <a:solidFill>
            <a:srgbClr val="F5F7FA"/>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156" name="Google Shape;2156;p88"/>
          <p:cNvSpPr/>
          <p:nvPr/>
        </p:nvSpPr>
        <p:spPr>
          <a:xfrm>
            <a:off x="548669" y="1447038"/>
            <a:ext cx="1508700" cy="233100"/>
          </a:xfrm>
          <a:prstGeom prst="roundRect">
            <a:avLst>
              <a:gd fmla="val 50000"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157" name="Google Shape;2157;p88"/>
          <p:cNvSpPr/>
          <p:nvPr/>
        </p:nvSpPr>
        <p:spPr>
          <a:xfrm>
            <a:off x="548669" y="1447038"/>
            <a:ext cx="1508700" cy="233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FRONT · TEAM SEES</a:t>
            </a:r>
            <a:endParaRPr sz="800">
              <a:solidFill>
                <a:schemeClr val="dk1"/>
              </a:solidFill>
              <a:latin typeface="Calibri"/>
              <a:ea typeface="Calibri"/>
              <a:cs typeface="Calibri"/>
              <a:sym typeface="Calibri"/>
            </a:endParaRPr>
          </a:p>
        </p:txBody>
      </p:sp>
      <p:sp>
        <p:nvSpPr>
          <p:cNvPr id="2158" name="Google Shape;2158;p88"/>
          <p:cNvSpPr/>
          <p:nvPr/>
        </p:nvSpPr>
        <p:spPr>
          <a:xfrm>
            <a:off x="548669" y="1789938"/>
            <a:ext cx="3766200" cy="788700"/>
          </a:xfrm>
          <a:prstGeom prst="roundRect">
            <a:avLst>
              <a:gd fmla="val 6957" name="adj"/>
            </a:avLst>
          </a:prstGeom>
          <a:solidFill>
            <a:srgbClr val="FFFFFF"/>
          </a:solidFill>
          <a:ln cap="flat" cmpd="sng" w="12700">
            <a:solidFill>
              <a:srgbClr val="E3E8EF"/>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159" name="Google Shape;2159;p88"/>
          <p:cNvSpPr/>
          <p:nvPr/>
        </p:nvSpPr>
        <p:spPr>
          <a:xfrm>
            <a:off x="658403" y="1858518"/>
            <a:ext cx="3546900" cy="6516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C2B3E"/>
              </a:buClr>
              <a:buSzPts val="900"/>
              <a:buFont typeface="Arial"/>
              <a:buNone/>
            </a:pPr>
            <a:r>
              <a:rPr i="1" lang="en-GB" sz="900">
                <a:solidFill>
                  <a:srgbClr val="1C2B3E"/>
                </a:solidFill>
                <a:latin typeface="Arial"/>
                <a:ea typeface="Arial"/>
                <a:cs typeface="Arial"/>
                <a:sym typeface="Arial"/>
              </a:rPr>
              <a:t>“Encik Rahman wants 80 tubs of House Sambal Paste. Check if you can make it before you say yes. He wants cash on delivery.”</a:t>
            </a:r>
            <a:endParaRPr sz="900">
              <a:solidFill>
                <a:schemeClr val="dk1"/>
              </a:solidFill>
              <a:latin typeface="Calibri"/>
              <a:ea typeface="Calibri"/>
              <a:cs typeface="Calibri"/>
              <a:sym typeface="Calibri"/>
            </a:endParaRPr>
          </a:p>
        </p:txBody>
      </p:sp>
      <p:sp>
        <p:nvSpPr>
          <p:cNvPr id="2160" name="Google Shape;2160;p88"/>
          <p:cNvSpPr/>
          <p:nvPr/>
        </p:nvSpPr>
        <p:spPr>
          <a:xfrm>
            <a:off x="548669" y="2715768"/>
            <a:ext cx="3766200" cy="178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800"/>
              <a:buFont typeface="Arial"/>
              <a:buNone/>
            </a:pPr>
            <a:r>
              <a:rPr b="1" lang="en-GB" sz="800">
                <a:solidFill>
                  <a:srgbClr val="94A3B8"/>
                </a:solidFill>
                <a:latin typeface="Arial"/>
                <a:ea typeface="Arial"/>
                <a:cs typeface="Arial"/>
                <a:sym typeface="Arial"/>
              </a:rPr>
              <a:t>ORDER ARRIVES AS — Malay COD WhatsApp request</a:t>
            </a:r>
            <a:endParaRPr sz="800">
              <a:solidFill>
                <a:schemeClr val="dk1"/>
              </a:solidFill>
              <a:latin typeface="Calibri"/>
              <a:ea typeface="Calibri"/>
              <a:cs typeface="Calibri"/>
              <a:sym typeface="Calibri"/>
            </a:endParaRPr>
          </a:p>
        </p:txBody>
      </p:sp>
      <p:sp>
        <p:nvSpPr>
          <p:cNvPr id="2161" name="Google Shape;2161;p88"/>
          <p:cNvSpPr/>
          <p:nvPr/>
        </p:nvSpPr>
        <p:spPr>
          <a:xfrm>
            <a:off x="548669" y="2948940"/>
            <a:ext cx="3766200" cy="582900"/>
          </a:xfrm>
          <a:prstGeom prst="roundRect">
            <a:avLst>
              <a:gd fmla="val 9412"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162" name="Google Shape;2162;p88"/>
          <p:cNvSpPr/>
          <p:nvPr/>
        </p:nvSpPr>
        <p:spPr>
          <a:xfrm>
            <a:off x="658403" y="2948940"/>
            <a:ext cx="3546900" cy="58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Arial"/>
              <a:buNone/>
            </a:pPr>
            <a:r>
              <a:rPr i="1" lang="en-GB" sz="900">
                <a:solidFill>
                  <a:srgbClr val="FFFFFF"/>
                </a:solidFill>
                <a:latin typeface="Arial"/>
                <a:ea typeface="Arial"/>
                <a:cs typeface="Arial"/>
                <a:sym typeface="Arial"/>
              </a:rPr>
              <a:t>“bro nak 80 tub sambal paste, boleh? nak COD”</a:t>
            </a:r>
            <a:endParaRPr sz="900">
              <a:solidFill>
                <a:schemeClr val="dk1"/>
              </a:solidFill>
              <a:latin typeface="Calibri"/>
              <a:ea typeface="Calibri"/>
              <a:cs typeface="Calibri"/>
              <a:sym typeface="Calibri"/>
            </a:endParaRPr>
          </a:p>
        </p:txBody>
      </p:sp>
      <p:sp>
        <p:nvSpPr>
          <p:cNvPr id="2163" name="Google Shape;2163;p88"/>
          <p:cNvSpPr/>
          <p:nvPr/>
        </p:nvSpPr>
        <p:spPr>
          <a:xfrm>
            <a:off x="548669" y="4265676"/>
            <a:ext cx="3766200" cy="178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800"/>
              <a:buFont typeface="Arial"/>
              <a:buNone/>
            </a:pPr>
            <a:r>
              <a:rPr b="1" lang="en-GB" sz="800">
                <a:solidFill>
                  <a:srgbClr val="94A3B8"/>
                </a:solidFill>
                <a:latin typeface="Arial"/>
                <a:ea typeface="Arial"/>
                <a:cs typeface="Arial"/>
                <a:sym typeface="Arial"/>
              </a:rPr>
              <a:t>RECORD ON BOARD</a:t>
            </a:r>
            <a:endParaRPr sz="800">
              <a:solidFill>
                <a:schemeClr val="dk1"/>
              </a:solidFill>
              <a:latin typeface="Calibri"/>
              <a:ea typeface="Calibri"/>
              <a:cs typeface="Calibri"/>
              <a:sym typeface="Calibri"/>
            </a:endParaRPr>
          </a:p>
        </p:txBody>
      </p:sp>
      <p:sp>
        <p:nvSpPr>
          <p:cNvPr id="2164" name="Google Shape;2164;p88"/>
          <p:cNvSpPr/>
          <p:nvPr/>
        </p:nvSpPr>
        <p:spPr>
          <a:xfrm>
            <a:off x="548669" y="4471416"/>
            <a:ext cx="565800" cy="274200"/>
          </a:xfrm>
          <a:prstGeom prst="roundRect">
            <a:avLst>
              <a:gd fmla="val 50000" name="adj"/>
            </a:avLst>
          </a:prstGeom>
          <a:solidFill>
            <a:srgbClr val="FBEBD9"/>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165" name="Google Shape;2165;p88"/>
          <p:cNvSpPr/>
          <p:nvPr/>
        </p:nvSpPr>
        <p:spPr>
          <a:xfrm>
            <a:off x="548669" y="4471416"/>
            <a:ext cx="5658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SO ID</a:t>
            </a:r>
            <a:endParaRPr sz="800">
              <a:solidFill>
                <a:schemeClr val="dk1"/>
              </a:solidFill>
              <a:latin typeface="Calibri"/>
              <a:ea typeface="Calibri"/>
              <a:cs typeface="Calibri"/>
              <a:sym typeface="Calibri"/>
            </a:endParaRPr>
          </a:p>
        </p:txBody>
      </p:sp>
      <p:sp>
        <p:nvSpPr>
          <p:cNvPr id="2166" name="Google Shape;2166;p88"/>
          <p:cNvSpPr/>
          <p:nvPr/>
        </p:nvSpPr>
        <p:spPr>
          <a:xfrm>
            <a:off x="1217360" y="4471416"/>
            <a:ext cx="565800" cy="274200"/>
          </a:xfrm>
          <a:prstGeom prst="roundRect">
            <a:avLst>
              <a:gd fmla="val 50000" name="adj"/>
            </a:avLst>
          </a:prstGeom>
          <a:solidFill>
            <a:srgbClr val="FBEBD9"/>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167" name="Google Shape;2167;p88"/>
          <p:cNvSpPr/>
          <p:nvPr/>
        </p:nvSpPr>
        <p:spPr>
          <a:xfrm>
            <a:off x="1217360" y="4471416"/>
            <a:ext cx="5658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DN ID</a:t>
            </a:r>
            <a:endParaRPr sz="800">
              <a:solidFill>
                <a:schemeClr val="dk1"/>
              </a:solidFill>
              <a:latin typeface="Calibri"/>
              <a:ea typeface="Calibri"/>
              <a:cs typeface="Calibri"/>
              <a:sym typeface="Calibri"/>
            </a:endParaRPr>
          </a:p>
        </p:txBody>
      </p:sp>
      <p:sp>
        <p:nvSpPr>
          <p:cNvPr id="2168" name="Google Shape;2168;p88"/>
          <p:cNvSpPr/>
          <p:nvPr/>
        </p:nvSpPr>
        <p:spPr>
          <a:xfrm>
            <a:off x="1886051" y="4471416"/>
            <a:ext cx="2081400" cy="274200"/>
          </a:xfrm>
          <a:prstGeom prst="roundRect">
            <a:avLst>
              <a:gd fmla="val 50000" name="adj"/>
            </a:avLst>
          </a:prstGeom>
          <a:solidFill>
            <a:srgbClr val="FBEBD9"/>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169" name="Google Shape;2169;p88"/>
          <p:cNvSpPr/>
          <p:nvPr/>
        </p:nvSpPr>
        <p:spPr>
          <a:xfrm>
            <a:off x="1886051" y="4471416"/>
            <a:ext cx="20814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Checked availability first? Y/N</a:t>
            </a:r>
            <a:endParaRPr sz="800">
              <a:solidFill>
                <a:schemeClr val="dk1"/>
              </a:solidFill>
              <a:latin typeface="Calibri"/>
              <a:ea typeface="Calibri"/>
              <a:cs typeface="Calibri"/>
              <a:sym typeface="Calibri"/>
            </a:endParaRPr>
          </a:p>
        </p:txBody>
      </p:sp>
      <p:sp>
        <p:nvSpPr>
          <p:cNvPr id="2170" name="Google Shape;2170;p88"/>
          <p:cNvSpPr/>
          <p:nvPr/>
        </p:nvSpPr>
        <p:spPr>
          <a:xfrm>
            <a:off x="4692151" y="1337310"/>
            <a:ext cx="4040700" cy="3463200"/>
          </a:xfrm>
          <a:prstGeom prst="roundRect">
            <a:avLst>
              <a:gd fmla="val 2376"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171" name="Google Shape;2171;p88"/>
          <p:cNvSpPr/>
          <p:nvPr/>
        </p:nvSpPr>
        <p:spPr>
          <a:xfrm>
            <a:off x="4829318" y="1447038"/>
            <a:ext cx="1714500" cy="233100"/>
          </a:xfrm>
          <a:prstGeom prst="roundRect">
            <a:avLst>
              <a:gd fmla="val 50000" name="adj"/>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172" name="Google Shape;2172;p88"/>
          <p:cNvSpPr/>
          <p:nvPr/>
        </p:nvSpPr>
        <p:spPr>
          <a:xfrm>
            <a:off x="4829318" y="1447038"/>
            <a:ext cx="1714500" cy="233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BACK · FACILITATOR QC</a:t>
            </a:r>
            <a:endParaRPr sz="800">
              <a:solidFill>
                <a:schemeClr val="dk1"/>
              </a:solidFill>
              <a:latin typeface="Calibri"/>
              <a:ea typeface="Calibri"/>
              <a:cs typeface="Calibri"/>
              <a:sym typeface="Calibri"/>
            </a:endParaRPr>
          </a:p>
        </p:txBody>
      </p:sp>
      <p:pic>
        <p:nvPicPr>
          <p:cNvPr descr="/home/claude/maia/icons/FiCheck_accent.png" id="2173" name="Google Shape;2173;p88"/>
          <p:cNvPicPr preferRelativeResize="0"/>
          <p:nvPr/>
        </p:nvPicPr>
        <p:blipFill rotWithShape="1">
          <a:blip r:embed="rId3">
            <a:alphaModFix/>
          </a:blip>
          <a:srcRect b="0" l="0" r="0" t="0"/>
          <a:stretch/>
        </p:blipFill>
        <p:spPr>
          <a:xfrm>
            <a:off x="4843035" y="1831086"/>
            <a:ext cx="150876" cy="150876"/>
          </a:xfrm>
          <a:prstGeom prst="rect">
            <a:avLst/>
          </a:prstGeom>
          <a:noFill/>
          <a:ln>
            <a:noFill/>
          </a:ln>
        </p:spPr>
      </p:pic>
      <p:sp>
        <p:nvSpPr>
          <p:cNvPr id="2174" name="Google Shape;2174;p88"/>
          <p:cNvSpPr/>
          <p:nvPr/>
        </p:nvSpPr>
        <p:spPr>
          <a:xfrm>
            <a:off x="5076220" y="1776222"/>
            <a:ext cx="3505800" cy="5469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FFFFFF"/>
              </a:buClr>
              <a:buSzPts val="900"/>
              <a:buFont typeface="Arial"/>
              <a:buNone/>
            </a:pPr>
            <a:r>
              <a:rPr lang="en-GB" sz="900">
                <a:solidFill>
                  <a:srgbClr val="FFFFFF"/>
                </a:solidFill>
                <a:latin typeface="Arial"/>
                <a:ea typeface="Arial"/>
                <a:cs typeface="Arial"/>
                <a:sym typeface="Arial"/>
              </a:rPr>
              <a:t>Availability checked — Available (40) + Can-make (160) confirms 80 is feasible</a:t>
            </a:r>
            <a:endParaRPr sz="900">
              <a:solidFill>
                <a:schemeClr val="dk1"/>
              </a:solidFill>
              <a:latin typeface="Calibri"/>
              <a:ea typeface="Calibri"/>
              <a:cs typeface="Calibri"/>
              <a:sym typeface="Calibri"/>
            </a:endParaRPr>
          </a:p>
        </p:txBody>
      </p:sp>
      <p:pic>
        <p:nvPicPr>
          <p:cNvPr descr="/home/claude/maia/icons/FiCheck_accent.png" id="2175" name="Google Shape;2175;p88"/>
          <p:cNvPicPr preferRelativeResize="0"/>
          <p:nvPr/>
        </p:nvPicPr>
        <p:blipFill rotWithShape="1">
          <a:blip r:embed="rId3">
            <a:alphaModFix/>
          </a:blip>
          <a:srcRect b="0" l="0" r="0" t="0"/>
          <a:stretch/>
        </p:blipFill>
        <p:spPr>
          <a:xfrm>
            <a:off x="4843035" y="2378012"/>
            <a:ext cx="150876" cy="150876"/>
          </a:xfrm>
          <a:prstGeom prst="rect">
            <a:avLst/>
          </a:prstGeom>
          <a:noFill/>
          <a:ln>
            <a:noFill/>
          </a:ln>
        </p:spPr>
      </p:pic>
      <p:sp>
        <p:nvSpPr>
          <p:cNvPr id="2176" name="Google Shape;2176;p88"/>
          <p:cNvSpPr/>
          <p:nvPr/>
        </p:nvSpPr>
        <p:spPr>
          <a:xfrm>
            <a:off x="5076220" y="2323148"/>
            <a:ext cx="3505800" cy="5469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FFFFFF"/>
              </a:buClr>
              <a:buSzPts val="900"/>
              <a:buFont typeface="Arial"/>
              <a:buNone/>
            </a:pPr>
            <a:r>
              <a:rPr lang="en-GB" sz="900">
                <a:solidFill>
                  <a:srgbClr val="FFFFFF"/>
                </a:solidFill>
                <a:latin typeface="Arial"/>
                <a:ea typeface="Arial"/>
                <a:cs typeface="Arial"/>
                <a:sym typeface="Arial"/>
              </a:rPr>
              <a:t>SO created for an Individual customer, not a company</a:t>
            </a:r>
            <a:endParaRPr sz="900">
              <a:solidFill>
                <a:schemeClr val="dk1"/>
              </a:solidFill>
              <a:latin typeface="Calibri"/>
              <a:ea typeface="Calibri"/>
              <a:cs typeface="Calibri"/>
              <a:sym typeface="Calibri"/>
            </a:endParaRPr>
          </a:p>
        </p:txBody>
      </p:sp>
      <p:pic>
        <p:nvPicPr>
          <p:cNvPr descr="/home/claude/maia/icons/FiCheck_accent.png" id="2177" name="Google Shape;2177;p88"/>
          <p:cNvPicPr preferRelativeResize="0"/>
          <p:nvPr/>
        </p:nvPicPr>
        <p:blipFill rotWithShape="1">
          <a:blip r:embed="rId3">
            <a:alphaModFix/>
          </a:blip>
          <a:srcRect b="0" l="0" r="0" t="0"/>
          <a:stretch/>
        </p:blipFill>
        <p:spPr>
          <a:xfrm>
            <a:off x="4843035" y="2924937"/>
            <a:ext cx="150876" cy="150876"/>
          </a:xfrm>
          <a:prstGeom prst="rect">
            <a:avLst/>
          </a:prstGeom>
          <a:noFill/>
          <a:ln>
            <a:noFill/>
          </a:ln>
        </p:spPr>
      </p:pic>
      <p:sp>
        <p:nvSpPr>
          <p:cNvPr id="2178" name="Google Shape;2178;p88"/>
          <p:cNvSpPr/>
          <p:nvPr/>
        </p:nvSpPr>
        <p:spPr>
          <a:xfrm>
            <a:off x="5076220" y="2870073"/>
            <a:ext cx="3505800" cy="5469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FFFFFF"/>
              </a:buClr>
              <a:buSzPts val="900"/>
              <a:buFont typeface="Arial"/>
              <a:buNone/>
            </a:pPr>
            <a:r>
              <a:rPr lang="en-GB" sz="900">
                <a:solidFill>
                  <a:srgbClr val="FFFFFF"/>
                </a:solidFill>
                <a:latin typeface="Arial"/>
                <a:ea typeface="Arial"/>
                <a:cs typeface="Arial"/>
                <a:sym typeface="Arial"/>
              </a:rPr>
              <a:t>COD — no credit check, payment terms set accordingly</a:t>
            </a:r>
            <a:endParaRPr sz="900">
              <a:solidFill>
                <a:schemeClr val="dk1"/>
              </a:solidFill>
              <a:latin typeface="Calibri"/>
              <a:ea typeface="Calibri"/>
              <a:cs typeface="Calibri"/>
              <a:sym typeface="Calibri"/>
            </a:endParaRPr>
          </a:p>
        </p:txBody>
      </p:sp>
      <p:pic>
        <p:nvPicPr>
          <p:cNvPr descr="/home/claude/maia/icons/FiCheck_accent.png" id="2179" name="Google Shape;2179;p88"/>
          <p:cNvPicPr preferRelativeResize="0"/>
          <p:nvPr/>
        </p:nvPicPr>
        <p:blipFill rotWithShape="1">
          <a:blip r:embed="rId3">
            <a:alphaModFix/>
          </a:blip>
          <a:srcRect b="0" l="0" r="0" t="0"/>
          <a:stretch/>
        </p:blipFill>
        <p:spPr>
          <a:xfrm>
            <a:off x="4843035" y="3471863"/>
            <a:ext cx="150876" cy="150876"/>
          </a:xfrm>
          <a:prstGeom prst="rect">
            <a:avLst/>
          </a:prstGeom>
          <a:noFill/>
          <a:ln>
            <a:noFill/>
          </a:ln>
        </p:spPr>
      </p:pic>
      <p:sp>
        <p:nvSpPr>
          <p:cNvPr id="2180" name="Google Shape;2180;p88"/>
          <p:cNvSpPr/>
          <p:nvPr/>
        </p:nvSpPr>
        <p:spPr>
          <a:xfrm>
            <a:off x="5076220" y="3416999"/>
            <a:ext cx="3505800" cy="5469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FFFFFF"/>
              </a:buClr>
              <a:buSzPts val="900"/>
              <a:buFont typeface="Arial"/>
              <a:buNone/>
            </a:pPr>
            <a:r>
              <a:rPr lang="en-GB" sz="900">
                <a:solidFill>
                  <a:srgbClr val="FFFFFF"/>
                </a:solidFill>
                <a:latin typeface="Arial"/>
                <a:ea typeface="Arial"/>
                <a:cs typeface="Arial"/>
                <a:sym typeface="Arial"/>
              </a:rPr>
              <a:t>DN marked Delivered</a:t>
            </a:r>
            <a:endParaRPr sz="900">
              <a:solidFill>
                <a:schemeClr val="dk1"/>
              </a:solidFill>
              <a:latin typeface="Calibri"/>
              <a:ea typeface="Calibri"/>
              <a:cs typeface="Calibri"/>
              <a:sym typeface="Calibri"/>
            </a:endParaRPr>
          </a:p>
        </p:txBody>
      </p:sp>
      <p:sp>
        <p:nvSpPr>
          <p:cNvPr id="2181" name="Google Shape;2181;p88"/>
          <p:cNvSpPr/>
          <p:nvPr/>
        </p:nvSpPr>
        <p:spPr>
          <a:xfrm>
            <a:off x="4829318" y="4114800"/>
            <a:ext cx="3766200" cy="514500"/>
          </a:xfrm>
          <a:prstGeom prst="roundRect">
            <a:avLst>
              <a:gd fmla="val 10667" name="adj"/>
            </a:avLst>
          </a:prstGeom>
          <a:solidFill>
            <a:srgbClr val="32495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182" name="Google Shape;2182;p88"/>
          <p:cNvSpPr/>
          <p:nvPr/>
        </p:nvSpPr>
        <p:spPr>
          <a:xfrm>
            <a:off x="4925336" y="4217670"/>
            <a:ext cx="274200" cy="274200"/>
          </a:xfrm>
          <a:prstGeom prst="roundRect">
            <a:avLst>
              <a:gd fmla="val 22000" name="adj"/>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AlertTriangle_white.png" id="2183" name="Google Shape;2183;p88"/>
          <p:cNvPicPr preferRelativeResize="0"/>
          <p:nvPr/>
        </p:nvPicPr>
        <p:blipFill rotWithShape="1">
          <a:blip r:embed="rId4">
            <a:alphaModFix/>
          </a:blip>
          <a:srcRect b="0" l="0" r="0" t="0"/>
          <a:stretch/>
        </p:blipFill>
        <p:spPr>
          <a:xfrm>
            <a:off x="4993919" y="4286250"/>
            <a:ext cx="137160" cy="137160"/>
          </a:xfrm>
          <a:prstGeom prst="rect">
            <a:avLst/>
          </a:prstGeom>
          <a:noFill/>
          <a:ln>
            <a:noFill/>
          </a:ln>
        </p:spPr>
      </p:pic>
      <p:sp>
        <p:nvSpPr>
          <p:cNvPr id="2184" name="Google Shape;2184;p88"/>
          <p:cNvSpPr/>
          <p:nvPr/>
        </p:nvSpPr>
        <p:spPr>
          <a:xfrm>
            <a:off x="5281971" y="4169664"/>
            <a:ext cx="3300000" cy="4116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FFFFFF"/>
              </a:buClr>
              <a:buSzPts val="900"/>
              <a:buFont typeface="Arial"/>
              <a:buNone/>
            </a:pPr>
            <a:r>
              <a:rPr b="1" lang="en-GB" sz="900">
                <a:solidFill>
                  <a:srgbClr val="FFFFFF"/>
                </a:solidFill>
                <a:latin typeface="Arial"/>
                <a:ea typeface="Arial"/>
                <a:cs typeface="Arial"/>
                <a:sym typeface="Arial"/>
              </a:rPr>
              <a:t>Trap: skipping the availability check, and the wrong customer type.</a:t>
            </a:r>
            <a:endParaRPr sz="900">
              <a:solidFill>
                <a:schemeClr val="dk1"/>
              </a:solidFill>
              <a:latin typeface="Calibri"/>
              <a:ea typeface="Calibri"/>
              <a:cs typeface="Calibri"/>
              <a:sym typeface="Calibri"/>
            </a:endParaRPr>
          </a:p>
        </p:txBody>
      </p:sp>
      <p:sp>
        <p:nvSpPr>
          <p:cNvPr id="2185" name="Google Shape;2185;p88"/>
          <p:cNvSpPr txBox="1"/>
          <p:nvPr>
            <p:ph idx="12" type="sldNum"/>
          </p:nvPr>
        </p:nvSpPr>
        <p:spPr>
          <a:xfrm>
            <a:off x="8347216" y="4750189"/>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90" name="Shape 2190"/>
        <p:cNvGrpSpPr/>
        <p:nvPr/>
      </p:nvGrpSpPr>
      <p:grpSpPr>
        <a:xfrm>
          <a:off x="0" y="0"/>
          <a:ext cx="0" cy="0"/>
          <a:chOff x="0" y="0"/>
          <a:chExt cx="0" cy="0"/>
        </a:xfrm>
      </p:grpSpPr>
      <p:sp>
        <p:nvSpPr>
          <p:cNvPr id="2191" name="Google Shape;2191;p89"/>
          <p:cNvSpPr/>
          <p:nvPr/>
        </p:nvSpPr>
        <p:spPr>
          <a:xfrm>
            <a:off x="411502" y="260604"/>
            <a:ext cx="68583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MISSION CARDS · M10 OF 10</a:t>
            </a:r>
            <a:endParaRPr sz="800">
              <a:solidFill>
                <a:schemeClr val="dk1"/>
              </a:solidFill>
              <a:latin typeface="Calibri"/>
              <a:ea typeface="Calibri"/>
              <a:cs typeface="Calibri"/>
              <a:sym typeface="Calibri"/>
            </a:endParaRPr>
          </a:p>
        </p:txBody>
      </p:sp>
      <p:sp>
        <p:nvSpPr>
          <p:cNvPr id="2192" name="Google Shape;2192;p89"/>
          <p:cNvSpPr/>
          <p:nvPr/>
        </p:nvSpPr>
        <p:spPr>
          <a:xfrm>
            <a:off x="411502" y="438912"/>
            <a:ext cx="8321400" cy="480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C2B3E"/>
              </a:buClr>
              <a:buSzPts val="2200"/>
              <a:buFont typeface="Arial"/>
              <a:buNone/>
            </a:pPr>
            <a:r>
              <a:rPr b="1" lang="en-GB" sz="2200">
                <a:solidFill>
                  <a:srgbClr val="1C2B3E"/>
                </a:solidFill>
                <a:latin typeface="Poppins"/>
                <a:ea typeface="Poppins"/>
                <a:cs typeface="Poppins"/>
                <a:sym typeface="Poppins"/>
              </a:rPr>
              <a:t>Bintang Mart Sdn Bhd</a:t>
            </a:r>
            <a:endParaRPr sz="2200">
              <a:solidFill>
                <a:schemeClr val="dk1"/>
              </a:solidFill>
              <a:latin typeface="Poppins"/>
              <a:ea typeface="Poppins"/>
              <a:cs typeface="Poppins"/>
              <a:sym typeface="Poppins"/>
            </a:endParaRPr>
          </a:p>
        </p:txBody>
      </p:sp>
      <p:sp>
        <p:nvSpPr>
          <p:cNvPr id="2193" name="Google Shape;2193;p89"/>
          <p:cNvSpPr/>
          <p:nvPr/>
        </p:nvSpPr>
        <p:spPr>
          <a:xfrm>
            <a:off x="8033204" y="308610"/>
            <a:ext cx="699600" cy="274200"/>
          </a:xfrm>
          <a:prstGeom prst="roundRect">
            <a:avLst>
              <a:gd fmla="val 50000"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194" name="Google Shape;2194;p89"/>
          <p:cNvSpPr/>
          <p:nvPr/>
        </p:nvSpPr>
        <p:spPr>
          <a:xfrm>
            <a:off x="8033204" y="308610"/>
            <a:ext cx="6996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Arial"/>
              <a:buNone/>
            </a:pPr>
            <a:r>
              <a:rPr b="1" lang="en-GB" sz="900">
                <a:solidFill>
                  <a:srgbClr val="FFFFFF"/>
                </a:solidFill>
                <a:latin typeface="Arial"/>
                <a:ea typeface="Arial"/>
                <a:cs typeface="Arial"/>
                <a:sym typeface="Arial"/>
              </a:rPr>
              <a:t>BOSS</a:t>
            </a:r>
            <a:endParaRPr sz="900">
              <a:solidFill>
                <a:schemeClr val="dk1"/>
              </a:solidFill>
              <a:latin typeface="Calibri"/>
              <a:ea typeface="Calibri"/>
              <a:cs typeface="Calibri"/>
              <a:sym typeface="Calibri"/>
            </a:endParaRPr>
          </a:p>
        </p:txBody>
      </p:sp>
      <p:sp>
        <p:nvSpPr>
          <p:cNvPr id="2195" name="Google Shape;2195;p89"/>
          <p:cNvSpPr/>
          <p:nvPr/>
        </p:nvSpPr>
        <p:spPr>
          <a:xfrm>
            <a:off x="411502" y="1337310"/>
            <a:ext cx="4040700" cy="3463200"/>
          </a:xfrm>
          <a:prstGeom prst="roundRect">
            <a:avLst>
              <a:gd fmla="val 2376" name="adj"/>
            </a:avLst>
          </a:prstGeom>
          <a:solidFill>
            <a:srgbClr val="F5F7FA"/>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196" name="Google Shape;2196;p89"/>
          <p:cNvSpPr/>
          <p:nvPr/>
        </p:nvSpPr>
        <p:spPr>
          <a:xfrm>
            <a:off x="548669" y="1447038"/>
            <a:ext cx="1508700" cy="233100"/>
          </a:xfrm>
          <a:prstGeom prst="roundRect">
            <a:avLst>
              <a:gd fmla="val 50000"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197" name="Google Shape;2197;p89"/>
          <p:cNvSpPr/>
          <p:nvPr/>
        </p:nvSpPr>
        <p:spPr>
          <a:xfrm>
            <a:off x="548669" y="1447038"/>
            <a:ext cx="1508700" cy="233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FRONT · TEAM SEES</a:t>
            </a:r>
            <a:endParaRPr sz="800">
              <a:solidFill>
                <a:schemeClr val="dk1"/>
              </a:solidFill>
              <a:latin typeface="Calibri"/>
              <a:ea typeface="Calibri"/>
              <a:cs typeface="Calibri"/>
              <a:sym typeface="Calibri"/>
            </a:endParaRPr>
          </a:p>
        </p:txBody>
      </p:sp>
      <p:sp>
        <p:nvSpPr>
          <p:cNvPr id="2198" name="Google Shape;2198;p89"/>
          <p:cNvSpPr/>
          <p:nvPr/>
        </p:nvSpPr>
        <p:spPr>
          <a:xfrm>
            <a:off x="548669" y="1789938"/>
            <a:ext cx="3766200" cy="788700"/>
          </a:xfrm>
          <a:prstGeom prst="roundRect">
            <a:avLst>
              <a:gd fmla="val 6957" name="adj"/>
            </a:avLst>
          </a:prstGeom>
          <a:solidFill>
            <a:srgbClr val="FFFFFF"/>
          </a:solidFill>
          <a:ln cap="flat" cmpd="sng" w="12700">
            <a:solidFill>
              <a:srgbClr val="E3E8EF"/>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199" name="Google Shape;2199;p89"/>
          <p:cNvSpPr/>
          <p:nvPr/>
        </p:nvSpPr>
        <p:spPr>
          <a:xfrm>
            <a:off x="658403" y="1858518"/>
            <a:ext cx="3546900" cy="6516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C2B3E"/>
              </a:buClr>
              <a:buSzPts val="900"/>
              <a:buFont typeface="Arial"/>
              <a:buNone/>
            </a:pPr>
            <a:r>
              <a:rPr i="1" lang="en-GB" sz="900">
                <a:solidFill>
                  <a:srgbClr val="1C2B3E"/>
                </a:solidFill>
                <a:latin typeface="Arial"/>
                <a:ea typeface="Arial"/>
                <a:cs typeface="Arial"/>
                <a:sym typeface="Arial"/>
              </a:rPr>
              <a:t>“Big order. Read it carefully. There's a mapping issue. One item is short. Process what you can — and when the delivery hits a problem, handle it.”</a:t>
            </a:r>
            <a:endParaRPr sz="900">
              <a:solidFill>
                <a:schemeClr val="dk1"/>
              </a:solidFill>
              <a:latin typeface="Calibri"/>
              <a:ea typeface="Calibri"/>
              <a:cs typeface="Calibri"/>
              <a:sym typeface="Calibri"/>
            </a:endParaRPr>
          </a:p>
        </p:txBody>
      </p:sp>
      <p:sp>
        <p:nvSpPr>
          <p:cNvPr id="2200" name="Google Shape;2200;p89"/>
          <p:cNvSpPr/>
          <p:nvPr/>
        </p:nvSpPr>
        <p:spPr>
          <a:xfrm>
            <a:off x="548669" y="2715768"/>
            <a:ext cx="3766200" cy="178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800"/>
              <a:buFont typeface="Arial"/>
              <a:buNone/>
            </a:pPr>
            <a:r>
              <a:rPr b="1" lang="en-GB" sz="800">
                <a:solidFill>
                  <a:srgbClr val="94A3B8"/>
                </a:solidFill>
                <a:latin typeface="Arial"/>
                <a:ea typeface="Arial"/>
                <a:cs typeface="Arial"/>
                <a:sym typeface="Arial"/>
              </a:rPr>
              <a:t>ORDER ARRIVES AS — PDF PO + buyer WhatsApp correction</a:t>
            </a:r>
            <a:endParaRPr sz="800">
              <a:solidFill>
                <a:schemeClr val="dk1"/>
              </a:solidFill>
              <a:latin typeface="Calibri"/>
              <a:ea typeface="Calibri"/>
              <a:cs typeface="Calibri"/>
              <a:sym typeface="Calibri"/>
            </a:endParaRPr>
          </a:p>
        </p:txBody>
      </p:sp>
      <p:sp>
        <p:nvSpPr>
          <p:cNvPr id="2201" name="Google Shape;2201;p89"/>
          <p:cNvSpPr/>
          <p:nvPr/>
        </p:nvSpPr>
        <p:spPr>
          <a:xfrm>
            <a:off x="548669" y="2935224"/>
            <a:ext cx="3766200" cy="233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B3E"/>
              </a:buClr>
              <a:buSzPts val="900"/>
              <a:buFont typeface="Arial"/>
              <a:buNone/>
            </a:pPr>
            <a:r>
              <a:rPr lang="en-GB" sz="900">
                <a:solidFill>
                  <a:srgbClr val="1C2B3E"/>
                </a:solidFill>
                <a:latin typeface="Arial"/>
                <a:ea typeface="Arial"/>
                <a:cs typeface="Arial"/>
                <a:sym typeface="Arial"/>
              </a:rPr>
              <a:t>•  Cooking Oil × 30 ✓   ·   Jasmine Rice × 20 ✓</a:t>
            </a:r>
            <a:endParaRPr sz="900">
              <a:solidFill>
                <a:schemeClr val="dk1"/>
              </a:solidFill>
              <a:latin typeface="Calibri"/>
              <a:ea typeface="Calibri"/>
              <a:cs typeface="Calibri"/>
              <a:sym typeface="Calibri"/>
            </a:endParaRPr>
          </a:p>
        </p:txBody>
      </p:sp>
      <p:sp>
        <p:nvSpPr>
          <p:cNvPr id="2202" name="Google Shape;2202;p89"/>
          <p:cNvSpPr/>
          <p:nvPr/>
        </p:nvSpPr>
        <p:spPr>
          <a:xfrm>
            <a:off x="548669" y="3168396"/>
            <a:ext cx="3766200" cy="233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B3E"/>
              </a:buClr>
              <a:buSzPts val="900"/>
              <a:buFont typeface="Arial"/>
              <a:buNone/>
            </a:pPr>
            <a:r>
              <a:rPr lang="en-GB" sz="900">
                <a:solidFill>
                  <a:srgbClr val="1C2B3E"/>
                </a:solidFill>
                <a:latin typeface="Arial"/>
                <a:ea typeface="Arial"/>
                <a:cs typeface="Arial"/>
                <a:sym typeface="Arial"/>
              </a:rPr>
              <a:t>•  Soy Sauce × 15 cartons — “kicap halus” (low-confidence)</a:t>
            </a:r>
            <a:endParaRPr sz="900">
              <a:solidFill>
                <a:schemeClr val="dk1"/>
              </a:solidFill>
              <a:latin typeface="Calibri"/>
              <a:ea typeface="Calibri"/>
              <a:cs typeface="Calibri"/>
              <a:sym typeface="Calibri"/>
            </a:endParaRPr>
          </a:p>
        </p:txBody>
      </p:sp>
      <p:sp>
        <p:nvSpPr>
          <p:cNvPr id="2203" name="Google Shape;2203;p89"/>
          <p:cNvSpPr/>
          <p:nvPr/>
        </p:nvSpPr>
        <p:spPr>
          <a:xfrm>
            <a:off x="548669" y="3401568"/>
            <a:ext cx="3766200" cy="233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B3E"/>
              </a:buClr>
              <a:buSzPts val="900"/>
              <a:buFont typeface="Arial"/>
              <a:buNone/>
            </a:pPr>
            <a:r>
              <a:rPr lang="en-GB" sz="900">
                <a:solidFill>
                  <a:srgbClr val="1C2B3E"/>
                </a:solidFill>
                <a:latin typeface="Arial"/>
                <a:ea typeface="Arial"/>
                <a:cs typeface="Arial"/>
                <a:sym typeface="Arial"/>
              </a:rPr>
              <a:t>•  Beef Stock Concentrate × 10 — only 6 available</a:t>
            </a:r>
            <a:endParaRPr sz="900">
              <a:solidFill>
                <a:schemeClr val="dk1"/>
              </a:solidFill>
              <a:latin typeface="Calibri"/>
              <a:ea typeface="Calibri"/>
              <a:cs typeface="Calibri"/>
              <a:sym typeface="Calibri"/>
            </a:endParaRPr>
          </a:p>
        </p:txBody>
      </p:sp>
      <p:sp>
        <p:nvSpPr>
          <p:cNvPr id="2204" name="Google Shape;2204;p89"/>
          <p:cNvSpPr/>
          <p:nvPr/>
        </p:nvSpPr>
        <p:spPr>
          <a:xfrm>
            <a:off x="548669" y="3634740"/>
            <a:ext cx="3766200" cy="233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B3E"/>
              </a:buClr>
              <a:buSzPts val="900"/>
              <a:buFont typeface="Arial"/>
              <a:buNone/>
            </a:pPr>
            <a:r>
              <a:rPr lang="en-GB" sz="900">
                <a:solidFill>
                  <a:srgbClr val="1C2B3E"/>
                </a:solidFill>
                <a:latin typeface="Arial"/>
                <a:ea typeface="Arial"/>
                <a:cs typeface="Arial"/>
                <a:sym typeface="Arial"/>
              </a:rPr>
              <a:t>•  Outstation Delivery Charge × 1 ✓</a:t>
            </a:r>
            <a:endParaRPr sz="900">
              <a:solidFill>
                <a:schemeClr val="dk1"/>
              </a:solidFill>
              <a:latin typeface="Calibri"/>
              <a:ea typeface="Calibri"/>
              <a:cs typeface="Calibri"/>
              <a:sym typeface="Calibri"/>
            </a:endParaRPr>
          </a:p>
        </p:txBody>
      </p:sp>
      <p:sp>
        <p:nvSpPr>
          <p:cNvPr id="2205" name="Google Shape;2205;p89"/>
          <p:cNvSpPr/>
          <p:nvPr/>
        </p:nvSpPr>
        <p:spPr>
          <a:xfrm>
            <a:off x="548669" y="4265676"/>
            <a:ext cx="3766200" cy="178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800"/>
              <a:buFont typeface="Arial"/>
              <a:buNone/>
            </a:pPr>
            <a:r>
              <a:rPr b="1" lang="en-GB" sz="800">
                <a:solidFill>
                  <a:srgbClr val="94A3B8"/>
                </a:solidFill>
                <a:latin typeface="Arial"/>
                <a:ea typeface="Arial"/>
                <a:cs typeface="Arial"/>
                <a:sym typeface="Arial"/>
              </a:rPr>
              <a:t>RECORD ON BOARD</a:t>
            </a:r>
            <a:endParaRPr sz="800">
              <a:solidFill>
                <a:schemeClr val="dk1"/>
              </a:solidFill>
              <a:latin typeface="Calibri"/>
              <a:ea typeface="Calibri"/>
              <a:cs typeface="Calibri"/>
              <a:sym typeface="Calibri"/>
            </a:endParaRPr>
          </a:p>
        </p:txBody>
      </p:sp>
      <p:sp>
        <p:nvSpPr>
          <p:cNvPr id="2206" name="Google Shape;2206;p89"/>
          <p:cNvSpPr/>
          <p:nvPr/>
        </p:nvSpPr>
        <p:spPr>
          <a:xfrm>
            <a:off x="548669" y="4471416"/>
            <a:ext cx="1148700" cy="274200"/>
          </a:xfrm>
          <a:prstGeom prst="roundRect">
            <a:avLst>
              <a:gd fmla="val 50000" name="adj"/>
            </a:avLst>
          </a:prstGeom>
          <a:solidFill>
            <a:srgbClr val="FBEBD9"/>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207" name="Google Shape;2207;p89"/>
          <p:cNvSpPr/>
          <p:nvPr/>
        </p:nvSpPr>
        <p:spPr>
          <a:xfrm>
            <a:off x="548669" y="4471416"/>
            <a:ext cx="11487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SO ID (partial)</a:t>
            </a:r>
            <a:endParaRPr sz="800">
              <a:solidFill>
                <a:schemeClr val="dk1"/>
              </a:solidFill>
              <a:latin typeface="Calibri"/>
              <a:ea typeface="Calibri"/>
              <a:cs typeface="Calibri"/>
              <a:sym typeface="Calibri"/>
            </a:endParaRPr>
          </a:p>
        </p:txBody>
      </p:sp>
      <p:sp>
        <p:nvSpPr>
          <p:cNvPr id="2208" name="Google Shape;2208;p89"/>
          <p:cNvSpPr/>
          <p:nvPr/>
        </p:nvSpPr>
        <p:spPr>
          <a:xfrm>
            <a:off x="1800321" y="4471416"/>
            <a:ext cx="565800" cy="274200"/>
          </a:xfrm>
          <a:prstGeom prst="roundRect">
            <a:avLst>
              <a:gd fmla="val 50000" name="adj"/>
            </a:avLst>
          </a:prstGeom>
          <a:solidFill>
            <a:srgbClr val="FBEBD9"/>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209" name="Google Shape;2209;p89"/>
          <p:cNvSpPr/>
          <p:nvPr/>
        </p:nvSpPr>
        <p:spPr>
          <a:xfrm>
            <a:off x="1800321" y="4471416"/>
            <a:ext cx="5658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DN ID</a:t>
            </a:r>
            <a:endParaRPr sz="800">
              <a:solidFill>
                <a:schemeClr val="dk1"/>
              </a:solidFill>
              <a:latin typeface="Calibri"/>
              <a:ea typeface="Calibri"/>
              <a:cs typeface="Calibri"/>
              <a:sym typeface="Calibri"/>
            </a:endParaRPr>
          </a:p>
        </p:txBody>
      </p:sp>
      <p:sp>
        <p:nvSpPr>
          <p:cNvPr id="2210" name="Google Shape;2210;p89"/>
          <p:cNvSpPr/>
          <p:nvPr/>
        </p:nvSpPr>
        <p:spPr>
          <a:xfrm>
            <a:off x="2469012" y="4471416"/>
            <a:ext cx="1906500" cy="274200"/>
          </a:xfrm>
          <a:prstGeom prst="roundRect">
            <a:avLst>
              <a:gd fmla="val 50000" name="adj"/>
            </a:avLst>
          </a:prstGeom>
          <a:solidFill>
            <a:srgbClr val="FBEBD9"/>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211" name="Google Shape;2211;p89"/>
          <p:cNvSpPr/>
          <p:nvPr/>
        </p:nvSpPr>
        <p:spPr>
          <a:xfrm>
            <a:off x="2469012" y="4471416"/>
            <a:ext cx="19065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Failed stop rescheduled? Y/N</a:t>
            </a:r>
            <a:endParaRPr sz="800">
              <a:solidFill>
                <a:schemeClr val="dk1"/>
              </a:solidFill>
              <a:latin typeface="Calibri"/>
              <a:ea typeface="Calibri"/>
              <a:cs typeface="Calibri"/>
              <a:sym typeface="Calibri"/>
            </a:endParaRPr>
          </a:p>
        </p:txBody>
      </p:sp>
      <p:sp>
        <p:nvSpPr>
          <p:cNvPr id="2212" name="Google Shape;2212;p89"/>
          <p:cNvSpPr/>
          <p:nvPr/>
        </p:nvSpPr>
        <p:spPr>
          <a:xfrm>
            <a:off x="4692151" y="1337310"/>
            <a:ext cx="4040700" cy="3463200"/>
          </a:xfrm>
          <a:prstGeom prst="roundRect">
            <a:avLst>
              <a:gd fmla="val 2376"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213" name="Google Shape;2213;p89"/>
          <p:cNvSpPr/>
          <p:nvPr/>
        </p:nvSpPr>
        <p:spPr>
          <a:xfrm>
            <a:off x="4829318" y="1447038"/>
            <a:ext cx="1714500" cy="233100"/>
          </a:xfrm>
          <a:prstGeom prst="roundRect">
            <a:avLst>
              <a:gd fmla="val 50000" name="adj"/>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214" name="Google Shape;2214;p89"/>
          <p:cNvSpPr/>
          <p:nvPr/>
        </p:nvSpPr>
        <p:spPr>
          <a:xfrm>
            <a:off x="4829318" y="1447038"/>
            <a:ext cx="1714500" cy="233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BACK · FACILITATOR QC</a:t>
            </a:r>
            <a:endParaRPr sz="800">
              <a:solidFill>
                <a:schemeClr val="dk1"/>
              </a:solidFill>
              <a:latin typeface="Calibri"/>
              <a:ea typeface="Calibri"/>
              <a:cs typeface="Calibri"/>
              <a:sym typeface="Calibri"/>
            </a:endParaRPr>
          </a:p>
        </p:txBody>
      </p:sp>
      <p:pic>
        <p:nvPicPr>
          <p:cNvPr descr="/home/claude/maia/icons/FiCheck_accent.png" id="2215" name="Google Shape;2215;p89"/>
          <p:cNvPicPr preferRelativeResize="0"/>
          <p:nvPr/>
        </p:nvPicPr>
        <p:blipFill rotWithShape="1">
          <a:blip r:embed="rId3">
            <a:alphaModFix/>
          </a:blip>
          <a:srcRect b="0" l="0" r="0" t="0"/>
          <a:stretch/>
        </p:blipFill>
        <p:spPr>
          <a:xfrm>
            <a:off x="4843035" y="1831086"/>
            <a:ext cx="150876" cy="150876"/>
          </a:xfrm>
          <a:prstGeom prst="rect">
            <a:avLst/>
          </a:prstGeom>
          <a:noFill/>
          <a:ln>
            <a:noFill/>
          </a:ln>
        </p:spPr>
      </p:pic>
      <p:sp>
        <p:nvSpPr>
          <p:cNvPr id="2216" name="Google Shape;2216;p89"/>
          <p:cNvSpPr/>
          <p:nvPr/>
        </p:nvSpPr>
        <p:spPr>
          <a:xfrm>
            <a:off x="5076220" y="1776222"/>
            <a:ext cx="3505800" cy="3621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FFFFFF"/>
              </a:buClr>
              <a:buSzPts val="900"/>
              <a:buFont typeface="Arial"/>
              <a:buNone/>
            </a:pPr>
            <a:r>
              <a:rPr lang="en-GB" sz="900">
                <a:solidFill>
                  <a:srgbClr val="FFFFFF"/>
                </a:solidFill>
                <a:latin typeface="Arial"/>
                <a:ea typeface="Arial"/>
                <a:cs typeface="Arial"/>
                <a:sym typeface="Arial"/>
              </a:rPr>
              <a:t>Low-confidence soy sauce line corrected</a:t>
            </a:r>
            <a:endParaRPr sz="900">
              <a:solidFill>
                <a:schemeClr val="dk1"/>
              </a:solidFill>
              <a:latin typeface="Calibri"/>
              <a:ea typeface="Calibri"/>
              <a:cs typeface="Calibri"/>
              <a:sym typeface="Calibri"/>
            </a:endParaRPr>
          </a:p>
        </p:txBody>
      </p:sp>
      <p:pic>
        <p:nvPicPr>
          <p:cNvPr descr="/home/claude/maia/icons/FiCheck_accent.png" id="2217" name="Google Shape;2217;p89"/>
          <p:cNvPicPr preferRelativeResize="0"/>
          <p:nvPr/>
        </p:nvPicPr>
        <p:blipFill rotWithShape="1">
          <a:blip r:embed="rId3">
            <a:alphaModFix/>
          </a:blip>
          <a:srcRect b="0" l="0" r="0" t="0"/>
          <a:stretch/>
        </p:blipFill>
        <p:spPr>
          <a:xfrm>
            <a:off x="4843035" y="2193188"/>
            <a:ext cx="150876" cy="150876"/>
          </a:xfrm>
          <a:prstGeom prst="rect">
            <a:avLst/>
          </a:prstGeom>
          <a:noFill/>
          <a:ln>
            <a:noFill/>
          </a:ln>
        </p:spPr>
      </p:pic>
      <p:sp>
        <p:nvSpPr>
          <p:cNvPr id="2218" name="Google Shape;2218;p89"/>
          <p:cNvSpPr/>
          <p:nvPr/>
        </p:nvSpPr>
        <p:spPr>
          <a:xfrm>
            <a:off x="5076220" y="2138324"/>
            <a:ext cx="3505800" cy="3621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FFFFFF"/>
              </a:buClr>
              <a:buSzPts val="900"/>
              <a:buFont typeface="Arial"/>
              <a:buNone/>
            </a:pPr>
            <a:r>
              <a:rPr lang="en-GB" sz="900">
                <a:solidFill>
                  <a:srgbClr val="FFFFFF"/>
                </a:solidFill>
                <a:latin typeface="Arial"/>
                <a:ea typeface="Arial"/>
                <a:cs typeface="Arial"/>
                <a:sym typeface="Arial"/>
              </a:rPr>
              <a:t>Beef Stock partial fill — SO for 6, back-order / note for the remaining 4</a:t>
            </a:r>
            <a:endParaRPr sz="900">
              <a:solidFill>
                <a:schemeClr val="dk1"/>
              </a:solidFill>
              <a:latin typeface="Calibri"/>
              <a:ea typeface="Calibri"/>
              <a:cs typeface="Calibri"/>
              <a:sym typeface="Calibri"/>
            </a:endParaRPr>
          </a:p>
        </p:txBody>
      </p:sp>
      <p:pic>
        <p:nvPicPr>
          <p:cNvPr descr="/home/claude/maia/icons/FiCheck_accent.png" id="2219" name="Google Shape;2219;p89"/>
          <p:cNvPicPr preferRelativeResize="0"/>
          <p:nvPr/>
        </p:nvPicPr>
        <p:blipFill rotWithShape="1">
          <a:blip r:embed="rId3">
            <a:alphaModFix/>
          </a:blip>
          <a:srcRect b="0" l="0" r="0" t="0"/>
          <a:stretch/>
        </p:blipFill>
        <p:spPr>
          <a:xfrm>
            <a:off x="4843035" y="2555291"/>
            <a:ext cx="150876" cy="150876"/>
          </a:xfrm>
          <a:prstGeom prst="rect">
            <a:avLst/>
          </a:prstGeom>
          <a:noFill/>
          <a:ln>
            <a:noFill/>
          </a:ln>
        </p:spPr>
      </p:pic>
      <p:sp>
        <p:nvSpPr>
          <p:cNvPr id="2220" name="Google Shape;2220;p89"/>
          <p:cNvSpPr/>
          <p:nvPr/>
        </p:nvSpPr>
        <p:spPr>
          <a:xfrm>
            <a:off x="5076220" y="2500427"/>
            <a:ext cx="3505800" cy="3621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FFFFFF"/>
              </a:buClr>
              <a:buSzPts val="900"/>
              <a:buFont typeface="Arial"/>
              <a:buNone/>
            </a:pPr>
            <a:r>
              <a:rPr lang="en-GB" sz="900">
                <a:solidFill>
                  <a:srgbClr val="FFFFFF"/>
                </a:solidFill>
                <a:latin typeface="Arial"/>
                <a:ea typeface="Arial"/>
                <a:cs typeface="Arial"/>
                <a:sym typeface="Arial"/>
              </a:rPr>
              <a:t>DN raised for available items</a:t>
            </a:r>
            <a:endParaRPr sz="900">
              <a:solidFill>
                <a:schemeClr val="dk1"/>
              </a:solidFill>
              <a:latin typeface="Calibri"/>
              <a:ea typeface="Calibri"/>
              <a:cs typeface="Calibri"/>
              <a:sym typeface="Calibri"/>
            </a:endParaRPr>
          </a:p>
        </p:txBody>
      </p:sp>
      <p:pic>
        <p:nvPicPr>
          <p:cNvPr descr="/home/claude/maia/icons/FiCheck_accent.png" id="2221" name="Google Shape;2221;p89"/>
          <p:cNvPicPr preferRelativeResize="0"/>
          <p:nvPr/>
        </p:nvPicPr>
        <p:blipFill rotWithShape="1">
          <a:blip r:embed="rId3">
            <a:alphaModFix/>
          </a:blip>
          <a:srcRect b="0" l="0" r="0" t="0"/>
          <a:stretch/>
        </p:blipFill>
        <p:spPr>
          <a:xfrm>
            <a:off x="4843035" y="2917393"/>
            <a:ext cx="150876" cy="150876"/>
          </a:xfrm>
          <a:prstGeom prst="rect">
            <a:avLst/>
          </a:prstGeom>
          <a:noFill/>
          <a:ln>
            <a:noFill/>
          </a:ln>
        </p:spPr>
      </p:pic>
      <p:sp>
        <p:nvSpPr>
          <p:cNvPr id="2222" name="Google Shape;2222;p89"/>
          <p:cNvSpPr/>
          <p:nvPr/>
        </p:nvSpPr>
        <p:spPr>
          <a:xfrm>
            <a:off x="5076220" y="2862530"/>
            <a:ext cx="3505800" cy="3621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FFFFFF"/>
              </a:buClr>
              <a:buSzPts val="900"/>
              <a:buFont typeface="Arial"/>
              <a:buNone/>
            </a:pPr>
            <a:r>
              <a:rPr lang="en-GB" sz="900">
                <a:solidFill>
                  <a:srgbClr val="FFFFFF"/>
                </a:solidFill>
                <a:latin typeface="Arial"/>
                <a:ea typeface="Arial"/>
                <a:cs typeface="Arial"/>
                <a:sym typeface="Arial"/>
              </a:rPr>
              <a:t>Driver app: 1 stop failed, reason logged, reschedule task created</a:t>
            </a:r>
            <a:endParaRPr sz="900">
              <a:solidFill>
                <a:schemeClr val="dk1"/>
              </a:solidFill>
              <a:latin typeface="Calibri"/>
              <a:ea typeface="Calibri"/>
              <a:cs typeface="Calibri"/>
              <a:sym typeface="Calibri"/>
            </a:endParaRPr>
          </a:p>
        </p:txBody>
      </p:sp>
      <p:pic>
        <p:nvPicPr>
          <p:cNvPr descr="/home/claude/maia/icons/FiCheck_accent.png" id="2223" name="Google Shape;2223;p89"/>
          <p:cNvPicPr preferRelativeResize="0"/>
          <p:nvPr/>
        </p:nvPicPr>
        <p:blipFill rotWithShape="1">
          <a:blip r:embed="rId3">
            <a:alphaModFix/>
          </a:blip>
          <a:srcRect b="0" l="0" r="0" t="0"/>
          <a:stretch/>
        </p:blipFill>
        <p:spPr>
          <a:xfrm>
            <a:off x="4843035" y="3279496"/>
            <a:ext cx="150876" cy="150876"/>
          </a:xfrm>
          <a:prstGeom prst="rect">
            <a:avLst/>
          </a:prstGeom>
          <a:noFill/>
          <a:ln>
            <a:noFill/>
          </a:ln>
        </p:spPr>
      </p:pic>
      <p:sp>
        <p:nvSpPr>
          <p:cNvPr id="2224" name="Google Shape;2224;p89"/>
          <p:cNvSpPr/>
          <p:nvPr/>
        </p:nvSpPr>
        <p:spPr>
          <a:xfrm>
            <a:off x="5076220" y="3224632"/>
            <a:ext cx="3505800" cy="3621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FFFFFF"/>
              </a:buClr>
              <a:buSzPts val="900"/>
              <a:buFont typeface="Arial"/>
              <a:buNone/>
            </a:pPr>
            <a:r>
              <a:rPr lang="en-GB" sz="900">
                <a:solidFill>
                  <a:srgbClr val="FFFFFF"/>
                </a:solidFill>
                <a:latin typeface="Arial"/>
                <a:ea typeface="Arial"/>
                <a:cs typeface="Arial"/>
                <a:sym typeface="Arial"/>
              </a:rPr>
              <a:t>No-app variant: logistics marks partial delivery with a note</a:t>
            </a:r>
            <a:endParaRPr sz="900">
              <a:solidFill>
                <a:schemeClr val="dk1"/>
              </a:solidFill>
              <a:latin typeface="Calibri"/>
              <a:ea typeface="Calibri"/>
              <a:cs typeface="Calibri"/>
              <a:sym typeface="Calibri"/>
            </a:endParaRPr>
          </a:p>
        </p:txBody>
      </p:sp>
      <p:sp>
        <p:nvSpPr>
          <p:cNvPr id="2225" name="Google Shape;2225;p89"/>
          <p:cNvSpPr/>
          <p:nvPr/>
        </p:nvSpPr>
        <p:spPr>
          <a:xfrm>
            <a:off x="4829318" y="3737610"/>
            <a:ext cx="3766200" cy="651600"/>
          </a:xfrm>
          <a:prstGeom prst="roundRect">
            <a:avLst>
              <a:gd fmla="val 8421" name="adj"/>
            </a:avLst>
          </a:prstGeom>
          <a:solidFill>
            <a:srgbClr val="32495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226" name="Google Shape;2226;p89"/>
          <p:cNvSpPr/>
          <p:nvPr/>
        </p:nvSpPr>
        <p:spPr>
          <a:xfrm>
            <a:off x="4925336" y="3840480"/>
            <a:ext cx="274200" cy="274200"/>
          </a:xfrm>
          <a:prstGeom prst="roundRect">
            <a:avLst>
              <a:gd fmla="val 22000" name="adj"/>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AlertTriangle_white.png" id="2227" name="Google Shape;2227;p89"/>
          <p:cNvPicPr preferRelativeResize="0"/>
          <p:nvPr/>
        </p:nvPicPr>
        <p:blipFill rotWithShape="1">
          <a:blip r:embed="rId4">
            <a:alphaModFix/>
          </a:blip>
          <a:srcRect b="0" l="0" r="0" t="0"/>
          <a:stretch/>
        </p:blipFill>
        <p:spPr>
          <a:xfrm>
            <a:off x="4993919" y="3909060"/>
            <a:ext cx="137160" cy="137160"/>
          </a:xfrm>
          <a:prstGeom prst="rect">
            <a:avLst/>
          </a:prstGeom>
          <a:noFill/>
          <a:ln>
            <a:noFill/>
          </a:ln>
        </p:spPr>
      </p:pic>
      <p:sp>
        <p:nvSpPr>
          <p:cNvPr id="2228" name="Google Shape;2228;p89"/>
          <p:cNvSpPr/>
          <p:nvPr/>
        </p:nvSpPr>
        <p:spPr>
          <a:xfrm>
            <a:off x="5281971" y="3792474"/>
            <a:ext cx="3300000" cy="5829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FFFFFF"/>
              </a:buClr>
              <a:buSzPts val="900"/>
              <a:buFont typeface="Arial"/>
              <a:buNone/>
            </a:pPr>
            <a:r>
              <a:rPr b="1" lang="en-GB" sz="900">
                <a:solidFill>
                  <a:srgbClr val="FFFFFF"/>
                </a:solidFill>
                <a:latin typeface="Arial"/>
                <a:ea typeface="Arial"/>
                <a:cs typeface="Arial"/>
                <a:sym typeface="Arial"/>
              </a:rPr>
              <a:t>All three traps must be handled: mapping, partial stock, and delivery-failure recovery.</a:t>
            </a:r>
            <a:endParaRPr sz="900">
              <a:solidFill>
                <a:schemeClr val="dk1"/>
              </a:solidFill>
              <a:latin typeface="Calibri"/>
              <a:ea typeface="Calibri"/>
              <a:cs typeface="Calibri"/>
              <a:sym typeface="Calibri"/>
            </a:endParaRPr>
          </a:p>
        </p:txBody>
      </p:sp>
      <p:sp>
        <p:nvSpPr>
          <p:cNvPr id="2229" name="Google Shape;2229;p89"/>
          <p:cNvSpPr/>
          <p:nvPr/>
        </p:nvSpPr>
        <p:spPr>
          <a:xfrm>
            <a:off x="4829318" y="4457700"/>
            <a:ext cx="3766200" cy="288000"/>
          </a:xfrm>
          <a:prstGeom prst="roundRect">
            <a:avLst>
              <a:gd fmla="val 50000" name="adj"/>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230" name="Google Shape;2230;p89"/>
          <p:cNvSpPr/>
          <p:nvPr/>
        </p:nvSpPr>
        <p:spPr>
          <a:xfrm>
            <a:off x="4829318" y="4457700"/>
            <a:ext cx="3766200" cy="288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Boss mission — full points require all three traps caught.</a:t>
            </a:r>
            <a:endParaRPr sz="800">
              <a:solidFill>
                <a:schemeClr val="dk1"/>
              </a:solidFill>
              <a:latin typeface="Calibri"/>
              <a:ea typeface="Calibri"/>
              <a:cs typeface="Calibri"/>
              <a:sym typeface="Calibri"/>
            </a:endParaRPr>
          </a:p>
        </p:txBody>
      </p:sp>
      <p:sp>
        <p:nvSpPr>
          <p:cNvPr id="2231" name="Google Shape;2231;p89"/>
          <p:cNvSpPr txBox="1"/>
          <p:nvPr>
            <p:ph idx="12" type="sldNum"/>
          </p:nvPr>
        </p:nvSpPr>
        <p:spPr>
          <a:xfrm>
            <a:off x="8347216" y="4750189"/>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1C2B3E"/>
        </a:solidFill>
      </p:bgPr>
    </p:bg>
    <p:spTree>
      <p:nvGrpSpPr>
        <p:cNvPr id="2236" name="Shape 2236"/>
        <p:cNvGrpSpPr/>
        <p:nvPr/>
      </p:nvGrpSpPr>
      <p:grpSpPr>
        <a:xfrm>
          <a:off x="0" y="0"/>
          <a:ext cx="0" cy="0"/>
          <a:chOff x="0" y="0"/>
          <a:chExt cx="0" cy="0"/>
        </a:xfrm>
      </p:grpSpPr>
      <p:sp>
        <p:nvSpPr>
          <p:cNvPr id="2237" name="Google Shape;2237;p90"/>
          <p:cNvSpPr/>
          <p:nvPr/>
        </p:nvSpPr>
        <p:spPr>
          <a:xfrm>
            <a:off x="411502" y="1783080"/>
            <a:ext cx="205751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21E"/>
              </a:buClr>
              <a:buSzPts val="1100"/>
              <a:buFont typeface="Arial"/>
              <a:buNone/>
            </a:pPr>
            <a:r>
              <a:rPr b="1" lang="en-GB" sz="1100">
                <a:solidFill>
                  <a:srgbClr val="E8821E"/>
                </a:solidFill>
                <a:latin typeface="Arial"/>
                <a:ea typeface="Arial"/>
                <a:cs typeface="Arial"/>
                <a:sym typeface="Arial"/>
              </a:rPr>
              <a:t>SPECIAL MISSIONS</a:t>
            </a:r>
            <a:endParaRPr sz="1100">
              <a:solidFill>
                <a:schemeClr val="dk1"/>
              </a:solidFill>
              <a:latin typeface="Calibri"/>
              <a:ea typeface="Calibri"/>
              <a:cs typeface="Calibri"/>
              <a:sym typeface="Calibri"/>
            </a:endParaRPr>
          </a:p>
        </p:txBody>
      </p:sp>
      <p:sp>
        <p:nvSpPr>
          <p:cNvPr id="2238" name="Google Shape;2238;p90"/>
          <p:cNvSpPr/>
          <p:nvPr/>
        </p:nvSpPr>
        <p:spPr>
          <a:xfrm>
            <a:off x="411502" y="2057400"/>
            <a:ext cx="8321255"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000"/>
              <a:buFont typeface="Arial"/>
              <a:buNone/>
            </a:pPr>
            <a:r>
              <a:rPr b="1" lang="en-GB" sz="3000">
                <a:solidFill>
                  <a:srgbClr val="FFFFFF"/>
                </a:solidFill>
                <a:latin typeface="Poppins"/>
                <a:ea typeface="Poppins"/>
                <a:cs typeface="Poppins"/>
                <a:sym typeface="Poppins"/>
              </a:rPr>
              <a:t>Special Mission Bank</a:t>
            </a:r>
            <a:endParaRPr sz="3000">
              <a:solidFill>
                <a:schemeClr val="dk1"/>
              </a:solidFill>
              <a:latin typeface="Poppins"/>
              <a:ea typeface="Poppins"/>
              <a:cs typeface="Poppins"/>
              <a:sym typeface="Poppins"/>
            </a:endParaRPr>
          </a:p>
        </p:txBody>
      </p:sp>
      <p:sp>
        <p:nvSpPr>
          <p:cNvPr id="2239" name="Google Shape;2239;p90"/>
          <p:cNvSpPr/>
          <p:nvPr/>
        </p:nvSpPr>
        <p:spPr>
          <a:xfrm>
            <a:off x="411502" y="2743200"/>
            <a:ext cx="6949582"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2A6BE"/>
              </a:buClr>
              <a:buSzPts val="1100"/>
              <a:buFont typeface="Arial"/>
              <a:buNone/>
            </a:pPr>
            <a:r>
              <a:rPr i="1" lang="en-GB" sz="1100">
                <a:solidFill>
                  <a:srgbClr val="92A6BE"/>
                </a:solidFill>
                <a:latin typeface="Arial"/>
                <a:ea typeface="Arial"/>
                <a:cs typeface="Arial"/>
                <a:sym typeface="Arial"/>
              </a:rPr>
              <a:t>Advanced / optional stretch cards — finance, warehouse, returns, payment, and driver-app scenarios. Released by the facilitator for fast teams, half-day cuts, or targeted role training. Not part of the base 47-minute race.</a:t>
            </a:r>
            <a:endParaRPr sz="1100">
              <a:solidFill>
                <a:schemeClr val="dk1"/>
              </a:solidFill>
              <a:latin typeface="Calibri"/>
              <a:ea typeface="Calibri"/>
              <a:cs typeface="Calibri"/>
              <a:sym typeface="Calibri"/>
            </a:endParaRPr>
          </a:p>
        </p:txBody>
      </p:sp>
      <p:sp>
        <p:nvSpPr>
          <p:cNvPr id="2240" name="Google Shape;2240;p90"/>
          <p:cNvSpPr txBox="1"/>
          <p:nvPr>
            <p:ph idx="12" type="sldNum"/>
          </p:nvPr>
        </p:nvSpPr>
        <p:spPr>
          <a:xfrm>
            <a:off x="8347216" y="4750189"/>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2245" name="Shape 2245"/>
        <p:cNvGrpSpPr/>
        <p:nvPr/>
      </p:nvGrpSpPr>
      <p:grpSpPr>
        <a:xfrm>
          <a:off x="0" y="0"/>
          <a:ext cx="0" cy="0"/>
          <a:chOff x="0" y="0"/>
          <a:chExt cx="0" cy="0"/>
        </a:xfrm>
      </p:grpSpPr>
      <p:sp>
        <p:nvSpPr>
          <p:cNvPr id="2246" name="Google Shape;2246;p91"/>
          <p:cNvSpPr/>
          <p:nvPr/>
        </p:nvSpPr>
        <p:spPr>
          <a:xfrm>
            <a:off x="411502" y="260604"/>
            <a:ext cx="6858366"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SPECIAL MISSION</a:t>
            </a:r>
            <a:endParaRPr sz="800">
              <a:solidFill>
                <a:schemeClr val="dk1"/>
              </a:solidFill>
              <a:latin typeface="Calibri"/>
              <a:ea typeface="Calibri"/>
              <a:cs typeface="Calibri"/>
              <a:sym typeface="Calibri"/>
            </a:endParaRPr>
          </a:p>
        </p:txBody>
      </p:sp>
      <p:sp>
        <p:nvSpPr>
          <p:cNvPr id="2247" name="Google Shape;2247;p91"/>
          <p:cNvSpPr/>
          <p:nvPr/>
        </p:nvSpPr>
        <p:spPr>
          <a:xfrm>
            <a:off x="7765727" y="308610"/>
            <a:ext cx="967030" cy="274320"/>
          </a:xfrm>
          <a:prstGeom prst="roundRect">
            <a:avLst>
              <a:gd fmla="val 50000" name="adj"/>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248" name="Google Shape;2248;p91"/>
          <p:cNvSpPr/>
          <p:nvPr/>
        </p:nvSpPr>
        <p:spPr>
          <a:xfrm>
            <a:off x="7765727" y="308610"/>
            <a:ext cx="96703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Arial"/>
              <a:buNone/>
            </a:pPr>
            <a:r>
              <a:rPr b="1" lang="en-GB" sz="900">
                <a:solidFill>
                  <a:srgbClr val="FFFFFF"/>
                </a:solidFill>
                <a:latin typeface="Arial"/>
                <a:ea typeface="Arial"/>
                <a:cs typeface="Arial"/>
                <a:sym typeface="Arial"/>
              </a:rPr>
              <a:t>🧩 BUNDLE</a:t>
            </a:r>
            <a:endParaRPr sz="900">
              <a:solidFill>
                <a:schemeClr val="dk1"/>
              </a:solidFill>
              <a:latin typeface="Calibri"/>
              <a:ea typeface="Calibri"/>
              <a:cs typeface="Calibri"/>
              <a:sym typeface="Calibri"/>
            </a:endParaRPr>
          </a:p>
        </p:txBody>
      </p:sp>
      <p:sp>
        <p:nvSpPr>
          <p:cNvPr id="2249" name="Google Shape;2249;p91"/>
          <p:cNvSpPr txBox="1"/>
          <p:nvPr>
            <p:ph idx="12" type="sldNum"/>
          </p:nvPr>
        </p:nvSpPr>
        <p:spPr>
          <a:xfrm>
            <a:off x="8347216" y="4750189"/>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250" name="Google Shape;2250;p91"/>
          <p:cNvSpPr/>
          <p:nvPr/>
        </p:nvSpPr>
        <p:spPr>
          <a:xfrm>
            <a:off x="411502" y="438912"/>
            <a:ext cx="8321400" cy="480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2200">
                <a:solidFill>
                  <a:srgbClr val="1C2B3E"/>
                </a:solidFill>
                <a:latin typeface="Poppins"/>
                <a:ea typeface="Poppins"/>
                <a:cs typeface="Poppins"/>
                <a:sym typeface="Poppins"/>
              </a:rPr>
              <a:t>Selera Catering — Bundle Return + Net Invoice</a:t>
            </a:r>
            <a:endParaRPr b="1" sz="2200">
              <a:solidFill>
                <a:srgbClr val="1C2B3E"/>
              </a:solidFill>
              <a:latin typeface="Poppins"/>
              <a:ea typeface="Poppins"/>
              <a:cs typeface="Poppins"/>
              <a:sym typeface="Poppins"/>
            </a:endParaRPr>
          </a:p>
        </p:txBody>
      </p:sp>
      <p:sp>
        <p:nvSpPr>
          <p:cNvPr id="2251" name="Google Shape;2251;p91"/>
          <p:cNvSpPr/>
          <p:nvPr/>
        </p:nvSpPr>
        <p:spPr>
          <a:xfrm>
            <a:off x="411550" y="1190103"/>
            <a:ext cx="2704800" cy="3288900"/>
          </a:xfrm>
          <a:prstGeom prst="roundRect">
            <a:avLst>
              <a:gd fmla="val 6052" name="adj"/>
            </a:avLst>
          </a:prstGeom>
          <a:solidFill>
            <a:srgbClr val="E3E8EF"/>
          </a:solidFill>
          <a:ln cap="flat" cmpd="sng" w="9525">
            <a:solidFill>
              <a:srgbClr val="E3E8EF"/>
            </a:solidFill>
            <a:prstDash val="solid"/>
            <a:round/>
            <a:headEnd len="sm" w="sm" type="none"/>
            <a:tailEnd len="sm" w="sm" type="none"/>
          </a:ln>
        </p:spPr>
        <p:txBody>
          <a:bodyPr anchorCtr="0" anchor="t" bIns="34275" lIns="68575" spcFirstLastPara="1" rIns="287850" wrap="square" tIns="34275">
            <a:noAutofit/>
          </a:bodyPr>
          <a:lstStyle/>
          <a:p>
            <a:pPr indent="0" lvl="0" marL="180000" rtl="0" algn="l">
              <a:spcBef>
                <a:spcPts val="0"/>
              </a:spcBef>
              <a:spcAft>
                <a:spcPts val="0"/>
              </a:spcAft>
              <a:buNone/>
            </a:pPr>
            <a:r>
              <a:t/>
            </a:r>
            <a:endParaRPr b="1" sz="1200">
              <a:solidFill>
                <a:schemeClr val="accent1"/>
              </a:solidFill>
            </a:endParaRPr>
          </a:p>
          <a:p>
            <a:pPr indent="0" lvl="0" marL="180000" rtl="0" algn="l">
              <a:spcBef>
                <a:spcPts val="0"/>
              </a:spcBef>
              <a:spcAft>
                <a:spcPts val="0"/>
              </a:spcAft>
              <a:buNone/>
            </a:pPr>
            <a:r>
              <a:rPr b="1" lang="en-GB">
                <a:solidFill>
                  <a:srgbClr val="76889B"/>
                </a:solidFill>
              </a:rPr>
              <a:t>Scenario</a:t>
            </a:r>
            <a:endParaRPr b="1">
              <a:solidFill>
                <a:srgbClr val="5B6B7D"/>
              </a:solidFill>
            </a:endParaRPr>
          </a:p>
          <a:p>
            <a:pPr indent="0" lvl="0" marL="180000" rtl="0" algn="l">
              <a:spcBef>
                <a:spcPts val="0"/>
              </a:spcBef>
              <a:spcAft>
                <a:spcPts val="0"/>
              </a:spcAft>
              <a:buNone/>
            </a:pPr>
            <a:r>
              <a:t/>
            </a:r>
            <a:endParaRPr b="1" sz="1200">
              <a:solidFill>
                <a:schemeClr val="accent1"/>
              </a:solidFill>
            </a:endParaRPr>
          </a:p>
          <a:p>
            <a:pPr indent="0" lvl="0" marL="180000" marR="4652" rtl="0" algn="l">
              <a:lnSpc>
                <a:spcPct val="115000"/>
              </a:lnSpc>
              <a:spcBef>
                <a:spcPts val="0"/>
              </a:spcBef>
              <a:spcAft>
                <a:spcPts val="0"/>
              </a:spcAft>
              <a:buNone/>
            </a:pPr>
            <a:r>
              <a:rPr i="1" lang="en-GB" sz="1600">
                <a:solidFill>
                  <a:srgbClr val="1C2B3E"/>
                </a:solidFill>
              </a:rPr>
              <a:t>“Ms. Priya ordered bundles for an event. Deliver them, record the part that came back, and invoice only the net items delivered.”</a:t>
            </a:r>
            <a:endParaRPr i="1" sz="1600">
              <a:solidFill>
                <a:srgbClr val="1C2B3E"/>
              </a:solidFill>
            </a:endParaRPr>
          </a:p>
          <a:p>
            <a:pPr indent="0" lvl="0" marL="0" marR="4652" rtl="0" algn="l">
              <a:lnSpc>
                <a:spcPct val="115000"/>
              </a:lnSpc>
              <a:spcBef>
                <a:spcPts val="0"/>
              </a:spcBef>
              <a:spcAft>
                <a:spcPts val="0"/>
              </a:spcAft>
              <a:buNone/>
            </a:pPr>
            <a:r>
              <a:t/>
            </a:r>
            <a:endParaRPr i="1" sz="1600">
              <a:solidFill>
                <a:srgbClr val="1C2B3E"/>
              </a:solidFill>
            </a:endParaRPr>
          </a:p>
          <a:p>
            <a:pPr indent="0" lvl="0" marL="0" marR="4652" rtl="0" algn="l">
              <a:lnSpc>
                <a:spcPct val="115000"/>
              </a:lnSpc>
              <a:spcBef>
                <a:spcPts val="0"/>
              </a:spcBef>
              <a:spcAft>
                <a:spcPts val="0"/>
              </a:spcAft>
              <a:buNone/>
            </a:pPr>
            <a:r>
              <a:t/>
            </a:r>
            <a:endParaRPr i="1" sz="1600">
              <a:solidFill>
                <a:srgbClr val="1C2B3E"/>
              </a:solidFill>
            </a:endParaRPr>
          </a:p>
        </p:txBody>
      </p:sp>
      <p:sp>
        <p:nvSpPr>
          <p:cNvPr id="2252" name="Google Shape;2252;p91"/>
          <p:cNvSpPr/>
          <p:nvPr/>
        </p:nvSpPr>
        <p:spPr>
          <a:xfrm>
            <a:off x="3219650" y="1190100"/>
            <a:ext cx="3705600" cy="3288900"/>
          </a:xfrm>
          <a:prstGeom prst="roundRect">
            <a:avLst>
              <a:gd fmla="val 6052" name="adj"/>
            </a:avLst>
          </a:prstGeom>
          <a:solidFill>
            <a:srgbClr val="FBEBD9"/>
          </a:solidFill>
          <a:ln cap="flat" cmpd="sng" w="9525">
            <a:solidFill>
              <a:schemeClr val="accent2"/>
            </a:solidFill>
            <a:prstDash val="solid"/>
            <a:round/>
            <a:headEnd len="sm" w="sm" type="none"/>
            <a:tailEnd len="sm" w="sm" type="none"/>
          </a:ln>
        </p:spPr>
        <p:txBody>
          <a:bodyPr anchorCtr="0" anchor="t" bIns="34275" lIns="68575" spcFirstLastPara="1" rIns="68575" wrap="square" tIns="34275">
            <a:noAutofit/>
          </a:bodyPr>
          <a:lstStyle/>
          <a:p>
            <a:pPr indent="0" lvl="0" marL="180000" marR="118292" rtl="0" algn="l">
              <a:spcBef>
                <a:spcPts val="0"/>
              </a:spcBef>
              <a:spcAft>
                <a:spcPts val="0"/>
              </a:spcAft>
              <a:buNone/>
            </a:pPr>
            <a:r>
              <a:t/>
            </a:r>
            <a:endParaRPr b="1" sz="1200">
              <a:solidFill>
                <a:schemeClr val="accent1"/>
              </a:solidFill>
            </a:endParaRPr>
          </a:p>
          <a:p>
            <a:pPr indent="0" lvl="0" marL="180000" marR="118292" rtl="0" algn="l">
              <a:lnSpc>
                <a:spcPct val="115000"/>
              </a:lnSpc>
              <a:spcBef>
                <a:spcPts val="0"/>
              </a:spcBef>
              <a:spcAft>
                <a:spcPts val="0"/>
              </a:spcAft>
              <a:buNone/>
            </a:pPr>
            <a:r>
              <a:rPr lang="en-GB" sz="1200">
                <a:solidFill>
                  <a:schemeClr val="dk2"/>
                </a:solidFill>
              </a:rPr>
              <a:t>Order arrives as</a:t>
            </a:r>
            <a:endParaRPr sz="1200">
              <a:solidFill>
                <a:schemeClr val="dk2"/>
              </a:solidFill>
            </a:endParaRPr>
          </a:p>
          <a:p>
            <a:pPr indent="0" lvl="0" marL="180000" marR="118292" rtl="0" algn="l">
              <a:lnSpc>
                <a:spcPct val="115000"/>
              </a:lnSpc>
              <a:spcBef>
                <a:spcPts val="0"/>
              </a:spcBef>
              <a:spcAft>
                <a:spcPts val="0"/>
              </a:spcAft>
              <a:buNone/>
            </a:pPr>
            <a:r>
              <a:rPr b="1" lang="en-GB" sz="1600">
                <a:solidFill>
                  <a:schemeClr val="accent1"/>
                </a:solidFill>
              </a:rPr>
              <a:t>Special bundle PO (PO-B01)</a:t>
            </a:r>
            <a:endParaRPr b="1" sz="1600">
              <a:solidFill>
                <a:schemeClr val="accent1"/>
              </a:solidFill>
            </a:endParaRPr>
          </a:p>
          <a:p>
            <a:pPr indent="0" lvl="0" marL="180000" marR="118292" rtl="0" algn="l">
              <a:lnSpc>
                <a:spcPct val="115000"/>
              </a:lnSpc>
              <a:spcBef>
                <a:spcPts val="0"/>
              </a:spcBef>
              <a:spcAft>
                <a:spcPts val="0"/>
              </a:spcAft>
              <a:buNone/>
            </a:pPr>
            <a:r>
              <a:t/>
            </a:r>
            <a:endParaRPr b="1" sz="1200">
              <a:solidFill>
                <a:schemeClr val="dk2"/>
              </a:solidFill>
            </a:endParaRPr>
          </a:p>
          <a:p>
            <a:pPr indent="-317500" lvl="0" marL="630000" marR="118292" rtl="0" algn="l">
              <a:lnSpc>
                <a:spcPct val="115000"/>
              </a:lnSpc>
              <a:spcBef>
                <a:spcPts val="0"/>
              </a:spcBef>
              <a:spcAft>
                <a:spcPts val="0"/>
              </a:spcAft>
              <a:buClr>
                <a:schemeClr val="dk2"/>
              </a:buClr>
              <a:buSzPts val="1400"/>
              <a:buChar char="●"/>
            </a:pPr>
            <a:r>
              <a:rPr lang="en-GB">
                <a:solidFill>
                  <a:schemeClr val="dk2"/>
                </a:solidFill>
              </a:rPr>
              <a:t>Restaurant Starter Kit × 5 sets</a:t>
            </a:r>
            <a:endParaRPr>
              <a:solidFill>
                <a:schemeClr val="dk2"/>
              </a:solidFill>
            </a:endParaRPr>
          </a:p>
          <a:p>
            <a:pPr indent="-317500" lvl="0" marL="630000" marR="118292" rtl="0" algn="l">
              <a:lnSpc>
                <a:spcPct val="115000"/>
              </a:lnSpc>
              <a:spcBef>
                <a:spcPts val="1000"/>
              </a:spcBef>
              <a:spcAft>
                <a:spcPts val="0"/>
              </a:spcAft>
              <a:buClr>
                <a:schemeClr val="dk2"/>
              </a:buClr>
              <a:buSzPts val="1400"/>
              <a:buChar char="●"/>
            </a:pPr>
            <a:r>
              <a:rPr lang="en-GB">
                <a:solidFill>
                  <a:schemeClr val="dk2"/>
                </a:solidFill>
              </a:rPr>
              <a:t>Each set: oil ×1, rice ×1, soy ×12, oyster ×2</a:t>
            </a:r>
            <a:endParaRPr>
              <a:solidFill>
                <a:schemeClr val="dk2"/>
              </a:solidFill>
            </a:endParaRPr>
          </a:p>
          <a:p>
            <a:pPr indent="-317500" lvl="0" marL="630000" marR="118292" rtl="0" algn="l">
              <a:lnSpc>
                <a:spcPct val="115000"/>
              </a:lnSpc>
              <a:spcBef>
                <a:spcPts val="1000"/>
              </a:spcBef>
              <a:spcAft>
                <a:spcPts val="0"/>
              </a:spcAft>
              <a:buClr>
                <a:schemeClr val="dk2"/>
              </a:buClr>
              <a:buSzPts val="1400"/>
              <a:buChar char="●"/>
            </a:pPr>
            <a:r>
              <a:rPr lang="en-GB">
                <a:solidFill>
                  <a:schemeClr val="dk2"/>
                </a:solidFill>
              </a:rPr>
              <a:t>Soy portion of 2 sets returned after delivery</a:t>
            </a:r>
            <a:endParaRPr>
              <a:solidFill>
                <a:schemeClr val="dk2"/>
              </a:solidFill>
            </a:endParaRPr>
          </a:p>
          <a:p>
            <a:pPr indent="0" lvl="0" marL="0" marR="118292" rtl="0" algn="l">
              <a:lnSpc>
                <a:spcPct val="115000"/>
              </a:lnSpc>
              <a:spcBef>
                <a:spcPts val="1000"/>
              </a:spcBef>
              <a:spcAft>
                <a:spcPts val="0"/>
              </a:spcAft>
              <a:buNone/>
            </a:pPr>
            <a:r>
              <a:t/>
            </a:r>
            <a:endParaRPr sz="1200">
              <a:solidFill>
                <a:schemeClr val="dk2"/>
              </a:solidFill>
            </a:endParaRPr>
          </a:p>
          <a:p>
            <a:pPr indent="0" lvl="0" marL="0" marR="118292" rtl="0" algn="l">
              <a:lnSpc>
                <a:spcPct val="115000"/>
              </a:lnSpc>
              <a:spcBef>
                <a:spcPts val="0"/>
              </a:spcBef>
              <a:spcAft>
                <a:spcPts val="0"/>
              </a:spcAft>
              <a:buNone/>
            </a:pPr>
            <a:r>
              <a:t/>
            </a:r>
            <a:endParaRPr i="1">
              <a:solidFill>
                <a:schemeClr val="dk2"/>
              </a:solidFill>
            </a:endParaRPr>
          </a:p>
        </p:txBody>
      </p:sp>
      <p:sp>
        <p:nvSpPr>
          <p:cNvPr id="2253" name="Google Shape;2253;p91"/>
          <p:cNvSpPr/>
          <p:nvPr/>
        </p:nvSpPr>
        <p:spPr>
          <a:xfrm>
            <a:off x="7028550" y="1190100"/>
            <a:ext cx="1704300" cy="3288900"/>
          </a:xfrm>
          <a:prstGeom prst="roundRect">
            <a:avLst>
              <a:gd fmla="val 6052" name="adj"/>
            </a:avLst>
          </a:prstGeom>
          <a:solidFill>
            <a:srgbClr val="E3F5EC"/>
          </a:solidFill>
          <a:ln>
            <a:noFill/>
          </a:ln>
        </p:spPr>
        <p:txBody>
          <a:bodyPr anchorCtr="0" anchor="t" bIns="34275" lIns="68575" spcFirstLastPara="1" rIns="68575" wrap="square" tIns="34275">
            <a:noAutofit/>
          </a:bodyPr>
          <a:lstStyle/>
          <a:p>
            <a:pPr indent="0" lvl="0" marL="180000" rtl="0" algn="l">
              <a:spcBef>
                <a:spcPts val="0"/>
              </a:spcBef>
              <a:spcAft>
                <a:spcPts val="0"/>
              </a:spcAft>
              <a:buNone/>
            </a:pPr>
            <a:r>
              <a:t/>
            </a:r>
            <a:endParaRPr b="1" sz="1200">
              <a:solidFill>
                <a:schemeClr val="accent1"/>
              </a:solidFill>
            </a:endParaRPr>
          </a:p>
          <a:p>
            <a:pPr indent="0" lvl="0" marL="180000" rtl="0" algn="l">
              <a:spcBef>
                <a:spcPts val="0"/>
              </a:spcBef>
              <a:spcAft>
                <a:spcPts val="0"/>
              </a:spcAft>
              <a:buNone/>
            </a:pPr>
            <a:r>
              <a:rPr b="1" lang="en-GB">
                <a:solidFill>
                  <a:srgbClr val="1A9D5C"/>
                </a:solidFill>
              </a:rPr>
              <a:t>Record on board</a:t>
            </a:r>
            <a:endParaRPr b="1">
              <a:solidFill>
                <a:srgbClr val="1A9D5C"/>
              </a:solidFill>
            </a:endParaRPr>
          </a:p>
          <a:p>
            <a:pPr indent="0" lvl="0" marL="180000" rtl="0" algn="l">
              <a:spcBef>
                <a:spcPts val="0"/>
              </a:spcBef>
              <a:spcAft>
                <a:spcPts val="0"/>
              </a:spcAft>
              <a:buNone/>
            </a:pPr>
            <a:r>
              <a:t/>
            </a:r>
            <a:endParaRPr b="1" sz="1200">
              <a:solidFill>
                <a:schemeClr val="accent1"/>
              </a:solidFill>
            </a:endParaRPr>
          </a:p>
          <a:p>
            <a:pPr indent="0" lvl="0" marL="180000" rtl="0" algn="l">
              <a:lnSpc>
                <a:spcPct val="115000"/>
              </a:lnSpc>
              <a:spcBef>
                <a:spcPts val="0"/>
              </a:spcBef>
              <a:spcAft>
                <a:spcPts val="0"/>
              </a:spcAft>
              <a:buNone/>
            </a:pPr>
            <a:r>
              <a:t/>
            </a:r>
            <a:endParaRPr sz="1600">
              <a:solidFill>
                <a:schemeClr val="dk1"/>
              </a:solidFill>
            </a:endParaRPr>
          </a:p>
        </p:txBody>
      </p:sp>
      <p:sp>
        <p:nvSpPr>
          <p:cNvPr id="2254" name="Google Shape;2254;p91"/>
          <p:cNvSpPr/>
          <p:nvPr/>
        </p:nvSpPr>
        <p:spPr>
          <a:xfrm>
            <a:off x="7344150" y="2201903"/>
            <a:ext cx="1073100" cy="342900"/>
          </a:xfrm>
          <a:prstGeom prst="roundRect">
            <a:avLst>
              <a:gd fmla="val 50000" name="adj"/>
            </a:avLst>
          </a:prstGeom>
          <a:solidFill>
            <a:srgbClr val="1A9D5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chemeClr val="lt1"/>
                </a:solidFill>
              </a:rPr>
              <a:t>SO ID</a:t>
            </a:r>
            <a:endParaRPr b="1">
              <a:solidFill>
                <a:schemeClr val="lt1"/>
              </a:solidFill>
            </a:endParaRPr>
          </a:p>
        </p:txBody>
      </p:sp>
      <p:sp>
        <p:nvSpPr>
          <p:cNvPr id="2255" name="Google Shape;2255;p91"/>
          <p:cNvSpPr/>
          <p:nvPr/>
        </p:nvSpPr>
        <p:spPr>
          <a:xfrm>
            <a:off x="7344150" y="2595439"/>
            <a:ext cx="1073100" cy="342900"/>
          </a:xfrm>
          <a:prstGeom prst="roundRect">
            <a:avLst>
              <a:gd fmla="val 50000" name="adj"/>
            </a:avLst>
          </a:prstGeom>
          <a:solidFill>
            <a:srgbClr val="1A9D5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chemeClr val="lt1"/>
                </a:solidFill>
              </a:rPr>
              <a:t>DN ID</a:t>
            </a:r>
            <a:endParaRPr b="1">
              <a:solidFill>
                <a:schemeClr val="lt1"/>
              </a:solidFill>
            </a:endParaRPr>
          </a:p>
        </p:txBody>
      </p:sp>
      <p:sp>
        <p:nvSpPr>
          <p:cNvPr id="2256" name="Google Shape;2256;p91"/>
          <p:cNvSpPr/>
          <p:nvPr/>
        </p:nvSpPr>
        <p:spPr>
          <a:xfrm>
            <a:off x="7344150" y="2989003"/>
            <a:ext cx="1073100" cy="342900"/>
          </a:xfrm>
          <a:prstGeom prst="roundRect">
            <a:avLst>
              <a:gd fmla="val 50000" name="adj"/>
            </a:avLst>
          </a:prstGeom>
          <a:solidFill>
            <a:srgbClr val="1A9D5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chemeClr val="lt1"/>
                </a:solidFill>
              </a:rPr>
              <a:t>RN</a:t>
            </a:r>
            <a:r>
              <a:rPr b="1" lang="en-GB">
                <a:solidFill>
                  <a:schemeClr val="lt1"/>
                </a:solidFill>
              </a:rPr>
              <a:t> ID</a:t>
            </a:r>
            <a:endParaRPr b="1">
              <a:solidFill>
                <a:schemeClr val="lt1"/>
              </a:solidFill>
            </a:endParaRPr>
          </a:p>
        </p:txBody>
      </p:sp>
      <p:sp>
        <p:nvSpPr>
          <p:cNvPr id="2257" name="Google Shape;2257;p91"/>
          <p:cNvSpPr/>
          <p:nvPr/>
        </p:nvSpPr>
        <p:spPr>
          <a:xfrm>
            <a:off x="7344150" y="3382539"/>
            <a:ext cx="1073100" cy="342900"/>
          </a:xfrm>
          <a:prstGeom prst="roundRect">
            <a:avLst>
              <a:gd fmla="val 50000" name="adj"/>
            </a:avLst>
          </a:prstGeom>
          <a:solidFill>
            <a:srgbClr val="1A9D5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chemeClr val="lt1"/>
                </a:solidFill>
              </a:rPr>
              <a:t>SI</a:t>
            </a:r>
            <a:r>
              <a:rPr b="1" lang="en-GB">
                <a:solidFill>
                  <a:schemeClr val="lt1"/>
                </a:solidFill>
              </a:rPr>
              <a:t> ID</a:t>
            </a:r>
            <a:endParaRPr b="1">
              <a:solidFill>
                <a:schemeClr val="lt1"/>
              </a:solidFill>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2262" name="Shape 2262"/>
        <p:cNvGrpSpPr/>
        <p:nvPr/>
      </p:nvGrpSpPr>
      <p:grpSpPr>
        <a:xfrm>
          <a:off x="0" y="0"/>
          <a:ext cx="0" cy="0"/>
          <a:chOff x="0" y="0"/>
          <a:chExt cx="0" cy="0"/>
        </a:xfrm>
      </p:grpSpPr>
      <p:sp>
        <p:nvSpPr>
          <p:cNvPr id="2263" name="Google Shape;2263;p92"/>
          <p:cNvSpPr/>
          <p:nvPr/>
        </p:nvSpPr>
        <p:spPr>
          <a:xfrm>
            <a:off x="411502" y="260604"/>
            <a:ext cx="68583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SPECIAL MISSION</a:t>
            </a:r>
            <a:endParaRPr sz="800">
              <a:solidFill>
                <a:schemeClr val="dk1"/>
              </a:solidFill>
              <a:latin typeface="Calibri"/>
              <a:ea typeface="Calibri"/>
              <a:cs typeface="Calibri"/>
              <a:sym typeface="Calibri"/>
            </a:endParaRPr>
          </a:p>
        </p:txBody>
      </p:sp>
      <p:sp>
        <p:nvSpPr>
          <p:cNvPr id="2264" name="Google Shape;2264;p92"/>
          <p:cNvSpPr/>
          <p:nvPr/>
        </p:nvSpPr>
        <p:spPr>
          <a:xfrm>
            <a:off x="411502" y="438912"/>
            <a:ext cx="8321400" cy="480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C2B3E"/>
              </a:buClr>
              <a:buSzPts val="2200"/>
              <a:buFont typeface="Arial"/>
              <a:buNone/>
            </a:pPr>
            <a:r>
              <a:rPr b="1" lang="en-GB" sz="2200">
                <a:solidFill>
                  <a:srgbClr val="1C2B3E"/>
                </a:solidFill>
                <a:latin typeface="Poppins"/>
                <a:ea typeface="Poppins"/>
                <a:cs typeface="Poppins"/>
                <a:sym typeface="Poppins"/>
              </a:rPr>
              <a:t>Selera Catering — Bundle Return + Net Invoice</a:t>
            </a:r>
            <a:endParaRPr sz="2200">
              <a:solidFill>
                <a:schemeClr val="dk1"/>
              </a:solidFill>
              <a:latin typeface="Poppins"/>
              <a:ea typeface="Poppins"/>
              <a:cs typeface="Poppins"/>
              <a:sym typeface="Poppins"/>
            </a:endParaRPr>
          </a:p>
        </p:txBody>
      </p:sp>
      <p:sp>
        <p:nvSpPr>
          <p:cNvPr id="2265" name="Google Shape;2265;p92"/>
          <p:cNvSpPr/>
          <p:nvPr/>
        </p:nvSpPr>
        <p:spPr>
          <a:xfrm>
            <a:off x="7765727" y="308610"/>
            <a:ext cx="966900" cy="274200"/>
          </a:xfrm>
          <a:prstGeom prst="roundRect">
            <a:avLst>
              <a:gd fmla="val 50000" name="adj"/>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266" name="Google Shape;2266;p92"/>
          <p:cNvSpPr/>
          <p:nvPr/>
        </p:nvSpPr>
        <p:spPr>
          <a:xfrm>
            <a:off x="7765727" y="308610"/>
            <a:ext cx="9669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Arial"/>
              <a:buNone/>
            </a:pPr>
            <a:r>
              <a:rPr b="1" lang="en-GB" sz="900">
                <a:solidFill>
                  <a:srgbClr val="FFFFFF"/>
                </a:solidFill>
                <a:latin typeface="Arial"/>
                <a:ea typeface="Arial"/>
                <a:cs typeface="Arial"/>
                <a:sym typeface="Arial"/>
              </a:rPr>
              <a:t>🧩 BUNDLE</a:t>
            </a:r>
            <a:endParaRPr sz="900">
              <a:solidFill>
                <a:schemeClr val="dk1"/>
              </a:solidFill>
              <a:latin typeface="Calibri"/>
              <a:ea typeface="Calibri"/>
              <a:cs typeface="Calibri"/>
              <a:sym typeface="Calibri"/>
            </a:endParaRPr>
          </a:p>
        </p:txBody>
      </p:sp>
      <p:sp>
        <p:nvSpPr>
          <p:cNvPr id="2267" name="Google Shape;2267;p92"/>
          <p:cNvSpPr/>
          <p:nvPr/>
        </p:nvSpPr>
        <p:spPr>
          <a:xfrm>
            <a:off x="411502" y="1337310"/>
            <a:ext cx="4040700" cy="3463200"/>
          </a:xfrm>
          <a:prstGeom prst="roundRect">
            <a:avLst>
              <a:gd fmla="val 2376" name="adj"/>
            </a:avLst>
          </a:prstGeom>
          <a:solidFill>
            <a:srgbClr val="F5F7FA"/>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268" name="Google Shape;2268;p92"/>
          <p:cNvSpPr/>
          <p:nvPr/>
        </p:nvSpPr>
        <p:spPr>
          <a:xfrm>
            <a:off x="548669" y="1447038"/>
            <a:ext cx="1508700" cy="233100"/>
          </a:xfrm>
          <a:prstGeom prst="roundRect">
            <a:avLst>
              <a:gd fmla="val 50000"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269" name="Google Shape;2269;p92"/>
          <p:cNvSpPr/>
          <p:nvPr/>
        </p:nvSpPr>
        <p:spPr>
          <a:xfrm>
            <a:off x="548669" y="1447038"/>
            <a:ext cx="1508700" cy="233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FRONT · TEAM SEES</a:t>
            </a:r>
            <a:endParaRPr sz="800">
              <a:solidFill>
                <a:schemeClr val="dk1"/>
              </a:solidFill>
              <a:latin typeface="Calibri"/>
              <a:ea typeface="Calibri"/>
              <a:cs typeface="Calibri"/>
              <a:sym typeface="Calibri"/>
            </a:endParaRPr>
          </a:p>
        </p:txBody>
      </p:sp>
      <p:sp>
        <p:nvSpPr>
          <p:cNvPr id="2270" name="Google Shape;2270;p92"/>
          <p:cNvSpPr/>
          <p:nvPr/>
        </p:nvSpPr>
        <p:spPr>
          <a:xfrm>
            <a:off x="548669" y="1789938"/>
            <a:ext cx="3766200" cy="788700"/>
          </a:xfrm>
          <a:prstGeom prst="roundRect">
            <a:avLst>
              <a:gd fmla="val 6957" name="adj"/>
            </a:avLst>
          </a:prstGeom>
          <a:solidFill>
            <a:srgbClr val="FFFFFF"/>
          </a:solidFill>
          <a:ln cap="flat" cmpd="sng" w="12700">
            <a:solidFill>
              <a:srgbClr val="E3E8EF"/>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271" name="Google Shape;2271;p92"/>
          <p:cNvSpPr/>
          <p:nvPr/>
        </p:nvSpPr>
        <p:spPr>
          <a:xfrm>
            <a:off x="658403" y="1858518"/>
            <a:ext cx="3546900" cy="6516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C2B3E"/>
              </a:buClr>
              <a:buSzPts val="900"/>
              <a:buFont typeface="Arial"/>
              <a:buNone/>
            </a:pPr>
            <a:r>
              <a:rPr i="1" lang="en-GB" sz="900">
                <a:solidFill>
                  <a:srgbClr val="1C2B3E"/>
                </a:solidFill>
                <a:latin typeface="Arial"/>
                <a:ea typeface="Arial"/>
                <a:cs typeface="Arial"/>
                <a:sym typeface="Arial"/>
              </a:rPr>
              <a:t>“Ms. Priya ordered bundles for an event. Deliver them, record the part that came back, and invoice only the net items delivered.”</a:t>
            </a:r>
            <a:endParaRPr sz="900">
              <a:solidFill>
                <a:schemeClr val="dk1"/>
              </a:solidFill>
              <a:latin typeface="Calibri"/>
              <a:ea typeface="Calibri"/>
              <a:cs typeface="Calibri"/>
              <a:sym typeface="Calibri"/>
            </a:endParaRPr>
          </a:p>
        </p:txBody>
      </p:sp>
      <p:sp>
        <p:nvSpPr>
          <p:cNvPr id="2272" name="Google Shape;2272;p92"/>
          <p:cNvSpPr/>
          <p:nvPr/>
        </p:nvSpPr>
        <p:spPr>
          <a:xfrm>
            <a:off x="548669" y="2715768"/>
            <a:ext cx="3766200" cy="178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800"/>
              <a:buFont typeface="Arial"/>
              <a:buNone/>
            </a:pPr>
            <a:r>
              <a:rPr b="1" lang="en-GB" sz="800">
                <a:solidFill>
                  <a:srgbClr val="94A3B8"/>
                </a:solidFill>
                <a:latin typeface="Arial"/>
                <a:ea typeface="Arial"/>
                <a:cs typeface="Arial"/>
                <a:sym typeface="Arial"/>
              </a:rPr>
              <a:t>ORDER ARRIVES AS — special bundle PO (PO-B01)</a:t>
            </a:r>
            <a:endParaRPr sz="800">
              <a:solidFill>
                <a:schemeClr val="dk1"/>
              </a:solidFill>
              <a:latin typeface="Calibri"/>
              <a:ea typeface="Calibri"/>
              <a:cs typeface="Calibri"/>
              <a:sym typeface="Calibri"/>
            </a:endParaRPr>
          </a:p>
        </p:txBody>
      </p:sp>
      <p:sp>
        <p:nvSpPr>
          <p:cNvPr id="2273" name="Google Shape;2273;p92"/>
          <p:cNvSpPr/>
          <p:nvPr/>
        </p:nvSpPr>
        <p:spPr>
          <a:xfrm>
            <a:off x="548669" y="2935224"/>
            <a:ext cx="3766200" cy="233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B3E"/>
              </a:buClr>
              <a:buSzPts val="900"/>
              <a:buFont typeface="Arial"/>
              <a:buNone/>
            </a:pPr>
            <a:r>
              <a:rPr lang="en-GB" sz="900">
                <a:solidFill>
                  <a:srgbClr val="1C2B3E"/>
                </a:solidFill>
                <a:latin typeface="Arial"/>
                <a:ea typeface="Arial"/>
                <a:cs typeface="Arial"/>
                <a:sym typeface="Arial"/>
              </a:rPr>
              <a:t>•  Restaurant Starter Kit × 5 sets</a:t>
            </a:r>
            <a:endParaRPr sz="900">
              <a:solidFill>
                <a:schemeClr val="dk1"/>
              </a:solidFill>
              <a:latin typeface="Calibri"/>
              <a:ea typeface="Calibri"/>
              <a:cs typeface="Calibri"/>
              <a:sym typeface="Calibri"/>
            </a:endParaRPr>
          </a:p>
        </p:txBody>
      </p:sp>
      <p:sp>
        <p:nvSpPr>
          <p:cNvPr id="2274" name="Google Shape;2274;p92"/>
          <p:cNvSpPr/>
          <p:nvPr/>
        </p:nvSpPr>
        <p:spPr>
          <a:xfrm>
            <a:off x="548669" y="3168396"/>
            <a:ext cx="3766200" cy="233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B3E"/>
              </a:buClr>
              <a:buSzPts val="900"/>
              <a:buFont typeface="Arial"/>
              <a:buNone/>
            </a:pPr>
            <a:r>
              <a:rPr lang="en-GB" sz="900">
                <a:solidFill>
                  <a:srgbClr val="1C2B3E"/>
                </a:solidFill>
                <a:latin typeface="Arial"/>
                <a:ea typeface="Arial"/>
                <a:cs typeface="Arial"/>
                <a:sym typeface="Arial"/>
              </a:rPr>
              <a:t>•  Each: oil ×1, rice ×1, soy ×12, oyster ×2</a:t>
            </a:r>
            <a:endParaRPr sz="900">
              <a:solidFill>
                <a:schemeClr val="dk1"/>
              </a:solidFill>
              <a:latin typeface="Calibri"/>
              <a:ea typeface="Calibri"/>
              <a:cs typeface="Calibri"/>
              <a:sym typeface="Calibri"/>
            </a:endParaRPr>
          </a:p>
        </p:txBody>
      </p:sp>
      <p:sp>
        <p:nvSpPr>
          <p:cNvPr id="2275" name="Google Shape;2275;p92"/>
          <p:cNvSpPr/>
          <p:nvPr/>
        </p:nvSpPr>
        <p:spPr>
          <a:xfrm>
            <a:off x="548669" y="3429000"/>
            <a:ext cx="3766200" cy="342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B3E"/>
              </a:buClr>
              <a:buSzPts val="900"/>
              <a:buFont typeface="Arial"/>
              <a:buNone/>
            </a:pPr>
            <a:r>
              <a:rPr i="0" lang="en-GB" sz="900">
                <a:solidFill>
                  <a:srgbClr val="1C2B3E"/>
                </a:solidFill>
                <a:latin typeface="Arial"/>
                <a:ea typeface="Arial"/>
                <a:cs typeface="Arial"/>
                <a:sym typeface="Arial"/>
              </a:rPr>
              <a:t>•  Soy portion of 2 sets returned after delivery</a:t>
            </a:r>
            <a:endParaRPr sz="900">
              <a:solidFill>
                <a:schemeClr val="dk1"/>
              </a:solidFill>
              <a:latin typeface="Calibri"/>
              <a:ea typeface="Calibri"/>
              <a:cs typeface="Calibri"/>
              <a:sym typeface="Calibri"/>
            </a:endParaRPr>
          </a:p>
        </p:txBody>
      </p:sp>
      <p:sp>
        <p:nvSpPr>
          <p:cNvPr id="2276" name="Google Shape;2276;p92"/>
          <p:cNvSpPr/>
          <p:nvPr/>
        </p:nvSpPr>
        <p:spPr>
          <a:xfrm>
            <a:off x="548669" y="4265676"/>
            <a:ext cx="3766200" cy="178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800"/>
              <a:buFont typeface="Arial"/>
              <a:buNone/>
            </a:pPr>
            <a:r>
              <a:rPr b="1" lang="en-GB" sz="800">
                <a:solidFill>
                  <a:srgbClr val="94A3B8"/>
                </a:solidFill>
                <a:latin typeface="Arial"/>
                <a:ea typeface="Arial"/>
                <a:cs typeface="Arial"/>
                <a:sym typeface="Arial"/>
              </a:rPr>
              <a:t>RECORD ON BOARD</a:t>
            </a:r>
            <a:endParaRPr sz="800">
              <a:solidFill>
                <a:schemeClr val="dk1"/>
              </a:solidFill>
              <a:latin typeface="Calibri"/>
              <a:ea typeface="Calibri"/>
              <a:cs typeface="Calibri"/>
              <a:sym typeface="Calibri"/>
            </a:endParaRPr>
          </a:p>
        </p:txBody>
      </p:sp>
      <p:sp>
        <p:nvSpPr>
          <p:cNvPr id="2277" name="Google Shape;2277;p92"/>
          <p:cNvSpPr/>
          <p:nvPr/>
        </p:nvSpPr>
        <p:spPr>
          <a:xfrm>
            <a:off x="548669" y="4471416"/>
            <a:ext cx="565800" cy="274200"/>
          </a:xfrm>
          <a:prstGeom prst="roundRect">
            <a:avLst>
              <a:gd fmla="val 50000" name="adj"/>
            </a:avLst>
          </a:prstGeom>
          <a:solidFill>
            <a:srgbClr val="FBEBD9"/>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278" name="Google Shape;2278;p92"/>
          <p:cNvSpPr/>
          <p:nvPr/>
        </p:nvSpPr>
        <p:spPr>
          <a:xfrm>
            <a:off x="548669" y="4471416"/>
            <a:ext cx="5658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SO ID</a:t>
            </a:r>
            <a:endParaRPr sz="800">
              <a:solidFill>
                <a:schemeClr val="dk1"/>
              </a:solidFill>
              <a:latin typeface="Calibri"/>
              <a:ea typeface="Calibri"/>
              <a:cs typeface="Calibri"/>
              <a:sym typeface="Calibri"/>
            </a:endParaRPr>
          </a:p>
        </p:txBody>
      </p:sp>
      <p:sp>
        <p:nvSpPr>
          <p:cNvPr id="2279" name="Google Shape;2279;p92"/>
          <p:cNvSpPr/>
          <p:nvPr/>
        </p:nvSpPr>
        <p:spPr>
          <a:xfrm>
            <a:off x="1217360" y="4471416"/>
            <a:ext cx="565800" cy="274200"/>
          </a:xfrm>
          <a:prstGeom prst="roundRect">
            <a:avLst>
              <a:gd fmla="val 50000" name="adj"/>
            </a:avLst>
          </a:prstGeom>
          <a:solidFill>
            <a:srgbClr val="FBEBD9"/>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280" name="Google Shape;2280;p92"/>
          <p:cNvSpPr/>
          <p:nvPr/>
        </p:nvSpPr>
        <p:spPr>
          <a:xfrm>
            <a:off x="1217360" y="4471416"/>
            <a:ext cx="5658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DN ID</a:t>
            </a:r>
            <a:endParaRPr sz="800">
              <a:solidFill>
                <a:schemeClr val="dk1"/>
              </a:solidFill>
              <a:latin typeface="Calibri"/>
              <a:ea typeface="Calibri"/>
              <a:cs typeface="Calibri"/>
              <a:sym typeface="Calibri"/>
            </a:endParaRPr>
          </a:p>
        </p:txBody>
      </p:sp>
      <p:sp>
        <p:nvSpPr>
          <p:cNvPr id="2281" name="Google Shape;2281;p92"/>
          <p:cNvSpPr/>
          <p:nvPr/>
        </p:nvSpPr>
        <p:spPr>
          <a:xfrm>
            <a:off x="4692151" y="1337310"/>
            <a:ext cx="4040700" cy="3463200"/>
          </a:xfrm>
          <a:prstGeom prst="roundRect">
            <a:avLst>
              <a:gd fmla="val 2376"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282" name="Google Shape;2282;p92"/>
          <p:cNvSpPr/>
          <p:nvPr/>
        </p:nvSpPr>
        <p:spPr>
          <a:xfrm>
            <a:off x="4829318" y="1447038"/>
            <a:ext cx="1714500" cy="233100"/>
          </a:xfrm>
          <a:prstGeom prst="roundRect">
            <a:avLst>
              <a:gd fmla="val 50000" name="adj"/>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283" name="Google Shape;2283;p92"/>
          <p:cNvSpPr/>
          <p:nvPr/>
        </p:nvSpPr>
        <p:spPr>
          <a:xfrm>
            <a:off x="4829318" y="1447038"/>
            <a:ext cx="1714500" cy="233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BACK · FACILITATOR QC</a:t>
            </a:r>
            <a:endParaRPr sz="800">
              <a:solidFill>
                <a:schemeClr val="dk1"/>
              </a:solidFill>
              <a:latin typeface="Calibri"/>
              <a:ea typeface="Calibri"/>
              <a:cs typeface="Calibri"/>
              <a:sym typeface="Calibri"/>
            </a:endParaRPr>
          </a:p>
        </p:txBody>
      </p:sp>
      <p:pic>
        <p:nvPicPr>
          <p:cNvPr descr="/home/claude/maia/icons/FiCheck_accent.png" id="2284" name="Google Shape;2284;p92"/>
          <p:cNvPicPr preferRelativeResize="0"/>
          <p:nvPr/>
        </p:nvPicPr>
        <p:blipFill rotWithShape="1">
          <a:blip r:embed="rId3">
            <a:alphaModFix/>
          </a:blip>
          <a:srcRect b="0" l="0" r="0" t="0"/>
          <a:stretch/>
        </p:blipFill>
        <p:spPr>
          <a:xfrm>
            <a:off x="4843035" y="1831086"/>
            <a:ext cx="150876" cy="150876"/>
          </a:xfrm>
          <a:prstGeom prst="rect">
            <a:avLst/>
          </a:prstGeom>
          <a:noFill/>
          <a:ln>
            <a:noFill/>
          </a:ln>
        </p:spPr>
      </p:pic>
      <p:sp>
        <p:nvSpPr>
          <p:cNvPr id="2285" name="Google Shape;2285;p92"/>
          <p:cNvSpPr/>
          <p:nvPr/>
        </p:nvSpPr>
        <p:spPr>
          <a:xfrm>
            <a:off x="5076220" y="1776222"/>
            <a:ext cx="3505800" cy="7293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FFFFFF"/>
              </a:buClr>
              <a:buSzPts val="900"/>
              <a:buFont typeface="Arial"/>
              <a:buNone/>
            </a:pPr>
            <a:r>
              <a:rPr lang="en-GB" sz="900">
                <a:solidFill>
                  <a:srgbClr val="FFFFFF"/>
                </a:solidFill>
                <a:latin typeface="Arial"/>
                <a:ea typeface="Arial"/>
                <a:cs typeface="Arial"/>
                <a:sym typeface="Arial"/>
              </a:rPr>
              <a:t>Return Note created from the DN for only the returned components — not the whole bundle</a:t>
            </a:r>
            <a:endParaRPr sz="900">
              <a:solidFill>
                <a:schemeClr val="dk1"/>
              </a:solidFill>
              <a:latin typeface="Calibri"/>
              <a:ea typeface="Calibri"/>
              <a:cs typeface="Calibri"/>
              <a:sym typeface="Calibri"/>
            </a:endParaRPr>
          </a:p>
        </p:txBody>
      </p:sp>
      <p:pic>
        <p:nvPicPr>
          <p:cNvPr descr="/home/claude/maia/icons/FiCheck_accent.png" id="2286" name="Google Shape;2286;p92"/>
          <p:cNvPicPr preferRelativeResize="0"/>
          <p:nvPr/>
        </p:nvPicPr>
        <p:blipFill rotWithShape="1">
          <a:blip r:embed="rId3">
            <a:alphaModFix/>
          </a:blip>
          <a:srcRect b="0" l="0" r="0" t="0"/>
          <a:stretch/>
        </p:blipFill>
        <p:spPr>
          <a:xfrm>
            <a:off x="4843035" y="2560320"/>
            <a:ext cx="150876" cy="150876"/>
          </a:xfrm>
          <a:prstGeom prst="rect">
            <a:avLst/>
          </a:prstGeom>
          <a:noFill/>
          <a:ln>
            <a:noFill/>
          </a:ln>
        </p:spPr>
      </p:pic>
      <p:sp>
        <p:nvSpPr>
          <p:cNvPr id="2287" name="Google Shape;2287;p92"/>
          <p:cNvSpPr/>
          <p:nvPr/>
        </p:nvSpPr>
        <p:spPr>
          <a:xfrm>
            <a:off x="5076220" y="2505456"/>
            <a:ext cx="3505800" cy="7293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FFFFFF"/>
              </a:buClr>
              <a:buSzPts val="900"/>
              <a:buFont typeface="Arial"/>
              <a:buNone/>
            </a:pPr>
            <a:r>
              <a:rPr lang="en-GB" sz="900">
                <a:solidFill>
                  <a:srgbClr val="FFFFFF"/>
                </a:solidFill>
                <a:latin typeface="Arial"/>
                <a:ea typeface="Arial"/>
                <a:cs typeface="Arial"/>
                <a:sym typeface="Arial"/>
              </a:rPr>
              <a:t>Sales Invoice bills the NET delivered items/components after the partial return</a:t>
            </a:r>
            <a:endParaRPr sz="900">
              <a:solidFill>
                <a:schemeClr val="dk1"/>
              </a:solidFill>
              <a:latin typeface="Calibri"/>
              <a:ea typeface="Calibri"/>
              <a:cs typeface="Calibri"/>
              <a:sym typeface="Calibri"/>
            </a:endParaRPr>
          </a:p>
        </p:txBody>
      </p:sp>
      <p:pic>
        <p:nvPicPr>
          <p:cNvPr descr="/home/claude/maia/icons/FiCheck_accent.png" id="2288" name="Google Shape;2288;p92"/>
          <p:cNvPicPr preferRelativeResize="0"/>
          <p:nvPr/>
        </p:nvPicPr>
        <p:blipFill rotWithShape="1">
          <a:blip r:embed="rId3">
            <a:alphaModFix/>
          </a:blip>
          <a:srcRect b="0" l="0" r="0" t="0"/>
          <a:stretch/>
        </p:blipFill>
        <p:spPr>
          <a:xfrm>
            <a:off x="4843035" y="3289554"/>
            <a:ext cx="150876" cy="150876"/>
          </a:xfrm>
          <a:prstGeom prst="rect">
            <a:avLst/>
          </a:prstGeom>
          <a:noFill/>
          <a:ln>
            <a:noFill/>
          </a:ln>
        </p:spPr>
      </p:pic>
      <p:sp>
        <p:nvSpPr>
          <p:cNvPr id="2289" name="Google Shape;2289;p92"/>
          <p:cNvSpPr/>
          <p:nvPr/>
        </p:nvSpPr>
        <p:spPr>
          <a:xfrm>
            <a:off x="5076220" y="3234690"/>
            <a:ext cx="3505800" cy="7293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FFFFFF"/>
              </a:buClr>
              <a:buSzPts val="900"/>
              <a:buFont typeface="Arial"/>
              <a:buNone/>
            </a:pPr>
            <a:r>
              <a:rPr lang="en-GB" sz="900">
                <a:solidFill>
                  <a:srgbClr val="FFFFFF"/>
                </a:solidFill>
                <a:latin typeface="Arial"/>
                <a:ea typeface="Arial"/>
                <a:cs typeface="Arial"/>
                <a:sym typeface="Arial"/>
              </a:rPr>
              <a:t>Customer Item Price still applied if Selera has a preferential bundle rate</a:t>
            </a:r>
            <a:endParaRPr sz="900">
              <a:solidFill>
                <a:schemeClr val="dk1"/>
              </a:solidFill>
              <a:latin typeface="Calibri"/>
              <a:ea typeface="Calibri"/>
              <a:cs typeface="Calibri"/>
              <a:sym typeface="Calibri"/>
            </a:endParaRPr>
          </a:p>
        </p:txBody>
      </p:sp>
      <p:sp>
        <p:nvSpPr>
          <p:cNvPr id="2290" name="Google Shape;2290;p92"/>
          <p:cNvSpPr/>
          <p:nvPr/>
        </p:nvSpPr>
        <p:spPr>
          <a:xfrm>
            <a:off x="4829318" y="4114800"/>
            <a:ext cx="3766200" cy="514500"/>
          </a:xfrm>
          <a:prstGeom prst="roundRect">
            <a:avLst>
              <a:gd fmla="val 10667" name="adj"/>
            </a:avLst>
          </a:prstGeom>
          <a:solidFill>
            <a:srgbClr val="32495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291" name="Google Shape;2291;p92"/>
          <p:cNvSpPr/>
          <p:nvPr/>
        </p:nvSpPr>
        <p:spPr>
          <a:xfrm>
            <a:off x="4925336" y="4217670"/>
            <a:ext cx="274200" cy="274200"/>
          </a:xfrm>
          <a:prstGeom prst="roundRect">
            <a:avLst>
              <a:gd fmla="val 22000" name="adj"/>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AlertTriangle_white.png" id="2292" name="Google Shape;2292;p92"/>
          <p:cNvPicPr preferRelativeResize="0"/>
          <p:nvPr/>
        </p:nvPicPr>
        <p:blipFill rotWithShape="1">
          <a:blip r:embed="rId4">
            <a:alphaModFix/>
          </a:blip>
          <a:srcRect b="0" l="0" r="0" t="0"/>
          <a:stretch/>
        </p:blipFill>
        <p:spPr>
          <a:xfrm>
            <a:off x="4993919" y="4286250"/>
            <a:ext cx="137160" cy="137160"/>
          </a:xfrm>
          <a:prstGeom prst="rect">
            <a:avLst/>
          </a:prstGeom>
          <a:noFill/>
          <a:ln>
            <a:noFill/>
          </a:ln>
        </p:spPr>
      </p:pic>
      <p:sp>
        <p:nvSpPr>
          <p:cNvPr id="2293" name="Google Shape;2293;p92"/>
          <p:cNvSpPr/>
          <p:nvPr/>
        </p:nvSpPr>
        <p:spPr>
          <a:xfrm>
            <a:off x="5281971" y="4169664"/>
            <a:ext cx="3300000" cy="4116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FFFFFF"/>
              </a:buClr>
              <a:buSzPts val="900"/>
              <a:buFont typeface="Arial"/>
              <a:buNone/>
            </a:pPr>
            <a:r>
              <a:rPr b="1" lang="en-GB" sz="900">
                <a:solidFill>
                  <a:srgbClr val="FFFFFF"/>
                </a:solidFill>
                <a:latin typeface="Arial"/>
                <a:ea typeface="Arial"/>
                <a:cs typeface="Arial"/>
                <a:sym typeface="Arial"/>
              </a:rPr>
              <a:t>Pass = net delivered billing, not just a completed DN.</a:t>
            </a:r>
            <a:endParaRPr sz="900">
              <a:solidFill>
                <a:schemeClr val="dk1"/>
              </a:solidFill>
              <a:latin typeface="Calibri"/>
              <a:ea typeface="Calibri"/>
              <a:cs typeface="Calibri"/>
              <a:sym typeface="Calibri"/>
            </a:endParaRPr>
          </a:p>
        </p:txBody>
      </p:sp>
      <p:sp>
        <p:nvSpPr>
          <p:cNvPr id="2294" name="Google Shape;2294;p92"/>
          <p:cNvSpPr/>
          <p:nvPr/>
        </p:nvSpPr>
        <p:spPr>
          <a:xfrm>
            <a:off x="1879192" y="4471416"/>
            <a:ext cx="565800" cy="274200"/>
          </a:xfrm>
          <a:prstGeom prst="roundRect">
            <a:avLst>
              <a:gd fmla="val 50000" name="adj"/>
            </a:avLst>
          </a:prstGeom>
          <a:solidFill>
            <a:srgbClr val="FBEBD9"/>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295" name="Google Shape;2295;p92"/>
          <p:cNvSpPr/>
          <p:nvPr/>
        </p:nvSpPr>
        <p:spPr>
          <a:xfrm>
            <a:off x="1879192" y="4471416"/>
            <a:ext cx="5658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RN ID</a:t>
            </a:r>
            <a:endParaRPr sz="800">
              <a:solidFill>
                <a:schemeClr val="dk1"/>
              </a:solidFill>
              <a:latin typeface="Calibri"/>
              <a:ea typeface="Calibri"/>
              <a:cs typeface="Calibri"/>
              <a:sym typeface="Calibri"/>
            </a:endParaRPr>
          </a:p>
        </p:txBody>
      </p:sp>
      <p:sp>
        <p:nvSpPr>
          <p:cNvPr id="2296" name="Google Shape;2296;p92"/>
          <p:cNvSpPr/>
          <p:nvPr/>
        </p:nvSpPr>
        <p:spPr>
          <a:xfrm>
            <a:off x="2544454" y="4471416"/>
            <a:ext cx="565800" cy="274200"/>
          </a:xfrm>
          <a:prstGeom prst="roundRect">
            <a:avLst>
              <a:gd fmla="val 50000" name="adj"/>
            </a:avLst>
          </a:prstGeom>
          <a:solidFill>
            <a:srgbClr val="FBEBD9"/>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297" name="Google Shape;2297;p92"/>
          <p:cNvSpPr/>
          <p:nvPr/>
        </p:nvSpPr>
        <p:spPr>
          <a:xfrm>
            <a:off x="2544454" y="4471416"/>
            <a:ext cx="5658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SI ID</a:t>
            </a:r>
            <a:endParaRPr sz="800">
              <a:solidFill>
                <a:schemeClr val="dk1"/>
              </a:solidFill>
              <a:latin typeface="Calibri"/>
              <a:ea typeface="Calibri"/>
              <a:cs typeface="Calibri"/>
              <a:sym typeface="Calibri"/>
            </a:endParaRPr>
          </a:p>
        </p:txBody>
      </p:sp>
      <p:sp>
        <p:nvSpPr>
          <p:cNvPr id="2298" name="Google Shape;2298;p92"/>
          <p:cNvSpPr txBox="1"/>
          <p:nvPr>
            <p:ph idx="12" type="sldNum"/>
          </p:nvPr>
        </p:nvSpPr>
        <p:spPr>
          <a:xfrm>
            <a:off x="8347216" y="4750189"/>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2303" name="Shape 2303"/>
        <p:cNvGrpSpPr/>
        <p:nvPr/>
      </p:nvGrpSpPr>
      <p:grpSpPr>
        <a:xfrm>
          <a:off x="0" y="0"/>
          <a:ext cx="0" cy="0"/>
          <a:chOff x="0" y="0"/>
          <a:chExt cx="0" cy="0"/>
        </a:xfrm>
      </p:grpSpPr>
      <p:sp>
        <p:nvSpPr>
          <p:cNvPr id="2304" name="Google Shape;2304;p93"/>
          <p:cNvSpPr/>
          <p:nvPr/>
        </p:nvSpPr>
        <p:spPr>
          <a:xfrm>
            <a:off x="7765727" y="308610"/>
            <a:ext cx="967030" cy="274320"/>
          </a:xfrm>
          <a:prstGeom prst="roundRect">
            <a:avLst>
              <a:gd fmla="val 50000" name="adj"/>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305" name="Google Shape;2305;p93"/>
          <p:cNvSpPr/>
          <p:nvPr/>
        </p:nvSpPr>
        <p:spPr>
          <a:xfrm>
            <a:off x="7765727" y="308610"/>
            <a:ext cx="96703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Arial"/>
              <a:buNone/>
            </a:pPr>
            <a:r>
              <a:rPr b="1" lang="en-GB" sz="900">
                <a:solidFill>
                  <a:srgbClr val="FFFFFF"/>
                </a:solidFill>
                <a:latin typeface="Arial"/>
                <a:ea typeface="Arial"/>
                <a:cs typeface="Arial"/>
                <a:sym typeface="Arial"/>
              </a:rPr>
              <a:t>💸 AP</a:t>
            </a:r>
            <a:endParaRPr sz="900">
              <a:solidFill>
                <a:schemeClr val="dk1"/>
              </a:solidFill>
              <a:latin typeface="Calibri"/>
              <a:ea typeface="Calibri"/>
              <a:cs typeface="Calibri"/>
              <a:sym typeface="Calibri"/>
            </a:endParaRPr>
          </a:p>
        </p:txBody>
      </p:sp>
      <p:sp>
        <p:nvSpPr>
          <p:cNvPr id="2306" name="Google Shape;2306;p93"/>
          <p:cNvSpPr txBox="1"/>
          <p:nvPr>
            <p:ph idx="12" type="sldNum"/>
          </p:nvPr>
        </p:nvSpPr>
        <p:spPr>
          <a:xfrm>
            <a:off x="8347216" y="4750189"/>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307" name="Google Shape;2307;p93"/>
          <p:cNvSpPr/>
          <p:nvPr/>
        </p:nvSpPr>
        <p:spPr>
          <a:xfrm>
            <a:off x="411502" y="438912"/>
            <a:ext cx="8321400" cy="480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2200">
                <a:solidFill>
                  <a:srgbClr val="1C2B3E"/>
                </a:solidFill>
                <a:latin typeface="Poppins"/>
                <a:ea typeface="Poppins"/>
                <a:cs typeface="Poppins"/>
                <a:sym typeface="Poppins"/>
              </a:rPr>
              <a:t>Accounts Payable — Supplier Invoice Match</a:t>
            </a:r>
            <a:endParaRPr b="1" sz="2200">
              <a:solidFill>
                <a:srgbClr val="1C2B3E"/>
              </a:solidFill>
              <a:latin typeface="Poppins"/>
              <a:ea typeface="Poppins"/>
              <a:cs typeface="Poppins"/>
              <a:sym typeface="Poppins"/>
            </a:endParaRPr>
          </a:p>
        </p:txBody>
      </p:sp>
      <p:sp>
        <p:nvSpPr>
          <p:cNvPr id="2308" name="Google Shape;2308;p93"/>
          <p:cNvSpPr/>
          <p:nvPr/>
        </p:nvSpPr>
        <p:spPr>
          <a:xfrm>
            <a:off x="411550" y="1190103"/>
            <a:ext cx="2704800" cy="3288900"/>
          </a:xfrm>
          <a:prstGeom prst="roundRect">
            <a:avLst>
              <a:gd fmla="val 6052" name="adj"/>
            </a:avLst>
          </a:prstGeom>
          <a:solidFill>
            <a:srgbClr val="E3E8EF"/>
          </a:solidFill>
          <a:ln cap="flat" cmpd="sng" w="9525">
            <a:solidFill>
              <a:srgbClr val="E3E8EF"/>
            </a:solidFill>
            <a:prstDash val="solid"/>
            <a:round/>
            <a:headEnd len="sm" w="sm" type="none"/>
            <a:tailEnd len="sm" w="sm" type="none"/>
          </a:ln>
        </p:spPr>
        <p:txBody>
          <a:bodyPr anchorCtr="0" anchor="t" bIns="34275" lIns="68575" spcFirstLastPara="1" rIns="287850" wrap="square" tIns="34275">
            <a:noAutofit/>
          </a:bodyPr>
          <a:lstStyle/>
          <a:p>
            <a:pPr indent="0" lvl="0" marL="180000" rtl="0" algn="l">
              <a:spcBef>
                <a:spcPts val="0"/>
              </a:spcBef>
              <a:spcAft>
                <a:spcPts val="0"/>
              </a:spcAft>
              <a:buNone/>
            </a:pPr>
            <a:r>
              <a:t/>
            </a:r>
            <a:endParaRPr b="1" sz="1200">
              <a:solidFill>
                <a:schemeClr val="accent1"/>
              </a:solidFill>
            </a:endParaRPr>
          </a:p>
          <a:p>
            <a:pPr indent="0" lvl="0" marL="180000" rtl="0" algn="l">
              <a:spcBef>
                <a:spcPts val="0"/>
              </a:spcBef>
              <a:spcAft>
                <a:spcPts val="0"/>
              </a:spcAft>
              <a:buNone/>
            </a:pPr>
            <a:r>
              <a:rPr b="1" lang="en-GB">
                <a:solidFill>
                  <a:srgbClr val="76889B"/>
                </a:solidFill>
              </a:rPr>
              <a:t>Scenario</a:t>
            </a:r>
            <a:endParaRPr b="1">
              <a:solidFill>
                <a:srgbClr val="5B6B7D"/>
              </a:solidFill>
            </a:endParaRPr>
          </a:p>
          <a:p>
            <a:pPr indent="0" lvl="0" marL="180000" rtl="0" algn="l">
              <a:spcBef>
                <a:spcPts val="0"/>
              </a:spcBef>
              <a:spcAft>
                <a:spcPts val="0"/>
              </a:spcAft>
              <a:buNone/>
            </a:pPr>
            <a:r>
              <a:t/>
            </a:r>
            <a:endParaRPr b="1" sz="1200">
              <a:solidFill>
                <a:schemeClr val="accent1"/>
              </a:solidFill>
            </a:endParaRPr>
          </a:p>
          <a:p>
            <a:pPr indent="0" lvl="0" marL="180000" marR="4652" rtl="0" algn="l">
              <a:lnSpc>
                <a:spcPct val="115000"/>
              </a:lnSpc>
              <a:spcBef>
                <a:spcPts val="0"/>
              </a:spcBef>
              <a:spcAft>
                <a:spcPts val="0"/>
              </a:spcAft>
              <a:buNone/>
            </a:pPr>
            <a:r>
              <a:rPr i="1" lang="en-GB" sz="1600">
                <a:solidFill>
                  <a:srgbClr val="1C2B3E"/>
                </a:solidFill>
              </a:rPr>
              <a:t>“A supplier invoice arrived. Pay only what matches what was actually received.”</a:t>
            </a:r>
            <a:endParaRPr i="1" sz="1600">
              <a:solidFill>
                <a:srgbClr val="1C2B3E"/>
              </a:solidFill>
            </a:endParaRPr>
          </a:p>
          <a:p>
            <a:pPr indent="0" lvl="0" marL="0" marR="4652" rtl="0" algn="l">
              <a:lnSpc>
                <a:spcPct val="115000"/>
              </a:lnSpc>
              <a:spcBef>
                <a:spcPts val="0"/>
              </a:spcBef>
              <a:spcAft>
                <a:spcPts val="0"/>
              </a:spcAft>
              <a:buNone/>
            </a:pPr>
            <a:r>
              <a:t/>
            </a:r>
            <a:endParaRPr i="1" sz="1600">
              <a:solidFill>
                <a:srgbClr val="1C2B3E"/>
              </a:solidFill>
            </a:endParaRPr>
          </a:p>
        </p:txBody>
      </p:sp>
      <p:sp>
        <p:nvSpPr>
          <p:cNvPr id="2309" name="Google Shape;2309;p93"/>
          <p:cNvSpPr/>
          <p:nvPr/>
        </p:nvSpPr>
        <p:spPr>
          <a:xfrm>
            <a:off x="3219650" y="1190100"/>
            <a:ext cx="3705600" cy="3288900"/>
          </a:xfrm>
          <a:prstGeom prst="roundRect">
            <a:avLst>
              <a:gd fmla="val 6052" name="adj"/>
            </a:avLst>
          </a:prstGeom>
          <a:solidFill>
            <a:srgbClr val="FBEBD9"/>
          </a:solidFill>
          <a:ln cap="flat" cmpd="sng" w="9525">
            <a:solidFill>
              <a:schemeClr val="accent2"/>
            </a:solidFill>
            <a:prstDash val="solid"/>
            <a:round/>
            <a:headEnd len="sm" w="sm" type="none"/>
            <a:tailEnd len="sm" w="sm" type="none"/>
          </a:ln>
        </p:spPr>
        <p:txBody>
          <a:bodyPr anchorCtr="0" anchor="t" bIns="34275" lIns="68575" spcFirstLastPara="1" rIns="68575" wrap="square" tIns="34275">
            <a:noAutofit/>
          </a:bodyPr>
          <a:lstStyle/>
          <a:p>
            <a:pPr indent="0" lvl="0" marL="180000" marR="118292" rtl="0" algn="l">
              <a:spcBef>
                <a:spcPts val="0"/>
              </a:spcBef>
              <a:spcAft>
                <a:spcPts val="0"/>
              </a:spcAft>
              <a:buNone/>
            </a:pPr>
            <a:r>
              <a:t/>
            </a:r>
            <a:endParaRPr b="1" sz="1200">
              <a:solidFill>
                <a:schemeClr val="accent1"/>
              </a:solidFill>
            </a:endParaRPr>
          </a:p>
          <a:p>
            <a:pPr indent="0" lvl="0" marL="180000" marR="118292" rtl="0" algn="l">
              <a:lnSpc>
                <a:spcPct val="115000"/>
              </a:lnSpc>
              <a:spcBef>
                <a:spcPts val="0"/>
              </a:spcBef>
              <a:spcAft>
                <a:spcPts val="0"/>
              </a:spcAft>
              <a:buNone/>
            </a:pPr>
            <a:r>
              <a:rPr lang="en-GB" sz="1200">
                <a:solidFill>
                  <a:schemeClr val="dk2"/>
                </a:solidFill>
              </a:rPr>
              <a:t>A</a:t>
            </a:r>
            <a:r>
              <a:rPr lang="en-GB" sz="1200">
                <a:solidFill>
                  <a:schemeClr val="dk2"/>
                </a:solidFill>
              </a:rPr>
              <a:t>rrives as</a:t>
            </a:r>
            <a:endParaRPr sz="1200">
              <a:solidFill>
                <a:schemeClr val="dk2"/>
              </a:solidFill>
            </a:endParaRPr>
          </a:p>
          <a:p>
            <a:pPr indent="0" lvl="0" marL="180000" marR="118292" rtl="0" algn="l">
              <a:lnSpc>
                <a:spcPct val="115000"/>
              </a:lnSpc>
              <a:spcBef>
                <a:spcPts val="0"/>
              </a:spcBef>
              <a:spcAft>
                <a:spcPts val="0"/>
              </a:spcAft>
              <a:buNone/>
            </a:pPr>
            <a:r>
              <a:rPr b="1" lang="en-GB" sz="1600">
                <a:solidFill>
                  <a:schemeClr val="accent1"/>
                </a:solidFill>
              </a:rPr>
              <a:t>Supplier invoice AP-01 + DO/GRN</a:t>
            </a:r>
            <a:endParaRPr b="1" sz="1600">
              <a:solidFill>
                <a:schemeClr val="accent1"/>
              </a:solidFill>
            </a:endParaRPr>
          </a:p>
          <a:p>
            <a:pPr indent="0" lvl="0" marL="180000" marR="118292" rtl="0" algn="l">
              <a:lnSpc>
                <a:spcPct val="115000"/>
              </a:lnSpc>
              <a:spcBef>
                <a:spcPts val="0"/>
              </a:spcBef>
              <a:spcAft>
                <a:spcPts val="0"/>
              </a:spcAft>
              <a:buNone/>
            </a:pPr>
            <a:r>
              <a:t/>
            </a:r>
            <a:endParaRPr b="1" sz="1200">
              <a:solidFill>
                <a:schemeClr val="dk2"/>
              </a:solidFill>
            </a:endParaRPr>
          </a:p>
          <a:p>
            <a:pPr indent="-317500" lvl="0" marL="630000" marR="211087" rtl="0" algn="l">
              <a:lnSpc>
                <a:spcPct val="115000"/>
              </a:lnSpc>
              <a:spcBef>
                <a:spcPts val="0"/>
              </a:spcBef>
              <a:spcAft>
                <a:spcPts val="0"/>
              </a:spcAft>
              <a:buClr>
                <a:schemeClr val="dk2"/>
              </a:buClr>
              <a:buSzPts val="1400"/>
              <a:buChar char="●"/>
            </a:pPr>
            <a:r>
              <a:rPr lang="en-GB">
                <a:solidFill>
                  <a:schemeClr val="dk2"/>
                </a:solidFill>
              </a:rPr>
              <a:t>Premium Cooking Oil + Flour lines</a:t>
            </a:r>
            <a:endParaRPr>
              <a:solidFill>
                <a:schemeClr val="dk2"/>
              </a:solidFill>
            </a:endParaRPr>
          </a:p>
          <a:p>
            <a:pPr indent="-317500" lvl="0" marL="630000" marR="211087" rtl="0" algn="l">
              <a:lnSpc>
                <a:spcPct val="115000"/>
              </a:lnSpc>
              <a:spcBef>
                <a:spcPts val="1000"/>
              </a:spcBef>
              <a:spcAft>
                <a:spcPts val="0"/>
              </a:spcAft>
              <a:buClr>
                <a:schemeClr val="dk2"/>
              </a:buClr>
              <a:buSzPts val="1400"/>
              <a:buChar char="●"/>
            </a:pPr>
            <a:r>
              <a:rPr lang="en-GB">
                <a:solidFill>
                  <a:schemeClr val="dk2"/>
                </a:solidFill>
              </a:rPr>
              <a:t>One line has a UOM mismatch</a:t>
            </a:r>
            <a:endParaRPr>
              <a:solidFill>
                <a:schemeClr val="dk2"/>
              </a:solidFill>
            </a:endParaRPr>
          </a:p>
          <a:p>
            <a:pPr indent="-317500" lvl="0" marL="630000" marR="211087" rtl="0" algn="l">
              <a:lnSpc>
                <a:spcPct val="115000"/>
              </a:lnSpc>
              <a:spcBef>
                <a:spcPts val="1000"/>
              </a:spcBef>
              <a:spcAft>
                <a:spcPts val="0"/>
              </a:spcAft>
              <a:buClr>
                <a:schemeClr val="dk2"/>
              </a:buClr>
              <a:buSzPts val="1400"/>
              <a:buChar char="●"/>
            </a:pPr>
            <a:r>
              <a:rPr lang="en-GB">
                <a:solidFill>
                  <a:schemeClr val="dk2"/>
                </a:solidFill>
              </a:rPr>
              <a:t>One line has a unit-price variance</a:t>
            </a:r>
            <a:endParaRPr>
              <a:solidFill>
                <a:schemeClr val="dk2"/>
              </a:solidFill>
            </a:endParaRPr>
          </a:p>
          <a:p>
            <a:pPr indent="0" lvl="0" marL="0" marR="118292" rtl="0" algn="l">
              <a:lnSpc>
                <a:spcPct val="115000"/>
              </a:lnSpc>
              <a:spcBef>
                <a:spcPts val="1000"/>
              </a:spcBef>
              <a:spcAft>
                <a:spcPts val="0"/>
              </a:spcAft>
              <a:buNone/>
            </a:pPr>
            <a:r>
              <a:t/>
            </a:r>
            <a:endParaRPr sz="1200">
              <a:solidFill>
                <a:schemeClr val="dk2"/>
              </a:solidFill>
            </a:endParaRPr>
          </a:p>
          <a:p>
            <a:pPr indent="0" lvl="0" marL="0" marR="118292" rtl="0" algn="l">
              <a:lnSpc>
                <a:spcPct val="115000"/>
              </a:lnSpc>
              <a:spcBef>
                <a:spcPts val="0"/>
              </a:spcBef>
              <a:spcAft>
                <a:spcPts val="0"/>
              </a:spcAft>
              <a:buNone/>
            </a:pPr>
            <a:r>
              <a:t/>
            </a:r>
            <a:endParaRPr i="1">
              <a:solidFill>
                <a:schemeClr val="dk2"/>
              </a:solidFill>
            </a:endParaRPr>
          </a:p>
        </p:txBody>
      </p:sp>
      <p:sp>
        <p:nvSpPr>
          <p:cNvPr id="2310" name="Google Shape;2310;p93"/>
          <p:cNvSpPr/>
          <p:nvPr/>
        </p:nvSpPr>
        <p:spPr>
          <a:xfrm>
            <a:off x="7028550" y="1190100"/>
            <a:ext cx="1704300" cy="3288900"/>
          </a:xfrm>
          <a:prstGeom prst="roundRect">
            <a:avLst>
              <a:gd fmla="val 6052" name="adj"/>
            </a:avLst>
          </a:prstGeom>
          <a:solidFill>
            <a:srgbClr val="E3F5EC"/>
          </a:solidFill>
          <a:ln>
            <a:noFill/>
          </a:ln>
        </p:spPr>
        <p:txBody>
          <a:bodyPr anchorCtr="0" anchor="t" bIns="34275" lIns="68575" spcFirstLastPara="1" rIns="68575" wrap="square" tIns="34275">
            <a:noAutofit/>
          </a:bodyPr>
          <a:lstStyle/>
          <a:p>
            <a:pPr indent="0" lvl="0" marL="180000" rtl="0" algn="l">
              <a:spcBef>
                <a:spcPts val="0"/>
              </a:spcBef>
              <a:spcAft>
                <a:spcPts val="0"/>
              </a:spcAft>
              <a:buNone/>
            </a:pPr>
            <a:r>
              <a:t/>
            </a:r>
            <a:endParaRPr b="1" sz="1200">
              <a:solidFill>
                <a:schemeClr val="accent1"/>
              </a:solidFill>
            </a:endParaRPr>
          </a:p>
          <a:p>
            <a:pPr indent="0" lvl="0" marL="180000" rtl="0" algn="l">
              <a:spcBef>
                <a:spcPts val="0"/>
              </a:spcBef>
              <a:spcAft>
                <a:spcPts val="0"/>
              </a:spcAft>
              <a:buNone/>
            </a:pPr>
            <a:r>
              <a:rPr b="1" lang="en-GB">
                <a:solidFill>
                  <a:srgbClr val="1A9D5C"/>
                </a:solidFill>
              </a:rPr>
              <a:t>Record on board</a:t>
            </a:r>
            <a:endParaRPr b="1">
              <a:solidFill>
                <a:srgbClr val="1A9D5C"/>
              </a:solidFill>
            </a:endParaRPr>
          </a:p>
          <a:p>
            <a:pPr indent="0" lvl="0" marL="180000" rtl="0" algn="l">
              <a:spcBef>
                <a:spcPts val="0"/>
              </a:spcBef>
              <a:spcAft>
                <a:spcPts val="0"/>
              </a:spcAft>
              <a:buNone/>
            </a:pPr>
            <a:r>
              <a:t/>
            </a:r>
            <a:endParaRPr b="1" sz="1200">
              <a:solidFill>
                <a:schemeClr val="accent1"/>
              </a:solidFill>
            </a:endParaRPr>
          </a:p>
          <a:p>
            <a:pPr indent="0" lvl="0" marL="180000" rtl="0" algn="l">
              <a:lnSpc>
                <a:spcPct val="115000"/>
              </a:lnSpc>
              <a:spcBef>
                <a:spcPts val="0"/>
              </a:spcBef>
              <a:spcAft>
                <a:spcPts val="0"/>
              </a:spcAft>
              <a:buNone/>
            </a:pPr>
            <a:r>
              <a:t/>
            </a:r>
            <a:endParaRPr sz="1600">
              <a:solidFill>
                <a:schemeClr val="dk1"/>
              </a:solidFill>
            </a:endParaRPr>
          </a:p>
        </p:txBody>
      </p:sp>
      <p:sp>
        <p:nvSpPr>
          <p:cNvPr id="2311" name="Google Shape;2311;p93"/>
          <p:cNvSpPr/>
          <p:nvPr/>
        </p:nvSpPr>
        <p:spPr>
          <a:xfrm>
            <a:off x="7344150" y="2201903"/>
            <a:ext cx="1073100" cy="342900"/>
          </a:xfrm>
          <a:prstGeom prst="roundRect">
            <a:avLst>
              <a:gd fmla="val 50000" name="adj"/>
            </a:avLst>
          </a:prstGeom>
          <a:solidFill>
            <a:srgbClr val="1A9D5C"/>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b="1" lang="en-GB" sz="1300">
                <a:solidFill>
                  <a:schemeClr val="lt1"/>
                </a:solidFill>
              </a:rPr>
              <a:t>PI/Match</a:t>
            </a:r>
            <a:r>
              <a:rPr b="1" lang="en-GB" sz="1300">
                <a:solidFill>
                  <a:schemeClr val="lt1"/>
                </a:solidFill>
              </a:rPr>
              <a:t> ID</a:t>
            </a:r>
            <a:endParaRPr b="1" sz="1300">
              <a:solidFill>
                <a:schemeClr val="lt1"/>
              </a:solidFill>
            </a:endParaRPr>
          </a:p>
        </p:txBody>
      </p:sp>
      <p:sp>
        <p:nvSpPr>
          <p:cNvPr id="2312" name="Google Shape;2312;p93"/>
          <p:cNvSpPr/>
          <p:nvPr/>
        </p:nvSpPr>
        <p:spPr>
          <a:xfrm>
            <a:off x="7344150" y="2595439"/>
            <a:ext cx="1073100" cy="342900"/>
          </a:xfrm>
          <a:prstGeom prst="roundRect">
            <a:avLst>
              <a:gd fmla="val 50000" name="adj"/>
            </a:avLst>
          </a:prstGeom>
          <a:solidFill>
            <a:srgbClr val="1A9D5C"/>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b="1" lang="en-GB" sz="1000">
                <a:solidFill>
                  <a:schemeClr val="lt1"/>
                </a:solidFill>
              </a:rPr>
              <a:t>Pay Voucher ID</a:t>
            </a:r>
            <a:endParaRPr b="1" sz="1000">
              <a:solidFill>
                <a:schemeClr val="lt1"/>
              </a:solidFill>
            </a:endParaRPr>
          </a:p>
        </p:txBody>
      </p:sp>
      <p:sp>
        <p:nvSpPr>
          <p:cNvPr id="2313" name="Google Shape;2313;p93"/>
          <p:cNvSpPr/>
          <p:nvPr/>
        </p:nvSpPr>
        <p:spPr>
          <a:xfrm>
            <a:off x="7344150" y="3476051"/>
            <a:ext cx="1073100" cy="342900"/>
          </a:xfrm>
          <a:prstGeom prst="roundRect">
            <a:avLst>
              <a:gd fmla="val 14676" name="adj"/>
            </a:avLst>
          </a:prstGeom>
          <a:solidFill>
            <a:srgbClr val="1A9D5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900">
                <a:solidFill>
                  <a:schemeClr val="lt1"/>
                </a:solidFill>
              </a:rPr>
              <a:t>Mismatch fixed?</a:t>
            </a:r>
            <a:endParaRPr b="1" sz="900">
              <a:solidFill>
                <a:schemeClr val="lt1"/>
              </a:solidFill>
            </a:endParaRPr>
          </a:p>
        </p:txBody>
      </p:sp>
      <p:sp>
        <p:nvSpPr>
          <p:cNvPr id="2314" name="Google Shape;2314;p93"/>
          <p:cNvSpPr/>
          <p:nvPr/>
        </p:nvSpPr>
        <p:spPr>
          <a:xfrm>
            <a:off x="411502" y="260604"/>
            <a:ext cx="68583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SPECIAL MISSION</a:t>
            </a:r>
            <a:endParaRPr sz="800">
              <a:solidFill>
                <a:schemeClr val="dk1"/>
              </a:solidFill>
              <a:latin typeface="Calibri"/>
              <a:ea typeface="Calibri"/>
              <a:cs typeface="Calibri"/>
              <a:sym typeface="Calibri"/>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2319" name="Shape 2319"/>
        <p:cNvGrpSpPr/>
        <p:nvPr/>
      </p:nvGrpSpPr>
      <p:grpSpPr>
        <a:xfrm>
          <a:off x="0" y="0"/>
          <a:ext cx="0" cy="0"/>
          <a:chOff x="0" y="0"/>
          <a:chExt cx="0" cy="0"/>
        </a:xfrm>
      </p:grpSpPr>
      <p:sp>
        <p:nvSpPr>
          <p:cNvPr id="2320" name="Google Shape;2320;p94"/>
          <p:cNvSpPr/>
          <p:nvPr/>
        </p:nvSpPr>
        <p:spPr>
          <a:xfrm>
            <a:off x="411502" y="438912"/>
            <a:ext cx="8321400" cy="480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C2B3E"/>
              </a:buClr>
              <a:buSzPts val="2200"/>
              <a:buFont typeface="Arial"/>
              <a:buNone/>
            </a:pPr>
            <a:r>
              <a:rPr b="1" lang="en-GB" sz="2200">
                <a:solidFill>
                  <a:srgbClr val="1C2B3E"/>
                </a:solidFill>
                <a:latin typeface="Poppins"/>
                <a:ea typeface="Poppins"/>
                <a:cs typeface="Poppins"/>
                <a:sym typeface="Poppins"/>
              </a:rPr>
              <a:t>Accounts Payable — Supplier Invoice Match</a:t>
            </a:r>
            <a:endParaRPr sz="2200">
              <a:solidFill>
                <a:schemeClr val="dk1"/>
              </a:solidFill>
              <a:latin typeface="Poppins"/>
              <a:ea typeface="Poppins"/>
              <a:cs typeface="Poppins"/>
              <a:sym typeface="Poppins"/>
            </a:endParaRPr>
          </a:p>
        </p:txBody>
      </p:sp>
      <p:sp>
        <p:nvSpPr>
          <p:cNvPr id="2321" name="Google Shape;2321;p94"/>
          <p:cNvSpPr/>
          <p:nvPr/>
        </p:nvSpPr>
        <p:spPr>
          <a:xfrm>
            <a:off x="7765727" y="308610"/>
            <a:ext cx="966900" cy="274200"/>
          </a:xfrm>
          <a:prstGeom prst="roundRect">
            <a:avLst>
              <a:gd fmla="val 50000" name="adj"/>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322" name="Google Shape;2322;p94"/>
          <p:cNvSpPr/>
          <p:nvPr/>
        </p:nvSpPr>
        <p:spPr>
          <a:xfrm>
            <a:off x="7765727" y="308610"/>
            <a:ext cx="9669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Arial"/>
              <a:buNone/>
            </a:pPr>
            <a:r>
              <a:rPr b="1" lang="en-GB" sz="900">
                <a:solidFill>
                  <a:srgbClr val="FFFFFF"/>
                </a:solidFill>
                <a:latin typeface="Arial"/>
                <a:ea typeface="Arial"/>
                <a:cs typeface="Arial"/>
                <a:sym typeface="Arial"/>
              </a:rPr>
              <a:t>💸 AP</a:t>
            </a:r>
            <a:endParaRPr sz="900">
              <a:solidFill>
                <a:schemeClr val="dk1"/>
              </a:solidFill>
              <a:latin typeface="Calibri"/>
              <a:ea typeface="Calibri"/>
              <a:cs typeface="Calibri"/>
              <a:sym typeface="Calibri"/>
            </a:endParaRPr>
          </a:p>
        </p:txBody>
      </p:sp>
      <p:sp>
        <p:nvSpPr>
          <p:cNvPr id="2323" name="Google Shape;2323;p94"/>
          <p:cNvSpPr/>
          <p:nvPr/>
        </p:nvSpPr>
        <p:spPr>
          <a:xfrm>
            <a:off x="411502" y="1337310"/>
            <a:ext cx="4040700" cy="3463200"/>
          </a:xfrm>
          <a:prstGeom prst="roundRect">
            <a:avLst>
              <a:gd fmla="val 2376" name="adj"/>
            </a:avLst>
          </a:prstGeom>
          <a:solidFill>
            <a:srgbClr val="F5F7FA"/>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324" name="Google Shape;2324;p94"/>
          <p:cNvSpPr/>
          <p:nvPr/>
        </p:nvSpPr>
        <p:spPr>
          <a:xfrm>
            <a:off x="548669" y="1447038"/>
            <a:ext cx="1508700" cy="233100"/>
          </a:xfrm>
          <a:prstGeom prst="roundRect">
            <a:avLst>
              <a:gd fmla="val 50000"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325" name="Google Shape;2325;p94"/>
          <p:cNvSpPr/>
          <p:nvPr/>
        </p:nvSpPr>
        <p:spPr>
          <a:xfrm>
            <a:off x="548669" y="1447038"/>
            <a:ext cx="1508700" cy="233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FRONT · TEAM SEES</a:t>
            </a:r>
            <a:endParaRPr sz="800">
              <a:solidFill>
                <a:schemeClr val="dk1"/>
              </a:solidFill>
              <a:latin typeface="Calibri"/>
              <a:ea typeface="Calibri"/>
              <a:cs typeface="Calibri"/>
              <a:sym typeface="Calibri"/>
            </a:endParaRPr>
          </a:p>
        </p:txBody>
      </p:sp>
      <p:sp>
        <p:nvSpPr>
          <p:cNvPr id="2326" name="Google Shape;2326;p94"/>
          <p:cNvSpPr/>
          <p:nvPr/>
        </p:nvSpPr>
        <p:spPr>
          <a:xfrm>
            <a:off x="548669" y="1789938"/>
            <a:ext cx="3766200" cy="788700"/>
          </a:xfrm>
          <a:prstGeom prst="roundRect">
            <a:avLst>
              <a:gd fmla="val 6957" name="adj"/>
            </a:avLst>
          </a:prstGeom>
          <a:solidFill>
            <a:srgbClr val="FFFFFF"/>
          </a:solidFill>
          <a:ln cap="flat" cmpd="sng" w="12700">
            <a:solidFill>
              <a:srgbClr val="E3E8EF"/>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327" name="Google Shape;2327;p94"/>
          <p:cNvSpPr/>
          <p:nvPr/>
        </p:nvSpPr>
        <p:spPr>
          <a:xfrm>
            <a:off x="658403" y="1858518"/>
            <a:ext cx="3546900" cy="6516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C2B3E"/>
              </a:buClr>
              <a:buSzPts val="900"/>
              <a:buFont typeface="Arial"/>
              <a:buNone/>
            </a:pPr>
            <a:r>
              <a:rPr i="1" lang="en-GB" sz="900">
                <a:solidFill>
                  <a:srgbClr val="1C2B3E"/>
                </a:solidFill>
                <a:latin typeface="Arial"/>
                <a:ea typeface="Arial"/>
                <a:cs typeface="Arial"/>
                <a:sym typeface="Arial"/>
              </a:rPr>
              <a:t>“A supplier invoice arrived. Pay only what matches what was actually received.”</a:t>
            </a:r>
            <a:endParaRPr sz="900">
              <a:solidFill>
                <a:schemeClr val="dk1"/>
              </a:solidFill>
              <a:latin typeface="Calibri"/>
              <a:ea typeface="Calibri"/>
              <a:cs typeface="Calibri"/>
              <a:sym typeface="Calibri"/>
            </a:endParaRPr>
          </a:p>
        </p:txBody>
      </p:sp>
      <p:sp>
        <p:nvSpPr>
          <p:cNvPr id="2328" name="Google Shape;2328;p94"/>
          <p:cNvSpPr/>
          <p:nvPr/>
        </p:nvSpPr>
        <p:spPr>
          <a:xfrm>
            <a:off x="548669" y="2715768"/>
            <a:ext cx="3766200" cy="178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800"/>
              <a:buFont typeface="Arial"/>
              <a:buNone/>
            </a:pPr>
            <a:r>
              <a:rPr b="1" lang="en-GB" sz="800">
                <a:solidFill>
                  <a:srgbClr val="94A3B8"/>
                </a:solidFill>
                <a:latin typeface="Arial"/>
                <a:ea typeface="Arial"/>
                <a:cs typeface="Arial"/>
                <a:sym typeface="Arial"/>
              </a:rPr>
              <a:t>ARRIVES AS — supplier invoice AP-01 + DO/GRN</a:t>
            </a:r>
            <a:endParaRPr sz="800">
              <a:solidFill>
                <a:schemeClr val="dk1"/>
              </a:solidFill>
              <a:latin typeface="Calibri"/>
              <a:ea typeface="Calibri"/>
              <a:cs typeface="Calibri"/>
              <a:sym typeface="Calibri"/>
            </a:endParaRPr>
          </a:p>
        </p:txBody>
      </p:sp>
      <p:sp>
        <p:nvSpPr>
          <p:cNvPr id="2329" name="Google Shape;2329;p94"/>
          <p:cNvSpPr/>
          <p:nvPr/>
        </p:nvSpPr>
        <p:spPr>
          <a:xfrm>
            <a:off x="548669" y="2935224"/>
            <a:ext cx="3766200" cy="233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B3E"/>
              </a:buClr>
              <a:buSzPts val="900"/>
              <a:buFont typeface="Arial"/>
              <a:buNone/>
            </a:pPr>
            <a:r>
              <a:rPr lang="en-GB" sz="900">
                <a:solidFill>
                  <a:srgbClr val="1C2B3E"/>
                </a:solidFill>
                <a:latin typeface="Arial"/>
                <a:ea typeface="Arial"/>
                <a:cs typeface="Arial"/>
                <a:sym typeface="Arial"/>
              </a:rPr>
              <a:t>•  Premium Cooking Oil + Flour lines</a:t>
            </a:r>
            <a:endParaRPr sz="900">
              <a:solidFill>
                <a:schemeClr val="dk1"/>
              </a:solidFill>
              <a:latin typeface="Calibri"/>
              <a:ea typeface="Calibri"/>
              <a:cs typeface="Calibri"/>
              <a:sym typeface="Calibri"/>
            </a:endParaRPr>
          </a:p>
        </p:txBody>
      </p:sp>
      <p:sp>
        <p:nvSpPr>
          <p:cNvPr id="2330" name="Google Shape;2330;p94"/>
          <p:cNvSpPr/>
          <p:nvPr/>
        </p:nvSpPr>
        <p:spPr>
          <a:xfrm>
            <a:off x="548669" y="3168396"/>
            <a:ext cx="3766200" cy="233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B3E"/>
              </a:buClr>
              <a:buSzPts val="900"/>
              <a:buFont typeface="Arial"/>
              <a:buNone/>
            </a:pPr>
            <a:r>
              <a:rPr lang="en-GB" sz="900">
                <a:solidFill>
                  <a:srgbClr val="1C2B3E"/>
                </a:solidFill>
                <a:latin typeface="Arial"/>
                <a:ea typeface="Arial"/>
                <a:cs typeface="Arial"/>
                <a:sym typeface="Arial"/>
              </a:rPr>
              <a:t>•  One line has a UOM mismatch</a:t>
            </a:r>
            <a:endParaRPr sz="900">
              <a:solidFill>
                <a:schemeClr val="dk1"/>
              </a:solidFill>
              <a:latin typeface="Calibri"/>
              <a:ea typeface="Calibri"/>
              <a:cs typeface="Calibri"/>
              <a:sym typeface="Calibri"/>
            </a:endParaRPr>
          </a:p>
        </p:txBody>
      </p:sp>
      <p:sp>
        <p:nvSpPr>
          <p:cNvPr id="2331" name="Google Shape;2331;p94"/>
          <p:cNvSpPr/>
          <p:nvPr/>
        </p:nvSpPr>
        <p:spPr>
          <a:xfrm>
            <a:off x="548669" y="3429000"/>
            <a:ext cx="3766200" cy="342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B3E"/>
              </a:buClr>
              <a:buSzPts val="900"/>
              <a:buFont typeface="Arial"/>
              <a:buNone/>
            </a:pPr>
            <a:r>
              <a:rPr i="0" lang="en-GB" sz="900">
                <a:solidFill>
                  <a:srgbClr val="1C2B3E"/>
                </a:solidFill>
                <a:latin typeface="Arial"/>
                <a:ea typeface="Arial"/>
                <a:cs typeface="Arial"/>
                <a:sym typeface="Arial"/>
              </a:rPr>
              <a:t>•  One line has a unit-price variance</a:t>
            </a:r>
            <a:endParaRPr sz="900">
              <a:solidFill>
                <a:schemeClr val="dk1"/>
              </a:solidFill>
              <a:latin typeface="Calibri"/>
              <a:ea typeface="Calibri"/>
              <a:cs typeface="Calibri"/>
              <a:sym typeface="Calibri"/>
            </a:endParaRPr>
          </a:p>
        </p:txBody>
      </p:sp>
      <p:sp>
        <p:nvSpPr>
          <p:cNvPr id="2332" name="Google Shape;2332;p94"/>
          <p:cNvSpPr/>
          <p:nvPr/>
        </p:nvSpPr>
        <p:spPr>
          <a:xfrm>
            <a:off x="548669" y="4265676"/>
            <a:ext cx="3766200" cy="178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800"/>
              <a:buFont typeface="Arial"/>
              <a:buNone/>
            </a:pPr>
            <a:r>
              <a:rPr b="1" lang="en-GB" sz="800">
                <a:solidFill>
                  <a:srgbClr val="94A3B8"/>
                </a:solidFill>
                <a:latin typeface="Arial"/>
                <a:ea typeface="Arial"/>
                <a:cs typeface="Arial"/>
                <a:sym typeface="Arial"/>
              </a:rPr>
              <a:t>RECORD ON BOARD</a:t>
            </a:r>
            <a:endParaRPr sz="800">
              <a:solidFill>
                <a:schemeClr val="dk1"/>
              </a:solidFill>
              <a:latin typeface="Calibri"/>
              <a:ea typeface="Calibri"/>
              <a:cs typeface="Calibri"/>
              <a:sym typeface="Calibri"/>
            </a:endParaRPr>
          </a:p>
        </p:txBody>
      </p:sp>
      <p:sp>
        <p:nvSpPr>
          <p:cNvPr id="2333" name="Google Shape;2333;p94"/>
          <p:cNvSpPr/>
          <p:nvPr/>
        </p:nvSpPr>
        <p:spPr>
          <a:xfrm>
            <a:off x="548669" y="4471416"/>
            <a:ext cx="565800" cy="274200"/>
          </a:xfrm>
          <a:prstGeom prst="roundRect">
            <a:avLst>
              <a:gd fmla="val 50000" name="adj"/>
            </a:avLst>
          </a:prstGeom>
          <a:solidFill>
            <a:srgbClr val="FBEBD9"/>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334" name="Google Shape;2334;p94"/>
          <p:cNvSpPr/>
          <p:nvPr/>
        </p:nvSpPr>
        <p:spPr>
          <a:xfrm>
            <a:off x="548669" y="4471416"/>
            <a:ext cx="5658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PI / Match ID</a:t>
            </a:r>
            <a:endParaRPr sz="800">
              <a:solidFill>
                <a:schemeClr val="dk1"/>
              </a:solidFill>
              <a:latin typeface="Calibri"/>
              <a:ea typeface="Calibri"/>
              <a:cs typeface="Calibri"/>
              <a:sym typeface="Calibri"/>
            </a:endParaRPr>
          </a:p>
        </p:txBody>
      </p:sp>
      <p:sp>
        <p:nvSpPr>
          <p:cNvPr id="2335" name="Google Shape;2335;p94"/>
          <p:cNvSpPr/>
          <p:nvPr/>
        </p:nvSpPr>
        <p:spPr>
          <a:xfrm>
            <a:off x="1217360" y="4471416"/>
            <a:ext cx="565800" cy="274200"/>
          </a:xfrm>
          <a:prstGeom prst="roundRect">
            <a:avLst>
              <a:gd fmla="val 50000" name="adj"/>
            </a:avLst>
          </a:prstGeom>
          <a:solidFill>
            <a:srgbClr val="FBEBD9"/>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336" name="Google Shape;2336;p94"/>
          <p:cNvSpPr/>
          <p:nvPr/>
        </p:nvSpPr>
        <p:spPr>
          <a:xfrm>
            <a:off x="1217360" y="4471416"/>
            <a:ext cx="5658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Pay Voucher ID</a:t>
            </a:r>
            <a:endParaRPr sz="800">
              <a:solidFill>
                <a:schemeClr val="dk1"/>
              </a:solidFill>
              <a:latin typeface="Calibri"/>
              <a:ea typeface="Calibri"/>
              <a:cs typeface="Calibri"/>
              <a:sym typeface="Calibri"/>
            </a:endParaRPr>
          </a:p>
        </p:txBody>
      </p:sp>
      <p:sp>
        <p:nvSpPr>
          <p:cNvPr id="2337" name="Google Shape;2337;p94"/>
          <p:cNvSpPr/>
          <p:nvPr/>
        </p:nvSpPr>
        <p:spPr>
          <a:xfrm>
            <a:off x="4692151" y="1337310"/>
            <a:ext cx="4040700" cy="3463200"/>
          </a:xfrm>
          <a:prstGeom prst="roundRect">
            <a:avLst>
              <a:gd fmla="val 2376"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338" name="Google Shape;2338;p94"/>
          <p:cNvSpPr/>
          <p:nvPr/>
        </p:nvSpPr>
        <p:spPr>
          <a:xfrm>
            <a:off x="4829318" y="1447038"/>
            <a:ext cx="1714500" cy="233100"/>
          </a:xfrm>
          <a:prstGeom prst="roundRect">
            <a:avLst>
              <a:gd fmla="val 50000" name="adj"/>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339" name="Google Shape;2339;p94"/>
          <p:cNvSpPr/>
          <p:nvPr/>
        </p:nvSpPr>
        <p:spPr>
          <a:xfrm>
            <a:off x="4829318" y="1447038"/>
            <a:ext cx="1714500" cy="233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BACK · FACILITATOR QC</a:t>
            </a:r>
            <a:endParaRPr sz="800">
              <a:solidFill>
                <a:schemeClr val="dk1"/>
              </a:solidFill>
              <a:latin typeface="Calibri"/>
              <a:ea typeface="Calibri"/>
              <a:cs typeface="Calibri"/>
              <a:sym typeface="Calibri"/>
            </a:endParaRPr>
          </a:p>
        </p:txBody>
      </p:sp>
      <p:pic>
        <p:nvPicPr>
          <p:cNvPr descr="/home/claude/maia/icons/FiCheck_accent.png" id="2340" name="Google Shape;2340;p94"/>
          <p:cNvPicPr preferRelativeResize="0"/>
          <p:nvPr/>
        </p:nvPicPr>
        <p:blipFill rotWithShape="1">
          <a:blip r:embed="rId3">
            <a:alphaModFix/>
          </a:blip>
          <a:srcRect b="0" l="0" r="0" t="0"/>
          <a:stretch/>
        </p:blipFill>
        <p:spPr>
          <a:xfrm>
            <a:off x="4843035" y="1831086"/>
            <a:ext cx="150876" cy="150876"/>
          </a:xfrm>
          <a:prstGeom prst="rect">
            <a:avLst/>
          </a:prstGeom>
          <a:noFill/>
          <a:ln>
            <a:noFill/>
          </a:ln>
        </p:spPr>
      </p:pic>
      <p:sp>
        <p:nvSpPr>
          <p:cNvPr id="2341" name="Google Shape;2341;p94"/>
          <p:cNvSpPr/>
          <p:nvPr/>
        </p:nvSpPr>
        <p:spPr>
          <a:xfrm>
            <a:off x="5076220" y="1776222"/>
            <a:ext cx="3505800" cy="7293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FFFFFF"/>
              </a:buClr>
              <a:buSzPts val="900"/>
              <a:buFont typeface="Arial"/>
              <a:buNone/>
            </a:pPr>
            <a:r>
              <a:rPr lang="en-GB" sz="900">
                <a:solidFill>
                  <a:srgbClr val="FFFFFF"/>
                </a:solidFill>
                <a:latin typeface="Arial"/>
                <a:ea typeface="Arial"/>
                <a:cs typeface="Arial"/>
                <a:sym typeface="Arial"/>
              </a:rPr>
              <a:t>Invoice vs DO/GRN compared: item, UOM, qty, unit price, tax, total — before payment</a:t>
            </a:r>
            <a:endParaRPr sz="900">
              <a:solidFill>
                <a:schemeClr val="dk1"/>
              </a:solidFill>
              <a:latin typeface="Calibri"/>
              <a:ea typeface="Calibri"/>
              <a:cs typeface="Calibri"/>
              <a:sym typeface="Calibri"/>
            </a:endParaRPr>
          </a:p>
        </p:txBody>
      </p:sp>
      <p:pic>
        <p:nvPicPr>
          <p:cNvPr descr="/home/claude/maia/icons/FiCheck_accent.png" id="2342" name="Google Shape;2342;p94"/>
          <p:cNvPicPr preferRelativeResize="0"/>
          <p:nvPr/>
        </p:nvPicPr>
        <p:blipFill rotWithShape="1">
          <a:blip r:embed="rId3">
            <a:alphaModFix/>
          </a:blip>
          <a:srcRect b="0" l="0" r="0" t="0"/>
          <a:stretch/>
        </p:blipFill>
        <p:spPr>
          <a:xfrm>
            <a:off x="4843035" y="2560320"/>
            <a:ext cx="150876" cy="150876"/>
          </a:xfrm>
          <a:prstGeom prst="rect">
            <a:avLst/>
          </a:prstGeom>
          <a:noFill/>
          <a:ln>
            <a:noFill/>
          </a:ln>
        </p:spPr>
      </p:pic>
      <p:sp>
        <p:nvSpPr>
          <p:cNvPr id="2343" name="Google Shape;2343;p94"/>
          <p:cNvSpPr/>
          <p:nvPr/>
        </p:nvSpPr>
        <p:spPr>
          <a:xfrm>
            <a:off x="5076220" y="2505456"/>
            <a:ext cx="3505800" cy="7293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FFFFFF"/>
              </a:buClr>
              <a:buSzPts val="900"/>
              <a:buFont typeface="Arial"/>
              <a:buNone/>
            </a:pPr>
            <a:r>
              <a:rPr lang="en-GB" sz="900">
                <a:solidFill>
                  <a:srgbClr val="FFFFFF"/>
                </a:solidFill>
                <a:latin typeface="Arial"/>
                <a:ea typeface="Arial"/>
                <a:cs typeface="Arial"/>
                <a:sym typeface="Arial"/>
              </a:rPr>
              <a:t>Matched lines proceed to Payment Voucher only after review</a:t>
            </a:r>
            <a:endParaRPr sz="900">
              <a:solidFill>
                <a:schemeClr val="dk1"/>
              </a:solidFill>
              <a:latin typeface="Calibri"/>
              <a:ea typeface="Calibri"/>
              <a:cs typeface="Calibri"/>
              <a:sym typeface="Calibri"/>
            </a:endParaRPr>
          </a:p>
        </p:txBody>
      </p:sp>
      <p:pic>
        <p:nvPicPr>
          <p:cNvPr descr="/home/claude/maia/icons/FiCheck_accent.png" id="2344" name="Google Shape;2344;p94"/>
          <p:cNvPicPr preferRelativeResize="0"/>
          <p:nvPr/>
        </p:nvPicPr>
        <p:blipFill rotWithShape="1">
          <a:blip r:embed="rId3">
            <a:alphaModFix/>
          </a:blip>
          <a:srcRect b="0" l="0" r="0" t="0"/>
          <a:stretch/>
        </p:blipFill>
        <p:spPr>
          <a:xfrm>
            <a:off x="4843035" y="3289554"/>
            <a:ext cx="150876" cy="150876"/>
          </a:xfrm>
          <a:prstGeom prst="rect">
            <a:avLst/>
          </a:prstGeom>
          <a:noFill/>
          <a:ln>
            <a:noFill/>
          </a:ln>
        </p:spPr>
      </p:pic>
      <p:sp>
        <p:nvSpPr>
          <p:cNvPr id="2345" name="Google Shape;2345;p94"/>
          <p:cNvSpPr/>
          <p:nvPr/>
        </p:nvSpPr>
        <p:spPr>
          <a:xfrm>
            <a:off x="5076220" y="3234690"/>
            <a:ext cx="3505800" cy="7293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FFFFFF"/>
              </a:buClr>
              <a:buSzPts val="900"/>
              <a:buFont typeface="Arial"/>
              <a:buNone/>
            </a:pPr>
            <a:r>
              <a:rPr lang="en-GB" sz="900">
                <a:solidFill>
                  <a:srgbClr val="FFFFFF"/>
                </a:solidFill>
                <a:latin typeface="Arial"/>
                <a:ea typeface="Arial"/>
                <a:cs typeface="Arial"/>
                <a:sym typeface="Arial"/>
              </a:rPr>
              <a:t>Mismatched line held / corrected / routed for approval; duplicate-invoice check visible</a:t>
            </a:r>
            <a:endParaRPr sz="900">
              <a:solidFill>
                <a:schemeClr val="dk1"/>
              </a:solidFill>
              <a:latin typeface="Calibri"/>
              <a:ea typeface="Calibri"/>
              <a:cs typeface="Calibri"/>
              <a:sym typeface="Calibri"/>
            </a:endParaRPr>
          </a:p>
        </p:txBody>
      </p:sp>
      <p:sp>
        <p:nvSpPr>
          <p:cNvPr id="2346" name="Google Shape;2346;p94"/>
          <p:cNvSpPr/>
          <p:nvPr/>
        </p:nvSpPr>
        <p:spPr>
          <a:xfrm>
            <a:off x="4829318" y="4114800"/>
            <a:ext cx="3766200" cy="514500"/>
          </a:xfrm>
          <a:prstGeom prst="roundRect">
            <a:avLst>
              <a:gd fmla="val 10667" name="adj"/>
            </a:avLst>
          </a:prstGeom>
          <a:solidFill>
            <a:srgbClr val="32495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347" name="Google Shape;2347;p94"/>
          <p:cNvSpPr/>
          <p:nvPr/>
        </p:nvSpPr>
        <p:spPr>
          <a:xfrm>
            <a:off x="4925336" y="4217670"/>
            <a:ext cx="274200" cy="274200"/>
          </a:xfrm>
          <a:prstGeom prst="roundRect">
            <a:avLst>
              <a:gd fmla="val 22000" name="adj"/>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AlertTriangle_white.png" id="2348" name="Google Shape;2348;p94"/>
          <p:cNvPicPr preferRelativeResize="0"/>
          <p:nvPr/>
        </p:nvPicPr>
        <p:blipFill rotWithShape="1">
          <a:blip r:embed="rId4">
            <a:alphaModFix/>
          </a:blip>
          <a:srcRect b="0" l="0" r="0" t="0"/>
          <a:stretch/>
        </p:blipFill>
        <p:spPr>
          <a:xfrm>
            <a:off x="4993919" y="4286250"/>
            <a:ext cx="137160" cy="137160"/>
          </a:xfrm>
          <a:prstGeom prst="rect">
            <a:avLst/>
          </a:prstGeom>
          <a:noFill/>
          <a:ln>
            <a:noFill/>
          </a:ln>
        </p:spPr>
      </p:pic>
      <p:sp>
        <p:nvSpPr>
          <p:cNvPr id="2349" name="Google Shape;2349;p94"/>
          <p:cNvSpPr/>
          <p:nvPr/>
        </p:nvSpPr>
        <p:spPr>
          <a:xfrm>
            <a:off x="5281971" y="4169664"/>
            <a:ext cx="3300000" cy="4116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FFFFFF"/>
              </a:buClr>
              <a:buSzPts val="900"/>
              <a:buFont typeface="Arial"/>
              <a:buNone/>
            </a:pPr>
            <a:r>
              <a:rPr b="1" lang="en-GB" sz="900">
                <a:solidFill>
                  <a:srgbClr val="FFFFFF"/>
                </a:solidFill>
                <a:latin typeface="Arial"/>
                <a:ea typeface="Arial"/>
                <a:cs typeface="Arial"/>
                <a:sym typeface="Arial"/>
              </a:rPr>
              <a:t>Pass = payment released only on matched lines.</a:t>
            </a:r>
            <a:endParaRPr sz="900">
              <a:solidFill>
                <a:schemeClr val="dk1"/>
              </a:solidFill>
              <a:latin typeface="Calibri"/>
              <a:ea typeface="Calibri"/>
              <a:cs typeface="Calibri"/>
              <a:sym typeface="Calibri"/>
            </a:endParaRPr>
          </a:p>
        </p:txBody>
      </p:sp>
      <p:sp>
        <p:nvSpPr>
          <p:cNvPr id="2350" name="Google Shape;2350;p94"/>
          <p:cNvSpPr/>
          <p:nvPr/>
        </p:nvSpPr>
        <p:spPr>
          <a:xfrm>
            <a:off x="1879192" y="4471416"/>
            <a:ext cx="565800" cy="274200"/>
          </a:xfrm>
          <a:prstGeom prst="roundRect">
            <a:avLst>
              <a:gd fmla="val 50000" name="adj"/>
            </a:avLst>
          </a:prstGeom>
          <a:solidFill>
            <a:srgbClr val="FBEBD9"/>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351" name="Google Shape;2351;p94"/>
          <p:cNvSpPr/>
          <p:nvPr/>
        </p:nvSpPr>
        <p:spPr>
          <a:xfrm>
            <a:off x="1879192" y="4471416"/>
            <a:ext cx="5658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Mismatch fixed?</a:t>
            </a:r>
            <a:endParaRPr sz="800">
              <a:solidFill>
                <a:schemeClr val="dk1"/>
              </a:solidFill>
              <a:latin typeface="Calibri"/>
              <a:ea typeface="Calibri"/>
              <a:cs typeface="Calibri"/>
              <a:sym typeface="Calibri"/>
            </a:endParaRPr>
          </a:p>
        </p:txBody>
      </p:sp>
      <p:sp>
        <p:nvSpPr>
          <p:cNvPr id="2352" name="Google Shape;2352;p94"/>
          <p:cNvSpPr txBox="1"/>
          <p:nvPr>
            <p:ph idx="12" type="sldNum"/>
          </p:nvPr>
        </p:nvSpPr>
        <p:spPr>
          <a:xfrm>
            <a:off x="8347216" y="4750189"/>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353" name="Google Shape;2353;p94"/>
          <p:cNvSpPr/>
          <p:nvPr/>
        </p:nvSpPr>
        <p:spPr>
          <a:xfrm>
            <a:off x="411502" y="260604"/>
            <a:ext cx="68583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SPECIAL MISSION</a:t>
            </a:r>
            <a:endParaRPr sz="800">
              <a:solidFill>
                <a:schemeClr val="dk1"/>
              </a:solidFill>
              <a:latin typeface="Calibri"/>
              <a:ea typeface="Calibri"/>
              <a:cs typeface="Calibri"/>
              <a:sym typeface="Calibri"/>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2358" name="Shape 2358"/>
        <p:cNvGrpSpPr/>
        <p:nvPr/>
      </p:nvGrpSpPr>
      <p:grpSpPr>
        <a:xfrm>
          <a:off x="0" y="0"/>
          <a:ext cx="0" cy="0"/>
          <a:chOff x="0" y="0"/>
          <a:chExt cx="0" cy="0"/>
        </a:xfrm>
      </p:grpSpPr>
      <p:sp>
        <p:nvSpPr>
          <p:cNvPr id="2359" name="Google Shape;2359;p95"/>
          <p:cNvSpPr/>
          <p:nvPr/>
        </p:nvSpPr>
        <p:spPr>
          <a:xfrm>
            <a:off x="7765727" y="308610"/>
            <a:ext cx="967030" cy="274320"/>
          </a:xfrm>
          <a:prstGeom prst="roundRect">
            <a:avLst>
              <a:gd fmla="val 50000" name="adj"/>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360" name="Google Shape;2360;p95"/>
          <p:cNvSpPr/>
          <p:nvPr/>
        </p:nvSpPr>
        <p:spPr>
          <a:xfrm>
            <a:off x="7765727" y="308610"/>
            <a:ext cx="96703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Arial"/>
              <a:buNone/>
            </a:pPr>
            <a:r>
              <a:rPr b="1" lang="en-GB" sz="900">
                <a:solidFill>
                  <a:srgbClr val="FFFFFF"/>
                </a:solidFill>
                <a:latin typeface="Arial"/>
                <a:ea typeface="Arial"/>
                <a:cs typeface="Arial"/>
                <a:sym typeface="Arial"/>
              </a:rPr>
              <a:t>🧾 AR</a:t>
            </a:r>
            <a:endParaRPr sz="900">
              <a:solidFill>
                <a:schemeClr val="dk1"/>
              </a:solidFill>
              <a:latin typeface="Calibri"/>
              <a:ea typeface="Calibri"/>
              <a:cs typeface="Calibri"/>
              <a:sym typeface="Calibri"/>
            </a:endParaRPr>
          </a:p>
        </p:txBody>
      </p:sp>
      <p:sp>
        <p:nvSpPr>
          <p:cNvPr id="2361" name="Google Shape;2361;p95"/>
          <p:cNvSpPr txBox="1"/>
          <p:nvPr>
            <p:ph idx="12" type="sldNum"/>
          </p:nvPr>
        </p:nvSpPr>
        <p:spPr>
          <a:xfrm>
            <a:off x="8347216" y="4750189"/>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362" name="Google Shape;2362;p95"/>
          <p:cNvSpPr/>
          <p:nvPr/>
        </p:nvSpPr>
        <p:spPr>
          <a:xfrm>
            <a:off x="411550" y="1190103"/>
            <a:ext cx="2704800" cy="3288900"/>
          </a:xfrm>
          <a:prstGeom prst="roundRect">
            <a:avLst>
              <a:gd fmla="val 6052" name="adj"/>
            </a:avLst>
          </a:prstGeom>
          <a:solidFill>
            <a:srgbClr val="E3E8EF"/>
          </a:solidFill>
          <a:ln cap="flat" cmpd="sng" w="9525">
            <a:solidFill>
              <a:srgbClr val="E3E8EF"/>
            </a:solidFill>
            <a:prstDash val="solid"/>
            <a:round/>
            <a:headEnd len="sm" w="sm" type="none"/>
            <a:tailEnd len="sm" w="sm" type="none"/>
          </a:ln>
        </p:spPr>
        <p:txBody>
          <a:bodyPr anchorCtr="0" anchor="t" bIns="34275" lIns="68575" spcFirstLastPara="1" rIns="287850" wrap="square" tIns="34275">
            <a:noAutofit/>
          </a:bodyPr>
          <a:lstStyle/>
          <a:p>
            <a:pPr indent="0" lvl="0" marL="180000" rtl="0" algn="l">
              <a:spcBef>
                <a:spcPts val="0"/>
              </a:spcBef>
              <a:spcAft>
                <a:spcPts val="0"/>
              </a:spcAft>
              <a:buNone/>
            </a:pPr>
            <a:r>
              <a:t/>
            </a:r>
            <a:endParaRPr b="1" sz="1200">
              <a:solidFill>
                <a:schemeClr val="accent1"/>
              </a:solidFill>
            </a:endParaRPr>
          </a:p>
          <a:p>
            <a:pPr indent="0" lvl="0" marL="180000" rtl="0" algn="l">
              <a:spcBef>
                <a:spcPts val="0"/>
              </a:spcBef>
              <a:spcAft>
                <a:spcPts val="0"/>
              </a:spcAft>
              <a:buNone/>
            </a:pPr>
            <a:r>
              <a:rPr b="1" lang="en-GB">
                <a:solidFill>
                  <a:srgbClr val="76889B"/>
                </a:solidFill>
              </a:rPr>
              <a:t>Scenario</a:t>
            </a:r>
            <a:endParaRPr b="1">
              <a:solidFill>
                <a:srgbClr val="5B6B7D"/>
              </a:solidFill>
            </a:endParaRPr>
          </a:p>
          <a:p>
            <a:pPr indent="0" lvl="0" marL="180000" rtl="0" algn="l">
              <a:spcBef>
                <a:spcPts val="0"/>
              </a:spcBef>
              <a:spcAft>
                <a:spcPts val="0"/>
              </a:spcAft>
              <a:buNone/>
            </a:pPr>
            <a:r>
              <a:t/>
            </a:r>
            <a:endParaRPr b="1" sz="1200">
              <a:solidFill>
                <a:schemeClr val="accent1"/>
              </a:solidFill>
            </a:endParaRPr>
          </a:p>
          <a:p>
            <a:pPr indent="0" lvl="0" marL="180000" marR="4652" rtl="0" algn="l">
              <a:lnSpc>
                <a:spcPct val="115000"/>
              </a:lnSpc>
              <a:spcBef>
                <a:spcPts val="0"/>
              </a:spcBef>
              <a:spcAft>
                <a:spcPts val="0"/>
              </a:spcAft>
              <a:buNone/>
            </a:pPr>
            <a:r>
              <a:rPr i="1" lang="en-GB" sz="1600">
                <a:solidFill>
                  <a:srgbClr val="1C2B3E"/>
                </a:solidFill>
              </a:rPr>
              <a:t>“The customer paid. Match the money to the right invoices before the SOA goes out.”</a:t>
            </a:r>
            <a:endParaRPr i="1" sz="1600">
              <a:solidFill>
                <a:srgbClr val="1C2B3E"/>
              </a:solidFill>
            </a:endParaRPr>
          </a:p>
          <a:p>
            <a:pPr indent="0" lvl="0" marL="180000" marR="4652" rtl="0" algn="l">
              <a:lnSpc>
                <a:spcPct val="115000"/>
              </a:lnSpc>
              <a:spcBef>
                <a:spcPts val="0"/>
              </a:spcBef>
              <a:spcAft>
                <a:spcPts val="0"/>
              </a:spcAft>
              <a:buNone/>
            </a:pPr>
            <a:r>
              <a:t/>
            </a:r>
            <a:endParaRPr i="1" sz="1600">
              <a:solidFill>
                <a:srgbClr val="1C2B3E"/>
              </a:solidFill>
            </a:endParaRPr>
          </a:p>
          <a:p>
            <a:pPr indent="0" lvl="0" marL="180000" marR="4652" rtl="0" algn="l">
              <a:lnSpc>
                <a:spcPct val="115000"/>
              </a:lnSpc>
              <a:spcBef>
                <a:spcPts val="0"/>
              </a:spcBef>
              <a:spcAft>
                <a:spcPts val="0"/>
              </a:spcAft>
              <a:buNone/>
            </a:pPr>
            <a:r>
              <a:t/>
            </a:r>
            <a:endParaRPr i="1" sz="1600">
              <a:solidFill>
                <a:srgbClr val="1C2B3E"/>
              </a:solidFill>
            </a:endParaRPr>
          </a:p>
          <a:p>
            <a:pPr indent="0" lvl="0" marL="0" marR="4652" rtl="0" algn="l">
              <a:lnSpc>
                <a:spcPct val="115000"/>
              </a:lnSpc>
              <a:spcBef>
                <a:spcPts val="0"/>
              </a:spcBef>
              <a:spcAft>
                <a:spcPts val="0"/>
              </a:spcAft>
              <a:buNone/>
            </a:pPr>
            <a:r>
              <a:t/>
            </a:r>
            <a:endParaRPr i="1" sz="1600">
              <a:solidFill>
                <a:srgbClr val="1C2B3E"/>
              </a:solidFill>
            </a:endParaRPr>
          </a:p>
        </p:txBody>
      </p:sp>
      <p:sp>
        <p:nvSpPr>
          <p:cNvPr id="2363" name="Google Shape;2363;p95"/>
          <p:cNvSpPr/>
          <p:nvPr/>
        </p:nvSpPr>
        <p:spPr>
          <a:xfrm>
            <a:off x="3219650" y="1190100"/>
            <a:ext cx="3705600" cy="3288900"/>
          </a:xfrm>
          <a:prstGeom prst="roundRect">
            <a:avLst>
              <a:gd fmla="val 6052" name="adj"/>
            </a:avLst>
          </a:prstGeom>
          <a:solidFill>
            <a:srgbClr val="FBEBD9"/>
          </a:solidFill>
          <a:ln cap="flat" cmpd="sng" w="9525">
            <a:solidFill>
              <a:schemeClr val="accent2"/>
            </a:solidFill>
            <a:prstDash val="solid"/>
            <a:round/>
            <a:headEnd len="sm" w="sm" type="none"/>
            <a:tailEnd len="sm" w="sm" type="none"/>
          </a:ln>
        </p:spPr>
        <p:txBody>
          <a:bodyPr anchorCtr="0" anchor="t" bIns="34275" lIns="68575" spcFirstLastPara="1" rIns="68575" wrap="square" tIns="34275">
            <a:noAutofit/>
          </a:bodyPr>
          <a:lstStyle/>
          <a:p>
            <a:pPr indent="0" lvl="0" marL="180000" marR="118292" rtl="0" algn="l">
              <a:spcBef>
                <a:spcPts val="0"/>
              </a:spcBef>
              <a:spcAft>
                <a:spcPts val="0"/>
              </a:spcAft>
              <a:buNone/>
            </a:pPr>
            <a:r>
              <a:t/>
            </a:r>
            <a:endParaRPr b="1" sz="1200">
              <a:solidFill>
                <a:schemeClr val="accent1"/>
              </a:solidFill>
            </a:endParaRPr>
          </a:p>
          <a:p>
            <a:pPr indent="0" lvl="0" marL="180000" marR="118292" rtl="0" algn="l">
              <a:lnSpc>
                <a:spcPct val="115000"/>
              </a:lnSpc>
              <a:spcBef>
                <a:spcPts val="0"/>
              </a:spcBef>
              <a:spcAft>
                <a:spcPts val="0"/>
              </a:spcAft>
              <a:buNone/>
            </a:pPr>
            <a:r>
              <a:rPr lang="en-GB" sz="1200">
                <a:solidFill>
                  <a:schemeClr val="dk2"/>
                </a:solidFill>
              </a:rPr>
              <a:t>A</a:t>
            </a:r>
            <a:r>
              <a:rPr lang="en-GB" sz="1200">
                <a:solidFill>
                  <a:schemeClr val="dk2"/>
                </a:solidFill>
              </a:rPr>
              <a:t>rrives as</a:t>
            </a:r>
            <a:endParaRPr sz="1200">
              <a:solidFill>
                <a:schemeClr val="dk2"/>
              </a:solidFill>
            </a:endParaRPr>
          </a:p>
          <a:p>
            <a:pPr indent="0" lvl="0" marL="180000" marR="118292" rtl="0" algn="l">
              <a:lnSpc>
                <a:spcPct val="115000"/>
              </a:lnSpc>
              <a:spcBef>
                <a:spcPts val="0"/>
              </a:spcBef>
              <a:spcAft>
                <a:spcPts val="0"/>
              </a:spcAft>
              <a:buNone/>
            </a:pPr>
            <a:r>
              <a:rPr b="1" lang="en-GB" sz="1600">
                <a:solidFill>
                  <a:schemeClr val="accent1"/>
                </a:solidFill>
              </a:rPr>
              <a:t>Bank statement line / payment proof</a:t>
            </a:r>
            <a:endParaRPr b="1" sz="1600">
              <a:solidFill>
                <a:schemeClr val="accent1"/>
              </a:solidFill>
            </a:endParaRPr>
          </a:p>
          <a:p>
            <a:pPr indent="0" lvl="0" marL="180000" marR="118292" rtl="0" algn="l">
              <a:lnSpc>
                <a:spcPct val="115000"/>
              </a:lnSpc>
              <a:spcBef>
                <a:spcPts val="0"/>
              </a:spcBef>
              <a:spcAft>
                <a:spcPts val="0"/>
              </a:spcAft>
              <a:buNone/>
            </a:pPr>
            <a:r>
              <a:t/>
            </a:r>
            <a:endParaRPr b="1" sz="1200">
              <a:solidFill>
                <a:schemeClr val="dk2"/>
              </a:solidFill>
            </a:endParaRPr>
          </a:p>
          <a:p>
            <a:pPr indent="-317500" lvl="0" marL="630000" marR="121087" rtl="0" algn="l">
              <a:lnSpc>
                <a:spcPct val="115000"/>
              </a:lnSpc>
              <a:spcBef>
                <a:spcPts val="0"/>
              </a:spcBef>
              <a:spcAft>
                <a:spcPts val="0"/>
              </a:spcAft>
              <a:buClr>
                <a:schemeClr val="dk2"/>
              </a:buClr>
              <a:buSzPts val="1400"/>
              <a:buChar char="●"/>
            </a:pPr>
            <a:r>
              <a:rPr lang="en-GB">
                <a:solidFill>
                  <a:schemeClr val="dk2"/>
                </a:solidFill>
              </a:rPr>
              <a:t>Payment from Selera Catering</a:t>
            </a:r>
            <a:endParaRPr>
              <a:solidFill>
                <a:schemeClr val="dk2"/>
              </a:solidFill>
            </a:endParaRPr>
          </a:p>
          <a:p>
            <a:pPr indent="-317500" lvl="0" marL="630000" marR="121087" rtl="0" algn="l">
              <a:lnSpc>
                <a:spcPct val="115000"/>
              </a:lnSpc>
              <a:spcBef>
                <a:spcPts val="1000"/>
              </a:spcBef>
              <a:spcAft>
                <a:spcPts val="0"/>
              </a:spcAft>
              <a:buClr>
                <a:schemeClr val="dk2"/>
              </a:buClr>
              <a:buSzPts val="1400"/>
              <a:buChar char="●"/>
            </a:pPr>
            <a:r>
              <a:rPr lang="en-GB">
                <a:solidFill>
                  <a:schemeClr val="dk2"/>
                </a:solidFill>
              </a:rPr>
              <a:t>Covers two invoices exactly</a:t>
            </a:r>
            <a:endParaRPr>
              <a:solidFill>
                <a:schemeClr val="dk2"/>
              </a:solidFill>
            </a:endParaRPr>
          </a:p>
          <a:p>
            <a:pPr indent="-317500" lvl="0" marL="630000" marR="121087" rtl="0" algn="l">
              <a:lnSpc>
                <a:spcPct val="115000"/>
              </a:lnSpc>
              <a:spcBef>
                <a:spcPts val="1000"/>
              </a:spcBef>
              <a:spcAft>
                <a:spcPts val="0"/>
              </a:spcAft>
              <a:buClr>
                <a:schemeClr val="dk2"/>
              </a:buClr>
              <a:buSzPts val="1400"/>
              <a:buChar char="●"/>
            </a:pPr>
            <a:r>
              <a:rPr lang="en-GB">
                <a:solidFill>
                  <a:schemeClr val="dk2"/>
                </a:solidFill>
              </a:rPr>
              <a:t>Plus one short-paid invoice</a:t>
            </a:r>
            <a:endParaRPr i="1">
              <a:solidFill>
                <a:schemeClr val="dk2"/>
              </a:solidFill>
            </a:endParaRPr>
          </a:p>
          <a:p>
            <a:pPr indent="0" lvl="0" marL="0" marR="118292" rtl="0" algn="l">
              <a:lnSpc>
                <a:spcPct val="115000"/>
              </a:lnSpc>
              <a:spcBef>
                <a:spcPts val="1000"/>
              </a:spcBef>
              <a:spcAft>
                <a:spcPts val="0"/>
              </a:spcAft>
              <a:buNone/>
            </a:pPr>
            <a:r>
              <a:t/>
            </a:r>
            <a:endParaRPr sz="1200">
              <a:solidFill>
                <a:schemeClr val="dk2"/>
              </a:solidFill>
            </a:endParaRPr>
          </a:p>
          <a:p>
            <a:pPr indent="0" lvl="0" marL="0" marR="118292" rtl="0" algn="l">
              <a:lnSpc>
                <a:spcPct val="115000"/>
              </a:lnSpc>
              <a:spcBef>
                <a:spcPts val="0"/>
              </a:spcBef>
              <a:spcAft>
                <a:spcPts val="0"/>
              </a:spcAft>
              <a:buNone/>
            </a:pPr>
            <a:r>
              <a:t/>
            </a:r>
            <a:endParaRPr i="1">
              <a:solidFill>
                <a:schemeClr val="dk2"/>
              </a:solidFill>
            </a:endParaRPr>
          </a:p>
        </p:txBody>
      </p:sp>
      <p:sp>
        <p:nvSpPr>
          <p:cNvPr id="2364" name="Google Shape;2364;p95"/>
          <p:cNvSpPr/>
          <p:nvPr/>
        </p:nvSpPr>
        <p:spPr>
          <a:xfrm>
            <a:off x="7028550" y="1190100"/>
            <a:ext cx="1704300" cy="3288900"/>
          </a:xfrm>
          <a:prstGeom prst="roundRect">
            <a:avLst>
              <a:gd fmla="val 6052" name="adj"/>
            </a:avLst>
          </a:prstGeom>
          <a:solidFill>
            <a:srgbClr val="E3F5EC"/>
          </a:solidFill>
          <a:ln>
            <a:noFill/>
          </a:ln>
        </p:spPr>
        <p:txBody>
          <a:bodyPr anchorCtr="0" anchor="t" bIns="34275" lIns="68575" spcFirstLastPara="1" rIns="68575" wrap="square" tIns="34275">
            <a:noAutofit/>
          </a:bodyPr>
          <a:lstStyle/>
          <a:p>
            <a:pPr indent="0" lvl="0" marL="180000" rtl="0" algn="l">
              <a:spcBef>
                <a:spcPts val="0"/>
              </a:spcBef>
              <a:spcAft>
                <a:spcPts val="0"/>
              </a:spcAft>
              <a:buNone/>
            </a:pPr>
            <a:r>
              <a:t/>
            </a:r>
            <a:endParaRPr b="1" sz="1200">
              <a:solidFill>
                <a:schemeClr val="accent1"/>
              </a:solidFill>
            </a:endParaRPr>
          </a:p>
          <a:p>
            <a:pPr indent="0" lvl="0" marL="180000" rtl="0" algn="l">
              <a:spcBef>
                <a:spcPts val="0"/>
              </a:spcBef>
              <a:spcAft>
                <a:spcPts val="0"/>
              </a:spcAft>
              <a:buNone/>
            </a:pPr>
            <a:r>
              <a:rPr b="1" lang="en-GB">
                <a:solidFill>
                  <a:srgbClr val="1A9D5C"/>
                </a:solidFill>
              </a:rPr>
              <a:t>Record on board</a:t>
            </a:r>
            <a:endParaRPr b="1">
              <a:solidFill>
                <a:srgbClr val="1A9D5C"/>
              </a:solidFill>
            </a:endParaRPr>
          </a:p>
          <a:p>
            <a:pPr indent="0" lvl="0" marL="180000" rtl="0" algn="l">
              <a:spcBef>
                <a:spcPts val="0"/>
              </a:spcBef>
              <a:spcAft>
                <a:spcPts val="0"/>
              </a:spcAft>
              <a:buNone/>
            </a:pPr>
            <a:r>
              <a:t/>
            </a:r>
            <a:endParaRPr b="1" sz="1200">
              <a:solidFill>
                <a:schemeClr val="accent1"/>
              </a:solidFill>
            </a:endParaRPr>
          </a:p>
          <a:p>
            <a:pPr indent="0" lvl="0" marL="180000" rtl="0" algn="l">
              <a:lnSpc>
                <a:spcPct val="115000"/>
              </a:lnSpc>
              <a:spcBef>
                <a:spcPts val="0"/>
              </a:spcBef>
              <a:spcAft>
                <a:spcPts val="0"/>
              </a:spcAft>
              <a:buNone/>
            </a:pPr>
            <a:r>
              <a:t/>
            </a:r>
            <a:endParaRPr sz="1600">
              <a:solidFill>
                <a:schemeClr val="dk1"/>
              </a:solidFill>
            </a:endParaRPr>
          </a:p>
        </p:txBody>
      </p:sp>
      <p:sp>
        <p:nvSpPr>
          <p:cNvPr id="2365" name="Google Shape;2365;p95"/>
          <p:cNvSpPr/>
          <p:nvPr/>
        </p:nvSpPr>
        <p:spPr>
          <a:xfrm>
            <a:off x="7344150" y="2201903"/>
            <a:ext cx="1073100" cy="342900"/>
          </a:xfrm>
          <a:prstGeom prst="roundRect">
            <a:avLst>
              <a:gd fmla="val 50000" name="adj"/>
            </a:avLst>
          </a:prstGeom>
          <a:solidFill>
            <a:srgbClr val="1A9D5C"/>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b="1" lang="en-GB" sz="1300">
                <a:solidFill>
                  <a:schemeClr val="lt1"/>
                </a:solidFill>
              </a:rPr>
              <a:t>Payment ID</a:t>
            </a:r>
            <a:endParaRPr b="1" sz="1300">
              <a:solidFill>
                <a:schemeClr val="lt1"/>
              </a:solidFill>
            </a:endParaRPr>
          </a:p>
        </p:txBody>
      </p:sp>
      <p:sp>
        <p:nvSpPr>
          <p:cNvPr id="2366" name="Google Shape;2366;p95"/>
          <p:cNvSpPr/>
          <p:nvPr/>
        </p:nvSpPr>
        <p:spPr>
          <a:xfrm>
            <a:off x="7344150" y="2595439"/>
            <a:ext cx="1073100" cy="342900"/>
          </a:xfrm>
          <a:prstGeom prst="roundRect">
            <a:avLst>
              <a:gd fmla="val 50000" name="adj"/>
            </a:avLst>
          </a:prstGeom>
          <a:solidFill>
            <a:srgbClr val="1A9D5C"/>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b="1" lang="en-GB" sz="1000">
                <a:solidFill>
                  <a:schemeClr val="lt1"/>
                </a:solidFill>
              </a:rPr>
              <a:t>Invoices alloc.</a:t>
            </a:r>
            <a:endParaRPr b="1" sz="1000">
              <a:solidFill>
                <a:schemeClr val="lt1"/>
              </a:solidFill>
            </a:endParaRPr>
          </a:p>
        </p:txBody>
      </p:sp>
      <p:sp>
        <p:nvSpPr>
          <p:cNvPr id="2367" name="Google Shape;2367;p95"/>
          <p:cNvSpPr/>
          <p:nvPr/>
        </p:nvSpPr>
        <p:spPr>
          <a:xfrm>
            <a:off x="7344150" y="3476051"/>
            <a:ext cx="1073100" cy="342900"/>
          </a:xfrm>
          <a:prstGeom prst="roundRect">
            <a:avLst>
              <a:gd fmla="val 14676" name="adj"/>
            </a:avLst>
          </a:prstGeom>
          <a:solidFill>
            <a:srgbClr val="1A9D5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900">
                <a:solidFill>
                  <a:schemeClr val="lt1"/>
                </a:solidFill>
              </a:rPr>
              <a:t>Short flagged?</a:t>
            </a:r>
            <a:endParaRPr b="1" sz="900">
              <a:solidFill>
                <a:schemeClr val="lt1"/>
              </a:solidFill>
            </a:endParaRPr>
          </a:p>
        </p:txBody>
      </p:sp>
      <p:sp>
        <p:nvSpPr>
          <p:cNvPr id="2368" name="Google Shape;2368;p95"/>
          <p:cNvSpPr/>
          <p:nvPr/>
        </p:nvSpPr>
        <p:spPr>
          <a:xfrm>
            <a:off x="411502" y="438912"/>
            <a:ext cx="8321400" cy="480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2200">
                <a:solidFill>
                  <a:srgbClr val="1C2B3E"/>
                </a:solidFill>
                <a:latin typeface="Poppins"/>
                <a:ea typeface="Poppins"/>
                <a:cs typeface="Poppins"/>
                <a:sym typeface="Poppins"/>
              </a:rPr>
              <a:t>Accounts Receivable — Receipt Allocation</a:t>
            </a:r>
            <a:endParaRPr b="1" sz="2200">
              <a:solidFill>
                <a:srgbClr val="1C2B3E"/>
              </a:solidFill>
              <a:latin typeface="Poppins"/>
              <a:ea typeface="Poppins"/>
              <a:cs typeface="Poppins"/>
              <a:sym typeface="Poppins"/>
            </a:endParaRPr>
          </a:p>
        </p:txBody>
      </p:sp>
      <p:sp>
        <p:nvSpPr>
          <p:cNvPr id="2369" name="Google Shape;2369;p95"/>
          <p:cNvSpPr/>
          <p:nvPr/>
        </p:nvSpPr>
        <p:spPr>
          <a:xfrm>
            <a:off x="411502" y="260604"/>
            <a:ext cx="68583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SPECIAL MISSION</a:t>
            </a:r>
            <a:endParaRPr sz="800">
              <a:solidFill>
                <a:schemeClr val="dk1"/>
              </a:solidFill>
              <a:latin typeface="Calibri"/>
              <a:ea typeface="Calibri"/>
              <a:cs typeface="Calibri"/>
              <a:sym typeface="Calibri"/>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2374" name="Shape 2374"/>
        <p:cNvGrpSpPr/>
        <p:nvPr/>
      </p:nvGrpSpPr>
      <p:grpSpPr>
        <a:xfrm>
          <a:off x="0" y="0"/>
          <a:ext cx="0" cy="0"/>
          <a:chOff x="0" y="0"/>
          <a:chExt cx="0" cy="0"/>
        </a:xfrm>
      </p:grpSpPr>
      <p:sp>
        <p:nvSpPr>
          <p:cNvPr id="2375" name="Google Shape;2375;p96"/>
          <p:cNvSpPr/>
          <p:nvPr/>
        </p:nvSpPr>
        <p:spPr>
          <a:xfrm>
            <a:off x="411502" y="438912"/>
            <a:ext cx="8321400" cy="480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C2B3E"/>
              </a:buClr>
              <a:buSzPts val="2200"/>
              <a:buFont typeface="Arial"/>
              <a:buNone/>
            </a:pPr>
            <a:r>
              <a:rPr b="1" lang="en-GB" sz="2200">
                <a:solidFill>
                  <a:srgbClr val="1C2B3E"/>
                </a:solidFill>
                <a:latin typeface="Poppins"/>
                <a:ea typeface="Poppins"/>
                <a:cs typeface="Poppins"/>
                <a:sym typeface="Poppins"/>
              </a:rPr>
              <a:t>Accounts Receivable — Receipt Allocation</a:t>
            </a:r>
            <a:endParaRPr sz="2200">
              <a:solidFill>
                <a:schemeClr val="dk1"/>
              </a:solidFill>
              <a:latin typeface="Poppins"/>
              <a:ea typeface="Poppins"/>
              <a:cs typeface="Poppins"/>
              <a:sym typeface="Poppins"/>
            </a:endParaRPr>
          </a:p>
        </p:txBody>
      </p:sp>
      <p:sp>
        <p:nvSpPr>
          <p:cNvPr id="2376" name="Google Shape;2376;p96"/>
          <p:cNvSpPr/>
          <p:nvPr/>
        </p:nvSpPr>
        <p:spPr>
          <a:xfrm>
            <a:off x="7765727" y="308610"/>
            <a:ext cx="966900" cy="274200"/>
          </a:xfrm>
          <a:prstGeom prst="roundRect">
            <a:avLst>
              <a:gd fmla="val 50000" name="adj"/>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377" name="Google Shape;2377;p96"/>
          <p:cNvSpPr/>
          <p:nvPr/>
        </p:nvSpPr>
        <p:spPr>
          <a:xfrm>
            <a:off x="7765727" y="308610"/>
            <a:ext cx="9669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Arial"/>
              <a:buNone/>
            </a:pPr>
            <a:r>
              <a:rPr b="1" lang="en-GB" sz="900">
                <a:solidFill>
                  <a:srgbClr val="FFFFFF"/>
                </a:solidFill>
                <a:latin typeface="Arial"/>
                <a:ea typeface="Arial"/>
                <a:cs typeface="Arial"/>
                <a:sym typeface="Arial"/>
              </a:rPr>
              <a:t>🧾 AR</a:t>
            </a:r>
            <a:endParaRPr sz="900">
              <a:solidFill>
                <a:schemeClr val="dk1"/>
              </a:solidFill>
              <a:latin typeface="Calibri"/>
              <a:ea typeface="Calibri"/>
              <a:cs typeface="Calibri"/>
              <a:sym typeface="Calibri"/>
            </a:endParaRPr>
          </a:p>
        </p:txBody>
      </p:sp>
      <p:sp>
        <p:nvSpPr>
          <p:cNvPr id="2378" name="Google Shape;2378;p96"/>
          <p:cNvSpPr/>
          <p:nvPr/>
        </p:nvSpPr>
        <p:spPr>
          <a:xfrm>
            <a:off x="411502" y="1337310"/>
            <a:ext cx="4040700" cy="3463200"/>
          </a:xfrm>
          <a:prstGeom prst="roundRect">
            <a:avLst>
              <a:gd fmla="val 2376" name="adj"/>
            </a:avLst>
          </a:prstGeom>
          <a:solidFill>
            <a:srgbClr val="F5F7FA"/>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379" name="Google Shape;2379;p96"/>
          <p:cNvSpPr/>
          <p:nvPr/>
        </p:nvSpPr>
        <p:spPr>
          <a:xfrm>
            <a:off x="548669" y="1447038"/>
            <a:ext cx="1508700" cy="233100"/>
          </a:xfrm>
          <a:prstGeom prst="roundRect">
            <a:avLst>
              <a:gd fmla="val 50000"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380" name="Google Shape;2380;p96"/>
          <p:cNvSpPr/>
          <p:nvPr/>
        </p:nvSpPr>
        <p:spPr>
          <a:xfrm>
            <a:off x="548669" y="1447038"/>
            <a:ext cx="1508700" cy="233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FRONT · TEAM SEES</a:t>
            </a:r>
            <a:endParaRPr sz="800">
              <a:solidFill>
                <a:schemeClr val="dk1"/>
              </a:solidFill>
              <a:latin typeface="Calibri"/>
              <a:ea typeface="Calibri"/>
              <a:cs typeface="Calibri"/>
              <a:sym typeface="Calibri"/>
            </a:endParaRPr>
          </a:p>
        </p:txBody>
      </p:sp>
      <p:sp>
        <p:nvSpPr>
          <p:cNvPr id="2381" name="Google Shape;2381;p96"/>
          <p:cNvSpPr/>
          <p:nvPr/>
        </p:nvSpPr>
        <p:spPr>
          <a:xfrm>
            <a:off x="548669" y="1789938"/>
            <a:ext cx="3766200" cy="788700"/>
          </a:xfrm>
          <a:prstGeom prst="roundRect">
            <a:avLst>
              <a:gd fmla="val 6957" name="adj"/>
            </a:avLst>
          </a:prstGeom>
          <a:solidFill>
            <a:srgbClr val="FFFFFF"/>
          </a:solidFill>
          <a:ln cap="flat" cmpd="sng" w="12700">
            <a:solidFill>
              <a:srgbClr val="E3E8EF"/>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382" name="Google Shape;2382;p96"/>
          <p:cNvSpPr/>
          <p:nvPr/>
        </p:nvSpPr>
        <p:spPr>
          <a:xfrm>
            <a:off x="658403" y="1858518"/>
            <a:ext cx="3546900" cy="6516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C2B3E"/>
              </a:buClr>
              <a:buSzPts val="900"/>
              <a:buFont typeface="Arial"/>
              <a:buNone/>
            </a:pPr>
            <a:r>
              <a:rPr i="1" lang="en-GB" sz="900">
                <a:solidFill>
                  <a:srgbClr val="1C2B3E"/>
                </a:solidFill>
                <a:latin typeface="Arial"/>
                <a:ea typeface="Arial"/>
                <a:cs typeface="Arial"/>
                <a:sym typeface="Arial"/>
              </a:rPr>
              <a:t>“The customer paid. Match the money to the right invoices before the SOA goes out.”</a:t>
            </a:r>
            <a:endParaRPr sz="900">
              <a:solidFill>
                <a:schemeClr val="dk1"/>
              </a:solidFill>
              <a:latin typeface="Calibri"/>
              <a:ea typeface="Calibri"/>
              <a:cs typeface="Calibri"/>
              <a:sym typeface="Calibri"/>
            </a:endParaRPr>
          </a:p>
        </p:txBody>
      </p:sp>
      <p:sp>
        <p:nvSpPr>
          <p:cNvPr id="2383" name="Google Shape;2383;p96"/>
          <p:cNvSpPr/>
          <p:nvPr/>
        </p:nvSpPr>
        <p:spPr>
          <a:xfrm>
            <a:off x="548669" y="2715768"/>
            <a:ext cx="3766200" cy="178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800"/>
              <a:buFont typeface="Arial"/>
              <a:buNone/>
            </a:pPr>
            <a:r>
              <a:rPr b="1" lang="en-GB" sz="800">
                <a:solidFill>
                  <a:srgbClr val="94A3B8"/>
                </a:solidFill>
                <a:latin typeface="Arial"/>
                <a:ea typeface="Arial"/>
                <a:cs typeface="Arial"/>
                <a:sym typeface="Arial"/>
              </a:rPr>
              <a:t>ARRIVES AS — bank statement line / payment proof</a:t>
            </a:r>
            <a:endParaRPr sz="800">
              <a:solidFill>
                <a:schemeClr val="dk1"/>
              </a:solidFill>
              <a:latin typeface="Calibri"/>
              <a:ea typeface="Calibri"/>
              <a:cs typeface="Calibri"/>
              <a:sym typeface="Calibri"/>
            </a:endParaRPr>
          </a:p>
        </p:txBody>
      </p:sp>
      <p:sp>
        <p:nvSpPr>
          <p:cNvPr id="2384" name="Google Shape;2384;p96"/>
          <p:cNvSpPr/>
          <p:nvPr/>
        </p:nvSpPr>
        <p:spPr>
          <a:xfrm>
            <a:off x="548669" y="2935224"/>
            <a:ext cx="3766200" cy="233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B3E"/>
              </a:buClr>
              <a:buSzPts val="900"/>
              <a:buFont typeface="Arial"/>
              <a:buNone/>
            </a:pPr>
            <a:r>
              <a:rPr lang="en-GB" sz="900">
                <a:solidFill>
                  <a:srgbClr val="1C2B3E"/>
                </a:solidFill>
                <a:latin typeface="Arial"/>
                <a:ea typeface="Arial"/>
                <a:cs typeface="Arial"/>
                <a:sym typeface="Arial"/>
              </a:rPr>
              <a:t>•  Payment from Selera Catering</a:t>
            </a:r>
            <a:endParaRPr sz="900">
              <a:solidFill>
                <a:schemeClr val="dk1"/>
              </a:solidFill>
              <a:latin typeface="Calibri"/>
              <a:ea typeface="Calibri"/>
              <a:cs typeface="Calibri"/>
              <a:sym typeface="Calibri"/>
            </a:endParaRPr>
          </a:p>
        </p:txBody>
      </p:sp>
      <p:sp>
        <p:nvSpPr>
          <p:cNvPr id="2385" name="Google Shape;2385;p96"/>
          <p:cNvSpPr/>
          <p:nvPr/>
        </p:nvSpPr>
        <p:spPr>
          <a:xfrm>
            <a:off x="548669" y="3168396"/>
            <a:ext cx="3766200" cy="233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B3E"/>
              </a:buClr>
              <a:buSzPts val="900"/>
              <a:buFont typeface="Arial"/>
              <a:buNone/>
            </a:pPr>
            <a:r>
              <a:rPr lang="en-GB" sz="900">
                <a:solidFill>
                  <a:srgbClr val="1C2B3E"/>
                </a:solidFill>
                <a:latin typeface="Arial"/>
                <a:ea typeface="Arial"/>
                <a:cs typeface="Arial"/>
                <a:sym typeface="Arial"/>
              </a:rPr>
              <a:t>•  Covers two invoices exactly</a:t>
            </a:r>
            <a:endParaRPr sz="900">
              <a:solidFill>
                <a:schemeClr val="dk1"/>
              </a:solidFill>
              <a:latin typeface="Calibri"/>
              <a:ea typeface="Calibri"/>
              <a:cs typeface="Calibri"/>
              <a:sym typeface="Calibri"/>
            </a:endParaRPr>
          </a:p>
        </p:txBody>
      </p:sp>
      <p:sp>
        <p:nvSpPr>
          <p:cNvPr id="2386" name="Google Shape;2386;p96"/>
          <p:cNvSpPr/>
          <p:nvPr/>
        </p:nvSpPr>
        <p:spPr>
          <a:xfrm>
            <a:off x="548669" y="3429000"/>
            <a:ext cx="3766200" cy="342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B3E"/>
              </a:buClr>
              <a:buSzPts val="900"/>
              <a:buFont typeface="Arial"/>
              <a:buNone/>
            </a:pPr>
            <a:r>
              <a:rPr i="0" lang="en-GB" sz="900">
                <a:solidFill>
                  <a:srgbClr val="1C2B3E"/>
                </a:solidFill>
                <a:latin typeface="Arial"/>
                <a:ea typeface="Arial"/>
                <a:cs typeface="Arial"/>
                <a:sym typeface="Arial"/>
              </a:rPr>
              <a:t>•  Plus one short-paid invoice</a:t>
            </a:r>
            <a:endParaRPr sz="900">
              <a:solidFill>
                <a:schemeClr val="dk1"/>
              </a:solidFill>
              <a:latin typeface="Calibri"/>
              <a:ea typeface="Calibri"/>
              <a:cs typeface="Calibri"/>
              <a:sym typeface="Calibri"/>
            </a:endParaRPr>
          </a:p>
        </p:txBody>
      </p:sp>
      <p:sp>
        <p:nvSpPr>
          <p:cNvPr id="2387" name="Google Shape;2387;p96"/>
          <p:cNvSpPr/>
          <p:nvPr/>
        </p:nvSpPr>
        <p:spPr>
          <a:xfrm>
            <a:off x="548669" y="4265676"/>
            <a:ext cx="3766200" cy="178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800"/>
              <a:buFont typeface="Arial"/>
              <a:buNone/>
            </a:pPr>
            <a:r>
              <a:rPr b="1" lang="en-GB" sz="800">
                <a:solidFill>
                  <a:srgbClr val="94A3B8"/>
                </a:solidFill>
                <a:latin typeface="Arial"/>
                <a:ea typeface="Arial"/>
                <a:cs typeface="Arial"/>
                <a:sym typeface="Arial"/>
              </a:rPr>
              <a:t>RECORD ON BOARD</a:t>
            </a:r>
            <a:endParaRPr sz="800">
              <a:solidFill>
                <a:schemeClr val="dk1"/>
              </a:solidFill>
              <a:latin typeface="Calibri"/>
              <a:ea typeface="Calibri"/>
              <a:cs typeface="Calibri"/>
              <a:sym typeface="Calibri"/>
            </a:endParaRPr>
          </a:p>
        </p:txBody>
      </p:sp>
      <p:sp>
        <p:nvSpPr>
          <p:cNvPr id="2388" name="Google Shape;2388;p96"/>
          <p:cNvSpPr/>
          <p:nvPr/>
        </p:nvSpPr>
        <p:spPr>
          <a:xfrm>
            <a:off x="548669" y="4471416"/>
            <a:ext cx="565800" cy="274200"/>
          </a:xfrm>
          <a:prstGeom prst="roundRect">
            <a:avLst>
              <a:gd fmla="val 50000" name="adj"/>
            </a:avLst>
          </a:prstGeom>
          <a:solidFill>
            <a:srgbClr val="FBEBD9"/>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389" name="Google Shape;2389;p96"/>
          <p:cNvSpPr/>
          <p:nvPr/>
        </p:nvSpPr>
        <p:spPr>
          <a:xfrm>
            <a:off x="548669" y="4471416"/>
            <a:ext cx="5658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Payment ID</a:t>
            </a:r>
            <a:endParaRPr sz="800">
              <a:solidFill>
                <a:schemeClr val="dk1"/>
              </a:solidFill>
              <a:latin typeface="Calibri"/>
              <a:ea typeface="Calibri"/>
              <a:cs typeface="Calibri"/>
              <a:sym typeface="Calibri"/>
            </a:endParaRPr>
          </a:p>
        </p:txBody>
      </p:sp>
      <p:sp>
        <p:nvSpPr>
          <p:cNvPr id="2390" name="Google Shape;2390;p96"/>
          <p:cNvSpPr/>
          <p:nvPr/>
        </p:nvSpPr>
        <p:spPr>
          <a:xfrm>
            <a:off x="1217360" y="4471416"/>
            <a:ext cx="565800" cy="274200"/>
          </a:xfrm>
          <a:prstGeom prst="roundRect">
            <a:avLst>
              <a:gd fmla="val 50000" name="adj"/>
            </a:avLst>
          </a:prstGeom>
          <a:solidFill>
            <a:srgbClr val="FBEBD9"/>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391" name="Google Shape;2391;p96"/>
          <p:cNvSpPr/>
          <p:nvPr/>
        </p:nvSpPr>
        <p:spPr>
          <a:xfrm>
            <a:off x="1217360" y="4471416"/>
            <a:ext cx="5658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Invoices alloc.</a:t>
            </a:r>
            <a:endParaRPr sz="800">
              <a:solidFill>
                <a:schemeClr val="dk1"/>
              </a:solidFill>
              <a:latin typeface="Calibri"/>
              <a:ea typeface="Calibri"/>
              <a:cs typeface="Calibri"/>
              <a:sym typeface="Calibri"/>
            </a:endParaRPr>
          </a:p>
        </p:txBody>
      </p:sp>
      <p:sp>
        <p:nvSpPr>
          <p:cNvPr id="2392" name="Google Shape;2392;p96"/>
          <p:cNvSpPr/>
          <p:nvPr/>
        </p:nvSpPr>
        <p:spPr>
          <a:xfrm>
            <a:off x="4692151" y="1337310"/>
            <a:ext cx="4040700" cy="3463200"/>
          </a:xfrm>
          <a:prstGeom prst="roundRect">
            <a:avLst>
              <a:gd fmla="val 2376"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393" name="Google Shape;2393;p96"/>
          <p:cNvSpPr/>
          <p:nvPr/>
        </p:nvSpPr>
        <p:spPr>
          <a:xfrm>
            <a:off x="4829318" y="1447038"/>
            <a:ext cx="1714500" cy="233100"/>
          </a:xfrm>
          <a:prstGeom prst="roundRect">
            <a:avLst>
              <a:gd fmla="val 50000" name="adj"/>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394" name="Google Shape;2394;p96"/>
          <p:cNvSpPr/>
          <p:nvPr/>
        </p:nvSpPr>
        <p:spPr>
          <a:xfrm>
            <a:off x="4829318" y="1447038"/>
            <a:ext cx="1714500" cy="233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BACK · FACILITATOR QC</a:t>
            </a:r>
            <a:endParaRPr sz="800">
              <a:solidFill>
                <a:schemeClr val="dk1"/>
              </a:solidFill>
              <a:latin typeface="Calibri"/>
              <a:ea typeface="Calibri"/>
              <a:cs typeface="Calibri"/>
              <a:sym typeface="Calibri"/>
            </a:endParaRPr>
          </a:p>
        </p:txBody>
      </p:sp>
      <p:pic>
        <p:nvPicPr>
          <p:cNvPr descr="/home/claude/maia/icons/FiCheck_accent.png" id="2395" name="Google Shape;2395;p96"/>
          <p:cNvPicPr preferRelativeResize="0"/>
          <p:nvPr/>
        </p:nvPicPr>
        <p:blipFill rotWithShape="1">
          <a:blip r:embed="rId3">
            <a:alphaModFix/>
          </a:blip>
          <a:srcRect b="0" l="0" r="0" t="0"/>
          <a:stretch/>
        </p:blipFill>
        <p:spPr>
          <a:xfrm>
            <a:off x="4843035" y="1831086"/>
            <a:ext cx="150876" cy="150876"/>
          </a:xfrm>
          <a:prstGeom prst="rect">
            <a:avLst/>
          </a:prstGeom>
          <a:noFill/>
          <a:ln>
            <a:noFill/>
          </a:ln>
        </p:spPr>
      </p:pic>
      <p:sp>
        <p:nvSpPr>
          <p:cNvPr id="2396" name="Google Shape;2396;p96"/>
          <p:cNvSpPr/>
          <p:nvPr/>
        </p:nvSpPr>
        <p:spPr>
          <a:xfrm>
            <a:off x="5076220" y="1776222"/>
            <a:ext cx="3505800" cy="7293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FFFFFF"/>
              </a:buClr>
              <a:buSzPts val="900"/>
              <a:buFont typeface="Arial"/>
              <a:buNone/>
            </a:pPr>
            <a:r>
              <a:rPr lang="en-GB" sz="900">
                <a:solidFill>
                  <a:srgbClr val="FFFFFF"/>
                </a:solidFill>
                <a:latin typeface="Arial"/>
                <a:ea typeface="Arial"/>
                <a:cs typeface="Arial"/>
                <a:sym typeface="Arial"/>
              </a:rPr>
              <a:t>Payment Entry created as a receipt against the Sales Invoice references</a:t>
            </a:r>
            <a:endParaRPr sz="900">
              <a:solidFill>
                <a:schemeClr val="dk1"/>
              </a:solidFill>
              <a:latin typeface="Calibri"/>
              <a:ea typeface="Calibri"/>
              <a:cs typeface="Calibri"/>
              <a:sym typeface="Calibri"/>
            </a:endParaRPr>
          </a:p>
        </p:txBody>
      </p:sp>
      <p:pic>
        <p:nvPicPr>
          <p:cNvPr descr="/home/claude/maia/icons/FiCheck_accent.png" id="2397" name="Google Shape;2397;p96"/>
          <p:cNvPicPr preferRelativeResize="0"/>
          <p:nvPr/>
        </p:nvPicPr>
        <p:blipFill rotWithShape="1">
          <a:blip r:embed="rId3">
            <a:alphaModFix/>
          </a:blip>
          <a:srcRect b="0" l="0" r="0" t="0"/>
          <a:stretch/>
        </p:blipFill>
        <p:spPr>
          <a:xfrm>
            <a:off x="4843035" y="2560320"/>
            <a:ext cx="150876" cy="150876"/>
          </a:xfrm>
          <a:prstGeom prst="rect">
            <a:avLst/>
          </a:prstGeom>
          <a:noFill/>
          <a:ln>
            <a:noFill/>
          </a:ln>
        </p:spPr>
      </p:pic>
      <p:sp>
        <p:nvSpPr>
          <p:cNvPr id="2398" name="Google Shape;2398;p96"/>
          <p:cNvSpPr/>
          <p:nvPr/>
        </p:nvSpPr>
        <p:spPr>
          <a:xfrm>
            <a:off x="5076220" y="2505456"/>
            <a:ext cx="3505800" cy="7293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FFFFFF"/>
              </a:buClr>
              <a:buSzPts val="900"/>
              <a:buFont typeface="Arial"/>
              <a:buNone/>
            </a:pPr>
            <a:r>
              <a:rPr lang="en-GB" sz="900">
                <a:solidFill>
                  <a:srgbClr val="FFFFFF"/>
                </a:solidFill>
                <a:latin typeface="Arial"/>
                <a:ea typeface="Arial"/>
                <a:cs typeface="Arial"/>
                <a:sym typeface="Arial"/>
              </a:rPr>
              <a:t>Amount allocated correctly across multiple invoices</a:t>
            </a:r>
            <a:endParaRPr sz="900">
              <a:solidFill>
                <a:schemeClr val="dk1"/>
              </a:solidFill>
              <a:latin typeface="Calibri"/>
              <a:ea typeface="Calibri"/>
              <a:cs typeface="Calibri"/>
              <a:sym typeface="Calibri"/>
            </a:endParaRPr>
          </a:p>
        </p:txBody>
      </p:sp>
      <p:pic>
        <p:nvPicPr>
          <p:cNvPr descr="/home/claude/maia/icons/FiCheck_accent.png" id="2399" name="Google Shape;2399;p96"/>
          <p:cNvPicPr preferRelativeResize="0"/>
          <p:nvPr/>
        </p:nvPicPr>
        <p:blipFill rotWithShape="1">
          <a:blip r:embed="rId3">
            <a:alphaModFix/>
          </a:blip>
          <a:srcRect b="0" l="0" r="0" t="0"/>
          <a:stretch/>
        </p:blipFill>
        <p:spPr>
          <a:xfrm>
            <a:off x="4843035" y="3289554"/>
            <a:ext cx="150876" cy="150876"/>
          </a:xfrm>
          <a:prstGeom prst="rect">
            <a:avLst/>
          </a:prstGeom>
          <a:noFill/>
          <a:ln>
            <a:noFill/>
          </a:ln>
        </p:spPr>
      </p:pic>
      <p:sp>
        <p:nvSpPr>
          <p:cNvPr id="2400" name="Google Shape;2400;p96"/>
          <p:cNvSpPr/>
          <p:nvPr/>
        </p:nvSpPr>
        <p:spPr>
          <a:xfrm>
            <a:off x="5076220" y="3234690"/>
            <a:ext cx="3505800" cy="7293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FFFFFF"/>
              </a:buClr>
              <a:buSzPts val="900"/>
              <a:buFont typeface="Arial"/>
              <a:buNone/>
            </a:pPr>
            <a:r>
              <a:rPr lang="en-GB" sz="900">
                <a:solidFill>
                  <a:srgbClr val="FFFFFF"/>
                </a:solidFill>
                <a:latin typeface="Arial"/>
                <a:ea typeface="Arial"/>
                <a:cs typeface="Arial"/>
                <a:sym typeface="Arial"/>
              </a:rPr>
              <a:t>Short payment stays visible (not falsely closed); SOA shows correct outstanding</a:t>
            </a:r>
            <a:endParaRPr sz="900">
              <a:solidFill>
                <a:schemeClr val="dk1"/>
              </a:solidFill>
              <a:latin typeface="Calibri"/>
              <a:ea typeface="Calibri"/>
              <a:cs typeface="Calibri"/>
              <a:sym typeface="Calibri"/>
            </a:endParaRPr>
          </a:p>
        </p:txBody>
      </p:sp>
      <p:sp>
        <p:nvSpPr>
          <p:cNvPr id="2401" name="Google Shape;2401;p96"/>
          <p:cNvSpPr/>
          <p:nvPr/>
        </p:nvSpPr>
        <p:spPr>
          <a:xfrm>
            <a:off x="4829318" y="4114800"/>
            <a:ext cx="3766200" cy="514500"/>
          </a:xfrm>
          <a:prstGeom prst="roundRect">
            <a:avLst>
              <a:gd fmla="val 10667" name="adj"/>
            </a:avLst>
          </a:prstGeom>
          <a:solidFill>
            <a:srgbClr val="32495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402" name="Google Shape;2402;p96"/>
          <p:cNvSpPr/>
          <p:nvPr/>
        </p:nvSpPr>
        <p:spPr>
          <a:xfrm>
            <a:off x="4925336" y="4217670"/>
            <a:ext cx="274200" cy="274200"/>
          </a:xfrm>
          <a:prstGeom prst="roundRect">
            <a:avLst>
              <a:gd fmla="val 22000" name="adj"/>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AlertTriangle_white.png" id="2403" name="Google Shape;2403;p96"/>
          <p:cNvPicPr preferRelativeResize="0"/>
          <p:nvPr/>
        </p:nvPicPr>
        <p:blipFill rotWithShape="1">
          <a:blip r:embed="rId4">
            <a:alphaModFix/>
          </a:blip>
          <a:srcRect b="0" l="0" r="0" t="0"/>
          <a:stretch/>
        </p:blipFill>
        <p:spPr>
          <a:xfrm>
            <a:off x="4993919" y="4286250"/>
            <a:ext cx="137160" cy="137160"/>
          </a:xfrm>
          <a:prstGeom prst="rect">
            <a:avLst/>
          </a:prstGeom>
          <a:noFill/>
          <a:ln>
            <a:noFill/>
          </a:ln>
        </p:spPr>
      </p:pic>
      <p:sp>
        <p:nvSpPr>
          <p:cNvPr id="2404" name="Google Shape;2404;p96"/>
          <p:cNvSpPr/>
          <p:nvPr/>
        </p:nvSpPr>
        <p:spPr>
          <a:xfrm>
            <a:off x="5281971" y="4169664"/>
            <a:ext cx="3300000" cy="4116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FFFFFF"/>
              </a:buClr>
              <a:buSzPts val="900"/>
              <a:buFont typeface="Arial"/>
              <a:buNone/>
            </a:pPr>
            <a:r>
              <a:rPr b="1" lang="en-GB" sz="900">
                <a:solidFill>
                  <a:srgbClr val="FFFFFF"/>
                </a:solidFill>
                <a:latin typeface="Arial"/>
                <a:ea typeface="Arial"/>
                <a:cs typeface="Arial"/>
                <a:sym typeface="Arial"/>
              </a:rPr>
              <a:t>Pass = correct allocation, short payment flagged.</a:t>
            </a:r>
            <a:endParaRPr sz="900">
              <a:solidFill>
                <a:schemeClr val="dk1"/>
              </a:solidFill>
              <a:latin typeface="Calibri"/>
              <a:ea typeface="Calibri"/>
              <a:cs typeface="Calibri"/>
              <a:sym typeface="Calibri"/>
            </a:endParaRPr>
          </a:p>
        </p:txBody>
      </p:sp>
      <p:sp>
        <p:nvSpPr>
          <p:cNvPr id="2405" name="Google Shape;2405;p96"/>
          <p:cNvSpPr/>
          <p:nvPr/>
        </p:nvSpPr>
        <p:spPr>
          <a:xfrm>
            <a:off x="1879192" y="4471416"/>
            <a:ext cx="565800" cy="274200"/>
          </a:xfrm>
          <a:prstGeom prst="roundRect">
            <a:avLst>
              <a:gd fmla="val 50000" name="adj"/>
            </a:avLst>
          </a:prstGeom>
          <a:solidFill>
            <a:srgbClr val="FBEBD9"/>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406" name="Google Shape;2406;p96"/>
          <p:cNvSpPr/>
          <p:nvPr/>
        </p:nvSpPr>
        <p:spPr>
          <a:xfrm>
            <a:off x="1879192" y="4471416"/>
            <a:ext cx="5658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Short flagged?</a:t>
            </a:r>
            <a:endParaRPr sz="800">
              <a:solidFill>
                <a:schemeClr val="dk1"/>
              </a:solidFill>
              <a:latin typeface="Calibri"/>
              <a:ea typeface="Calibri"/>
              <a:cs typeface="Calibri"/>
              <a:sym typeface="Calibri"/>
            </a:endParaRPr>
          </a:p>
        </p:txBody>
      </p:sp>
      <p:sp>
        <p:nvSpPr>
          <p:cNvPr id="2407" name="Google Shape;2407;p96"/>
          <p:cNvSpPr txBox="1"/>
          <p:nvPr>
            <p:ph idx="12" type="sldNum"/>
          </p:nvPr>
        </p:nvSpPr>
        <p:spPr>
          <a:xfrm>
            <a:off x="8347216" y="4750189"/>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408" name="Google Shape;2408;p96"/>
          <p:cNvSpPr/>
          <p:nvPr/>
        </p:nvSpPr>
        <p:spPr>
          <a:xfrm>
            <a:off x="411502" y="260604"/>
            <a:ext cx="68583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SPECIAL MISSION</a:t>
            </a:r>
            <a:endParaRPr sz="800">
              <a:solidFill>
                <a:schemeClr val="dk1"/>
              </a:solidFill>
              <a:latin typeface="Calibri"/>
              <a:ea typeface="Calibri"/>
              <a:cs typeface="Calibri"/>
              <a:sym typeface="Calibri"/>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2413" name="Shape 2413"/>
        <p:cNvGrpSpPr/>
        <p:nvPr/>
      </p:nvGrpSpPr>
      <p:grpSpPr>
        <a:xfrm>
          <a:off x="0" y="0"/>
          <a:ext cx="0" cy="0"/>
          <a:chOff x="0" y="0"/>
          <a:chExt cx="0" cy="0"/>
        </a:xfrm>
      </p:grpSpPr>
      <p:sp>
        <p:nvSpPr>
          <p:cNvPr id="2414" name="Google Shape;2414;p97"/>
          <p:cNvSpPr/>
          <p:nvPr/>
        </p:nvSpPr>
        <p:spPr>
          <a:xfrm>
            <a:off x="7765727" y="308610"/>
            <a:ext cx="967030" cy="274320"/>
          </a:xfrm>
          <a:prstGeom prst="roundRect">
            <a:avLst>
              <a:gd fmla="val 50000" name="adj"/>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415" name="Google Shape;2415;p97"/>
          <p:cNvSpPr/>
          <p:nvPr/>
        </p:nvSpPr>
        <p:spPr>
          <a:xfrm>
            <a:off x="7765727" y="308610"/>
            <a:ext cx="96703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Arial"/>
              <a:buNone/>
            </a:pPr>
            <a:r>
              <a:rPr b="1" lang="en-GB" sz="900">
                <a:solidFill>
                  <a:srgbClr val="FFFFFF"/>
                </a:solidFill>
                <a:latin typeface="Arial"/>
                <a:ea typeface="Arial"/>
                <a:cs typeface="Arial"/>
                <a:sym typeface="Arial"/>
              </a:rPr>
              <a:t>📦 STOCK</a:t>
            </a:r>
            <a:endParaRPr sz="900">
              <a:solidFill>
                <a:schemeClr val="dk1"/>
              </a:solidFill>
              <a:latin typeface="Calibri"/>
              <a:ea typeface="Calibri"/>
              <a:cs typeface="Calibri"/>
              <a:sym typeface="Calibri"/>
            </a:endParaRPr>
          </a:p>
        </p:txBody>
      </p:sp>
      <p:sp>
        <p:nvSpPr>
          <p:cNvPr id="2416" name="Google Shape;2416;p97"/>
          <p:cNvSpPr txBox="1"/>
          <p:nvPr>
            <p:ph idx="12" type="sldNum"/>
          </p:nvPr>
        </p:nvSpPr>
        <p:spPr>
          <a:xfrm>
            <a:off x="8347216" y="4750189"/>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417" name="Google Shape;2417;p97"/>
          <p:cNvSpPr/>
          <p:nvPr/>
        </p:nvSpPr>
        <p:spPr>
          <a:xfrm>
            <a:off x="7765727" y="308610"/>
            <a:ext cx="966900" cy="274200"/>
          </a:xfrm>
          <a:prstGeom prst="roundRect">
            <a:avLst>
              <a:gd fmla="val 50000" name="adj"/>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418" name="Google Shape;2418;p97"/>
          <p:cNvSpPr/>
          <p:nvPr/>
        </p:nvSpPr>
        <p:spPr>
          <a:xfrm>
            <a:off x="411550" y="1190103"/>
            <a:ext cx="2704800" cy="3288900"/>
          </a:xfrm>
          <a:prstGeom prst="roundRect">
            <a:avLst>
              <a:gd fmla="val 6052" name="adj"/>
            </a:avLst>
          </a:prstGeom>
          <a:solidFill>
            <a:srgbClr val="E3E8EF"/>
          </a:solidFill>
          <a:ln cap="flat" cmpd="sng" w="9525">
            <a:solidFill>
              <a:srgbClr val="E3E8EF"/>
            </a:solidFill>
            <a:prstDash val="solid"/>
            <a:round/>
            <a:headEnd len="sm" w="sm" type="none"/>
            <a:tailEnd len="sm" w="sm" type="none"/>
          </a:ln>
        </p:spPr>
        <p:txBody>
          <a:bodyPr anchorCtr="0" anchor="t" bIns="34275" lIns="68575" spcFirstLastPara="1" rIns="287850" wrap="square" tIns="34275">
            <a:noAutofit/>
          </a:bodyPr>
          <a:lstStyle/>
          <a:p>
            <a:pPr indent="0" lvl="0" marL="180000" rtl="0" algn="l">
              <a:spcBef>
                <a:spcPts val="0"/>
              </a:spcBef>
              <a:spcAft>
                <a:spcPts val="0"/>
              </a:spcAft>
              <a:buNone/>
            </a:pPr>
            <a:r>
              <a:t/>
            </a:r>
            <a:endParaRPr b="1" sz="1200">
              <a:solidFill>
                <a:schemeClr val="accent1"/>
              </a:solidFill>
            </a:endParaRPr>
          </a:p>
          <a:p>
            <a:pPr indent="0" lvl="0" marL="180000" rtl="0" algn="l">
              <a:spcBef>
                <a:spcPts val="0"/>
              </a:spcBef>
              <a:spcAft>
                <a:spcPts val="0"/>
              </a:spcAft>
              <a:buNone/>
            </a:pPr>
            <a:r>
              <a:rPr b="1" lang="en-GB">
                <a:solidFill>
                  <a:srgbClr val="76889B"/>
                </a:solidFill>
              </a:rPr>
              <a:t>Scenario</a:t>
            </a:r>
            <a:endParaRPr b="1">
              <a:solidFill>
                <a:srgbClr val="5B6B7D"/>
              </a:solidFill>
            </a:endParaRPr>
          </a:p>
          <a:p>
            <a:pPr indent="0" lvl="0" marL="180000" rtl="0" algn="l">
              <a:spcBef>
                <a:spcPts val="0"/>
              </a:spcBef>
              <a:spcAft>
                <a:spcPts val="0"/>
              </a:spcAft>
              <a:buNone/>
            </a:pPr>
            <a:r>
              <a:t/>
            </a:r>
            <a:endParaRPr b="1" sz="1200">
              <a:solidFill>
                <a:schemeClr val="accent1"/>
              </a:solidFill>
            </a:endParaRPr>
          </a:p>
          <a:p>
            <a:pPr indent="0" lvl="0" marL="180000" marR="4652" rtl="0" algn="l">
              <a:lnSpc>
                <a:spcPct val="115000"/>
              </a:lnSpc>
              <a:spcBef>
                <a:spcPts val="0"/>
              </a:spcBef>
              <a:spcAft>
                <a:spcPts val="0"/>
              </a:spcAft>
              <a:buNone/>
            </a:pPr>
            <a:r>
              <a:rPr i="1" lang="en-GB" sz="1600">
                <a:solidFill>
                  <a:srgbClr val="1C2B3E"/>
                </a:solidFill>
              </a:rPr>
              <a:t>“The warehouse found a stock difference. Choose the right inventory update path.”</a:t>
            </a:r>
            <a:endParaRPr i="1" sz="1600">
              <a:solidFill>
                <a:srgbClr val="1C2B3E"/>
              </a:solidFill>
            </a:endParaRPr>
          </a:p>
          <a:p>
            <a:pPr indent="0" lvl="0" marL="0" marR="4652" rtl="0" algn="l">
              <a:lnSpc>
                <a:spcPct val="115000"/>
              </a:lnSpc>
              <a:spcBef>
                <a:spcPts val="0"/>
              </a:spcBef>
              <a:spcAft>
                <a:spcPts val="0"/>
              </a:spcAft>
              <a:buNone/>
            </a:pPr>
            <a:r>
              <a:t/>
            </a:r>
            <a:endParaRPr i="1" sz="1600">
              <a:solidFill>
                <a:srgbClr val="1C2B3E"/>
              </a:solidFill>
            </a:endParaRPr>
          </a:p>
          <a:p>
            <a:pPr indent="0" lvl="0" marL="180000" marR="4652" rtl="0" algn="l">
              <a:lnSpc>
                <a:spcPct val="115000"/>
              </a:lnSpc>
              <a:spcBef>
                <a:spcPts val="0"/>
              </a:spcBef>
              <a:spcAft>
                <a:spcPts val="0"/>
              </a:spcAft>
              <a:buNone/>
            </a:pPr>
            <a:r>
              <a:t/>
            </a:r>
            <a:endParaRPr i="1" sz="1600">
              <a:solidFill>
                <a:srgbClr val="1C2B3E"/>
              </a:solidFill>
            </a:endParaRPr>
          </a:p>
          <a:p>
            <a:pPr indent="0" lvl="0" marL="180000" marR="4652" rtl="0" algn="l">
              <a:lnSpc>
                <a:spcPct val="115000"/>
              </a:lnSpc>
              <a:spcBef>
                <a:spcPts val="0"/>
              </a:spcBef>
              <a:spcAft>
                <a:spcPts val="0"/>
              </a:spcAft>
              <a:buNone/>
            </a:pPr>
            <a:r>
              <a:t/>
            </a:r>
            <a:endParaRPr i="1" sz="1600">
              <a:solidFill>
                <a:srgbClr val="1C2B3E"/>
              </a:solidFill>
            </a:endParaRPr>
          </a:p>
          <a:p>
            <a:pPr indent="0" lvl="0" marL="0" marR="4652" rtl="0" algn="l">
              <a:lnSpc>
                <a:spcPct val="115000"/>
              </a:lnSpc>
              <a:spcBef>
                <a:spcPts val="0"/>
              </a:spcBef>
              <a:spcAft>
                <a:spcPts val="0"/>
              </a:spcAft>
              <a:buNone/>
            </a:pPr>
            <a:r>
              <a:t/>
            </a:r>
            <a:endParaRPr i="1" sz="1600">
              <a:solidFill>
                <a:srgbClr val="1C2B3E"/>
              </a:solidFill>
            </a:endParaRPr>
          </a:p>
        </p:txBody>
      </p:sp>
      <p:sp>
        <p:nvSpPr>
          <p:cNvPr id="2419" name="Google Shape;2419;p97"/>
          <p:cNvSpPr/>
          <p:nvPr/>
        </p:nvSpPr>
        <p:spPr>
          <a:xfrm>
            <a:off x="3219650" y="1190100"/>
            <a:ext cx="3705600" cy="3288900"/>
          </a:xfrm>
          <a:prstGeom prst="roundRect">
            <a:avLst>
              <a:gd fmla="val 6052" name="adj"/>
            </a:avLst>
          </a:prstGeom>
          <a:solidFill>
            <a:srgbClr val="FBEBD9"/>
          </a:solidFill>
          <a:ln cap="flat" cmpd="sng" w="9525">
            <a:solidFill>
              <a:schemeClr val="accent2"/>
            </a:solidFill>
            <a:prstDash val="solid"/>
            <a:round/>
            <a:headEnd len="sm" w="sm" type="none"/>
            <a:tailEnd len="sm" w="sm" type="none"/>
          </a:ln>
        </p:spPr>
        <p:txBody>
          <a:bodyPr anchorCtr="0" anchor="t" bIns="34275" lIns="68575" spcFirstLastPara="1" rIns="68575" wrap="square" tIns="34275">
            <a:noAutofit/>
          </a:bodyPr>
          <a:lstStyle/>
          <a:p>
            <a:pPr indent="0" lvl="0" marL="180000" marR="118292" rtl="0" algn="l">
              <a:spcBef>
                <a:spcPts val="0"/>
              </a:spcBef>
              <a:spcAft>
                <a:spcPts val="0"/>
              </a:spcAft>
              <a:buNone/>
            </a:pPr>
            <a:r>
              <a:t/>
            </a:r>
            <a:endParaRPr b="1" sz="1200">
              <a:solidFill>
                <a:schemeClr val="accent1"/>
              </a:solidFill>
            </a:endParaRPr>
          </a:p>
          <a:p>
            <a:pPr indent="0" lvl="0" marL="180000" marR="118292" rtl="0" algn="l">
              <a:lnSpc>
                <a:spcPct val="115000"/>
              </a:lnSpc>
              <a:spcBef>
                <a:spcPts val="0"/>
              </a:spcBef>
              <a:spcAft>
                <a:spcPts val="0"/>
              </a:spcAft>
              <a:buNone/>
            </a:pPr>
            <a:r>
              <a:rPr lang="en-GB" sz="1200">
                <a:solidFill>
                  <a:schemeClr val="dk2"/>
                </a:solidFill>
              </a:rPr>
              <a:t>Arrives as</a:t>
            </a:r>
            <a:endParaRPr sz="1200">
              <a:solidFill>
                <a:schemeClr val="dk2"/>
              </a:solidFill>
            </a:endParaRPr>
          </a:p>
          <a:p>
            <a:pPr indent="0" lvl="0" marL="180000" marR="118292" rtl="0" algn="l">
              <a:lnSpc>
                <a:spcPct val="115000"/>
              </a:lnSpc>
              <a:spcBef>
                <a:spcPts val="0"/>
              </a:spcBef>
              <a:spcAft>
                <a:spcPts val="0"/>
              </a:spcAft>
              <a:buNone/>
            </a:pPr>
            <a:r>
              <a:rPr b="1" lang="en-GB" sz="1600">
                <a:solidFill>
                  <a:schemeClr val="accent1"/>
                </a:solidFill>
              </a:rPr>
              <a:t>Warehouse count note</a:t>
            </a:r>
            <a:endParaRPr b="1" sz="1600">
              <a:solidFill>
                <a:schemeClr val="accent1"/>
              </a:solidFill>
            </a:endParaRPr>
          </a:p>
          <a:p>
            <a:pPr indent="0" lvl="0" marL="180000" marR="118292" rtl="0" algn="l">
              <a:lnSpc>
                <a:spcPct val="115000"/>
              </a:lnSpc>
              <a:spcBef>
                <a:spcPts val="0"/>
              </a:spcBef>
              <a:spcAft>
                <a:spcPts val="0"/>
              </a:spcAft>
              <a:buNone/>
            </a:pPr>
            <a:r>
              <a:t/>
            </a:r>
            <a:endParaRPr b="1" sz="1200">
              <a:solidFill>
                <a:schemeClr val="dk2"/>
              </a:solidFill>
            </a:endParaRPr>
          </a:p>
          <a:p>
            <a:pPr indent="-317500" lvl="0" marL="630000" marR="121087" rtl="0" algn="l">
              <a:lnSpc>
                <a:spcPct val="115000"/>
              </a:lnSpc>
              <a:spcBef>
                <a:spcPts val="0"/>
              </a:spcBef>
              <a:spcAft>
                <a:spcPts val="0"/>
              </a:spcAft>
              <a:buClr>
                <a:schemeClr val="dk2"/>
              </a:buClr>
              <a:buSzPts val="1400"/>
              <a:buChar char="●"/>
            </a:pPr>
            <a:r>
              <a:rPr lang="en-GB">
                <a:solidFill>
                  <a:schemeClr val="dk2"/>
                </a:solidFill>
              </a:rPr>
              <a:t>12 extra cartons in Outbound Staging</a:t>
            </a:r>
            <a:endParaRPr>
              <a:solidFill>
                <a:schemeClr val="dk2"/>
              </a:solidFill>
            </a:endParaRPr>
          </a:p>
          <a:p>
            <a:pPr indent="-317500" lvl="0" marL="630000" marR="121087" rtl="0" algn="l">
              <a:lnSpc>
                <a:spcPct val="115000"/>
              </a:lnSpc>
              <a:spcBef>
                <a:spcPts val="1000"/>
              </a:spcBef>
              <a:spcAft>
                <a:spcPts val="0"/>
              </a:spcAft>
              <a:buClr>
                <a:schemeClr val="dk2"/>
              </a:buClr>
              <a:buSzPts val="1400"/>
              <a:buChar char="●"/>
            </a:pPr>
            <a:r>
              <a:rPr lang="en-GB">
                <a:solidFill>
                  <a:schemeClr val="dk2"/>
                </a:solidFill>
              </a:rPr>
              <a:t>3 damaged tins → Damaged Stock</a:t>
            </a:r>
            <a:endParaRPr>
              <a:solidFill>
                <a:schemeClr val="dk2"/>
              </a:solidFill>
            </a:endParaRPr>
          </a:p>
          <a:p>
            <a:pPr indent="-317500" lvl="0" marL="630000" marR="121087" rtl="0" algn="l">
              <a:lnSpc>
                <a:spcPct val="115000"/>
              </a:lnSpc>
              <a:spcBef>
                <a:spcPts val="1000"/>
              </a:spcBef>
              <a:spcAft>
                <a:spcPts val="0"/>
              </a:spcAft>
              <a:buClr>
                <a:schemeClr val="dk2"/>
              </a:buClr>
              <a:buSzPts val="1400"/>
              <a:buChar char="●"/>
            </a:pPr>
            <a:r>
              <a:rPr lang="en-GB">
                <a:solidFill>
                  <a:schemeClr val="dk2"/>
                </a:solidFill>
              </a:rPr>
              <a:t>One SKU count differs from system</a:t>
            </a:r>
            <a:endParaRPr i="1">
              <a:solidFill>
                <a:schemeClr val="dk2"/>
              </a:solidFill>
            </a:endParaRPr>
          </a:p>
          <a:p>
            <a:pPr indent="0" lvl="0" marL="0" marR="118292" rtl="0" algn="l">
              <a:lnSpc>
                <a:spcPct val="115000"/>
              </a:lnSpc>
              <a:spcBef>
                <a:spcPts val="1000"/>
              </a:spcBef>
              <a:spcAft>
                <a:spcPts val="0"/>
              </a:spcAft>
              <a:buNone/>
            </a:pPr>
            <a:r>
              <a:t/>
            </a:r>
            <a:endParaRPr sz="1200">
              <a:solidFill>
                <a:schemeClr val="dk2"/>
              </a:solidFill>
            </a:endParaRPr>
          </a:p>
          <a:p>
            <a:pPr indent="0" lvl="0" marL="0" marR="118292" rtl="0" algn="l">
              <a:lnSpc>
                <a:spcPct val="115000"/>
              </a:lnSpc>
              <a:spcBef>
                <a:spcPts val="0"/>
              </a:spcBef>
              <a:spcAft>
                <a:spcPts val="0"/>
              </a:spcAft>
              <a:buNone/>
            </a:pPr>
            <a:r>
              <a:t/>
            </a:r>
            <a:endParaRPr i="1">
              <a:solidFill>
                <a:schemeClr val="dk2"/>
              </a:solidFill>
            </a:endParaRPr>
          </a:p>
        </p:txBody>
      </p:sp>
      <p:sp>
        <p:nvSpPr>
          <p:cNvPr id="2420" name="Google Shape;2420;p97"/>
          <p:cNvSpPr/>
          <p:nvPr/>
        </p:nvSpPr>
        <p:spPr>
          <a:xfrm>
            <a:off x="7028550" y="1190100"/>
            <a:ext cx="1704300" cy="3288900"/>
          </a:xfrm>
          <a:prstGeom prst="roundRect">
            <a:avLst>
              <a:gd fmla="val 6052" name="adj"/>
            </a:avLst>
          </a:prstGeom>
          <a:solidFill>
            <a:srgbClr val="E3F5EC"/>
          </a:solidFill>
          <a:ln>
            <a:noFill/>
          </a:ln>
        </p:spPr>
        <p:txBody>
          <a:bodyPr anchorCtr="0" anchor="t" bIns="34275" lIns="68575" spcFirstLastPara="1" rIns="68575" wrap="square" tIns="34275">
            <a:noAutofit/>
          </a:bodyPr>
          <a:lstStyle/>
          <a:p>
            <a:pPr indent="0" lvl="0" marL="180000" rtl="0" algn="l">
              <a:spcBef>
                <a:spcPts val="0"/>
              </a:spcBef>
              <a:spcAft>
                <a:spcPts val="0"/>
              </a:spcAft>
              <a:buNone/>
            </a:pPr>
            <a:r>
              <a:t/>
            </a:r>
            <a:endParaRPr b="1" sz="1200">
              <a:solidFill>
                <a:schemeClr val="accent1"/>
              </a:solidFill>
            </a:endParaRPr>
          </a:p>
          <a:p>
            <a:pPr indent="0" lvl="0" marL="180000" rtl="0" algn="l">
              <a:spcBef>
                <a:spcPts val="0"/>
              </a:spcBef>
              <a:spcAft>
                <a:spcPts val="0"/>
              </a:spcAft>
              <a:buNone/>
            </a:pPr>
            <a:r>
              <a:rPr b="1" lang="en-GB">
                <a:solidFill>
                  <a:srgbClr val="1A9D5C"/>
                </a:solidFill>
              </a:rPr>
              <a:t>Record on board</a:t>
            </a:r>
            <a:endParaRPr b="1">
              <a:solidFill>
                <a:srgbClr val="1A9D5C"/>
              </a:solidFill>
            </a:endParaRPr>
          </a:p>
          <a:p>
            <a:pPr indent="0" lvl="0" marL="180000" rtl="0" algn="l">
              <a:spcBef>
                <a:spcPts val="0"/>
              </a:spcBef>
              <a:spcAft>
                <a:spcPts val="0"/>
              </a:spcAft>
              <a:buNone/>
            </a:pPr>
            <a:r>
              <a:t/>
            </a:r>
            <a:endParaRPr b="1" sz="1200">
              <a:solidFill>
                <a:schemeClr val="accent1"/>
              </a:solidFill>
            </a:endParaRPr>
          </a:p>
          <a:p>
            <a:pPr indent="0" lvl="0" marL="180000" rtl="0" algn="l">
              <a:lnSpc>
                <a:spcPct val="115000"/>
              </a:lnSpc>
              <a:spcBef>
                <a:spcPts val="0"/>
              </a:spcBef>
              <a:spcAft>
                <a:spcPts val="0"/>
              </a:spcAft>
              <a:buNone/>
            </a:pPr>
            <a:r>
              <a:t/>
            </a:r>
            <a:endParaRPr sz="1600">
              <a:solidFill>
                <a:schemeClr val="dk1"/>
              </a:solidFill>
            </a:endParaRPr>
          </a:p>
        </p:txBody>
      </p:sp>
      <p:sp>
        <p:nvSpPr>
          <p:cNvPr id="2421" name="Google Shape;2421;p97"/>
          <p:cNvSpPr/>
          <p:nvPr/>
        </p:nvSpPr>
        <p:spPr>
          <a:xfrm>
            <a:off x="7344150" y="2201903"/>
            <a:ext cx="1073100" cy="342900"/>
          </a:xfrm>
          <a:prstGeom prst="roundRect">
            <a:avLst>
              <a:gd fmla="val 50000" name="adj"/>
            </a:avLst>
          </a:prstGeom>
          <a:solidFill>
            <a:srgbClr val="1A9D5C"/>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b="1" lang="en-GB" sz="1100">
                <a:solidFill>
                  <a:schemeClr val="lt1"/>
                </a:solidFill>
              </a:rPr>
              <a:t>Stock Entry ID</a:t>
            </a:r>
            <a:endParaRPr b="1" sz="1100">
              <a:solidFill>
                <a:schemeClr val="lt1"/>
              </a:solidFill>
            </a:endParaRPr>
          </a:p>
        </p:txBody>
      </p:sp>
      <p:sp>
        <p:nvSpPr>
          <p:cNvPr id="2422" name="Google Shape;2422;p97"/>
          <p:cNvSpPr/>
          <p:nvPr/>
        </p:nvSpPr>
        <p:spPr>
          <a:xfrm>
            <a:off x="7344150" y="2595439"/>
            <a:ext cx="1073100" cy="342900"/>
          </a:xfrm>
          <a:prstGeom prst="roundRect">
            <a:avLst>
              <a:gd fmla="val 50000" name="adj"/>
            </a:avLst>
          </a:prstGeom>
          <a:solidFill>
            <a:srgbClr val="1A9D5C"/>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b="1" lang="en-GB" sz="1200">
                <a:solidFill>
                  <a:schemeClr val="lt1"/>
                </a:solidFill>
              </a:rPr>
              <a:t>Reconcile ID</a:t>
            </a:r>
            <a:endParaRPr b="1" sz="1200">
              <a:solidFill>
                <a:schemeClr val="lt1"/>
              </a:solidFill>
            </a:endParaRPr>
          </a:p>
        </p:txBody>
      </p:sp>
      <p:sp>
        <p:nvSpPr>
          <p:cNvPr id="2423" name="Google Shape;2423;p97"/>
          <p:cNvSpPr/>
          <p:nvPr/>
        </p:nvSpPr>
        <p:spPr>
          <a:xfrm>
            <a:off x="7344150" y="3476051"/>
            <a:ext cx="1073100" cy="342900"/>
          </a:xfrm>
          <a:prstGeom prst="roundRect">
            <a:avLst>
              <a:gd fmla="val 14676" name="adj"/>
            </a:avLst>
          </a:prstGeom>
          <a:solidFill>
            <a:srgbClr val="1A9D5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900">
                <a:solidFill>
                  <a:schemeClr val="lt1"/>
                </a:solidFill>
              </a:rPr>
              <a:t>Reason noted?</a:t>
            </a:r>
            <a:endParaRPr b="1" sz="900">
              <a:solidFill>
                <a:schemeClr val="lt1"/>
              </a:solidFill>
            </a:endParaRPr>
          </a:p>
        </p:txBody>
      </p:sp>
      <p:sp>
        <p:nvSpPr>
          <p:cNvPr id="2424" name="Google Shape;2424;p97"/>
          <p:cNvSpPr/>
          <p:nvPr/>
        </p:nvSpPr>
        <p:spPr>
          <a:xfrm>
            <a:off x="411502" y="438912"/>
            <a:ext cx="8321400" cy="480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2200">
                <a:solidFill>
                  <a:srgbClr val="1C2B3E"/>
                </a:solidFill>
                <a:latin typeface="Poppins"/>
                <a:ea typeface="Poppins"/>
                <a:cs typeface="Poppins"/>
                <a:sym typeface="Poppins"/>
              </a:rPr>
              <a:t>Stock Update — Entry vs Reconciliation</a:t>
            </a:r>
            <a:endParaRPr b="1" sz="2200">
              <a:solidFill>
                <a:srgbClr val="1C2B3E"/>
              </a:solidFill>
              <a:latin typeface="Poppins"/>
              <a:ea typeface="Poppins"/>
              <a:cs typeface="Poppins"/>
              <a:sym typeface="Poppins"/>
            </a:endParaRPr>
          </a:p>
        </p:txBody>
      </p:sp>
      <p:sp>
        <p:nvSpPr>
          <p:cNvPr id="2425" name="Google Shape;2425;p97"/>
          <p:cNvSpPr/>
          <p:nvPr/>
        </p:nvSpPr>
        <p:spPr>
          <a:xfrm>
            <a:off x="7765727" y="308610"/>
            <a:ext cx="9669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Arial"/>
              <a:buNone/>
            </a:pPr>
            <a:r>
              <a:rPr b="1" lang="en-GB" sz="900">
                <a:solidFill>
                  <a:srgbClr val="FFFFFF"/>
                </a:solidFill>
                <a:latin typeface="Arial"/>
                <a:ea typeface="Arial"/>
                <a:cs typeface="Arial"/>
                <a:sym typeface="Arial"/>
              </a:rPr>
              <a:t>📦 STOCK</a:t>
            </a:r>
            <a:endParaRPr sz="900">
              <a:solidFill>
                <a:schemeClr val="dk1"/>
              </a:solidFill>
              <a:latin typeface="Calibri"/>
              <a:ea typeface="Calibri"/>
              <a:cs typeface="Calibri"/>
              <a:sym typeface="Calibri"/>
            </a:endParaRPr>
          </a:p>
        </p:txBody>
      </p:sp>
      <p:sp>
        <p:nvSpPr>
          <p:cNvPr id="2426" name="Google Shape;2426;p97"/>
          <p:cNvSpPr/>
          <p:nvPr/>
        </p:nvSpPr>
        <p:spPr>
          <a:xfrm>
            <a:off x="411502" y="260604"/>
            <a:ext cx="68583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SPECIAL MISSION</a:t>
            </a:r>
            <a:endParaRPr sz="800">
              <a:solidFill>
                <a:schemeClr val="dk1"/>
              </a:solidFill>
              <a:latin typeface="Calibri"/>
              <a:ea typeface="Calibri"/>
              <a:cs typeface="Calibri"/>
              <a:sym typeface="Calibri"/>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2431" name="Shape 2431"/>
        <p:cNvGrpSpPr/>
        <p:nvPr/>
      </p:nvGrpSpPr>
      <p:grpSpPr>
        <a:xfrm>
          <a:off x="0" y="0"/>
          <a:ext cx="0" cy="0"/>
          <a:chOff x="0" y="0"/>
          <a:chExt cx="0" cy="0"/>
        </a:xfrm>
      </p:grpSpPr>
      <p:sp>
        <p:nvSpPr>
          <p:cNvPr id="2432" name="Google Shape;2432;p98"/>
          <p:cNvSpPr/>
          <p:nvPr/>
        </p:nvSpPr>
        <p:spPr>
          <a:xfrm>
            <a:off x="411502" y="438912"/>
            <a:ext cx="8321400" cy="480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C2B3E"/>
              </a:buClr>
              <a:buSzPts val="2200"/>
              <a:buFont typeface="Arial"/>
              <a:buNone/>
            </a:pPr>
            <a:r>
              <a:rPr b="1" lang="en-GB" sz="2200">
                <a:solidFill>
                  <a:srgbClr val="1C2B3E"/>
                </a:solidFill>
                <a:latin typeface="Poppins"/>
                <a:ea typeface="Poppins"/>
                <a:cs typeface="Poppins"/>
                <a:sym typeface="Poppins"/>
              </a:rPr>
              <a:t>Stock Update — Entry vs Reconciliation</a:t>
            </a:r>
            <a:endParaRPr sz="2200">
              <a:solidFill>
                <a:schemeClr val="dk1"/>
              </a:solidFill>
              <a:latin typeface="Poppins"/>
              <a:ea typeface="Poppins"/>
              <a:cs typeface="Poppins"/>
              <a:sym typeface="Poppins"/>
            </a:endParaRPr>
          </a:p>
        </p:txBody>
      </p:sp>
      <p:sp>
        <p:nvSpPr>
          <p:cNvPr id="2433" name="Google Shape;2433;p98"/>
          <p:cNvSpPr/>
          <p:nvPr/>
        </p:nvSpPr>
        <p:spPr>
          <a:xfrm>
            <a:off x="7765727" y="308610"/>
            <a:ext cx="966900" cy="274200"/>
          </a:xfrm>
          <a:prstGeom prst="roundRect">
            <a:avLst>
              <a:gd fmla="val 50000" name="adj"/>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434" name="Google Shape;2434;p98"/>
          <p:cNvSpPr/>
          <p:nvPr/>
        </p:nvSpPr>
        <p:spPr>
          <a:xfrm>
            <a:off x="7765727" y="308610"/>
            <a:ext cx="9669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Arial"/>
              <a:buNone/>
            </a:pPr>
            <a:r>
              <a:rPr b="1" lang="en-GB" sz="900">
                <a:solidFill>
                  <a:srgbClr val="FFFFFF"/>
                </a:solidFill>
                <a:latin typeface="Arial"/>
                <a:ea typeface="Arial"/>
                <a:cs typeface="Arial"/>
                <a:sym typeface="Arial"/>
              </a:rPr>
              <a:t>📦 STOCK</a:t>
            </a:r>
            <a:endParaRPr sz="900">
              <a:solidFill>
                <a:schemeClr val="dk1"/>
              </a:solidFill>
              <a:latin typeface="Calibri"/>
              <a:ea typeface="Calibri"/>
              <a:cs typeface="Calibri"/>
              <a:sym typeface="Calibri"/>
            </a:endParaRPr>
          </a:p>
        </p:txBody>
      </p:sp>
      <p:sp>
        <p:nvSpPr>
          <p:cNvPr id="2435" name="Google Shape;2435;p98"/>
          <p:cNvSpPr/>
          <p:nvPr/>
        </p:nvSpPr>
        <p:spPr>
          <a:xfrm>
            <a:off x="411502" y="1337310"/>
            <a:ext cx="4040700" cy="3463200"/>
          </a:xfrm>
          <a:prstGeom prst="roundRect">
            <a:avLst>
              <a:gd fmla="val 2376" name="adj"/>
            </a:avLst>
          </a:prstGeom>
          <a:solidFill>
            <a:srgbClr val="F5F7FA"/>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436" name="Google Shape;2436;p98"/>
          <p:cNvSpPr/>
          <p:nvPr/>
        </p:nvSpPr>
        <p:spPr>
          <a:xfrm>
            <a:off x="548669" y="1447038"/>
            <a:ext cx="1508700" cy="233100"/>
          </a:xfrm>
          <a:prstGeom prst="roundRect">
            <a:avLst>
              <a:gd fmla="val 50000"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437" name="Google Shape;2437;p98"/>
          <p:cNvSpPr/>
          <p:nvPr/>
        </p:nvSpPr>
        <p:spPr>
          <a:xfrm>
            <a:off x="548669" y="1447038"/>
            <a:ext cx="1508700" cy="233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FRONT · TEAM SEES</a:t>
            </a:r>
            <a:endParaRPr sz="800">
              <a:solidFill>
                <a:schemeClr val="dk1"/>
              </a:solidFill>
              <a:latin typeface="Calibri"/>
              <a:ea typeface="Calibri"/>
              <a:cs typeface="Calibri"/>
              <a:sym typeface="Calibri"/>
            </a:endParaRPr>
          </a:p>
        </p:txBody>
      </p:sp>
      <p:sp>
        <p:nvSpPr>
          <p:cNvPr id="2438" name="Google Shape;2438;p98"/>
          <p:cNvSpPr/>
          <p:nvPr/>
        </p:nvSpPr>
        <p:spPr>
          <a:xfrm>
            <a:off x="548669" y="1789938"/>
            <a:ext cx="3766200" cy="788700"/>
          </a:xfrm>
          <a:prstGeom prst="roundRect">
            <a:avLst>
              <a:gd fmla="val 6957" name="adj"/>
            </a:avLst>
          </a:prstGeom>
          <a:solidFill>
            <a:srgbClr val="FFFFFF"/>
          </a:solidFill>
          <a:ln cap="flat" cmpd="sng" w="12700">
            <a:solidFill>
              <a:srgbClr val="E3E8EF"/>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439" name="Google Shape;2439;p98"/>
          <p:cNvSpPr/>
          <p:nvPr/>
        </p:nvSpPr>
        <p:spPr>
          <a:xfrm>
            <a:off x="658403" y="1858518"/>
            <a:ext cx="3546900" cy="6516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C2B3E"/>
              </a:buClr>
              <a:buSzPts val="900"/>
              <a:buFont typeface="Arial"/>
              <a:buNone/>
            </a:pPr>
            <a:r>
              <a:rPr i="1" lang="en-GB" sz="900">
                <a:solidFill>
                  <a:srgbClr val="1C2B3E"/>
                </a:solidFill>
                <a:latin typeface="Arial"/>
                <a:ea typeface="Arial"/>
                <a:cs typeface="Arial"/>
                <a:sym typeface="Arial"/>
              </a:rPr>
              <a:t>“The warehouse found a stock difference. Choose the right inventory update path.”</a:t>
            </a:r>
            <a:endParaRPr sz="900">
              <a:solidFill>
                <a:schemeClr val="dk1"/>
              </a:solidFill>
              <a:latin typeface="Calibri"/>
              <a:ea typeface="Calibri"/>
              <a:cs typeface="Calibri"/>
              <a:sym typeface="Calibri"/>
            </a:endParaRPr>
          </a:p>
        </p:txBody>
      </p:sp>
      <p:sp>
        <p:nvSpPr>
          <p:cNvPr id="2440" name="Google Shape;2440;p98"/>
          <p:cNvSpPr/>
          <p:nvPr/>
        </p:nvSpPr>
        <p:spPr>
          <a:xfrm>
            <a:off x="548669" y="2715768"/>
            <a:ext cx="3766200" cy="178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800"/>
              <a:buFont typeface="Arial"/>
              <a:buNone/>
            </a:pPr>
            <a:r>
              <a:rPr b="1" lang="en-GB" sz="800">
                <a:solidFill>
                  <a:srgbClr val="94A3B8"/>
                </a:solidFill>
                <a:latin typeface="Arial"/>
                <a:ea typeface="Arial"/>
                <a:cs typeface="Arial"/>
                <a:sym typeface="Arial"/>
              </a:rPr>
              <a:t>ARRIVES AS — warehouse count note</a:t>
            </a:r>
            <a:endParaRPr sz="800">
              <a:solidFill>
                <a:schemeClr val="dk1"/>
              </a:solidFill>
              <a:latin typeface="Calibri"/>
              <a:ea typeface="Calibri"/>
              <a:cs typeface="Calibri"/>
              <a:sym typeface="Calibri"/>
            </a:endParaRPr>
          </a:p>
        </p:txBody>
      </p:sp>
      <p:sp>
        <p:nvSpPr>
          <p:cNvPr id="2441" name="Google Shape;2441;p98"/>
          <p:cNvSpPr/>
          <p:nvPr/>
        </p:nvSpPr>
        <p:spPr>
          <a:xfrm>
            <a:off x="548669" y="2935224"/>
            <a:ext cx="3766200" cy="233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B3E"/>
              </a:buClr>
              <a:buSzPts val="900"/>
              <a:buFont typeface="Arial"/>
              <a:buNone/>
            </a:pPr>
            <a:r>
              <a:rPr lang="en-GB" sz="900">
                <a:solidFill>
                  <a:srgbClr val="1C2B3E"/>
                </a:solidFill>
                <a:latin typeface="Arial"/>
                <a:ea typeface="Arial"/>
                <a:cs typeface="Arial"/>
                <a:sym typeface="Arial"/>
              </a:rPr>
              <a:t>•  12 extra cartons in Outbound Staging</a:t>
            </a:r>
            <a:endParaRPr sz="900">
              <a:solidFill>
                <a:schemeClr val="dk1"/>
              </a:solidFill>
              <a:latin typeface="Calibri"/>
              <a:ea typeface="Calibri"/>
              <a:cs typeface="Calibri"/>
              <a:sym typeface="Calibri"/>
            </a:endParaRPr>
          </a:p>
        </p:txBody>
      </p:sp>
      <p:sp>
        <p:nvSpPr>
          <p:cNvPr id="2442" name="Google Shape;2442;p98"/>
          <p:cNvSpPr/>
          <p:nvPr/>
        </p:nvSpPr>
        <p:spPr>
          <a:xfrm>
            <a:off x="548669" y="3168396"/>
            <a:ext cx="3766200" cy="233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B3E"/>
              </a:buClr>
              <a:buSzPts val="900"/>
              <a:buFont typeface="Arial"/>
              <a:buNone/>
            </a:pPr>
            <a:r>
              <a:rPr lang="en-GB" sz="900">
                <a:solidFill>
                  <a:srgbClr val="1C2B3E"/>
                </a:solidFill>
                <a:latin typeface="Arial"/>
                <a:ea typeface="Arial"/>
                <a:cs typeface="Arial"/>
                <a:sym typeface="Arial"/>
              </a:rPr>
              <a:t>•  3 damaged tins → Damaged Stock</a:t>
            </a:r>
            <a:endParaRPr sz="900">
              <a:solidFill>
                <a:schemeClr val="dk1"/>
              </a:solidFill>
              <a:latin typeface="Calibri"/>
              <a:ea typeface="Calibri"/>
              <a:cs typeface="Calibri"/>
              <a:sym typeface="Calibri"/>
            </a:endParaRPr>
          </a:p>
        </p:txBody>
      </p:sp>
      <p:sp>
        <p:nvSpPr>
          <p:cNvPr id="2443" name="Google Shape;2443;p98"/>
          <p:cNvSpPr/>
          <p:nvPr/>
        </p:nvSpPr>
        <p:spPr>
          <a:xfrm>
            <a:off x="548669" y="3429000"/>
            <a:ext cx="3766200" cy="342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B3E"/>
              </a:buClr>
              <a:buSzPts val="900"/>
              <a:buFont typeface="Arial"/>
              <a:buNone/>
            </a:pPr>
            <a:r>
              <a:rPr i="0" lang="en-GB" sz="900">
                <a:solidFill>
                  <a:srgbClr val="1C2B3E"/>
                </a:solidFill>
                <a:latin typeface="Arial"/>
                <a:ea typeface="Arial"/>
                <a:cs typeface="Arial"/>
                <a:sym typeface="Arial"/>
              </a:rPr>
              <a:t>•  One SKU count differs from system</a:t>
            </a:r>
            <a:endParaRPr sz="900">
              <a:solidFill>
                <a:schemeClr val="dk1"/>
              </a:solidFill>
              <a:latin typeface="Calibri"/>
              <a:ea typeface="Calibri"/>
              <a:cs typeface="Calibri"/>
              <a:sym typeface="Calibri"/>
            </a:endParaRPr>
          </a:p>
        </p:txBody>
      </p:sp>
      <p:sp>
        <p:nvSpPr>
          <p:cNvPr id="2444" name="Google Shape;2444;p98"/>
          <p:cNvSpPr/>
          <p:nvPr/>
        </p:nvSpPr>
        <p:spPr>
          <a:xfrm>
            <a:off x="548669" y="4265676"/>
            <a:ext cx="3766200" cy="178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800"/>
              <a:buFont typeface="Arial"/>
              <a:buNone/>
            </a:pPr>
            <a:r>
              <a:rPr b="1" lang="en-GB" sz="800">
                <a:solidFill>
                  <a:srgbClr val="94A3B8"/>
                </a:solidFill>
                <a:latin typeface="Arial"/>
                <a:ea typeface="Arial"/>
                <a:cs typeface="Arial"/>
                <a:sym typeface="Arial"/>
              </a:rPr>
              <a:t>RECORD ON BOARD</a:t>
            </a:r>
            <a:endParaRPr sz="800">
              <a:solidFill>
                <a:schemeClr val="dk1"/>
              </a:solidFill>
              <a:latin typeface="Calibri"/>
              <a:ea typeface="Calibri"/>
              <a:cs typeface="Calibri"/>
              <a:sym typeface="Calibri"/>
            </a:endParaRPr>
          </a:p>
        </p:txBody>
      </p:sp>
      <p:sp>
        <p:nvSpPr>
          <p:cNvPr id="2445" name="Google Shape;2445;p98"/>
          <p:cNvSpPr/>
          <p:nvPr/>
        </p:nvSpPr>
        <p:spPr>
          <a:xfrm>
            <a:off x="548669" y="4471416"/>
            <a:ext cx="565800" cy="274200"/>
          </a:xfrm>
          <a:prstGeom prst="roundRect">
            <a:avLst>
              <a:gd fmla="val 50000" name="adj"/>
            </a:avLst>
          </a:prstGeom>
          <a:solidFill>
            <a:srgbClr val="FBEBD9"/>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446" name="Google Shape;2446;p98"/>
          <p:cNvSpPr/>
          <p:nvPr/>
        </p:nvSpPr>
        <p:spPr>
          <a:xfrm>
            <a:off x="548669" y="4471416"/>
            <a:ext cx="5658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Stock Entry ID</a:t>
            </a:r>
            <a:endParaRPr sz="800">
              <a:solidFill>
                <a:schemeClr val="dk1"/>
              </a:solidFill>
              <a:latin typeface="Calibri"/>
              <a:ea typeface="Calibri"/>
              <a:cs typeface="Calibri"/>
              <a:sym typeface="Calibri"/>
            </a:endParaRPr>
          </a:p>
        </p:txBody>
      </p:sp>
      <p:sp>
        <p:nvSpPr>
          <p:cNvPr id="2447" name="Google Shape;2447;p98"/>
          <p:cNvSpPr/>
          <p:nvPr/>
        </p:nvSpPr>
        <p:spPr>
          <a:xfrm>
            <a:off x="1217360" y="4471416"/>
            <a:ext cx="565800" cy="274200"/>
          </a:xfrm>
          <a:prstGeom prst="roundRect">
            <a:avLst>
              <a:gd fmla="val 50000" name="adj"/>
            </a:avLst>
          </a:prstGeom>
          <a:solidFill>
            <a:srgbClr val="FBEBD9"/>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448" name="Google Shape;2448;p98"/>
          <p:cNvSpPr/>
          <p:nvPr/>
        </p:nvSpPr>
        <p:spPr>
          <a:xfrm>
            <a:off x="1217360" y="4471416"/>
            <a:ext cx="5658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Reconcile ID</a:t>
            </a:r>
            <a:endParaRPr sz="800">
              <a:solidFill>
                <a:schemeClr val="dk1"/>
              </a:solidFill>
              <a:latin typeface="Calibri"/>
              <a:ea typeface="Calibri"/>
              <a:cs typeface="Calibri"/>
              <a:sym typeface="Calibri"/>
            </a:endParaRPr>
          </a:p>
        </p:txBody>
      </p:sp>
      <p:sp>
        <p:nvSpPr>
          <p:cNvPr id="2449" name="Google Shape;2449;p98"/>
          <p:cNvSpPr/>
          <p:nvPr/>
        </p:nvSpPr>
        <p:spPr>
          <a:xfrm>
            <a:off x="4692151" y="1337310"/>
            <a:ext cx="4040700" cy="3463200"/>
          </a:xfrm>
          <a:prstGeom prst="roundRect">
            <a:avLst>
              <a:gd fmla="val 2376"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450" name="Google Shape;2450;p98"/>
          <p:cNvSpPr/>
          <p:nvPr/>
        </p:nvSpPr>
        <p:spPr>
          <a:xfrm>
            <a:off x="4829318" y="1447038"/>
            <a:ext cx="1714500" cy="233100"/>
          </a:xfrm>
          <a:prstGeom prst="roundRect">
            <a:avLst>
              <a:gd fmla="val 50000" name="adj"/>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451" name="Google Shape;2451;p98"/>
          <p:cNvSpPr/>
          <p:nvPr/>
        </p:nvSpPr>
        <p:spPr>
          <a:xfrm>
            <a:off x="4829318" y="1447038"/>
            <a:ext cx="1714500" cy="233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BACK · FACILITATOR QC</a:t>
            </a:r>
            <a:endParaRPr sz="800">
              <a:solidFill>
                <a:schemeClr val="dk1"/>
              </a:solidFill>
              <a:latin typeface="Calibri"/>
              <a:ea typeface="Calibri"/>
              <a:cs typeface="Calibri"/>
              <a:sym typeface="Calibri"/>
            </a:endParaRPr>
          </a:p>
        </p:txBody>
      </p:sp>
      <p:pic>
        <p:nvPicPr>
          <p:cNvPr descr="/home/claude/maia/icons/FiCheck_accent.png" id="2452" name="Google Shape;2452;p98"/>
          <p:cNvPicPr preferRelativeResize="0"/>
          <p:nvPr/>
        </p:nvPicPr>
        <p:blipFill rotWithShape="1">
          <a:blip r:embed="rId3">
            <a:alphaModFix/>
          </a:blip>
          <a:srcRect b="0" l="0" r="0" t="0"/>
          <a:stretch/>
        </p:blipFill>
        <p:spPr>
          <a:xfrm>
            <a:off x="4843035" y="1831086"/>
            <a:ext cx="150876" cy="150876"/>
          </a:xfrm>
          <a:prstGeom prst="rect">
            <a:avLst/>
          </a:prstGeom>
          <a:noFill/>
          <a:ln>
            <a:noFill/>
          </a:ln>
        </p:spPr>
      </p:pic>
      <p:sp>
        <p:nvSpPr>
          <p:cNvPr id="2453" name="Google Shape;2453;p98"/>
          <p:cNvSpPr/>
          <p:nvPr/>
        </p:nvSpPr>
        <p:spPr>
          <a:xfrm>
            <a:off x="5076220" y="1776222"/>
            <a:ext cx="3505800" cy="7293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FFFFFF"/>
              </a:buClr>
              <a:buSzPts val="900"/>
              <a:buFont typeface="Arial"/>
              <a:buNone/>
            </a:pPr>
            <a:r>
              <a:rPr lang="en-GB" sz="900">
                <a:solidFill>
                  <a:srgbClr val="FFFFFF"/>
                </a:solidFill>
                <a:latin typeface="Arial"/>
                <a:ea typeface="Arial"/>
                <a:cs typeface="Arial"/>
                <a:sym typeface="Arial"/>
              </a:rPr>
              <a:t>Stock Entry (Receipt/Issue/Transfer) for real movement where the cause is known</a:t>
            </a:r>
            <a:endParaRPr sz="900">
              <a:solidFill>
                <a:schemeClr val="dk1"/>
              </a:solidFill>
              <a:latin typeface="Calibri"/>
              <a:ea typeface="Calibri"/>
              <a:cs typeface="Calibri"/>
              <a:sym typeface="Calibri"/>
            </a:endParaRPr>
          </a:p>
        </p:txBody>
      </p:sp>
      <p:pic>
        <p:nvPicPr>
          <p:cNvPr descr="/home/claude/maia/icons/FiCheck_accent.png" id="2454" name="Google Shape;2454;p98"/>
          <p:cNvPicPr preferRelativeResize="0"/>
          <p:nvPr/>
        </p:nvPicPr>
        <p:blipFill rotWithShape="1">
          <a:blip r:embed="rId3">
            <a:alphaModFix/>
          </a:blip>
          <a:srcRect b="0" l="0" r="0" t="0"/>
          <a:stretch/>
        </p:blipFill>
        <p:spPr>
          <a:xfrm>
            <a:off x="4843035" y="2560320"/>
            <a:ext cx="150876" cy="150876"/>
          </a:xfrm>
          <a:prstGeom prst="rect">
            <a:avLst/>
          </a:prstGeom>
          <a:noFill/>
          <a:ln>
            <a:noFill/>
          </a:ln>
        </p:spPr>
      </p:pic>
      <p:sp>
        <p:nvSpPr>
          <p:cNvPr id="2455" name="Google Shape;2455;p98"/>
          <p:cNvSpPr/>
          <p:nvPr/>
        </p:nvSpPr>
        <p:spPr>
          <a:xfrm>
            <a:off x="5076220" y="2505456"/>
            <a:ext cx="3505800" cy="7293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FFFFFF"/>
              </a:buClr>
              <a:buSzPts val="900"/>
              <a:buFont typeface="Arial"/>
              <a:buNone/>
            </a:pPr>
            <a:r>
              <a:rPr lang="en-GB" sz="900">
                <a:solidFill>
                  <a:srgbClr val="FFFFFF"/>
                </a:solidFill>
                <a:latin typeface="Arial"/>
                <a:ea typeface="Arial"/>
                <a:cs typeface="Arial"/>
                <a:sym typeface="Arial"/>
              </a:rPr>
              <a:t>Stock Reconciliation for physical-count correction to match counted stock</a:t>
            </a:r>
            <a:endParaRPr sz="900">
              <a:solidFill>
                <a:schemeClr val="dk1"/>
              </a:solidFill>
              <a:latin typeface="Calibri"/>
              <a:ea typeface="Calibri"/>
              <a:cs typeface="Calibri"/>
              <a:sym typeface="Calibri"/>
            </a:endParaRPr>
          </a:p>
        </p:txBody>
      </p:sp>
      <p:pic>
        <p:nvPicPr>
          <p:cNvPr descr="/home/claude/maia/icons/FiCheck_accent.png" id="2456" name="Google Shape;2456;p98"/>
          <p:cNvPicPr preferRelativeResize="0"/>
          <p:nvPr/>
        </p:nvPicPr>
        <p:blipFill rotWithShape="1">
          <a:blip r:embed="rId3">
            <a:alphaModFix/>
          </a:blip>
          <a:srcRect b="0" l="0" r="0" t="0"/>
          <a:stretch/>
        </p:blipFill>
        <p:spPr>
          <a:xfrm>
            <a:off x="4843035" y="3289554"/>
            <a:ext cx="150876" cy="150876"/>
          </a:xfrm>
          <a:prstGeom prst="rect">
            <a:avLst/>
          </a:prstGeom>
          <a:noFill/>
          <a:ln>
            <a:noFill/>
          </a:ln>
        </p:spPr>
      </p:pic>
      <p:sp>
        <p:nvSpPr>
          <p:cNvPr id="2457" name="Google Shape;2457;p98"/>
          <p:cNvSpPr/>
          <p:nvPr/>
        </p:nvSpPr>
        <p:spPr>
          <a:xfrm>
            <a:off x="5076220" y="3234690"/>
            <a:ext cx="3505800" cy="7293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FFFFFF"/>
              </a:buClr>
              <a:buSzPts val="900"/>
              <a:buFont typeface="Arial"/>
              <a:buNone/>
            </a:pPr>
            <a:r>
              <a:rPr lang="en-GB" sz="900">
                <a:solidFill>
                  <a:srgbClr val="FFFFFF"/>
                </a:solidFill>
                <a:latin typeface="Arial"/>
                <a:ea typeface="Arial"/>
                <a:cs typeface="Arial"/>
                <a:sym typeface="Arial"/>
              </a:rPr>
              <a:t>Warehouse, batch/SN, posting date and reason captured; ERP-sync vs MAIA-owned respected</a:t>
            </a:r>
            <a:endParaRPr sz="900">
              <a:solidFill>
                <a:schemeClr val="dk1"/>
              </a:solidFill>
              <a:latin typeface="Calibri"/>
              <a:ea typeface="Calibri"/>
              <a:cs typeface="Calibri"/>
              <a:sym typeface="Calibri"/>
            </a:endParaRPr>
          </a:p>
        </p:txBody>
      </p:sp>
      <p:sp>
        <p:nvSpPr>
          <p:cNvPr id="2458" name="Google Shape;2458;p98"/>
          <p:cNvSpPr/>
          <p:nvPr/>
        </p:nvSpPr>
        <p:spPr>
          <a:xfrm>
            <a:off x="4829318" y="4114800"/>
            <a:ext cx="3766200" cy="514500"/>
          </a:xfrm>
          <a:prstGeom prst="roundRect">
            <a:avLst>
              <a:gd fmla="val 10667" name="adj"/>
            </a:avLst>
          </a:prstGeom>
          <a:solidFill>
            <a:srgbClr val="32495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459" name="Google Shape;2459;p98"/>
          <p:cNvSpPr/>
          <p:nvPr/>
        </p:nvSpPr>
        <p:spPr>
          <a:xfrm>
            <a:off x="4925336" y="4217670"/>
            <a:ext cx="274200" cy="274200"/>
          </a:xfrm>
          <a:prstGeom prst="roundRect">
            <a:avLst>
              <a:gd fmla="val 22000" name="adj"/>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AlertTriangle_white.png" id="2460" name="Google Shape;2460;p98"/>
          <p:cNvPicPr preferRelativeResize="0"/>
          <p:nvPr/>
        </p:nvPicPr>
        <p:blipFill rotWithShape="1">
          <a:blip r:embed="rId4">
            <a:alphaModFix/>
          </a:blip>
          <a:srcRect b="0" l="0" r="0" t="0"/>
          <a:stretch/>
        </p:blipFill>
        <p:spPr>
          <a:xfrm>
            <a:off x="4993919" y="4286250"/>
            <a:ext cx="137160" cy="137160"/>
          </a:xfrm>
          <a:prstGeom prst="rect">
            <a:avLst/>
          </a:prstGeom>
          <a:noFill/>
          <a:ln>
            <a:noFill/>
          </a:ln>
        </p:spPr>
      </p:pic>
      <p:sp>
        <p:nvSpPr>
          <p:cNvPr id="2461" name="Google Shape;2461;p98"/>
          <p:cNvSpPr/>
          <p:nvPr/>
        </p:nvSpPr>
        <p:spPr>
          <a:xfrm>
            <a:off x="5281971" y="4169664"/>
            <a:ext cx="3300000" cy="4116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FFFFFF"/>
              </a:buClr>
              <a:buSzPts val="900"/>
              <a:buFont typeface="Arial"/>
              <a:buNone/>
            </a:pPr>
            <a:r>
              <a:rPr b="1" lang="en-GB" sz="900">
                <a:solidFill>
                  <a:srgbClr val="FFFFFF"/>
                </a:solidFill>
                <a:latin typeface="Arial"/>
                <a:ea typeface="Arial"/>
                <a:cs typeface="Arial"/>
                <a:sym typeface="Arial"/>
              </a:rPr>
              <a:t>Pass = correct path chosen with a reason note.</a:t>
            </a:r>
            <a:endParaRPr sz="900">
              <a:solidFill>
                <a:schemeClr val="dk1"/>
              </a:solidFill>
              <a:latin typeface="Calibri"/>
              <a:ea typeface="Calibri"/>
              <a:cs typeface="Calibri"/>
              <a:sym typeface="Calibri"/>
            </a:endParaRPr>
          </a:p>
        </p:txBody>
      </p:sp>
      <p:sp>
        <p:nvSpPr>
          <p:cNvPr id="2462" name="Google Shape;2462;p98"/>
          <p:cNvSpPr/>
          <p:nvPr/>
        </p:nvSpPr>
        <p:spPr>
          <a:xfrm>
            <a:off x="1879192" y="4471416"/>
            <a:ext cx="565800" cy="274200"/>
          </a:xfrm>
          <a:prstGeom prst="roundRect">
            <a:avLst>
              <a:gd fmla="val 50000" name="adj"/>
            </a:avLst>
          </a:prstGeom>
          <a:solidFill>
            <a:srgbClr val="FBEBD9"/>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463" name="Google Shape;2463;p98"/>
          <p:cNvSpPr/>
          <p:nvPr/>
        </p:nvSpPr>
        <p:spPr>
          <a:xfrm>
            <a:off x="1879192" y="4471416"/>
            <a:ext cx="5658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Reason noted?</a:t>
            </a:r>
            <a:endParaRPr sz="800">
              <a:solidFill>
                <a:schemeClr val="dk1"/>
              </a:solidFill>
              <a:latin typeface="Calibri"/>
              <a:ea typeface="Calibri"/>
              <a:cs typeface="Calibri"/>
              <a:sym typeface="Calibri"/>
            </a:endParaRPr>
          </a:p>
        </p:txBody>
      </p:sp>
      <p:sp>
        <p:nvSpPr>
          <p:cNvPr id="2464" name="Google Shape;2464;p98"/>
          <p:cNvSpPr txBox="1"/>
          <p:nvPr>
            <p:ph idx="12" type="sldNum"/>
          </p:nvPr>
        </p:nvSpPr>
        <p:spPr>
          <a:xfrm>
            <a:off x="8347216" y="4750189"/>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465" name="Google Shape;2465;p98"/>
          <p:cNvSpPr/>
          <p:nvPr/>
        </p:nvSpPr>
        <p:spPr>
          <a:xfrm>
            <a:off x="411502" y="260604"/>
            <a:ext cx="68583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SPECIAL MISSION</a:t>
            </a:r>
            <a:endParaRPr sz="800">
              <a:solidFill>
                <a:schemeClr val="dk1"/>
              </a:solidFill>
              <a:latin typeface="Calibri"/>
              <a:ea typeface="Calibri"/>
              <a:cs typeface="Calibri"/>
              <a:sym typeface="Calibri"/>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2470" name="Shape 2470"/>
        <p:cNvGrpSpPr/>
        <p:nvPr/>
      </p:nvGrpSpPr>
      <p:grpSpPr>
        <a:xfrm>
          <a:off x="0" y="0"/>
          <a:ext cx="0" cy="0"/>
          <a:chOff x="0" y="0"/>
          <a:chExt cx="0" cy="0"/>
        </a:xfrm>
      </p:grpSpPr>
      <p:sp>
        <p:nvSpPr>
          <p:cNvPr id="2471" name="Google Shape;2471;p99"/>
          <p:cNvSpPr/>
          <p:nvPr/>
        </p:nvSpPr>
        <p:spPr>
          <a:xfrm>
            <a:off x="7765727" y="308610"/>
            <a:ext cx="967030" cy="274320"/>
          </a:xfrm>
          <a:prstGeom prst="roundRect">
            <a:avLst>
              <a:gd fmla="val 50000" name="adj"/>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472" name="Google Shape;2472;p99"/>
          <p:cNvSpPr/>
          <p:nvPr/>
        </p:nvSpPr>
        <p:spPr>
          <a:xfrm>
            <a:off x="7765727" y="308610"/>
            <a:ext cx="96703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Arial"/>
              <a:buNone/>
            </a:pPr>
            <a:r>
              <a:rPr b="1" lang="en-GB" sz="900">
                <a:solidFill>
                  <a:srgbClr val="FFFFFF"/>
                </a:solidFill>
                <a:latin typeface="Arial"/>
                <a:ea typeface="Arial"/>
                <a:cs typeface="Arial"/>
                <a:sym typeface="Arial"/>
              </a:rPr>
              <a:t>↩ RETURNS</a:t>
            </a:r>
            <a:endParaRPr sz="900">
              <a:solidFill>
                <a:schemeClr val="dk1"/>
              </a:solidFill>
              <a:latin typeface="Calibri"/>
              <a:ea typeface="Calibri"/>
              <a:cs typeface="Calibri"/>
              <a:sym typeface="Calibri"/>
            </a:endParaRPr>
          </a:p>
        </p:txBody>
      </p:sp>
      <p:sp>
        <p:nvSpPr>
          <p:cNvPr id="2473" name="Google Shape;2473;p99"/>
          <p:cNvSpPr txBox="1"/>
          <p:nvPr>
            <p:ph idx="12" type="sldNum"/>
          </p:nvPr>
        </p:nvSpPr>
        <p:spPr>
          <a:xfrm>
            <a:off x="8347216" y="4750189"/>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474" name="Google Shape;2474;p99"/>
          <p:cNvSpPr/>
          <p:nvPr/>
        </p:nvSpPr>
        <p:spPr>
          <a:xfrm>
            <a:off x="411550" y="1190103"/>
            <a:ext cx="2704800" cy="3288900"/>
          </a:xfrm>
          <a:prstGeom prst="roundRect">
            <a:avLst>
              <a:gd fmla="val 6052" name="adj"/>
            </a:avLst>
          </a:prstGeom>
          <a:solidFill>
            <a:srgbClr val="E3E8EF"/>
          </a:solidFill>
          <a:ln cap="flat" cmpd="sng" w="9525">
            <a:solidFill>
              <a:srgbClr val="E3E8EF"/>
            </a:solidFill>
            <a:prstDash val="solid"/>
            <a:round/>
            <a:headEnd len="sm" w="sm" type="none"/>
            <a:tailEnd len="sm" w="sm" type="none"/>
          </a:ln>
        </p:spPr>
        <p:txBody>
          <a:bodyPr anchorCtr="0" anchor="t" bIns="34275" lIns="68575" spcFirstLastPara="1" rIns="287850" wrap="square" tIns="34275">
            <a:noAutofit/>
          </a:bodyPr>
          <a:lstStyle/>
          <a:p>
            <a:pPr indent="0" lvl="0" marL="180000" rtl="0" algn="l">
              <a:spcBef>
                <a:spcPts val="0"/>
              </a:spcBef>
              <a:spcAft>
                <a:spcPts val="0"/>
              </a:spcAft>
              <a:buNone/>
            </a:pPr>
            <a:r>
              <a:t/>
            </a:r>
            <a:endParaRPr b="1" sz="1200">
              <a:solidFill>
                <a:schemeClr val="accent1"/>
              </a:solidFill>
            </a:endParaRPr>
          </a:p>
          <a:p>
            <a:pPr indent="0" lvl="0" marL="180000" rtl="0" algn="l">
              <a:spcBef>
                <a:spcPts val="0"/>
              </a:spcBef>
              <a:spcAft>
                <a:spcPts val="0"/>
              </a:spcAft>
              <a:buNone/>
            </a:pPr>
            <a:r>
              <a:rPr b="1" lang="en-GB">
                <a:solidFill>
                  <a:srgbClr val="76889B"/>
                </a:solidFill>
              </a:rPr>
              <a:t>Scenario</a:t>
            </a:r>
            <a:endParaRPr b="1">
              <a:solidFill>
                <a:srgbClr val="5B6B7D"/>
              </a:solidFill>
            </a:endParaRPr>
          </a:p>
          <a:p>
            <a:pPr indent="0" lvl="0" marL="180000" rtl="0" algn="l">
              <a:spcBef>
                <a:spcPts val="0"/>
              </a:spcBef>
              <a:spcAft>
                <a:spcPts val="0"/>
              </a:spcAft>
              <a:buNone/>
            </a:pPr>
            <a:r>
              <a:t/>
            </a:r>
            <a:endParaRPr b="1" sz="1200">
              <a:solidFill>
                <a:schemeClr val="accent1"/>
              </a:solidFill>
            </a:endParaRPr>
          </a:p>
          <a:p>
            <a:pPr indent="0" lvl="0" marL="180000" marR="4652" rtl="0" algn="l">
              <a:lnSpc>
                <a:spcPct val="115000"/>
              </a:lnSpc>
              <a:spcBef>
                <a:spcPts val="0"/>
              </a:spcBef>
              <a:spcAft>
                <a:spcPts val="0"/>
              </a:spcAft>
              <a:buNone/>
            </a:pPr>
            <a:r>
              <a:rPr i="1" lang="en-GB" sz="1600">
                <a:solidFill>
                  <a:srgbClr val="1C2B3E"/>
                </a:solidFill>
              </a:rPr>
              <a:t>“The customer returned goods after invoicing. Close the loop properly.”</a:t>
            </a:r>
            <a:endParaRPr i="1" sz="1600">
              <a:solidFill>
                <a:srgbClr val="1C2B3E"/>
              </a:solidFill>
            </a:endParaRPr>
          </a:p>
          <a:p>
            <a:pPr indent="0" lvl="0" marL="0" marR="4652" rtl="0" algn="l">
              <a:lnSpc>
                <a:spcPct val="115000"/>
              </a:lnSpc>
              <a:spcBef>
                <a:spcPts val="0"/>
              </a:spcBef>
              <a:spcAft>
                <a:spcPts val="0"/>
              </a:spcAft>
              <a:buNone/>
            </a:pPr>
            <a:r>
              <a:t/>
            </a:r>
            <a:endParaRPr i="1" sz="1600">
              <a:solidFill>
                <a:srgbClr val="1C2B3E"/>
              </a:solidFill>
            </a:endParaRPr>
          </a:p>
          <a:p>
            <a:pPr indent="0" lvl="0" marL="180000" marR="4652" rtl="0" algn="l">
              <a:lnSpc>
                <a:spcPct val="115000"/>
              </a:lnSpc>
              <a:spcBef>
                <a:spcPts val="0"/>
              </a:spcBef>
              <a:spcAft>
                <a:spcPts val="0"/>
              </a:spcAft>
              <a:buNone/>
            </a:pPr>
            <a:r>
              <a:t/>
            </a:r>
            <a:endParaRPr i="1" sz="1600">
              <a:solidFill>
                <a:srgbClr val="1C2B3E"/>
              </a:solidFill>
            </a:endParaRPr>
          </a:p>
          <a:p>
            <a:pPr indent="0" lvl="0" marL="180000" marR="4652" rtl="0" algn="l">
              <a:lnSpc>
                <a:spcPct val="115000"/>
              </a:lnSpc>
              <a:spcBef>
                <a:spcPts val="0"/>
              </a:spcBef>
              <a:spcAft>
                <a:spcPts val="0"/>
              </a:spcAft>
              <a:buNone/>
            </a:pPr>
            <a:r>
              <a:t/>
            </a:r>
            <a:endParaRPr i="1" sz="1600">
              <a:solidFill>
                <a:srgbClr val="1C2B3E"/>
              </a:solidFill>
            </a:endParaRPr>
          </a:p>
          <a:p>
            <a:pPr indent="0" lvl="0" marL="0" marR="4652" rtl="0" algn="l">
              <a:lnSpc>
                <a:spcPct val="115000"/>
              </a:lnSpc>
              <a:spcBef>
                <a:spcPts val="0"/>
              </a:spcBef>
              <a:spcAft>
                <a:spcPts val="0"/>
              </a:spcAft>
              <a:buNone/>
            </a:pPr>
            <a:r>
              <a:t/>
            </a:r>
            <a:endParaRPr i="1" sz="1600">
              <a:solidFill>
                <a:srgbClr val="1C2B3E"/>
              </a:solidFill>
            </a:endParaRPr>
          </a:p>
        </p:txBody>
      </p:sp>
      <p:sp>
        <p:nvSpPr>
          <p:cNvPr id="2475" name="Google Shape;2475;p99"/>
          <p:cNvSpPr/>
          <p:nvPr/>
        </p:nvSpPr>
        <p:spPr>
          <a:xfrm>
            <a:off x="3219650" y="1190100"/>
            <a:ext cx="3705600" cy="3288900"/>
          </a:xfrm>
          <a:prstGeom prst="roundRect">
            <a:avLst>
              <a:gd fmla="val 6052" name="adj"/>
            </a:avLst>
          </a:prstGeom>
          <a:solidFill>
            <a:srgbClr val="FBEBD9"/>
          </a:solidFill>
          <a:ln cap="flat" cmpd="sng" w="9525">
            <a:solidFill>
              <a:schemeClr val="accent2"/>
            </a:solidFill>
            <a:prstDash val="solid"/>
            <a:round/>
            <a:headEnd len="sm" w="sm" type="none"/>
            <a:tailEnd len="sm" w="sm" type="none"/>
          </a:ln>
        </p:spPr>
        <p:txBody>
          <a:bodyPr anchorCtr="0" anchor="t" bIns="34275" lIns="68575" spcFirstLastPara="1" rIns="68575" wrap="square" tIns="34275">
            <a:noAutofit/>
          </a:bodyPr>
          <a:lstStyle/>
          <a:p>
            <a:pPr indent="0" lvl="0" marL="180000" marR="118292" rtl="0" algn="l">
              <a:spcBef>
                <a:spcPts val="0"/>
              </a:spcBef>
              <a:spcAft>
                <a:spcPts val="0"/>
              </a:spcAft>
              <a:buNone/>
            </a:pPr>
            <a:r>
              <a:t/>
            </a:r>
            <a:endParaRPr b="1" sz="1200">
              <a:solidFill>
                <a:schemeClr val="accent1"/>
              </a:solidFill>
            </a:endParaRPr>
          </a:p>
          <a:p>
            <a:pPr indent="0" lvl="0" marL="180000" marR="118292" rtl="0" algn="l">
              <a:lnSpc>
                <a:spcPct val="115000"/>
              </a:lnSpc>
              <a:spcBef>
                <a:spcPts val="0"/>
              </a:spcBef>
              <a:spcAft>
                <a:spcPts val="0"/>
              </a:spcAft>
              <a:buNone/>
            </a:pPr>
            <a:r>
              <a:rPr lang="en-GB" sz="1200">
                <a:solidFill>
                  <a:schemeClr val="dk2"/>
                </a:solidFill>
              </a:rPr>
              <a:t>Arrives as</a:t>
            </a:r>
            <a:endParaRPr sz="1200">
              <a:solidFill>
                <a:schemeClr val="dk2"/>
              </a:solidFill>
            </a:endParaRPr>
          </a:p>
          <a:p>
            <a:pPr indent="0" lvl="0" marL="180000" marR="118292" rtl="0" algn="l">
              <a:lnSpc>
                <a:spcPct val="115000"/>
              </a:lnSpc>
              <a:spcBef>
                <a:spcPts val="0"/>
              </a:spcBef>
              <a:spcAft>
                <a:spcPts val="0"/>
              </a:spcAft>
              <a:buNone/>
            </a:pPr>
            <a:r>
              <a:rPr b="1" lang="en-GB" sz="1600">
                <a:solidFill>
                  <a:schemeClr val="accent1"/>
                </a:solidFill>
              </a:rPr>
              <a:t>Return after DN + SI submitted</a:t>
            </a:r>
            <a:endParaRPr b="1" sz="1600">
              <a:solidFill>
                <a:schemeClr val="accent1"/>
              </a:solidFill>
            </a:endParaRPr>
          </a:p>
          <a:p>
            <a:pPr indent="0" lvl="0" marL="180000" marR="118292" rtl="0" algn="l">
              <a:lnSpc>
                <a:spcPct val="115000"/>
              </a:lnSpc>
              <a:spcBef>
                <a:spcPts val="0"/>
              </a:spcBef>
              <a:spcAft>
                <a:spcPts val="0"/>
              </a:spcAft>
              <a:buNone/>
            </a:pPr>
            <a:r>
              <a:t/>
            </a:r>
            <a:endParaRPr b="1" sz="1200">
              <a:solidFill>
                <a:schemeClr val="dk2"/>
              </a:solidFill>
            </a:endParaRPr>
          </a:p>
          <a:p>
            <a:pPr indent="-317500" lvl="0" marL="630000" marR="121087" rtl="0" algn="l">
              <a:lnSpc>
                <a:spcPct val="115000"/>
              </a:lnSpc>
              <a:spcBef>
                <a:spcPts val="0"/>
              </a:spcBef>
              <a:spcAft>
                <a:spcPts val="0"/>
              </a:spcAft>
              <a:buClr>
                <a:schemeClr val="dk2"/>
              </a:buClr>
              <a:buSzPts val="1400"/>
              <a:buChar char="●"/>
            </a:pPr>
            <a:r>
              <a:rPr lang="en-GB">
                <a:solidFill>
                  <a:schemeClr val="dk2"/>
                </a:solidFill>
              </a:rPr>
              <a:t>Bintang Mart returns 4 bottles</a:t>
            </a:r>
            <a:endParaRPr>
              <a:solidFill>
                <a:schemeClr val="dk2"/>
              </a:solidFill>
            </a:endParaRPr>
          </a:p>
          <a:p>
            <a:pPr indent="-317500" lvl="0" marL="630000" marR="121087" rtl="0" algn="l">
              <a:lnSpc>
                <a:spcPct val="115000"/>
              </a:lnSpc>
              <a:spcBef>
                <a:spcPts val="1000"/>
              </a:spcBef>
              <a:spcAft>
                <a:spcPts val="0"/>
              </a:spcAft>
              <a:buClr>
                <a:schemeClr val="dk2"/>
              </a:buClr>
              <a:buSzPts val="1400"/>
              <a:buChar char="●"/>
            </a:pPr>
            <a:r>
              <a:rPr lang="en-GB">
                <a:solidFill>
                  <a:schemeClr val="dk2"/>
                </a:solidFill>
              </a:rPr>
              <a:t>DN and SI already submitted</a:t>
            </a:r>
            <a:endParaRPr>
              <a:solidFill>
                <a:schemeClr val="dk2"/>
              </a:solidFill>
            </a:endParaRPr>
          </a:p>
          <a:p>
            <a:pPr indent="-317500" lvl="0" marL="630000" marR="121087" rtl="0" algn="l">
              <a:lnSpc>
                <a:spcPct val="115000"/>
              </a:lnSpc>
              <a:spcBef>
                <a:spcPts val="1000"/>
              </a:spcBef>
              <a:spcAft>
                <a:spcPts val="0"/>
              </a:spcAft>
              <a:buClr>
                <a:schemeClr val="dk2"/>
              </a:buClr>
              <a:buSzPts val="1400"/>
              <a:buChar char="●"/>
            </a:pPr>
            <a:r>
              <a:rPr lang="en-GB">
                <a:solidFill>
                  <a:schemeClr val="dk2"/>
                </a:solidFill>
              </a:rPr>
              <a:t>Customer has part-paid the invoice</a:t>
            </a:r>
            <a:endParaRPr i="1">
              <a:solidFill>
                <a:schemeClr val="dk2"/>
              </a:solidFill>
            </a:endParaRPr>
          </a:p>
          <a:p>
            <a:pPr indent="0" lvl="0" marL="0" marR="118292" rtl="0" algn="l">
              <a:lnSpc>
                <a:spcPct val="115000"/>
              </a:lnSpc>
              <a:spcBef>
                <a:spcPts val="1000"/>
              </a:spcBef>
              <a:spcAft>
                <a:spcPts val="0"/>
              </a:spcAft>
              <a:buNone/>
            </a:pPr>
            <a:r>
              <a:t/>
            </a:r>
            <a:endParaRPr sz="1200">
              <a:solidFill>
                <a:schemeClr val="dk2"/>
              </a:solidFill>
            </a:endParaRPr>
          </a:p>
          <a:p>
            <a:pPr indent="0" lvl="0" marL="0" marR="118292" rtl="0" algn="l">
              <a:lnSpc>
                <a:spcPct val="115000"/>
              </a:lnSpc>
              <a:spcBef>
                <a:spcPts val="0"/>
              </a:spcBef>
              <a:spcAft>
                <a:spcPts val="0"/>
              </a:spcAft>
              <a:buNone/>
            </a:pPr>
            <a:r>
              <a:t/>
            </a:r>
            <a:endParaRPr i="1">
              <a:solidFill>
                <a:schemeClr val="dk2"/>
              </a:solidFill>
            </a:endParaRPr>
          </a:p>
        </p:txBody>
      </p:sp>
      <p:sp>
        <p:nvSpPr>
          <p:cNvPr id="2476" name="Google Shape;2476;p99"/>
          <p:cNvSpPr/>
          <p:nvPr/>
        </p:nvSpPr>
        <p:spPr>
          <a:xfrm>
            <a:off x="7028550" y="1190100"/>
            <a:ext cx="1704300" cy="3288900"/>
          </a:xfrm>
          <a:prstGeom prst="roundRect">
            <a:avLst>
              <a:gd fmla="val 6052" name="adj"/>
            </a:avLst>
          </a:prstGeom>
          <a:solidFill>
            <a:srgbClr val="E3F5EC"/>
          </a:solidFill>
          <a:ln>
            <a:noFill/>
          </a:ln>
        </p:spPr>
        <p:txBody>
          <a:bodyPr anchorCtr="0" anchor="t" bIns="34275" lIns="68575" spcFirstLastPara="1" rIns="68575" wrap="square" tIns="34275">
            <a:noAutofit/>
          </a:bodyPr>
          <a:lstStyle/>
          <a:p>
            <a:pPr indent="0" lvl="0" marL="180000" rtl="0" algn="l">
              <a:spcBef>
                <a:spcPts val="0"/>
              </a:spcBef>
              <a:spcAft>
                <a:spcPts val="0"/>
              </a:spcAft>
              <a:buNone/>
            </a:pPr>
            <a:r>
              <a:t/>
            </a:r>
            <a:endParaRPr b="1" sz="1200">
              <a:solidFill>
                <a:schemeClr val="accent1"/>
              </a:solidFill>
            </a:endParaRPr>
          </a:p>
          <a:p>
            <a:pPr indent="0" lvl="0" marL="180000" rtl="0" algn="l">
              <a:spcBef>
                <a:spcPts val="0"/>
              </a:spcBef>
              <a:spcAft>
                <a:spcPts val="0"/>
              </a:spcAft>
              <a:buNone/>
            </a:pPr>
            <a:r>
              <a:rPr b="1" lang="en-GB">
                <a:solidFill>
                  <a:srgbClr val="1A9D5C"/>
                </a:solidFill>
              </a:rPr>
              <a:t>Record on board</a:t>
            </a:r>
            <a:endParaRPr b="1">
              <a:solidFill>
                <a:srgbClr val="1A9D5C"/>
              </a:solidFill>
            </a:endParaRPr>
          </a:p>
          <a:p>
            <a:pPr indent="0" lvl="0" marL="180000" rtl="0" algn="l">
              <a:spcBef>
                <a:spcPts val="0"/>
              </a:spcBef>
              <a:spcAft>
                <a:spcPts val="0"/>
              </a:spcAft>
              <a:buNone/>
            </a:pPr>
            <a:r>
              <a:t/>
            </a:r>
            <a:endParaRPr b="1" sz="1200">
              <a:solidFill>
                <a:schemeClr val="accent1"/>
              </a:solidFill>
            </a:endParaRPr>
          </a:p>
          <a:p>
            <a:pPr indent="0" lvl="0" marL="180000" rtl="0" algn="l">
              <a:lnSpc>
                <a:spcPct val="115000"/>
              </a:lnSpc>
              <a:spcBef>
                <a:spcPts val="0"/>
              </a:spcBef>
              <a:spcAft>
                <a:spcPts val="0"/>
              </a:spcAft>
              <a:buNone/>
            </a:pPr>
            <a:r>
              <a:t/>
            </a:r>
            <a:endParaRPr sz="1600">
              <a:solidFill>
                <a:schemeClr val="dk1"/>
              </a:solidFill>
            </a:endParaRPr>
          </a:p>
        </p:txBody>
      </p:sp>
      <p:sp>
        <p:nvSpPr>
          <p:cNvPr id="2477" name="Google Shape;2477;p99"/>
          <p:cNvSpPr/>
          <p:nvPr/>
        </p:nvSpPr>
        <p:spPr>
          <a:xfrm>
            <a:off x="7344150" y="2201903"/>
            <a:ext cx="1073100" cy="342900"/>
          </a:xfrm>
          <a:prstGeom prst="roundRect">
            <a:avLst>
              <a:gd fmla="val 50000" name="adj"/>
            </a:avLst>
          </a:prstGeom>
          <a:solidFill>
            <a:srgbClr val="1A9D5C"/>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b="1" lang="en-GB">
                <a:solidFill>
                  <a:schemeClr val="lt1"/>
                </a:solidFill>
              </a:rPr>
              <a:t>RN ID</a:t>
            </a:r>
            <a:endParaRPr b="1">
              <a:solidFill>
                <a:schemeClr val="lt1"/>
              </a:solidFill>
            </a:endParaRPr>
          </a:p>
        </p:txBody>
      </p:sp>
      <p:sp>
        <p:nvSpPr>
          <p:cNvPr id="2478" name="Google Shape;2478;p99"/>
          <p:cNvSpPr/>
          <p:nvPr/>
        </p:nvSpPr>
        <p:spPr>
          <a:xfrm>
            <a:off x="7344150" y="2595439"/>
            <a:ext cx="1073100" cy="342900"/>
          </a:xfrm>
          <a:prstGeom prst="roundRect">
            <a:avLst>
              <a:gd fmla="val 50000" name="adj"/>
            </a:avLst>
          </a:prstGeom>
          <a:solidFill>
            <a:srgbClr val="1A9D5C"/>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b="1" lang="en-GB">
                <a:solidFill>
                  <a:schemeClr val="lt1"/>
                </a:solidFill>
              </a:rPr>
              <a:t>CN ID</a:t>
            </a:r>
            <a:endParaRPr b="1">
              <a:solidFill>
                <a:schemeClr val="lt1"/>
              </a:solidFill>
            </a:endParaRPr>
          </a:p>
        </p:txBody>
      </p:sp>
      <p:sp>
        <p:nvSpPr>
          <p:cNvPr id="2479" name="Google Shape;2479;p99"/>
          <p:cNvSpPr/>
          <p:nvPr/>
        </p:nvSpPr>
        <p:spPr>
          <a:xfrm>
            <a:off x="7344150" y="3476051"/>
            <a:ext cx="1073100" cy="342900"/>
          </a:xfrm>
          <a:prstGeom prst="roundRect">
            <a:avLst>
              <a:gd fmla="val 14676" name="adj"/>
            </a:avLst>
          </a:prstGeom>
          <a:solidFill>
            <a:srgbClr val="1A9D5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900">
                <a:solidFill>
                  <a:schemeClr val="lt1"/>
                </a:solidFill>
              </a:rPr>
              <a:t>Balance OK?</a:t>
            </a:r>
            <a:endParaRPr b="1" sz="900">
              <a:solidFill>
                <a:schemeClr val="lt1"/>
              </a:solidFill>
            </a:endParaRPr>
          </a:p>
        </p:txBody>
      </p:sp>
      <p:sp>
        <p:nvSpPr>
          <p:cNvPr id="2480" name="Google Shape;2480;p99"/>
          <p:cNvSpPr/>
          <p:nvPr/>
        </p:nvSpPr>
        <p:spPr>
          <a:xfrm>
            <a:off x="411502" y="438912"/>
            <a:ext cx="8321400" cy="480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2200">
                <a:solidFill>
                  <a:srgbClr val="1C2B3E"/>
                </a:solidFill>
                <a:latin typeface="Poppins"/>
                <a:ea typeface="Poppins"/>
                <a:cs typeface="Poppins"/>
                <a:sym typeface="Poppins"/>
              </a:rPr>
              <a:t>Returns + Credit Note + Payment Flow</a:t>
            </a:r>
            <a:endParaRPr b="1" sz="2200">
              <a:solidFill>
                <a:srgbClr val="1C2B3E"/>
              </a:solidFill>
              <a:latin typeface="Poppins"/>
              <a:ea typeface="Poppins"/>
              <a:cs typeface="Poppins"/>
              <a:sym typeface="Poppins"/>
            </a:endParaRPr>
          </a:p>
        </p:txBody>
      </p:sp>
      <p:sp>
        <p:nvSpPr>
          <p:cNvPr id="2481" name="Google Shape;2481;p99"/>
          <p:cNvSpPr/>
          <p:nvPr/>
        </p:nvSpPr>
        <p:spPr>
          <a:xfrm>
            <a:off x="7344150" y="2989003"/>
            <a:ext cx="1073100" cy="342900"/>
          </a:xfrm>
          <a:prstGeom prst="roundRect">
            <a:avLst>
              <a:gd fmla="val 50000" name="adj"/>
            </a:avLst>
          </a:prstGeom>
          <a:solidFill>
            <a:srgbClr val="1A9D5C"/>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b="1" lang="en-GB" sz="1300">
                <a:solidFill>
                  <a:schemeClr val="lt1"/>
                </a:solidFill>
              </a:rPr>
              <a:t>Payment ID</a:t>
            </a:r>
            <a:endParaRPr b="1" sz="1300">
              <a:solidFill>
                <a:schemeClr val="lt1"/>
              </a:solidFill>
            </a:endParaRPr>
          </a:p>
        </p:txBody>
      </p:sp>
      <p:sp>
        <p:nvSpPr>
          <p:cNvPr id="2482" name="Google Shape;2482;p99"/>
          <p:cNvSpPr/>
          <p:nvPr/>
        </p:nvSpPr>
        <p:spPr>
          <a:xfrm>
            <a:off x="411502" y="260604"/>
            <a:ext cx="68583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SPECIAL MISSION</a:t>
            </a:r>
            <a:endParaRPr sz="800">
              <a:solidFill>
                <a:schemeClr val="dk1"/>
              </a:solidFill>
              <a:latin typeface="Calibri"/>
              <a:ea typeface="Calibri"/>
              <a:cs typeface="Calibri"/>
              <a:sym typeface="Calibri"/>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2487" name="Shape 2487"/>
        <p:cNvGrpSpPr/>
        <p:nvPr/>
      </p:nvGrpSpPr>
      <p:grpSpPr>
        <a:xfrm>
          <a:off x="0" y="0"/>
          <a:ext cx="0" cy="0"/>
          <a:chOff x="0" y="0"/>
          <a:chExt cx="0" cy="0"/>
        </a:xfrm>
      </p:grpSpPr>
      <p:sp>
        <p:nvSpPr>
          <p:cNvPr id="2488" name="Google Shape;2488;p100"/>
          <p:cNvSpPr/>
          <p:nvPr/>
        </p:nvSpPr>
        <p:spPr>
          <a:xfrm>
            <a:off x="411502" y="438912"/>
            <a:ext cx="8321400" cy="480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C2B3E"/>
              </a:buClr>
              <a:buSzPts val="2200"/>
              <a:buFont typeface="Arial"/>
              <a:buNone/>
            </a:pPr>
            <a:r>
              <a:rPr b="1" lang="en-GB" sz="2200">
                <a:solidFill>
                  <a:srgbClr val="1C2B3E"/>
                </a:solidFill>
                <a:latin typeface="Poppins"/>
                <a:ea typeface="Poppins"/>
                <a:cs typeface="Poppins"/>
                <a:sym typeface="Poppins"/>
              </a:rPr>
              <a:t>Returns + Credit Note + Payment Flow</a:t>
            </a:r>
            <a:endParaRPr sz="2200">
              <a:solidFill>
                <a:schemeClr val="dk1"/>
              </a:solidFill>
              <a:latin typeface="Poppins"/>
              <a:ea typeface="Poppins"/>
              <a:cs typeface="Poppins"/>
              <a:sym typeface="Poppins"/>
            </a:endParaRPr>
          </a:p>
        </p:txBody>
      </p:sp>
      <p:sp>
        <p:nvSpPr>
          <p:cNvPr id="2489" name="Google Shape;2489;p100"/>
          <p:cNvSpPr/>
          <p:nvPr/>
        </p:nvSpPr>
        <p:spPr>
          <a:xfrm>
            <a:off x="7765727" y="308610"/>
            <a:ext cx="966900" cy="274200"/>
          </a:xfrm>
          <a:prstGeom prst="roundRect">
            <a:avLst>
              <a:gd fmla="val 50000" name="adj"/>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490" name="Google Shape;2490;p100"/>
          <p:cNvSpPr/>
          <p:nvPr/>
        </p:nvSpPr>
        <p:spPr>
          <a:xfrm>
            <a:off x="7765727" y="308610"/>
            <a:ext cx="9669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Arial"/>
              <a:buNone/>
            </a:pPr>
            <a:r>
              <a:rPr b="1" lang="en-GB" sz="900">
                <a:solidFill>
                  <a:srgbClr val="FFFFFF"/>
                </a:solidFill>
                <a:latin typeface="Arial"/>
                <a:ea typeface="Arial"/>
                <a:cs typeface="Arial"/>
                <a:sym typeface="Arial"/>
              </a:rPr>
              <a:t>↩ RETURNS</a:t>
            </a:r>
            <a:endParaRPr sz="900">
              <a:solidFill>
                <a:schemeClr val="dk1"/>
              </a:solidFill>
              <a:latin typeface="Calibri"/>
              <a:ea typeface="Calibri"/>
              <a:cs typeface="Calibri"/>
              <a:sym typeface="Calibri"/>
            </a:endParaRPr>
          </a:p>
        </p:txBody>
      </p:sp>
      <p:sp>
        <p:nvSpPr>
          <p:cNvPr id="2491" name="Google Shape;2491;p100"/>
          <p:cNvSpPr/>
          <p:nvPr/>
        </p:nvSpPr>
        <p:spPr>
          <a:xfrm>
            <a:off x="411502" y="1337310"/>
            <a:ext cx="4040700" cy="3463200"/>
          </a:xfrm>
          <a:prstGeom prst="roundRect">
            <a:avLst>
              <a:gd fmla="val 2376" name="adj"/>
            </a:avLst>
          </a:prstGeom>
          <a:solidFill>
            <a:srgbClr val="F5F7FA"/>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492" name="Google Shape;2492;p100"/>
          <p:cNvSpPr/>
          <p:nvPr/>
        </p:nvSpPr>
        <p:spPr>
          <a:xfrm>
            <a:off x="548669" y="1447038"/>
            <a:ext cx="1508700" cy="233100"/>
          </a:xfrm>
          <a:prstGeom prst="roundRect">
            <a:avLst>
              <a:gd fmla="val 50000"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493" name="Google Shape;2493;p100"/>
          <p:cNvSpPr/>
          <p:nvPr/>
        </p:nvSpPr>
        <p:spPr>
          <a:xfrm>
            <a:off x="548669" y="1447038"/>
            <a:ext cx="1508700" cy="233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FRONT · TEAM SEES</a:t>
            </a:r>
            <a:endParaRPr sz="800">
              <a:solidFill>
                <a:schemeClr val="dk1"/>
              </a:solidFill>
              <a:latin typeface="Calibri"/>
              <a:ea typeface="Calibri"/>
              <a:cs typeface="Calibri"/>
              <a:sym typeface="Calibri"/>
            </a:endParaRPr>
          </a:p>
        </p:txBody>
      </p:sp>
      <p:sp>
        <p:nvSpPr>
          <p:cNvPr id="2494" name="Google Shape;2494;p100"/>
          <p:cNvSpPr/>
          <p:nvPr/>
        </p:nvSpPr>
        <p:spPr>
          <a:xfrm>
            <a:off x="548669" y="1789938"/>
            <a:ext cx="3766200" cy="788700"/>
          </a:xfrm>
          <a:prstGeom prst="roundRect">
            <a:avLst>
              <a:gd fmla="val 6957" name="adj"/>
            </a:avLst>
          </a:prstGeom>
          <a:solidFill>
            <a:srgbClr val="FFFFFF"/>
          </a:solidFill>
          <a:ln cap="flat" cmpd="sng" w="12700">
            <a:solidFill>
              <a:srgbClr val="E3E8EF"/>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495" name="Google Shape;2495;p100"/>
          <p:cNvSpPr/>
          <p:nvPr/>
        </p:nvSpPr>
        <p:spPr>
          <a:xfrm>
            <a:off x="658403" y="1858518"/>
            <a:ext cx="3546900" cy="6516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C2B3E"/>
              </a:buClr>
              <a:buSzPts val="900"/>
              <a:buFont typeface="Arial"/>
              <a:buNone/>
            </a:pPr>
            <a:r>
              <a:rPr i="1" lang="en-GB" sz="900">
                <a:solidFill>
                  <a:srgbClr val="1C2B3E"/>
                </a:solidFill>
                <a:latin typeface="Arial"/>
                <a:ea typeface="Arial"/>
                <a:cs typeface="Arial"/>
                <a:sym typeface="Arial"/>
              </a:rPr>
              <a:t>“The customer returned goods after invoicing. Close the loop properly.”</a:t>
            </a:r>
            <a:endParaRPr sz="900">
              <a:solidFill>
                <a:schemeClr val="dk1"/>
              </a:solidFill>
              <a:latin typeface="Calibri"/>
              <a:ea typeface="Calibri"/>
              <a:cs typeface="Calibri"/>
              <a:sym typeface="Calibri"/>
            </a:endParaRPr>
          </a:p>
        </p:txBody>
      </p:sp>
      <p:sp>
        <p:nvSpPr>
          <p:cNvPr id="2496" name="Google Shape;2496;p100"/>
          <p:cNvSpPr/>
          <p:nvPr/>
        </p:nvSpPr>
        <p:spPr>
          <a:xfrm>
            <a:off x="548669" y="2715768"/>
            <a:ext cx="3766200" cy="178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800"/>
              <a:buFont typeface="Arial"/>
              <a:buNone/>
            </a:pPr>
            <a:r>
              <a:rPr b="1" lang="en-GB" sz="800">
                <a:solidFill>
                  <a:srgbClr val="94A3B8"/>
                </a:solidFill>
                <a:latin typeface="Arial"/>
                <a:ea typeface="Arial"/>
                <a:cs typeface="Arial"/>
                <a:sym typeface="Arial"/>
              </a:rPr>
              <a:t>ARRIVES AS — return after DN + SI submitted</a:t>
            </a:r>
            <a:endParaRPr sz="800">
              <a:solidFill>
                <a:schemeClr val="dk1"/>
              </a:solidFill>
              <a:latin typeface="Calibri"/>
              <a:ea typeface="Calibri"/>
              <a:cs typeface="Calibri"/>
              <a:sym typeface="Calibri"/>
            </a:endParaRPr>
          </a:p>
        </p:txBody>
      </p:sp>
      <p:sp>
        <p:nvSpPr>
          <p:cNvPr id="2497" name="Google Shape;2497;p100"/>
          <p:cNvSpPr/>
          <p:nvPr/>
        </p:nvSpPr>
        <p:spPr>
          <a:xfrm>
            <a:off x="548669" y="2935224"/>
            <a:ext cx="3766200" cy="233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B3E"/>
              </a:buClr>
              <a:buSzPts val="900"/>
              <a:buFont typeface="Arial"/>
              <a:buNone/>
            </a:pPr>
            <a:r>
              <a:rPr lang="en-GB" sz="900">
                <a:solidFill>
                  <a:srgbClr val="1C2B3E"/>
                </a:solidFill>
                <a:latin typeface="Arial"/>
                <a:ea typeface="Arial"/>
                <a:cs typeface="Arial"/>
                <a:sym typeface="Arial"/>
              </a:rPr>
              <a:t>•  Bintang Mart returns 4 bottles</a:t>
            </a:r>
            <a:endParaRPr sz="900">
              <a:solidFill>
                <a:schemeClr val="dk1"/>
              </a:solidFill>
              <a:latin typeface="Calibri"/>
              <a:ea typeface="Calibri"/>
              <a:cs typeface="Calibri"/>
              <a:sym typeface="Calibri"/>
            </a:endParaRPr>
          </a:p>
        </p:txBody>
      </p:sp>
      <p:sp>
        <p:nvSpPr>
          <p:cNvPr id="2498" name="Google Shape;2498;p100"/>
          <p:cNvSpPr/>
          <p:nvPr/>
        </p:nvSpPr>
        <p:spPr>
          <a:xfrm>
            <a:off x="548669" y="3168396"/>
            <a:ext cx="3766200" cy="233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B3E"/>
              </a:buClr>
              <a:buSzPts val="900"/>
              <a:buFont typeface="Arial"/>
              <a:buNone/>
            </a:pPr>
            <a:r>
              <a:rPr lang="en-GB" sz="900">
                <a:solidFill>
                  <a:srgbClr val="1C2B3E"/>
                </a:solidFill>
                <a:latin typeface="Arial"/>
                <a:ea typeface="Arial"/>
                <a:cs typeface="Arial"/>
                <a:sym typeface="Arial"/>
              </a:rPr>
              <a:t>•  DN and SI already submitted</a:t>
            </a:r>
            <a:endParaRPr sz="900">
              <a:solidFill>
                <a:schemeClr val="dk1"/>
              </a:solidFill>
              <a:latin typeface="Calibri"/>
              <a:ea typeface="Calibri"/>
              <a:cs typeface="Calibri"/>
              <a:sym typeface="Calibri"/>
            </a:endParaRPr>
          </a:p>
        </p:txBody>
      </p:sp>
      <p:sp>
        <p:nvSpPr>
          <p:cNvPr id="2499" name="Google Shape;2499;p100"/>
          <p:cNvSpPr/>
          <p:nvPr/>
        </p:nvSpPr>
        <p:spPr>
          <a:xfrm>
            <a:off x="548669" y="3429000"/>
            <a:ext cx="3766200" cy="342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B3E"/>
              </a:buClr>
              <a:buSzPts val="900"/>
              <a:buFont typeface="Arial"/>
              <a:buNone/>
            </a:pPr>
            <a:r>
              <a:rPr i="0" lang="en-GB" sz="900">
                <a:solidFill>
                  <a:srgbClr val="1C2B3E"/>
                </a:solidFill>
                <a:latin typeface="Arial"/>
                <a:ea typeface="Arial"/>
                <a:cs typeface="Arial"/>
                <a:sym typeface="Arial"/>
              </a:rPr>
              <a:t>•  Customer has part-paid the invoice</a:t>
            </a:r>
            <a:endParaRPr sz="900">
              <a:solidFill>
                <a:schemeClr val="dk1"/>
              </a:solidFill>
              <a:latin typeface="Calibri"/>
              <a:ea typeface="Calibri"/>
              <a:cs typeface="Calibri"/>
              <a:sym typeface="Calibri"/>
            </a:endParaRPr>
          </a:p>
        </p:txBody>
      </p:sp>
      <p:sp>
        <p:nvSpPr>
          <p:cNvPr id="2500" name="Google Shape;2500;p100"/>
          <p:cNvSpPr/>
          <p:nvPr/>
        </p:nvSpPr>
        <p:spPr>
          <a:xfrm>
            <a:off x="548669" y="4265676"/>
            <a:ext cx="3766200" cy="178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800"/>
              <a:buFont typeface="Arial"/>
              <a:buNone/>
            </a:pPr>
            <a:r>
              <a:rPr b="1" lang="en-GB" sz="800">
                <a:solidFill>
                  <a:srgbClr val="94A3B8"/>
                </a:solidFill>
                <a:latin typeface="Arial"/>
                <a:ea typeface="Arial"/>
                <a:cs typeface="Arial"/>
                <a:sym typeface="Arial"/>
              </a:rPr>
              <a:t>RECORD ON BOARD</a:t>
            </a:r>
            <a:endParaRPr sz="800">
              <a:solidFill>
                <a:schemeClr val="dk1"/>
              </a:solidFill>
              <a:latin typeface="Calibri"/>
              <a:ea typeface="Calibri"/>
              <a:cs typeface="Calibri"/>
              <a:sym typeface="Calibri"/>
            </a:endParaRPr>
          </a:p>
        </p:txBody>
      </p:sp>
      <p:sp>
        <p:nvSpPr>
          <p:cNvPr id="2501" name="Google Shape;2501;p100"/>
          <p:cNvSpPr/>
          <p:nvPr/>
        </p:nvSpPr>
        <p:spPr>
          <a:xfrm>
            <a:off x="548669" y="4471416"/>
            <a:ext cx="565800" cy="274200"/>
          </a:xfrm>
          <a:prstGeom prst="roundRect">
            <a:avLst>
              <a:gd fmla="val 50000" name="adj"/>
            </a:avLst>
          </a:prstGeom>
          <a:solidFill>
            <a:srgbClr val="FBEBD9"/>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502" name="Google Shape;2502;p100"/>
          <p:cNvSpPr/>
          <p:nvPr/>
        </p:nvSpPr>
        <p:spPr>
          <a:xfrm>
            <a:off x="548669" y="4471416"/>
            <a:ext cx="5658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RN ID</a:t>
            </a:r>
            <a:endParaRPr sz="800">
              <a:solidFill>
                <a:schemeClr val="dk1"/>
              </a:solidFill>
              <a:latin typeface="Calibri"/>
              <a:ea typeface="Calibri"/>
              <a:cs typeface="Calibri"/>
              <a:sym typeface="Calibri"/>
            </a:endParaRPr>
          </a:p>
        </p:txBody>
      </p:sp>
      <p:sp>
        <p:nvSpPr>
          <p:cNvPr id="2503" name="Google Shape;2503;p100"/>
          <p:cNvSpPr/>
          <p:nvPr/>
        </p:nvSpPr>
        <p:spPr>
          <a:xfrm>
            <a:off x="1217360" y="4471416"/>
            <a:ext cx="565800" cy="274200"/>
          </a:xfrm>
          <a:prstGeom prst="roundRect">
            <a:avLst>
              <a:gd fmla="val 50000" name="adj"/>
            </a:avLst>
          </a:prstGeom>
          <a:solidFill>
            <a:srgbClr val="FBEBD9"/>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504" name="Google Shape;2504;p100"/>
          <p:cNvSpPr/>
          <p:nvPr/>
        </p:nvSpPr>
        <p:spPr>
          <a:xfrm>
            <a:off x="1217360" y="4471416"/>
            <a:ext cx="5658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CN ID</a:t>
            </a:r>
            <a:endParaRPr sz="800">
              <a:solidFill>
                <a:schemeClr val="dk1"/>
              </a:solidFill>
              <a:latin typeface="Calibri"/>
              <a:ea typeface="Calibri"/>
              <a:cs typeface="Calibri"/>
              <a:sym typeface="Calibri"/>
            </a:endParaRPr>
          </a:p>
        </p:txBody>
      </p:sp>
      <p:sp>
        <p:nvSpPr>
          <p:cNvPr id="2505" name="Google Shape;2505;p100"/>
          <p:cNvSpPr/>
          <p:nvPr/>
        </p:nvSpPr>
        <p:spPr>
          <a:xfrm>
            <a:off x="4692151" y="1337310"/>
            <a:ext cx="4040700" cy="3463200"/>
          </a:xfrm>
          <a:prstGeom prst="roundRect">
            <a:avLst>
              <a:gd fmla="val 2376"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506" name="Google Shape;2506;p100"/>
          <p:cNvSpPr/>
          <p:nvPr/>
        </p:nvSpPr>
        <p:spPr>
          <a:xfrm>
            <a:off x="4829318" y="1447038"/>
            <a:ext cx="1714500" cy="233100"/>
          </a:xfrm>
          <a:prstGeom prst="roundRect">
            <a:avLst>
              <a:gd fmla="val 50000" name="adj"/>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507" name="Google Shape;2507;p100"/>
          <p:cNvSpPr/>
          <p:nvPr/>
        </p:nvSpPr>
        <p:spPr>
          <a:xfrm>
            <a:off x="4829318" y="1447038"/>
            <a:ext cx="1714500" cy="233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BACK · FACILITATOR QC</a:t>
            </a:r>
            <a:endParaRPr sz="800">
              <a:solidFill>
                <a:schemeClr val="dk1"/>
              </a:solidFill>
              <a:latin typeface="Calibri"/>
              <a:ea typeface="Calibri"/>
              <a:cs typeface="Calibri"/>
              <a:sym typeface="Calibri"/>
            </a:endParaRPr>
          </a:p>
        </p:txBody>
      </p:sp>
      <p:pic>
        <p:nvPicPr>
          <p:cNvPr descr="/home/claude/maia/icons/FiCheck_accent.png" id="2508" name="Google Shape;2508;p100"/>
          <p:cNvPicPr preferRelativeResize="0"/>
          <p:nvPr/>
        </p:nvPicPr>
        <p:blipFill rotWithShape="1">
          <a:blip r:embed="rId3">
            <a:alphaModFix/>
          </a:blip>
          <a:srcRect b="0" l="0" r="0" t="0"/>
          <a:stretch/>
        </p:blipFill>
        <p:spPr>
          <a:xfrm>
            <a:off x="4843035" y="1831086"/>
            <a:ext cx="150876" cy="150876"/>
          </a:xfrm>
          <a:prstGeom prst="rect">
            <a:avLst/>
          </a:prstGeom>
          <a:noFill/>
          <a:ln>
            <a:noFill/>
          </a:ln>
        </p:spPr>
      </p:pic>
      <p:sp>
        <p:nvSpPr>
          <p:cNvPr id="2509" name="Google Shape;2509;p100"/>
          <p:cNvSpPr/>
          <p:nvPr/>
        </p:nvSpPr>
        <p:spPr>
          <a:xfrm>
            <a:off x="5076220" y="1776222"/>
            <a:ext cx="3505800" cy="7293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FFFFFF"/>
              </a:buClr>
              <a:buSzPts val="900"/>
              <a:buFont typeface="Arial"/>
              <a:buNone/>
            </a:pPr>
            <a:r>
              <a:rPr lang="en-GB" sz="900">
                <a:solidFill>
                  <a:srgbClr val="FFFFFF"/>
                </a:solidFill>
                <a:latin typeface="Arial"/>
                <a:ea typeface="Arial"/>
                <a:cs typeface="Arial"/>
                <a:sym typeface="Arial"/>
              </a:rPr>
              <a:t>Return Note created from the original DN (not standalone)</a:t>
            </a:r>
            <a:endParaRPr sz="900">
              <a:solidFill>
                <a:schemeClr val="dk1"/>
              </a:solidFill>
              <a:latin typeface="Calibri"/>
              <a:ea typeface="Calibri"/>
              <a:cs typeface="Calibri"/>
              <a:sym typeface="Calibri"/>
            </a:endParaRPr>
          </a:p>
        </p:txBody>
      </p:sp>
      <p:pic>
        <p:nvPicPr>
          <p:cNvPr descr="/home/claude/maia/icons/FiCheck_accent.png" id="2510" name="Google Shape;2510;p100"/>
          <p:cNvPicPr preferRelativeResize="0"/>
          <p:nvPr/>
        </p:nvPicPr>
        <p:blipFill rotWithShape="1">
          <a:blip r:embed="rId3">
            <a:alphaModFix/>
          </a:blip>
          <a:srcRect b="0" l="0" r="0" t="0"/>
          <a:stretch/>
        </p:blipFill>
        <p:spPr>
          <a:xfrm>
            <a:off x="4843035" y="2560320"/>
            <a:ext cx="150876" cy="150876"/>
          </a:xfrm>
          <a:prstGeom prst="rect">
            <a:avLst/>
          </a:prstGeom>
          <a:noFill/>
          <a:ln>
            <a:noFill/>
          </a:ln>
        </p:spPr>
      </p:pic>
      <p:sp>
        <p:nvSpPr>
          <p:cNvPr id="2511" name="Google Shape;2511;p100"/>
          <p:cNvSpPr/>
          <p:nvPr/>
        </p:nvSpPr>
        <p:spPr>
          <a:xfrm>
            <a:off x="5076220" y="2505456"/>
            <a:ext cx="3505800" cy="7293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FFFFFF"/>
              </a:buClr>
              <a:buSzPts val="900"/>
              <a:buFont typeface="Arial"/>
              <a:buNone/>
            </a:pPr>
            <a:r>
              <a:rPr lang="en-GB" sz="900">
                <a:solidFill>
                  <a:srgbClr val="FFFFFF"/>
                </a:solidFill>
                <a:latin typeface="Arial"/>
                <a:ea typeface="Arial"/>
                <a:cs typeface="Arial"/>
                <a:sym typeface="Arial"/>
              </a:rPr>
              <a:t>Credit Note raised from the Sales Invoice for the returned qty/value</a:t>
            </a:r>
            <a:endParaRPr sz="900">
              <a:solidFill>
                <a:schemeClr val="dk1"/>
              </a:solidFill>
              <a:latin typeface="Calibri"/>
              <a:ea typeface="Calibri"/>
              <a:cs typeface="Calibri"/>
              <a:sym typeface="Calibri"/>
            </a:endParaRPr>
          </a:p>
        </p:txBody>
      </p:sp>
      <p:pic>
        <p:nvPicPr>
          <p:cNvPr descr="/home/claude/maia/icons/FiCheck_accent.png" id="2512" name="Google Shape;2512;p100"/>
          <p:cNvPicPr preferRelativeResize="0"/>
          <p:nvPr/>
        </p:nvPicPr>
        <p:blipFill rotWithShape="1">
          <a:blip r:embed="rId3">
            <a:alphaModFix/>
          </a:blip>
          <a:srcRect b="0" l="0" r="0" t="0"/>
          <a:stretch/>
        </p:blipFill>
        <p:spPr>
          <a:xfrm>
            <a:off x="4843035" y="3289554"/>
            <a:ext cx="150876" cy="150876"/>
          </a:xfrm>
          <a:prstGeom prst="rect">
            <a:avLst/>
          </a:prstGeom>
          <a:noFill/>
          <a:ln>
            <a:noFill/>
          </a:ln>
        </p:spPr>
      </p:pic>
      <p:sp>
        <p:nvSpPr>
          <p:cNvPr id="2513" name="Google Shape;2513;p100"/>
          <p:cNvSpPr/>
          <p:nvPr/>
        </p:nvSpPr>
        <p:spPr>
          <a:xfrm>
            <a:off x="5076220" y="3234690"/>
            <a:ext cx="3505800" cy="7293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FFFFFF"/>
              </a:buClr>
              <a:buSzPts val="900"/>
              <a:buFont typeface="Arial"/>
              <a:buNone/>
            </a:pPr>
            <a:r>
              <a:rPr lang="en-GB" sz="900">
                <a:solidFill>
                  <a:srgbClr val="FFFFFF"/>
                </a:solidFill>
                <a:latin typeface="Arial"/>
                <a:ea typeface="Arial"/>
                <a:cs typeface="Arial"/>
                <a:sym typeface="Arial"/>
              </a:rPr>
              <a:t>Existing payment handled — refund / voucher / allocation; SOA balance correct</a:t>
            </a:r>
            <a:endParaRPr sz="900">
              <a:solidFill>
                <a:schemeClr val="dk1"/>
              </a:solidFill>
              <a:latin typeface="Calibri"/>
              <a:ea typeface="Calibri"/>
              <a:cs typeface="Calibri"/>
              <a:sym typeface="Calibri"/>
            </a:endParaRPr>
          </a:p>
        </p:txBody>
      </p:sp>
      <p:sp>
        <p:nvSpPr>
          <p:cNvPr id="2514" name="Google Shape;2514;p100"/>
          <p:cNvSpPr/>
          <p:nvPr/>
        </p:nvSpPr>
        <p:spPr>
          <a:xfrm>
            <a:off x="4829318" y="4114800"/>
            <a:ext cx="3766200" cy="514500"/>
          </a:xfrm>
          <a:prstGeom prst="roundRect">
            <a:avLst>
              <a:gd fmla="val 10667" name="adj"/>
            </a:avLst>
          </a:prstGeom>
          <a:solidFill>
            <a:srgbClr val="32495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515" name="Google Shape;2515;p100"/>
          <p:cNvSpPr/>
          <p:nvPr/>
        </p:nvSpPr>
        <p:spPr>
          <a:xfrm>
            <a:off x="4925336" y="4217670"/>
            <a:ext cx="274200" cy="274200"/>
          </a:xfrm>
          <a:prstGeom prst="roundRect">
            <a:avLst>
              <a:gd fmla="val 22000" name="adj"/>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AlertTriangle_white.png" id="2516" name="Google Shape;2516;p100"/>
          <p:cNvPicPr preferRelativeResize="0"/>
          <p:nvPr/>
        </p:nvPicPr>
        <p:blipFill rotWithShape="1">
          <a:blip r:embed="rId4">
            <a:alphaModFix/>
          </a:blip>
          <a:srcRect b="0" l="0" r="0" t="0"/>
          <a:stretch/>
        </p:blipFill>
        <p:spPr>
          <a:xfrm>
            <a:off x="4993919" y="4286250"/>
            <a:ext cx="137160" cy="137160"/>
          </a:xfrm>
          <a:prstGeom prst="rect">
            <a:avLst/>
          </a:prstGeom>
          <a:noFill/>
          <a:ln>
            <a:noFill/>
          </a:ln>
        </p:spPr>
      </p:pic>
      <p:sp>
        <p:nvSpPr>
          <p:cNvPr id="2517" name="Google Shape;2517;p100"/>
          <p:cNvSpPr/>
          <p:nvPr/>
        </p:nvSpPr>
        <p:spPr>
          <a:xfrm>
            <a:off x="5281971" y="4169664"/>
            <a:ext cx="3300000" cy="4116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FFFFFF"/>
              </a:buClr>
              <a:buSzPts val="900"/>
              <a:buFont typeface="Arial"/>
              <a:buNone/>
            </a:pPr>
            <a:r>
              <a:rPr b="1" lang="en-GB" sz="900">
                <a:solidFill>
                  <a:srgbClr val="FFFFFF"/>
                </a:solidFill>
                <a:latin typeface="Arial"/>
                <a:ea typeface="Arial"/>
                <a:cs typeface="Arial"/>
                <a:sym typeface="Arial"/>
              </a:rPr>
              <a:t>Pass = return + credit + payment allocation.</a:t>
            </a:r>
            <a:endParaRPr sz="900">
              <a:solidFill>
                <a:schemeClr val="dk1"/>
              </a:solidFill>
              <a:latin typeface="Calibri"/>
              <a:ea typeface="Calibri"/>
              <a:cs typeface="Calibri"/>
              <a:sym typeface="Calibri"/>
            </a:endParaRPr>
          </a:p>
        </p:txBody>
      </p:sp>
      <p:sp>
        <p:nvSpPr>
          <p:cNvPr id="2518" name="Google Shape;2518;p100"/>
          <p:cNvSpPr/>
          <p:nvPr/>
        </p:nvSpPr>
        <p:spPr>
          <a:xfrm>
            <a:off x="1879192" y="4471416"/>
            <a:ext cx="565800" cy="274200"/>
          </a:xfrm>
          <a:prstGeom prst="roundRect">
            <a:avLst>
              <a:gd fmla="val 50000" name="adj"/>
            </a:avLst>
          </a:prstGeom>
          <a:solidFill>
            <a:srgbClr val="FBEBD9"/>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519" name="Google Shape;2519;p100"/>
          <p:cNvSpPr/>
          <p:nvPr/>
        </p:nvSpPr>
        <p:spPr>
          <a:xfrm>
            <a:off x="1879192" y="4471416"/>
            <a:ext cx="5658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Payment ID</a:t>
            </a:r>
            <a:endParaRPr sz="800">
              <a:solidFill>
                <a:schemeClr val="dk1"/>
              </a:solidFill>
              <a:latin typeface="Calibri"/>
              <a:ea typeface="Calibri"/>
              <a:cs typeface="Calibri"/>
              <a:sym typeface="Calibri"/>
            </a:endParaRPr>
          </a:p>
        </p:txBody>
      </p:sp>
      <p:sp>
        <p:nvSpPr>
          <p:cNvPr id="2520" name="Google Shape;2520;p100"/>
          <p:cNvSpPr/>
          <p:nvPr/>
        </p:nvSpPr>
        <p:spPr>
          <a:xfrm>
            <a:off x="2544454" y="4471416"/>
            <a:ext cx="565800" cy="274200"/>
          </a:xfrm>
          <a:prstGeom prst="roundRect">
            <a:avLst>
              <a:gd fmla="val 50000" name="adj"/>
            </a:avLst>
          </a:prstGeom>
          <a:solidFill>
            <a:srgbClr val="FBEBD9"/>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521" name="Google Shape;2521;p100"/>
          <p:cNvSpPr/>
          <p:nvPr/>
        </p:nvSpPr>
        <p:spPr>
          <a:xfrm>
            <a:off x="2544454" y="4471416"/>
            <a:ext cx="5658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Balance OK?</a:t>
            </a:r>
            <a:endParaRPr sz="800">
              <a:solidFill>
                <a:schemeClr val="dk1"/>
              </a:solidFill>
              <a:latin typeface="Calibri"/>
              <a:ea typeface="Calibri"/>
              <a:cs typeface="Calibri"/>
              <a:sym typeface="Calibri"/>
            </a:endParaRPr>
          </a:p>
        </p:txBody>
      </p:sp>
      <p:sp>
        <p:nvSpPr>
          <p:cNvPr id="2522" name="Google Shape;2522;p100"/>
          <p:cNvSpPr txBox="1"/>
          <p:nvPr>
            <p:ph idx="12" type="sldNum"/>
          </p:nvPr>
        </p:nvSpPr>
        <p:spPr>
          <a:xfrm>
            <a:off x="8347216" y="4750189"/>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523" name="Google Shape;2523;p100"/>
          <p:cNvSpPr/>
          <p:nvPr/>
        </p:nvSpPr>
        <p:spPr>
          <a:xfrm>
            <a:off x="411502" y="260604"/>
            <a:ext cx="68583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SPECIAL MISSION</a:t>
            </a:r>
            <a:endParaRPr sz="800">
              <a:solidFill>
                <a:schemeClr val="dk1"/>
              </a:solidFill>
              <a:latin typeface="Calibri"/>
              <a:ea typeface="Calibri"/>
              <a:cs typeface="Calibri"/>
              <a:sym typeface="Calibri"/>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2528" name="Shape 2528"/>
        <p:cNvGrpSpPr/>
        <p:nvPr/>
      </p:nvGrpSpPr>
      <p:grpSpPr>
        <a:xfrm>
          <a:off x="0" y="0"/>
          <a:ext cx="0" cy="0"/>
          <a:chOff x="0" y="0"/>
          <a:chExt cx="0" cy="0"/>
        </a:xfrm>
      </p:grpSpPr>
      <p:sp>
        <p:nvSpPr>
          <p:cNvPr id="2529" name="Google Shape;2529;p101"/>
          <p:cNvSpPr/>
          <p:nvPr/>
        </p:nvSpPr>
        <p:spPr>
          <a:xfrm>
            <a:off x="7765727" y="308610"/>
            <a:ext cx="967030" cy="274320"/>
          </a:xfrm>
          <a:prstGeom prst="roundRect">
            <a:avLst>
              <a:gd fmla="val 50000" name="adj"/>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530" name="Google Shape;2530;p101"/>
          <p:cNvSpPr/>
          <p:nvPr/>
        </p:nvSpPr>
        <p:spPr>
          <a:xfrm>
            <a:off x="7765727" y="308610"/>
            <a:ext cx="96703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Arial"/>
              <a:buNone/>
            </a:pPr>
            <a:r>
              <a:rPr b="1" lang="en-GB" sz="900">
                <a:solidFill>
                  <a:srgbClr val="FFFFFF"/>
                </a:solidFill>
                <a:latin typeface="Arial"/>
                <a:ea typeface="Arial"/>
                <a:cs typeface="Arial"/>
                <a:sym typeface="Arial"/>
              </a:rPr>
              <a:t>🚚 DRIVER</a:t>
            </a:r>
            <a:endParaRPr sz="900">
              <a:solidFill>
                <a:schemeClr val="dk1"/>
              </a:solidFill>
              <a:latin typeface="Calibri"/>
              <a:ea typeface="Calibri"/>
              <a:cs typeface="Calibri"/>
              <a:sym typeface="Calibri"/>
            </a:endParaRPr>
          </a:p>
        </p:txBody>
      </p:sp>
      <p:sp>
        <p:nvSpPr>
          <p:cNvPr id="2531" name="Google Shape;2531;p101"/>
          <p:cNvSpPr txBox="1"/>
          <p:nvPr>
            <p:ph idx="12" type="sldNum"/>
          </p:nvPr>
        </p:nvSpPr>
        <p:spPr>
          <a:xfrm>
            <a:off x="8347216" y="4750189"/>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532" name="Google Shape;2532;p101"/>
          <p:cNvSpPr/>
          <p:nvPr/>
        </p:nvSpPr>
        <p:spPr>
          <a:xfrm>
            <a:off x="411550" y="1190103"/>
            <a:ext cx="2704800" cy="3288900"/>
          </a:xfrm>
          <a:prstGeom prst="roundRect">
            <a:avLst>
              <a:gd fmla="val 6052" name="adj"/>
            </a:avLst>
          </a:prstGeom>
          <a:solidFill>
            <a:srgbClr val="E3E8EF"/>
          </a:solidFill>
          <a:ln cap="flat" cmpd="sng" w="9525">
            <a:solidFill>
              <a:srgbClr val="E3E8EF"/>
            </a:solidFill>
            <a:prstDash val="solid"/>
            <a:round/>
            <a:headEnd len="sm" w="sm" type="none"/>
            <a:tailEnd len="sm" w="sm" type="none"/>
          </a:ln>
        </p:spPr>
        <p:txBody>
          <a:bodyPr anchorCtr="0" anchor="t" bIns="34275" lIns="68575" spcFirstLastPara="1" rIns="287850" wrap="square" tIns="34275">
            <a:noAutofit/>
          </a:bodyPr>
          <a:lstStyle/>
          <a:p>
            <a:pPr indent="0" lvl="0" marL="180000" rtl="0" algn="l">
              <a:spcBef>
                <a:spcPts val="0"/>
              </a:spcBef>
              <a:spcAft>
                <a:spcPts val="0"/>
              </a:spcAft>
              <a:buNone/>
            </a:pPr>
            <a:r>
              <a:t/>
            </a:r>
            <a:endParaRPr b="1" sz="1200">
              <a:solidFill>
                <a:schemeClr val="accent1"/>
              </a:solidFill>
            </a:endParaRPr>
          </a:p>
          <a:p>
            <a:pPr indent="0" lvl="0" marL="180000" rtl="0" algn="l">
              <a:spcBef>
                <a:spcPts val="0"/>
              </a:spcBef>
              <a:spcAft>
                <a:spcPts val="0"/>
              </a:spcAft>
              <a:buNone/>
            </a:pPr>
            <a:r>
              <a:rPr b="1" lang="en-GB">
                <a:solidFill>
                  <a:srgbClr val="76889B"/>
                </a:solidFill>
              </a:rPr>
              <a:t>Scenario</a:t>
            </a:r>
            <a:endParaRPr b="1">
              <a:solidFill>
                <a:srgbClr val="5B6B7D"/>
              </a:solidFill>
            </a:endParaRPr>
          </a:p>
          <a:p>
            <a:pPr indent="0" lvl="0" marL="180000" rtl="0" algn="l">
              <a:spcBef>
                <a:spcPts val="0"/>
              </a:spcBef>
              <a:spcAft>
                <a:spcPts val="0"/>
              </a:spcAft>
              <a:buNone/>
            </a:pPr>
            <a:r>
              <a:t/>
            </a:r>
            <a:endParaRPr b="1" sz="1200">
              <a:solidFill>
                <a:schemeClr val="accent1"/>
              </a:solidFill>
            </a:endParaRPr>
          </a:p>
          <a:p>
            <a:pPr indent="0" lvl="0" marL="180000" marR="4652" rtl="0" algn="l">
              <a:lnSpc>
                <a:spcPct val="115000"/>
              </a:lnSpc>
              <a:spcBef>
                <a:spcPts val="0"/>
              </a:spcBef>
              <a:spcAft>
                <a:spcPts val="0"/>
              </a:spcAft>
              <a:buNone/>
            </a:pPr>
            <a:r>
              <a:rPr i="1" lang="en-GB" sz="1600">
                <a:solidFill>
                  <a:srgbClr val="1C2B3E"/>
                </a:solidFill>
              </a:rPr>
              <a:t>“Driver is on route. One stop succeeds with COD; one fails and must be rescheduled.”</a:t>
            </a:r>
            <a:endParaRPr i="1" sz="1600">
              <a:solidFill>
                <a:srgbClr val="1C2B3E"/>
              </a:solidFill>
            </a:endParaRPr>
          </a:p>
          <a:p>
            <a:pPr indent="0" lvl="0" marL="0" marR="4652" rtl="0" algn="l">
              <a:lnSpc>
                <a:spcPct val="115000"/>
              </a:lnSpc>
              <a:spcBef>
                <a:spcPts val="0"/>
              </a:spcBef>
              <a:spcAft>
                <a:spcPts val="0"/>
              </a:spcAft>
              <a:buNone/>
            </a:pPr>
            <a:r>
              <a:t/>
            </a:r>
            <a:endParaRPr i="1" sz="1600">
              <a:solidFill>
                <a:srgbClr val="1C2B3E"/>
              </a:solidFill>
            </a:endParaRPr>
          </a:p>
          <a:p>
            <a:pPr indent="0" lvl="0" marL="0" marR="4652" rtl="0" algn="l">
              <a:lnSpc>
                <a:spcPct val="115000"/>
              </a:lnSpc>
              <a:spcBef>
                <a:spcPts val="0"/>
              </a:spcBef>
              <a:spcAft>
                <a:spcPts val="0"/>
              </a:spcAft>
              <a:buNone/>
            </a:pPr>
            <a:r>
              <a:t/>
            </a:r>
            <a:endParaRPr i="1" sz="1600">
              <a:solidFill>
                <a:srgbClr val="1C2B3E"/>
              </a:solidFill>
            </a:endParaRPr>
          </a:p>
          <a:p>
            <a:pPr indent="0" lvl="0" marL="180000" marR="4652" rtl="0" algn="l">
              <a:lnSpc>
                <a:spcPct val="115000"/>
              </a:lnSpc>
              <a:spcBef>
                <a:spcPts val="0"/>
              </a:spcBef>
              <a:spcAft>
                <a:spcPts val="0"/>
              </a:spcAft>
              <a:buNone/>
            </a:pPr>
            <a:r>
              <a:t/>
            </a:r>
            <a:endParaRPr i="1" sz="1600">
              <a:solidFill>
                <a:srgbClr val="1C2B3E"/>
              </a:solidFill>
            </a:endParaRPr>
          </a:p>
          <a:p>
            <a:pPr indent="0" lvl="0" marL="180000" marR="4652" rtl="0" algn="l">
              <a:lnSpc>
                <a:spcPct val="115000"/>
              </a:lnSpc>
              <a:spcBef>
                <a:spcPts val="0"/>
              </a:spcBef>
              <a:spcAft>
                <a:spcPts val="0"/>
              </a:spcAft>
              <a:buNone/>
            </a:pPr>
            <a:r>
              <a:t/>
            </a:r>
            <a:endParaRPr i="1" sz="1600">
              <a:solidFill>
                <a:srgbClr val="1C2B3E"/>
              </a:solidFill>
            </a:endParaRPr>
          </a:p>
          <a:p>
            <a:pPr indent="0" lvl="0" marL="0" marR="4652" rtl="0" algn="l">
              <a:lnSpc>
                <a:spcPct val="115000"/>
              </a:lnSpc>
              <a:spcBef>
                <a:spcPts val="0"/>
              </a:spcBef>
              <a:spcAft>
                <a:spcPts val="0"/>
              </a:spcAft>
              <a:buNone/>
            </a:pPr>
            <a:r>
              <a:t/>
            </a:r>
            <a:endParaRPr i="1" sz="1600">
              <a:solidFill>
                <a:srgbClr val="1C2B3E"/>
              </a:solidFill>
            </a:endParaRPr>
          </a:p>
        </p:txBody>
      </p:sp>
      <p:sp>
        <p:nvSpPr>
          <p:cNvPr id="2533" name="Google Shape;2533;p101"/>
          <p:cNvSpPr/>
          <p:nvPr/>
        </p:nvSpPr>
        <p:spPr>
          <a:xfrm>
            <a:off x="3219650" y="1190100"/>
            <a:ext cx="3705600" cy="3288900"/>
          </a:xfrm>
          <a:prstGeom prst="roundRect">
            <a:avLst>
              <a:gd fmla="val 6052" name="adj"/>
            </a:avLst>
          </a:prstGeom>
          <a:solidFill>
            <a:srgbClr val="FBEBD9"/>
          </a:solidFill>
          <a:ln cap="flat" cmpd="sng" w="9525">
            <a:solidFill>
              <a:schemeClr val="accent2"/>
            </a:solidFill>
            <a:prstDash val="solid"/>
            <a:round/>
            <a:headEnd len="sm" w="sm" type="none"/>
            <a:tailEnd len="sm" w="sm" type="none"/>
          </a:ln>
        </p:spPr>
        <p:txBody>
          <a:bodyPr anchorCtr="0" anchor="t" bIns="34275" lIns="68575" spcFirstLastPara="1" rIns="68575" wrap="square" tIns="34275">
            <a:noAutofit/>
          </a:bodyPr>
          <a:lstStyle/>
          <a:p>
            <a:pPr indent="0" lvl="0" marL="180000" marR="118292" rtl="0" algn="l">
              <a:spcBef>
                <a:spcPts val="0"/>
              </a:spcBef>
              <a:spcAft>
                <a:spcPts val="0"/>
              </a:spcAft>
              <a:buNone/>
            </a:pPr>
            <a:r>
              <a:t/>
            </a:r>
            <a:endParaRPr b="1" sz="1200">
              <a:solidFill>
                <a:schemeClr val="accent1"/>
              </a:solidFill>
            </a:endParaRPr>
          </a:p>
          <a:p>
            <a:pPr indent="0" lvl="0" marL="180000" marR="118292" rtl="0" algn="l">
              <a:lnSpc>
                <a:spcPct val="115000"/>
              </a:lnSpc>
              <a:spcBef>
                <a:spcPts val="0"/>
              </a:spcBef>
              <a:spcAft>
                <a:spcPts val="0"/>
              </a:spcAft>
              <a:buNone/>
            </a:pPr>
            <a:r>
              <a:rPr lang="en-GB" sz="1200">
                <a:solidFill>
                  <a:schemeClr val="dk2"/>
                </a:solidFill>
              </a:rPr>
              <a:t>Arrives as</a:t>
            </a:r>
            <a:endParaRPr sz="1200">
              <a:solidFill>
                <a:schemeClr val="dk2"/>
              </a:solidFill>
            </a:endParaRPr>
          </a:p>
          <a:p>
            <a:pPr indent="0" lvl="0" marL="180000" marR="118292" rtl="0" algn="l">
              <a:lnSpc>
                <a:spcPct val="115000"/>
              </a:lnSpc>
              <a:spcBef>
                <a:spcPts val="0"/>
              </a:spcBef>
              <a:spcAft>
                <a:spcPts val="0"/>
              </a:spcAft>
              <a:buNone/>
            </a:pPr>
            <a:r>
              <a:rPr b="1" lang="en-GB" sz="1600">
                <a:solidFill>
                  <a:schemeClr val="accent1"/>
                </a:solidFill>
              </a:rPr>
              <a:t>Delivery trip, two stops</a:t>
            </a:r>
            <a:endParaRPr b="1" sz="1600">
              <a:solidFill>
                <a:schemeClr val="accent1"/>
              </a:solidFill>
            </a:endParaRPr>
          </a:p>
          <a:p>
            <a:pPr indent="0" lvl="0" marL="180000" marR="118292" rtl="0" algn="l">
              <a:lnSpc>
                <a:spcPct val="115000"/>
              </a:lnSpc>
              <a:spcBef>
                <a:spcPts val="0"/>
              </a:spcBef>
              <a:spcAft>
                <a:spcPts val="0"/>
              </a:spcAft>
              <a:buNone/>
            </a:pPr>
            <a:r>
              <a:t/>
            </a:r>
            <a:endParaRPr b="1" sz="1200">
              <a:solidFill>
                <a:schemeClr val="dk2"/>
              </a:solidFill>
            </a:endParaRPr>
          </a:p>
          <a:p>
            <a:pPr indent="-317500" lvl="0" marL="630000" marR="121087" rtl="0" algn="l">
              <a:lnSpc>
                <a:spcPct val="115000"/>
              </a:lnSpc>
              <a:spcBef>
                <a:spcPts val="0"/>
              </a:spcBef>
              <a:spcAft>
                <a:spcPts val="0"/>
              </a:spcAft>
              <a:buClr>
                <a:schemeClr val="dk2"/>
              </a:buClr>
              <a:buSzPts val="1400"/>
              <a:buChar char="●"/>
            </a:pPr>
            <a:r>
              <a:rPr lang="en-GB">
                <a:solidFill>
                  <a:schemeClr val="dk2"/>
                </a:solidFill>
              </a:rPr>
              <a:t>Encik Rahman — COD stop</a:t>
            </a:r>
            <a:endParaRPr>
              <a:solidFill>
                <a:schemeClr val="dk2"/>
              </a:solidFill>
            </a:endParaRPr>
          </a:p>
          <a:p>
            <a:pPr indent="-317500" lvl="0" marL="630000" marR="121087" rtl="0" algn="l">
              <a:lnSpc>
                <a:spcPct val="115000"/>
              </a:lnSpc>
              <a:spcBef>
                <a:spcPts val="1000"/>
              </a:spcBef>
              <a:spcAft>
                <a:spcPts val="0"/>
              </a:spcAft>
              <a:buClr>
                <a:schemeClr val="dk2"/>
              </a:buClr>
              <a:buSzPts val="1400"/>
              <a:buChar char="●"/>
            </a:pPr>
            <a:r>
              <a:rPr lang="en-GB">
                <a:solidFill>
                  <a:schemeClr val="dk2"/>
                </a:solidFill>
              </a:rPr>
              <a:t>Bintang Mart — outstation stop</a:t>
            </a:r>
            <a:endParaRPr>
              <a:solidFill>
                <a:schemeClr val="dk2"/>
              </a:solidFill>
            </a:endParaRPr>
          </a:p>
          <a:p>
            <a:pPr indent="-317500" lvl="0" marL="630000" marR="121087" rtl="0" algn="l">
              <a:lnSpc>
                <a:spcPct val="115000"/>
              </a:lnSpc>
              <a:spcBef>
                <a:spcPts val="1000"/>
              </a:spcBef>
              <a:spcAft>
                <a:spcPts val="0"/>
              </a:spcAft>
              <a:buClr>
                <a:schemeClr val="dk2"/>
              </a:buClr>
              <a:buSzPts val="1400"/>
              <a:buChar char="●"/>
            </a:pPr>
            <a:r>
              <a:rPr lang="en-GB">
                <a:solidFill>
                  <a:schemeClr val="dk2"/>
                </a:solidFill>
              </a:rPr>
              <a:t>One stop will fail</a:t>
            </a:r>
            <a:endParaRPr i="1">
              <a:solidFill>
                <a:schemeClr val="dk2"/>
              </a:solidFill>
            </a:endParaRPr>
          </a:p>
          <a:p>
            <a:pPr indent="0" lvl="0" marL="0" marR="118292" rtl="0" algn="l">
              <a:lnSpc>
                <a:spcPct val="115000"/>
              </a:lnSpc>
              <a:spcBef>
                <a:spcPts val="1000"/>
              </a:spcBef>
              <a:spcAft>
                <a:spcPts val="0"/>
              </a:spcAft>
              <a:buNone/>
            </a:pPr>
            <a:r>
              <a:t/>
            </a:r>
            <a:endParaRPr sz="1200">
              <a:solidFill>
                <a:schemeClr val="dk2"/>
              </a:solidFill>
            </a:endParaRPr>
          </a:p>
          <a:p>
            <a:pPr indent="0" lvl="0" marL="0" marR="118292" rtl="0" algn="l">
              <a:lnSpc>
                <a:spcPct val="115000"/>
              </a:lnSpc>
              <a:spcBef>
                <a:spcPts val="0"/>
              </a:spcBef>
              <a:spcAft>
                <a:spcPts val="0"/>
              </a:spcAft>
              <a:buNone/>
            </a:pPr>
            <a:r>
              <a:t/>
            </a:r>
            <a:endParaRPr i="1">
              <a:solidFill>
                <a:schemeClr val="dk2"/>
              </a:solidFill>
            </a:endParaRPr>
          </a:p>
        </p:txBody>
      </p:sp>
      <p:sp>
        <p:nvSpPr>
          <p:cNvPr id="2534" name="Google Shape;2534;p101"/>
          <p:cNvSpPr/>
          <p:nvPr/>
        </p:nvSpPr>
        <p:spPr>
          <a:xfrm>
            <a:off x="7028550" y="1190100"/>
            <a:ext cx="1704300" cy="3288900"/>
          </a:xfrm>
          <a:prstGeom prst="roundRect">
            <a:avLst>
              <a:gd fmla="val 6052" name="adj"/>
            </a:avLst>
          </a:prstGeom>
          <a:solidFill>
            <a:srgbClr val="E3F5EC"/>
          </a:solidFill>
          <a:ln>
            <a:noFill/>
          </a:ln>
        </p:spPr>
        <p:txBody>
          <a:bodyPr anchorCtr="0" anchor="t" bIns="34275" lIns="68575" spcFirstLastPara="1" rIns="68575" wrap="square" tIns="34275">
            <a:noAutofit/>
          </a:bodyPr>
          <a:lstStyle/>
          <a:p>
            <a:pPr indent="0" lvl="0" marL="180000" rtl="0" algn="l">
              <a:spcBef>
                <a:spcPts val="0"/>
              </a:spcBef>
              <a:spcAft>
                <a:spcPts val="0"/>
              </a:spcAft>
              <a:buNone/>
            </a:pPr>
            <a:r>
              <a:t/>
            </a:r>
            <a:endParaRPr b="1" sz="1200">
              <a:solidFill>
                <a:schemeClr val="accent1"/>
              </a:solidFill>
            </a:endParaRPr>
          </a:p>
          <a:p>
            <a:pPr indent="0" lvl="0" marL="180000" rtl="0" algn="l">
              <a:spcBef>
                <a:spcPts val="0"/>
              </a:spcBef>
              <a:spcAft>
                <a:spcPts val="0"/>
              </a:spcAft>
              <a:buNone/>
            </a:pPr>
            <a:r>
              <a:rPr b="1" lang="en-GB">
                <a:solidFill>
                  <a:srgbClr val="1A9D5C"/>
                </a:solidFill>
              </a:rPr>
              <a:t>Record on board</a:t>
            </a:r>
            <a:endParaRPr b="1">
              <a:solidFill>
                <a:srgbClr val="1A9D5C"/>
              </a:solidFill>
            </a:endParaRPr>
          </a:p>
          <a:p>
            <a:pPr indent="0" lvl="0" marL="180000" rtl="0" algn="l">
              <a:spcBef>
                <a:spcPts val="0"/>
              </a:spcBef>
              <a:spcAft>
                <a:spcPts val="0"/>
              </a:spcAft>
              <a:buNone/>
            </a:pPr>
            <a:r>
              <a:t/>
            </a:r>
            <a:endParaRPr b="1" sz="1200">
              <a:solidFill>
                <a:schemeClr val="accent1"/>
              </a:solidFill>
            </a:endParaRPr>
          </a:p>
          <a:p>
            <a:pPr indent="0" lvl="0" marL="180000" rtl="0" algn="l">
              <a:lnSpc>
                <a:spcPct val="115000"/>
              </a:lnSpc>
              <a:spcBef>
                <a:spcPts val="0"/>
              </a:spcBef>
              <a:spcAft>
                <a:spcPts val="0"/>
              </a:spcAft>
              <a:buNone/>
            </a:pPr>
            <a:r>
              <a:t/>
            </a:r>
            <a:endParaRPr sz="1600">
              <a:solidFill>
                <a:schemeClr val="dk1"/>
              </a:solidFill>
            </a:endParaRPr>
          </a:p>
        </p:txBody>
      </p:sp>
      <p:sp>
        <p:nvSpPr>
          <p:cNvPr id="2535" name="Google Shape;2535;p101"/>
          <p:cNvSpPr/>
          <p:nvPr/>
        </p:nvSpPr>
        <p:spPr>
          <a:xfrm>
            <a:off x="7344150" y="2201903"/>
            <a:ext cx="1073100" cy="342900"/>
          </a:xfrm>
          <a:prstGeom prst="roundRect">
            <a:avLst>
              <a:gd fmla="val 50000" name="adj"/>
            </a:avLst>
          </a:prstGeom>
          <a:solidFill>
            <a:srgbClr val="1A9D5C"/>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b="1" lang="en-GB">
                <a:solidFill>
                  <a:schemeClr val="lt1"/>
                </a:solidFill>
              </a:rPr>
              <a:t>Trip</a:t>
            </a:r>
            <a:r>
              <a:rPr b="1" lang="en-GB">
                <a:solidFill>
                  <a:schemeClr val="lt1"/>
                </a:solidFill>
              </a:rPr>
              <a:t> ID</a:t>
            </a:r>
            <a:endParaRPr b="1">
              <a:solidFill>
                <a:schemeClr val="lt1"/>
              </a:solidFill>
            </a:endParaRPr>
          </a:p>
        </p:txBody>
      </p:sp>
      <p:sp>
        <p:nvSpPr>
          <p:cNvPr id="2536" name="Google Shape;2536;p101"/>
          <p:cNvSpPr/>
          <p:nvPr/>
        </p:nvSpPr>
        <p:spPr>
          <a:xfrm>
            <a:off x="7344150" y="2595439"/>
            <a:ext cx="1073100" cy="342900"/>
          </a:xfrm>
          <a:prstGeom prst="roundRect">
            <a:avLst>
              <a:gd fmla="val 50000" name="adj"/>
            </a:avLst>
          </a:prstGeom>
          <a:solidFill>
            <a:srgbClr val="1A9D5C"/>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b="1" lang="en-GB">
                <a:solidFill>
                  <a:schemeClr val="lt1"/>
                </a:solidFill>
              </a:rPr>
              <a:t>POD</a:t>
            </a:r>
            <a:endParaRPr b="1">
              <a:solidFill>
                <a:schemeClr val="lt1"/>
              </a:solidFill>
            </a:endParaRPr>
          </a:p>
        </p:txBody>
      </p:sp>
      <p:sp>
        <p:nvSpPr>
          <p:cNvPr id="2537" name="Google Shape;2537;p101"/>
          <p:cNvSpPr/>
          <p:nvPr/>
        </p:nvSpPr>
        <p:spPr>
          <a:xfrm>
            <a:off x="7344150" y="3370001"/>
            <a:ext cx="1073100" cy="342900"/>
          </a:xfrm>
          <a:prstGeom prst="roundRect">
            <a:avLst>
              <a:gd fmla="val 14676" name="adj"/>
            </a:avLst>
          </a:prstGeom>
          <a:solidFill>
            <a:srgbClr val="1A9D5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900">
                <a:solidFill>
                  <a:schemeClr val="lt1"/>
                </a:solidFill>
              </a:rPr>
              <a:t>COD proof?</a:t>
            </a:r>
            <a:endParaRPr b="1" sz="900">
              <a:solidFill>
                <a:schemeClr val="lt1"/>
              </a:solidFill>
            </a:endParaRPr>
          </a:p>
        </p:txBody>
      </p:sp>
      <p:sp>
        <p:nvSpPr>
          <p:cNvPr id="2538" name="Google Shape;2538;p101"/>
          <p:cNvSpPr/>
          <p:nvPr/>
        </p:nvSpPr>
        <p:spPr>
          <a:xfrm>
            <a:off x="411502" y="438912"/>
            <a:ext cx="8321400" cy="480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2200">
                <a:solidFill>
                  <a:srgbClr val="1C2B3E"/>
                </a:solidFill>
                <a:latin typeface="Poppins"/>
                <a:ea typeface="Poppins"/>
                <a:cs typeface="Poppins"/>
                <a:sym typeface="Poppins"/>
              </a:rPr>
              <a:t>Driver App — Failed Stop + COD Proof</a:t>
            </a:r>
            <a:endParaRPr b="1" sz="2200">
              <a:solidFill>
                <a:srgbClr val="1C2B3E"/>
              </a:solidFill>
              <a:latin typeface="Poppins"/>
              <a:ea typeface="Poppins"/>
              <a:cs typeface="Poppins"/>
              <a:sym typeface="Poppins"/>
            </a:endParaRPr>
          </a:p>
        </p:txBody>
      </p:sp>
      <p:sp>
        <p:nvSpPr>
          <p:cNvPr id="2539" name="Google Shape;2539;p101"/>
          <p:cNvSpPr/>
          <p:nvPr/>
        </p:nvSpPr>
        <p:spPr>
          <a:xfrm>
            <a:off x="7344150" y="3763551"/>
            <a:ext cx="1073100" cy="342900"/>
          </a:xfrm>
          <a:prstGeom prst="roundRect">
            <a:avLst>
              <a:gd fmla="val 14676" name="adj"/>
            </a:avLst>
          </a:prstGeom>
          <a:solidFill>
            <a:srgbClr val="1A9D5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900">
                <a:solidFill>
                  <a:schemeClr val="lt1"/>
                </a:solidFill>
              </a:rPr>
              <a:t>Rescheduled?</a:t>
            </a:r>
            <a:endParaRPr b="1" sz="900">
              <a:solidFill>
                <a:schemeClr val="lt1"/>
              </a:solidFill>
            </a:endParaRPr>
          </a:p>
        </p:txBody>
      </p:sp>
      <p:sp>
        <p:nvSpPr>
          <p:cNvPr id="2540" name="Google Shape;2540;p101"/>
          <p:cNvSpPr/>
          <p:nvPr/>
        </p:nvSpPr>
        <p:spPr>
          <a:xfrm>
            <a:off x="411502" y="260604"/>
            <a:ext cx="68583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SPECIAL MISSION</a:t>
            </a:r>
            <a:endParaRPr sz="800">
              <a:solidFill>
                <a:schemeClr val="dk1"/>
              </a:solidFill>
              <a:latin typeface="Calibri"/>
              <a:ea typeface="Calibri"/>
              <a:cs typeface="Calibri"/>
              <a:sym typeface="Calibri"/>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2545" name="Shape 2545"/>
        <p:cNvGrpSpPr/>
        <p:nvPr/>
      </p:nvGrpSpPr>
      <p:grpSpPr>
        <a:xfrm>
          <a:off x="0" y="0"/>
          <a:ext cx="0" cy="0"/>
          <a:chOff x="0" y="0"/>
          <a:chExt cx="0" cy="0"/>
        </a:xfrm>
      </p:grpSpPr>
      <p:sp>
        <p:nvSpPr>
          <p:cNvPr id="2546" name="Google Shape;2546;p102"/>
          <p:cNvSpPr/>
          <p:nvPr/>
        </p:nvSpPr>
        <p:spPr>
          <a:xfrm>
            <a:off x="411502" y="438912"/>
            <a:ext cx="8321400" cy="480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C2B3E"/>
              </a:buClr>
              <a:buSzPts val="2200"/>
              <a:buFont typeface="Arial"/>
              <a:buNone/>
            </a:pPr>
            <a:r>
              <a:rPr b="1" lang="en-GB" sz="2200">
                <a:solidFill>
                  <a:srgbClr val="1C2B3E"/>
                </a:solidFill>
                <a:latin typeface="Poppins"/>
                <a:ea typeface="Poppins"/>
                <a:cs typeface="Poppins"/>
                <a:sym typeface="Poppins"/>
              </a:rPr>
              <a:t>Driver App — Failed Stop + COD Proof</a:t>
            </a:r>
            <a:endParaRPr sz="2200">
              <a:solidFill>
                <a:schemeClr val="dk1"/>
              </a:solidFill>
              <a:latin typeface="Poppins"/>
              <a:ea typeface="Poppins"/>
              <a:cs typeface="Poppins"/>
              <a:sym typeface="Poppins"/>
            </a:endParaRPr>
          </a:p>
        </p:txBody>
      </p:sp>
      <p:sp>
        <p:nvSpPr>
          <p:cNvPr id="2547" name="Google Shape;2547;p102"/>
          <p:cNvSpPr/>
          <p:nvPr/>
        </p:nvSpPr>
        <p:spPr>
          <a:xfrm>
            <a:off x="7765727" y="308610"/>
            <a:ext cx="966900" cy="274200"/>
          </a:xfrm>
          <a:prstGeom prst="roundRect">
            <a:avLst>
              <a:gd fmla="val 50000" name="adj"/>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548" name="Google Shape;2548;p102"/>
          <p:cNvSpPr/>
          <p:nvPr/>
        </p:nvSpPr>
        <p:spPr>
          <a:xfrm>
            <a:off x="7765727" y="308610"/>
            <a:ext cx="9669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Arial"/>
              <a:buNone/>
            </a:pPr>
            <a:r>
              <a:rPr b="1" lang="en-GB" sz="900">
                <a:solidFill>
                  <a:srgbClr val="FFFFFF"/>
                </a:solidFill>
                <a:latin typeface="Arial"/>
                <a:ea typeface="Arial"/>
                <a:cs typeface="Arial"/>
                <a:sym typeface="Arial"/>
              </a:rPr>
              <a:t>🚚 DRIVER</a:t>
            </a:r>
            <a:endParaRPr sz="900">
              <a:solidFill>
                <a:schemeClr val="dk1"/>
              </a:solidFill>
              <a:latin typeface="Calibri"/>
              <a:ea typeface="Calibri"/>
              <a:cs typeface="Calibri"/>
              <a:sym typeface="Calibri"/>
            </a:endParaRPr>
          </a:p>
        </p:txBody>
      </p:sp>
      <p:sp>
        <p:nvSpPr>
          <p:cNvPr id="2549" name="Google Shape;2549;p102"/>
          <p:cNvSpPr/>
          <p:nvPr/>
        </p:nvSpPr>
        <p:spPr>
          <a:xfrm>
            <a:off x="411502" y="1337310"/>
            <a:ext cx="4040700" cy="3463200"/>
          </a:xfrm>
          <a:prstGeom prst="roundRect">
            <a:avLst>
              <a:gd fmla="val 2376" name="adj"/>
            </a:avLst>
          </a:prstGeom>
          <a:solidFill>
            <a:srgbClr val="F5F7FA"/>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550" name="Google Shape;2550;p102"/>
          <p:cNvSpPr/>
          <p:nvPr/>
        </p:nvSpPr>
        <p:spPr>
          <a:xfrm>
            <a:off x="548669" y="1447038"/>
            <a:ext cx="1508700" cy="233100"/>
          </a:xfrm>
          <a:prstGeom prst="roundRect">
            <a:avLst>
              <a:gd fmla="val 50000"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551" name="Google Shape;2551;p102"/>
          <p:cNvSpPr/>
          <p:nvPr/>
        </p:nvSpPr>
        <p:spPr>
          <a:xfrm>
            <a:off x="548669" y="1447038"/>
            <a:ext cx="1508700" cy="233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FRONT · TEAM SEES</a:t>
            </a:r>
            <a:endParaRPr sz="800">
              <a:solidFill>
                <a:schemeClr val="dk1"/>
              </a:solidFill>
              <a:latin typeface="Calibri"/>
              <a:ea typeface="Calibri"/>
              <a:cs typeface="Calibri"/>
              <a:sym typeface="Calibri"/>
            </a:endParaRPr>
          </a:p>
        </p:txBody>
      </p:sp>
      <p:sp>
        <p:nvSpPr>
          <p:cNvPr id="2552" name="Google Shape;2552;p102"/>
          <p:cNvSpPr/>
          <p:nvPr/>
        </p:nvSpPr>
        <p:spPr>
          <a:xfrm>
            <a:off x="548669" y="1789938"/>
            <a:ext cx="3766200" cy="788700"/>
          </a:xfrm>
          <a:prstGeom prst="roundRect">
            <a:avLst>
              <a:gd fmla="val 6957" name="adj"/>
            </a:avLst>
          </a:prstGeom>
          <a:solidFill>
            <a:srgbClr val="FFFFFF"/>
          </a:solidFill>
          <a:ln cap="flat" cmpd="sng" w="12700">
            <a:solidFill>
              <a:srgbClr val="E3E8EF"/>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553" name="Google Shape;2553;p102"/>
          <p:cNvSpPr/>
          <p:nvPr/>
        </p:nvSpPr>
        <p:spPr>
          <a:xfrm>
            <a:off x="658403" y="1858518"/>
            <a:ext cx="3546900" cy="6516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C2B3E"/>
              </a:buClr>
              <a:buSzPts val="900"/>
              <a:buFont typeface="Arial"/>
              <a:buNone/>
            </a:pPr>
            <a:r>
              <a:rPr i="1" lang="en-GB" sz="900">
                <a:solidFill>
                  <a:srgbClr val="1C2B3E"/>
                </a:solidFill>
                <a:latin typeface="Arial"/>
                <a:ea typeface="Arial"/>
                <a:cs typeface="Arial"/>
                <a:sym typeface="Arial"/>
              </a:rPr>
              <a:t>“Driver is on route. One stop succeeds with COD; one fails and must be rescheduled.”</a:t>
            </a:r>
            <a:endParaRPr sz="900">
              <a:solidFill>
                <a:schemeClr val="dk1"/>
              </a:solidFill>
              <a:latin typeface="Calibri"/>
              <a:ea typeface="Calibri"/>
              <a:cs typeface="Calibri"/>
              <a:sym typeface="Calibri"/>
            </a:endParaRPr>
          </a:p>
        </p:txBody>
      </p:sp>
      <p:sp>
        <p:nvSpPr>
          <p:cNvPr id="2554" name="Google Shape;2554;p102"/>
          <p:cNvSpPr/>
          <p:nvPr/>
        </p:nvSpPr>
        <p:spPr>
          <a:xfrm>
            <a:off x="548669" y="2715768"/>
            <a:ext cx="3766200" cy="178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800"/>
              <a:buFont typeface="Arial"/>
              <a:buNone/>
            </a:pPr>
            <a:r>
              <a:rPr b="1" lang="en-GB" sz="800">
                <a:solidFill>
                  <a:srgbClr val="94A3B8"/>
                </a:solidFill>
                <a:latin typeface="Arial"/>
                <a:ea typeface="Arial"/>
                <a:cs typeface="Arial"/>
                <a:sym typeface="Arial"/>
              </a:rPr>
              <a:t>ARRIVES AS — delivery trip, two stops</a:t>
            </a:r>
            <a:endParaRPr sz="800">
              <a:solidFill>
                <a:schemeClr val="dk1"/>
              </a:solidFill>
              <a:latin typeface="Calibri"/>
              <a:ea typeface="Calibri"/>
              <a:cs typeface="Calibri"/>
              <a:sym typeface="Calibri"/>
            </a:endParaRPr>
          </a:p>
        </p:txBody>
      </p:sp>
      <p:sp>
        <p:nvSpPr>
          <p:cNvPr id="2555" name="Google Shape;2555;p102"/>
          <p:cNvSpPr/>
          <p:nvPr/>
        </p:nvSpPr>
        <p:spPr>
          <a:xfrm>
            <a:off x="548669" y="2935224"/>
            <a:ext cx="3766200" cy="233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B3E"/>
              </a:buClr>
              <a:buSzPts val="900"/>
              <a:buFont typeface="Arial"/>
              <a:buNone/>
            </a:pPr>
            <a:r>
              <a:rPr lang="en-GB" sz="900">
                <a:solidFill>
                  <a:srgbClr val="1C2B3E"/>
                </a:solidFill>
                <a:latin typeface="Arial"/>
                <a:ea typeface="Arial"/>
                <a:cs typeface="Arial"/>
                <a:sym typeface="Arial"/>
              </a:rPr>
              <a:t>•  Encik Rahman — COD stop</a:t>
            </a:r>
            <a:endParaRPr sz="900">
              <a:solidFill>
                <a:schemeClr val="dk1"/>
              </a:solidFill>
              <a:latin typeface="Calibri"/>
              <a:ea typeface="Calibri"/>
              <a:cs typeface="Calibri"/>
              <a:sym typeface="Calibri"/>
            </a:endParaRPr>
          </a:p>
        </p:txBody>
      </p:sp>
      <p:sp>
        <p:nvSpPr>
          <p:cNvPr id="2556" name="Google Shape;2556;p102"/>
          <p:cNvSpPr/>
          <p:nvPr/>
        </p:nvSpPr>
        <p:spPr>
          <a:xfrm>
            <a:off x="548669" y="3168396"/>
            <a:ext cx="3766200" cy="233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B3E"/>
              </a:buClr>
              <a:buSzPts val="900"/>
              <a:buFont typeface="Arial"/>
              <a:buNone/>
            </a:pPr>
            <a:r>
              <a:rPr lang="en-GB" sz="900">
                <a:solidFill>
                  <a:srgbClr val="1C2B3E"/>
                </a:solidFill>
                <a:latin typeface="Arial"/>
                <a:ea typeface="Arial"/>
                <a:cs typeface="Arial"/>
                <a:sym typeface="Arial"/>
              </a:rPr>
              <a:t>•  Bintang Mart — outstation stop</a:t>
            </a:r>
            <a:endParaRPr sz="900">
              <a:solidFill>
                <a:schemeClr val="dk1"/>
              </a:solidFill>
              <a:latin typeface="Calibri"/>
              <a:ea typeface="Calibri"/>
              <a:cs typeface="Calibri"/>
              <a:sym typeface="Calibri"/>
            </a:endParaRPr>
          </a:p>
        </p:txBody>
      </p:sp>
      <p:sp>
        <p:nvSpPr>
          <p:cNvPr id="2557" name="Google Shape;2557;p102"/>
          <p:cNvSpPr/>
          <p:nvPr/>
        </p:nvSpPr>
        <p:spPr>
          <a:xfrm>
            <a:off x="548669" y="3429000"/>
            <a:ext cx="3766200" cy="342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B3E"/>
              </a:buClr>
              <a:buSzPts val="900"/>
              <a:buFont typeface="Arial"/>
              <a:buNone/>
            </a:pPr>
            <a:r>
              <a:rPr i="0" lang="en-GB" sz="900">
                <a:solidFill>
                  <a:srgbClr val="1C2B3E"/>
                </a:solidFill>
                <a:latin typeface="Arial"/>
                <a:ea typeface="Arial"/>
                <a:cs typeface="Arial"/>
                <a:sym typeface="Arial"/>
              </a:rPr>
              <a:t>•  One stop will fail</a:t>
            </a:r>
            <a:endParaRPr sz="900">
              <a:solidFill>
                <a:schemeClr val="dk1"/>
              </a:solidFill>
              <a:latin typeface="Calibri"/>
              <a:ea typeface="Calibri"/>
              <a:cs typeface="Calibri"/>
              <a:sym typeface="Calibri"/>
            </a:endParaRPr>
          </a:p>
        </p:txBody>
      </p:sp>
      <p:sp>
        <p:nvSpPr>
          <p:cNvPr id="2558" name="Google Shape;2558;p102"/>
          <p:cNvSpPr/>
          <p:nvPr/>
        </p:nvSpPr>
        <p:spPr>
          <a:xfrm>
            <a:off x="548669" y="4265676"/>
            <a:ext cx="3766200" cy="178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800"/>
              <a:buFont typeface="Arial"/>
              <a:buNone/>
            </a:pPr>
            <a:r>
              <a:rPr b="1" lang="en-GB" sz="800">
                <a:solidFill>
                  <a:srgbClr val="94A3B8"/>
                </a:solidFill>
                <a:latin typeface="Arial"/>
                <a:ea typeface="Arial"/>
                <a:cs typeface="Arial"/>
                <a:sym typeface="Arial"/>
              </a:rPr>
              <a:t>RECORD ON BOARD</a:t>
            </a:r>
            <a:endParaRPr sz="800">
              <a:solidFill>
                <a:schemeClr val="dk1"/>
              </a:solidFill>
              <a:latin typeface="Calibri"/>
              <a:ea typeface="Calibri"/>
              <a:cs typeface="Calibri"/>
              <a:sym typeface="Calibri"/>
            </a:endParaRPr>
          </a:p>
        </p:txBody>
      </p:sp>
      <p:sp>
        <p:nvSpPr>
          <p:cNvPr id="2559" name="Google Shape;2559;p102"/>
          <p:cNvSpPr/>
          <p:nvPr/>
        </p:nvSpPr>
        <p:spPr>
          <a:xfrm>
            <a:off x="548669" y="4471416"/>
            <a:ext cx="565800" cy="274200"/>
          </a:xfrm>
          <a:prstGeom prst="roundRect">
            <a:avLst>
              <a:gd fmla="val 50000" name="adj"/>
            </a:avLst>
          </a:prstGeom>
          <a:solidFill>
            <a:srgbClr val="FBEBD9"/>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560" name="Google Shape;2560;p102"/>
          <p:cNvSpPr/>
          <p:nvPr/>
        </p:nvSpPr>
        <p:spPr>
          <a:xfrm>
            <a:off x="548669" y="4471416"/>
            <a:ext cx="5658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Trip ID</a:t>
            </a:r>
            <a:endParaRPr sz="800">
              <a:solidFill>
                <a:schemeClr val="dk1"/>
              </a:solidFill>
              <a:latin typeface="Calibri"/>
              <a:ea typeface="Calibri"/>
              <a:cs typeface="Calibri"/>
              <a:sym typeface="Calibri"/>
            </a:endParaRPr>
          </a:p>
        </p:txBody>
      </p:sp>
      <p:sp>
        <p:nvSpPr>
          <p:cNvPr id="2561" name="Google Shape;2561;p102"/>
          <p:cNvSpPr/>
          <p:nvPr/>
        </p:nvSpPr>
        <p:spPr>
          <a:xfrm>
            <a:off x="1217360" y="4471416"/>
            <a:ext cx="565800" cy="274200"/>
          </a:xfrm>
          <a:prstGeom prst="roundRect">
            <a:avLst>
              <a:gd fmla="val 50000" name="adj"/>
            </a:avLst>
          </a:prstGeom>
          <a:solidFill>
            <a:srgbClr val="FBEBD9"/>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562" name="Google Shape;2562;p102"/>
          <p:cNvSpPr/>
          <p:nvPr/>
        </p:nvSpPr>
        <p:spPr>
          <a:xfrm>
            <a:off x="1217360" y="4471416"/>
            <a:ext cx="5658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POD?</a:t>
            </a:r>
            <a:endParaRPr sz="800">
              <a:solidFill>
                <a:schemeClr val="dk1"/>
              </a:solidFill>
              <a:latin typeface="Calibri"/>
              <a:ea typeface="Calibri"/>
              <a:cs typeface="Calibri"/>
              <a:sym typeface="Calibri"/>
            </a:endParaRPr>
          </a:p>
        </p:txBody>
      </p:sp>
      <p:sp>
        <p:nvSpPr>
          <p:cNvPr id="2563" name="Google Shape;2563;p102"/>
          <p:cNvSpPr/>
          <p:nvPr/>
        </p:nvSpPr>
        <p:spPr>
          <a:xfrm>
            <a:off x="4692151" y="1337310"/>
            <a:ext cx="4040700" cy="3463200"/>
          </a:xfrm>
          <a:prstGeom prst="roundRect">
            <a:avLst>
              <a:gd fmla="val 2376"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564" name="Google Shape;2564;p102"/>
          <p:cNvSpPr/>
          <p:nvPr/>
        </p:nvSpPr>
        <p:spPr>
          <a:xfrm>
            <a:off x="4829318" y="1447038"/>
            <a:ext cx="1714500" cy="233100"/>
          </a:xfrm>
          <a:prstGeom prst="roundRect">
            <a:avLst>
              <a:gd fmla="val 50000" name="adj"/>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565" name="Google Shape;2565;p102"/>
          <p:cNvSpPr/>
          <p:nvPr/>
        </p:nvSpPr>
        <p:spPr>
          <a:xfrm>
            <a:off x="4829318" y="1447038"/>
            <a:ext cx="1714500" cy="233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BACK · FACILITATOR QC</a:t>
            </a:r>
            <a:endParaRPr sz="800">
              <a:solidFill>
                <a:schemeClr val="dk1"/>
              </a:solidFill>
              <a:latin typeface="Calibri"/>
              <a:ea typeface="Calibri"/>
              <a:cs typeface="Calibri"/>
              <a:sym typeface="Calibri"/>
            </a:endParaRPr>
          </a:p>
        </p:txBody>
      </p:sp>
      <p:pic>
        <p:nvPicPr>
          <p:cNvPr descr="/home/claude/maia/icons/FiCheck_accent.png" id="2566" name="Google Shape;2566;p102"/>
          <p:cNvPicPr preferRelativeResize="0"/>
          <p:nvPr/>
        </p:nvPicPr>
        <p:blipFill rotWithShape="1">
          <a:blip r:embed="rId3">
            <a:alphaModFix/>
          </a:blip>
          <a:srcRect b="0" l="0" r="0" t="0"/>
          <a:stretch/>
        </p:blipFill>
        <p:spPr>
          <a:xfrm>
            <a:off x="4843035" y="1831086"/>
            <a:ext cx="150876" cy="150876"/>
          </a:xfrm>
          <a:prstGeom prst="rect">
            <a:avLst/>
          </a:prstGeom>
          <a:noFill/>
          <a:ln>
            <a:noFill/>
          </a:ln>
        </p:spPr>
      </p:pic>
      <p:sp>
        <p:nvSpPr>
          <p:cNvPr id="2567" name="Google Shape;2567;p102"/>
          <p:cNvSpPr/>
          <p:nvPr/>
        </p:nvSpPr>
        <p:spPr>
          <a:xfrm>
            <a:off x="5076220" y="1776222"/>
            <a:ext cx="3505800" cy="7293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FFFFFF"/>
              </a:buClr>
              <a:buSzPts val="900"/>
              <a:buFont typeface="Arial"/>
              <a:buNone/>
            </a:pPr>
            <a:r>
              <a:rPr lang="en-GB" sz="900">
                <a:solidFill>
                  <a:srgbClr val="FFFFFF"/>
                </a:solidFill>
                <a:latin typeface="Arial"/>
                <a:ea typeface="Arial"/>
                <a:cs typeface="Arial"/>
                <a:sym typeface="Arial"/>
              </a:rPr>
              <a:t>Driver sees only the assigned trip/stops</a:t>
            </a:r>
            <a:endParaRPr sz="900">
              <a:solidFill>
                <a:schemeClr val="dk1"/>
              </a:solidFill>
              <a:latin typeface="Calibri"/>
              <a:ea typeface="Calibri"/>
              <a:cs typeface="Calibri"/>
              <a:sym typeface="Calibri"/>
            </a:endParaRPr>
          </a:p>
        </p:txBody>
      </p:sp>
      <p:pic>
        <p:nvPicPr>
          <p:cNvPr descr="/home/claude/maia/icons/FiCheck_accent.png" id="2568" name="Google Shape;2568;p102"/>
          <p:cNvPicPr preferRelativeResize="0"/>
          <p:nvPr/>
        </p:nvPicPr>
        <p:blipFill rotWithShape="1">
          <a:blip r:embed="rId3">
            <a:alphaModFix/>
          </a:blip>
          <a:srcRect b="0" l="0" r="0" t="0"/>
          <a:stretch/>
        </p:blipFill>
        <p:spPr>
          <a:xfrm>
            <a:off x="4843035" y="2560320"/>
            <a:ext cx="150876" cy="150876"/>
          </a:xfrm>
          <a:prstGeom prst="rect">
            <a:avLst/>
          </a:prstGeom>
          <a:noFill/>
          <a:ln>
            <a:noFill/>
          </a:ln>
        </p:spPr>
      </p:pic>
      <p:sp>
        <p:nvSpPr>
          <p:cNvPr id="2569" name="Google Shape;2569;p102"/>
          <p:cNvSpPr/>
          <p:nvPr/>
        </p:nvSpPr>
        <p:spPr>
          <a:xfrm>
            <a:off x="5076220" y="2505456"/>
            <a:ext cx="3505800" cy="7293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FFFFFF"/>
              </a:buClr>
              <a:buSzPts val="900"/>
              <a:buFont typeface="Arial"/>
              <a:buNone/>
            </a:pPr>
            <a:r>
              <a:rPr lang="en-GB" sz="900">
                <a:solidFill>
                  <a:srgbClr val="FFFFFF"/>
                </a:solidFill>
                <a:latin typeface="Arial"/>
                <a:ea typeface="Arial"/>
                <a:cs typeface="Arial"/>
                <a:sym typeface="Arial"/>
              </a:rPr>
              <a:t>COD stop requires POD + payment proof where enforcement is on</a:t>
            </a:r>
            <a:endParaRPr sz="900">
              <a:solidFill>
                <a:schemeClr val="dk1"/>
              </a:solidFill>
              <a:latin typeface="Calibri"/>
              <a:ea typeface="Calibri"/>
              <a:cs typeface="Calibri"/>
              <a:sym typeface="Calibri"/>
            </a:endParaRPr>
          </a:p>
        </p:txBody>
      </p:sp>
      <p:pic>
        <p:nvPicPr>
          <p:cNvPr descr="/home/claude/maia/icons/FiCheck_accent.png" id="2570" name="Google Shape;2570;p102"/>
          <p:cNvPicPr preferRelativeResize="0"/>
          <p:nvPr/>
        </p:nvPicPr>
        <p:blipFill rotWithShape="1">
          <a:blip r:embed="rId3">
            <a:alphaModFix/>
          </a:blip>
          <a:srcRect b="0" l="0" r="0" t="0"/>
          <a:stretch/>
        </p:blipFill>
        <p:spPr>
          <a:xfrm>
            <a:off x="4843035" y="3289554"/>
            <a:ext cx="150876" cy="150876"/>
          </a:xfrm>
          <a:prstGeom prst="rect">
            <a:avLst/>
          </a:prstGeom>
          <a:noFill/>
          <a:ln>
            <a:noFill/>
          </a:ln>
        </p:spPr>
      </p:pic>
      <p:sp>
        <p:nvSpPr>
          <p:cNvPr id="2571" name="Google Shape;2571;p102"/>
          <p:cNvSpPr/>
          <p:nvPr/>
        </p:nvSpPr>
        <p:spPr>
          <a:xfrm>
            <a:off x="5076220" y="3234690"/>
            <a:ext cx="3505800" cy="7293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FFFFFF"/>
              </a:buClr>
              <a:buSzPts val="900"/>
              <a:buFont typeface="Arial"/>
              <a:buNone/>
            </a:pPr>
            <a:r>
              <a:rPr lang="en-GB" sz="900">
                <a:solidFill>
                  <a:srgbClr val="FFFFFF"/>
                </a:solidFill>
                <a:latin typeface="Arial"/>
                <a:ea typeface="Arial"/>
                <a:cs typeface="Arial"/>
                <a:sym typeface="Arial"/>
              </a:rPr>
              <a:t>Failed stop captures reason + suggested date; Logistics gets the reschedule task</a:t>
            </a:r>
            <a:endParaRPr sz="900">
              <a:solidFill>
                <a:schemeClr val="dk1"/>
              </a:solidFill>
              <a:latin typeface="Calibri"/>
              <a:ea typeface="Calibri"/>
              <a:cs typeface="Calibri"/>
              <a:sym typeface="Calibri"/>
            </a:endParaRPr>
          </a:p>
        </p:txBody>
      </p:sp>
      <p:sp>
        <p:nvSpPr>
          <p:cNvPr id="2572" name="Google Shape;2572;p102"/>
          <p:cNvSpPr/>
          <p:nvPr/>
        </p:nvSpPr>
        <p:spPr>
          <a:xfrm>
            <a:off x="4829318" y="4114800"/>
            <a:ext cx="3766200" cy="514500"/>
          </a:xfrm>
          <a:prstGeom prst="roundRect">
            <a:avLst>
              <a:gd fmla="val 10667" name="adj"/>
            </a:avLst>
          </a:prstGeom>
          <a:solidFill>
            <a:srgbClr val="32495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573" name="Google Shape;2573;p102"/>
          <p:cNvSpPr/>
          <p:nvPr/>
        </p:nvSpPr>
        <p:spPr>
          <a:xfrm>
            <a:off x="4925336" y="4217670"/>
            <a:ext cx="274200" cy="274200"/>
          </a:xfrm>
          <a:prstGeom prst="roundRect">
            <a:avLst>
              <a:gd fmla="val 22000" name="adj"/>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AlertTriangle_white.png" id="2574" name="Google Shape;2574;p102"/>
          <p:cNvPicPr preferRelativeResize="0"/>
          <p:nvPr/>
        </p:nvPicPr>
        <p:blipFill rotWithShape="1">
          <a:blip r:embed="rId4">
            <a:alphaModFix/>
          </a:blip>
          <a:srcRect b="0" l="0" r="0" t="0"/>
          <a:stretch/>
        </p:blipFill>
        <p:spPr>
          <a:xfrm>
            <a:off x="4993919" y="4286250"/>
            <a:ext cx="137160" cy="137160"/>
          </a:xfrm>
          <a:prstGeom prst="rect">
            <a:avLst/>
          </a:prstGeom>
          <a:noFill/>
          <a:ln>
            <a:noFill/>
          </a:ln>
        </p:spPr>
      </p:pic>
      <p:sp>
        <p:nvSpPr>
          <p:cNvPr id="2575" name="Google Shape;2575;p102"/>
          <p:cNvSpPr/>
          <p:nvPr/>
        </p:nvSpPr>
        <p:spPr>
          <a:xfrm>
            <a:off x="5281971" y="4169664"/>
            <a:ext cx="3300000" cy="4116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FFFFFF"/>
              </a:buClr>
              <a:buSzPts val="900"/>
              <a:buFont typeface="Arial"/>
              <a:buNone/>
            </a:pPr>
            <a:r>
              <a:rPr b="1" lang="en-GB" sz="900">
                <a:solidFill>
                  <a:srgbClr val="FFFFFF"/>
                </a:solidFill>
                <a:latin typeface="Arial"/>
                <a:ea typeface="Arial"/>
                <a:cs typeface="Arial"/>
                <a:sym typeface="Arial"/>
              </a:rPr>
              <a:t>Pass = POD + COD proof + failed stop rescheduled.</a:t>
            </a:r>
            <a:endParaRPr sz="900">
              <a:solidFill>
                <a:schemeClr val="dk1"/>
              </a:solidFill>
              <a:latin typeface="Calibri"/>
              <a:ea typeface="Calibri"/>
              <a:cs typeface="Calibri"/>
              <a:sym typeface="Calibri"/>
            </a:endParaRPr>
          </a:p>
        </p:txBody>
      </p:sp>
      <p:sp>
        <p:nvSpPr>
          <p:cNvPr id="2576" name="Google Shape;2576;p102"/>
          <p:cNvSpPr/>
          <p:nvPr/>
        </p:nvSpPr>
        <p:spPr>
          <a:xfrm>
            <a:off x="1879192" y="4471416"/>
            <a:ext cx="565800" cy="274200"/>
          </a:xfrm>
          <a:prstGeom prst="roundRect">
            <a:avLst>
              <a:gd fmla="val 50000" name="adj"/>
            </a:avLst>
          </a:prstGeom>
          <a:solidFill>
            <a:srgbClr val="FBEBD9"/>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577" name="Google Shape;2577;p102"/>
          <p:cNvSpPr/>
          <p:nvPr/>
        </p:nvSpPr>
        <p:spPr>
          <a:xfrm>
            <a:off x="1879192" y="4471416"/>
            <a:ext cx="5658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COD proof?</a:t>
            </a:r>
            <a:endParaRPr sz="800">
              <a:solidFill>
                <a:schemeClr val="dk1"/>
              </a:solidFill>
              <a:latin typeface="Calibri"/>
              <a:ea typeface="Calibri"/>
              <a:cs typeface="Calibri"/>
              <a:sym typeface="Calibri"/>
            </a:endParaRPr>
          </a:p>
        </p:txBody>
      </p:sp>
      <p:sp>
        <p:nvSpPr>
          <p:cNvPr id="2578" name="Google Shape;2578;p102"/>
          <p:cNvSpPr/>
          <p:nvPr/>
        </p:nvSpPr>
        <p:spPr>
          <a:xfrm>
            <a:off x="2544454" y="4471416"/>
            <a:ext cx="565800" cy="274200"/>
          </a:xfrm>
          <a:prstGeom prst="roundRect">
            <a:avLst>
              <a:gd fmla="val 50000" name="adj"/>
            </a:avLst>
          </a:prstGeom>
          <a:solidFill>
            <a:srgbClr val="FBEBD9"/>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579" name="Google Shape;2579;p102"/>
          <p:cNvSpPr/>
          <p:nvPr/>
        </p:nvSpPr>
        <p:spPr>
          <a:xfrm>
            <a:off x="2544454" y="4471416"/>
            <a:ext cx="5658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Resched?</a:t>
            </a:r>
            <a:endParaRPr sz="800">
              <a:solidFill>
                <a:schemeClr val="dk1"/>
              </a:solidFill>
              <a:latin typeface="Calibri"/>
              <a:ea typeface="Calibri"/>
              <a:cs typeface="Calibri"/>
              <a:sym typeface="Calibri"/>
            </a:endParaRPr>
          </a:p>
        </p:txBody>
      </p:sp>
      <p:sp>
        <p:nvSpPr>
          <p:cNvPr id="2580" name="Google Shape;2580;p102"/>
          <p:cNvSpPr txBox="1"/>
          <p:nvPr>
            <p:ph idx="12" type="sldNum"/>
          </p:nvPr>
        </p:nvSpPr>
        <p:spPr>
          <a:xfrm>
            <a:off x="8347216" y="4750189"/>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581" name="Google Shape;2581;p102"/>
          <p:cNvSpPr/>
          <p:nvPr/>
        </p:nvSpPr>
        <p:spPr>
          <a:xfrm>
            <a:off x="411502" y="260604"/>
            <a:ext cx="68583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SPECIAL MISSION</a:t>
            </a:r>
            <a:endParaRPr sz="800">
              <a:solidFill>
                <a:schemeClr val="dk1"/>
              </a:solidFill>
              <a:latin typeface="Calibri"/>
              <a:ea typeface="Calibri"/>
              <a:cs typeface="Calibri"/>
              <a:sym typeface="Calibri"/>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1C2B3E"/>
        </a:solidFill>
      </p:bgPr>
    </p:bg>
    <p:spTree>
      <p:nvGrpSpPr>
        <p:cNvPr id="2586" name="Shape 2586"/>
        <p:cNvGrpSpPr/>
        <p:nvPr/>
      </p:nvGrpSpPr>
      <p:grpSpPr>
        <a:xfrm>
          <a:off x="0" y="0"/>
          <a:ext cx="0" cy="0"/>
          <a:chOff x="0" y="0"/>
          <a:chExt cx="0" cy="0"/>
        </a:xfrm>
      </p:grpSpPr>
      <p:sp>
        <p:nvSpPr>
          <p:cNvPr id="2587" name="Google Shape;2587;p103"/>
          <p:cNvSpPr/>
          <p:nvPr/>
        </p:nvSpPr>
        <p:spPr>
          <a:xfrm>
            <a:off x="411502" y="1783080"/>
            <a:ext cx="20574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21E"/>
              </a:buClr>
              <a:buSzPts val="1100"/>
              <a:buFont typeface="Arial"/>
              <a:buNone/>
            </a:pPr>
            <a:r>
              <a:rPr b="1" lang="en-GB" sz="1100">
                <a:solidFill>
                  <a:srgbClr val="E8821E"/>
                </a:solidFill>
                <a:latin typeface="Arial"/>
                <a:ea typeface="Arial"/>
                <a:cs typeface="Arial"/>
                <a:sym typeface="Arial"/>
              </a:rPr>
              <a:t>APPENDIX</a:t>
            </a:r>
            <a:endParaRPr sz="1100">
              <a:solidFill>
                <a:schemeClr val="dk1"/>
              </a:solidFill>
              <a:latin typeface="Calibri"/>
              <a:ea typeface="Calibri"/>
              <a:cs typeface="Calibri"/>
              <a:sym typeface="Calibri"/>
            </a:endParaRPr>
          </a:p>
        </p:txBody>
      </p:sp>
      <p:sp>
        <p:nvSpPr>
          <p:cNvPr id="2588" name="Google Shape;2588;p103"/>
          <p:cNvSpPr/>
          <p:nvPr/>
        </p:nvSpPr>
        <p:spPr>
          <a:xfrm>
            <a:off x="411502" y="2057400"/>
            <a:ext cx="832140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000"/>
              <a:buFont typeface="Arial"/>
              <a:buNone/>
            </a:pPr>
            <a:r>
              <a:rPr b="1" lang="en-GB" sz="3000">
                <a:solidFill>
                  <a:srgbClr val="FFFFFF"/>
                </a:solidFill>
                <a:latin typeface="Poppins"/>
                <a:ea typeface="Poppins"/>
                <a:cs typeface="Poppins"/>
                <a:sym typeface="Poppins"/>
              </a:rPr>
              <a:t>Facilitator &amp; Half-Day Reference Layer</a:t>
            </a:r>
            <a:endParaRPr sz="3000">
              <a:solidFill>
                <a:schemeClr val="dk1"/>
              </a:solidFill>
              <a:latin typeface="Poppins"/>
              <a:ea typeface="Poppins"/>
              <a:cs typeface="Poppins"/>
              <a:sym typeface="Poppins"/>
            </a:endParaRPr>
          </a:p>
        </p:txBody>
      </p:sp>
      <p:sp>
        <p:nvSpPr>
          <p:cNvPr id="2589" name="Google Shape;2589;p103"/>
          <p:cNvSpPr/>
          <p:nvPr/>
        </p:nvSpPr>
        <p:spPr>
          <a:xfrm>
            <a:off x="411502" y="2743200"/>
            <a:ext cx="69495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2A6BE"/>
              </a:buClr>
              <a:buSzPts val="1100"/>
              <a:buFont typeface="Arial"/>
              <a:buNone/>
            </a:pPr>
            <a:r>
              <a:rPr i="1" lang="en-GB" sz="1100">
                <a:solidFill>
                  <a:srgbClr val="92A6BE"/>
                </a:solidFill>
                <a:latin typeface="Arial"/>
                <a:ea typeface="Arial"/>
                <a:cs typeface="Arial"/>
                <a:sym typeface="Arial"/>
              </a:rPr>
              <a:t>Not shown in the Core 2-Hour Cut — role responsibilities, the permission matrix, integration deep-dive, the mission card pack, the special mission bank, and the optional add-on videos.</a:t>
            </a:r>
            <a:endParaRPr sz="1100">
              <a:solidFill>
                <a:schemeClr val="dk1"/>
              </a:solidFill>
              <a:latin typeface="Calibri"/>
              <a:ea typeface="Calibri"/>
              <a:cs typeface="Calibri"/>
              <a:sym typeface="Calibri"/>
            </a:endParaRPr>
          </a:p>
        </p:txBody>
      </p:sp>
      <p:sp>
        <p:nvSpPr>
          <p:cNvPr id="2590" name="Google Shape;2590;p103"/>
          <p:cNvSpPr txBox="1"/>
          <p:nvPr>
            <p:ph idx="12" type="sldNum"/>
          </p:nvPr>
        </p:nvSpPr>
        <p:spPr>
          <a:xfrm>
            <a:off x="8347216" y="4750189"/>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2595" name="Shape 2595"/>
        <p:cNvGrpSpPr/>
        <p:nvPr/>
      </p:nvGrpSpPr>
      <p:grpSpPr>
        <a:xfrm>
          <a:off x="0" y="0"/>
          <a:ext cx="0" cy="0"/>
          <a:chOff x="0" y="0"/>
          <a:chExt cx="0" cy="0"/>
        </a:xfrm>
      </p:grpSpPr>
      <p:sp>
        <p:nvSpPr>
          <p:cNvPr id="2596" name="Google Shape;2596;p104"/>
          <p:cNvSpPr/>
          <p:nvPr/>
        </p:nvSpPr>
        <p:spPr>
          <a:xfrm>
            <a:off x="411502" y="260604"/>
            <a:ext cx="6858366"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APPENDIX</a:t>
            </a:r>
            <a:endParaRPr sz="800">
              <a:solidFill>
                <a:schemeClr val="dk1"/>
              </a:solidFill>
              <a:latin typeface="Calibri"/>
              <a:ea typeface="Calibri"/>
              <a:cs typeface="Calibri"/>
              <a:sym typeface="Calibri"/>
            </a:endParaRPr>
          </a:p>
        </p:txBody>
      </p:sp>
      <p:sp>
        <p:nvSpPr>
          <p:cNvPr id="2597" name="Google Shape;2597;p104"/>
          <p:cNvSpPr/>
          <p:nvPr/>
        </p:nvSpPr>
        <p:spPr>
          <a:xfrm>
            <a:off x="411502" y="438912"/>
            <a:ext cx="8321255" cy="4800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C2B3E"/>
              </a:buClr>
              <a:buSzPts val="2200"/>
              <a:buFont typeface="Arial"/>
              <a:buNone/>
            </a:pPr>
            <a:r>
              <a:rPr b="1" lang="en-GB" sz="2200">
                <a:solidFill>
                  <a:srgbClr val="1C2B3E"/>
                </a:solidFill>
                <a:latin typeface="Poppins"/>
                <a:ea typeface="Poppins"/>
                <a:cs typeface="Poppins"/>
                <a:sym typeface="Poppins"/>
              </a:rPr>
              <a:t>Sales — Responsibilities</a:t>
            </a:r>
            <a:endParaRPr sz="2200">
              <a:solidFill>
                <a:schemeClr val="dk1"/>
              </a:solidFill>
              <a:latin typeface="Poppins"/>
              <a:ea typeface="Poppins"/>
              <a:cs typeface="Poppins"/>
              <a:sym typeface="Poppins"/>
            </a:endParaRPr>
          </a:p>
        </p:txBody>
      </p:sp>
      <p:sp>
        <p:nvSpPr>
          <p:cNvPr id="2598" name="Google Shape;2598;p104"/>
          <p:cNvSpPr/>
          <p:nvPr/>
        </p:nvSpPr>
        <p:spPr>
          <a:xfrm>
            <a:off x="411502" y="932688"/>
            <a:ext cx="8321255"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D"/>
              </a:buClr>
              <a:buSzPts val="1100"/>
              <a:buFont typeface="Arial"/>
              <a:buNone/>
            </a:pPr>
            <a:r>
              <a:rPr lang="en-GB" sz="1100">
                <a:solidFill>
                  <a:srgbClr val="5B6B7D"/>
                </a:solidFill>
                <a:latin typeface="Arial"/>
                <a:ea typeface="Arial"/>
                <a:cs typeface="Arial"/>
                <a:sym typeface="Arial"/>
              </a:rPr>
              <a:t>Responsibilities — full-day / facilitator reference.</a:t>
            </a:r>
            <a:endParaRPr sz="1100">
              <a:solidFill>
                <a:schemeClr val="dk1"/>
              </a:solidFill>
              <a:latin typeface="Calibri"/>
              <a:ea typeface="Calibri"/>
              <a:cs typeface="Calibri"/>
              <a:sym typeface="Calibri"/>
            </a:endParaRPr>
          </a:p>
        </p:txBody>
      </p:sp>
      <p:sp>
        <p:nvSpPr>
          <p:cNvPr id="2599" name="Google Shape;2599;p104"/>
          <p:cNvSpPr/>
          <p:nvPr/>
        </p:nvSpPr>
        <p:spPr>
          <a:xfrm>
            <a:off x="411502" y="1371600"/>
            <a:ext cx="1577424" cy="342900"/>
          </a:xfrm>
          <a:prstGeom prst="roundRect">
            <a:avLst>
              <a:gd fmla="val 50000"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User_white.png" id="2600" name="Google Shape;2600;p104"/>
          <p:cNvPicPr preferRelativeResize="0"/>
          <p:nvPr/>
        </p:nvPicPr>
        <p:blipFill rotWithShape="1">
          <a:blip r:embed="rId3">
            <a:alphaModFix/>
          </a:blip>
          <a:srcRect b="0" l="0" r="0" t="0"/>
          <a:stretch/>
        </p:blipFill>
        <p:spPr>
          <a:xfrm>
            <a:off x="493802" y="1457325"/>
            <a:ext cx="171450" cy="171450"/>
          </a:xfrm>
          <a:prstGeom prst="rect">
            <a:avLst/>
          </a:prstGeom>
          <a:noFill/>
          <a:ln>
            <a:noFill/>
          </a:ln>
        </p:spPr>
      </p:pic>
      <p:sp>
        <p:nvSpPr>
          <p:cNvPr id="2601" name="Google Shape;2601;p104"/>
          <p:cNvSpPr/>
          <p:nvPr/>
        </p:nvSpPr>
        <p:spPr>
          <a:xfrm>
            <a:off x="706412" y="1371600"/>
            <a:ext cx="1241364"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Arial"/>
              <a:buNone/>
            </a:pPr>
            <a:r>
              <a:rPr b="1" lang="en-GB" sz="1000">
                <a:solidFill>
                  <a:srgbClr val="FFFFFF"/>
                </a:solidFill>
                <a:latin typeface="Arial"/>
                <a:ea typeface="Arial"/>
                <a:cs typeface="Arial"/>
                <a:sym typeface="Arial"/>
              </a:rPr>
              <a:t>SALES</a:t>
            </a:r>
            <a:endParaRPr sz="1000">
              <a:solidFill>
                <a:schemeClr val="dk1"/>
              </a:solidFill>
              <a:latin typeface="Calibri"/>
              <a:ea typeface="Calibri"/>
              <a:cs typeface="Calibri"/>
              <a:sym typeface="Calibri"/>
            </a:endParaRPr>
          </a:p>
        </p:txBody>
      </p:sp>
      <p:sp>
        <p:nvSpPr>
          <p:cNvPr id="2602" name="Google Shape;2602;p104"/>
          <p:cNvSpPr/>
          <p:nvPr/>
        </p:nvSpPr>
        <p:spPr>
          <a:xfrm>
            <a:off x="411502" y="1920240"/>
            <a:ext cx="8321255" cy="296854"/>
          </a:xfrm>
          <a:prstGeom prst="roundRect">
            <a:avLst>
              <a:gd fmla="val 23102" name="adj"/>
            </a:avLst>
          </a:prstGeom>
          <a:solidFill>
            <a:srgbClr val="F5F7FA"/>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603" name="Google Shape;2603;p104"/>
          <p:cNvSpPr/>
          <p:nvPr/>
        </p:nvSpPr>
        <p:spPr>
          <a:xfrm>
            <a:off x="534953" y="1897217"/>
            <a:ext cx="342918" cy="342900"/>
          </a:xfrm>
          <a:prstGeom prst="roundRect">
            <a:avLst>
              <a:gd fmla="val 22000"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TrendingUp_white.png" id="2604" name="Google Shape;2604;p104"/>
          <p:cNvPicPr preferRelativeResize="0"/>
          <p:nvPr/>
        </p:nvPicPr>
        <p:blipFill rotWithShape="1">
          <a:blip r:embed="rId4">
            <a:alphaModFix/>
          </a:blip>
          <a:srcRect b="0" l="0" r="0" t="0"/>
          <a:stretch/>
        </p:blipFill>
        <p:spPr>
          <a:xfrm>
            <a:off x="620682" y="1982942"/>
            <a:ext cx="171450" cy="171450"/>
          </a:xfrm>
          <a:prstGeom prst="rect">
            <a:avLst/>
          </a:prstGeom>
          <a:noFill/>
          <a:ln>
            <a:noFill/>
          </a:ln>
        </p:spPr>
      </p:pic>
      <p:sp>
        <p:nvSpPr>
          <p:cNvPr id="2605" name="Google Shape;2605;p104"/>
          <p:cNvSpPr/>
          <p:nvPr/>
        </p:nvSpPr>
        <p:spPr>
          <a:xfrm>
            <a:off x="1001321" y="1920240"/>
            <a:ext cx="3154848" cy="2968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1100"/>
              <a:buFont typeface="Arial"/>
              <a:buNone/>
            </a:pPr>
            <a:r>
              <a:rPr b="1" lang="en-GB" sz="1100">
                <a:solidFill>
                  <a:srgbClr val="1C2B3E"/>
                </a:solidFill>
                <a:latin typeface="Arial"/>
                <a:ea typeface="Arial"/>
                <a:cs typeface="Arial"/>
                <a:sym typeface="Arial"/>
              </a:rPr>
              <a:t>Revenue</a:t>
            </a:r>
            <a:endParaRPr sz="1100">
              <a:solidFill>
                <a:schemeClr val="dk1"/>
              </a:solidFill>
              <a:latin typeface="Calibri"/>
              <a:ea typeface="Calibri"/>
              <a:cs typeface="Calibri"/>
              <a:sym typeface="Calibri"/>
            </a:endParaRPr>
          </a:p>
        </p:txBody>
      </p:sp>
      <p:sp>
        <p:nvSpPr>
          <p:cNvPr id="2606" name="Google Shape;2606;p104"/>
          <p:cNvSpPr/>
          <p:nvPr/>
        </p:nvSpPr>
        <p:spPr>
          <a:xfrm>
            <a:off x="4252187" y="1920240"/>
            <a:ext cx="4343403" cy="2968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D"/>
              </a:buClr>
              <a:buSzPts val="900"/>
              <a:buFont typeface="Arial"/>
              <a:buNone/>
            </a:pPr>
            <a:r>
              <a:rPr lang="en-GB" sz="900">
                <a:solidFill>
                  <a:srgbClr val="5B6B7D"/>
                </a:solidFill>
                <a:latin typeface="Arial"/>
                <a:ea typeface="Arial"/>
                <a:cs typeface="Arial"/>
                <a:sym typeface="Arial"/>
              </a:rPr>
              <a:t>Owns the top line for assigned accounts.</a:t>
            </a:r>
            <a:endParaRPr sz="900">
              <a:solidFill>
                <a:schemeClr val="dk1"/>
              </a:solidFill>
              <a:latin typeface="Calibri"/>
              <a:ea typeface="Calibri"/>
              <a:cs typeface="Calibri"/>
              <a:sym typeface="Calibri"/>
            </a:endParaRPr>
          </a:p>
        </p:txBody>
      </p:sp>
      <p:sp>
        <p:nvSpPr>
          <p:cNvPr id="2607" name="Google Shape;2607;p104"/>
          <p:cNvSpPr/>
          <p:nvPr/>
        </p:nvSpPr>
        <p:spPr>
          <a:xfrm>
            <a:off x="411502" y="2326822"/>
            <a:ext cx="8321255" cy="296854"/>
          </a:xfrm>
          <a:prstGeom prst="roundRect">
            <a:avLst>
              <a:gd fmla="val 23102" name="adj"/>
            </a:avLst>
          </a:prstGeom>
          <a:solidFill>
            <a:srgbClr val="F5F7FA"/>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608" name="Google Shape;2608;p104"/>
          <p:cNvSpPr/>
          <p:nvPr/>
        </p:nvSpPr>
        <p:spPr>
          <a:xfrm>
            <a:off x="534953" y="2303798"/>
            <a:ext cx="342918" cy="342900"/>
          </a:xfrm>
          <a:prstGeom prst="roundRect">
            <a:avLst>
              <a:gd fmla="val 22000"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Users_white.png" id="2609" name="Google Shape;2609;p104"/>
          <p:cNvPicPr preferRelativeResize="0"/>
          <p:nvPr/>
        </p:nvPicPr>
        <p:blipFill rotWithShape="1">
          <a:blip r:embed="rId5">
            <a:alphaModFix/>
          </a:blip>
          <a:srcRect b="0" l="0" r="0" t="0"/>
          <a:stretch/>
        </p:blipFill>
        <p:spPr>
          <a:xfrm>
            <a:off x="620682" y="2389523"/>
            <a:ext cx="171450" cy="171450"/>
          </a:xfrm>
          <a:prstGeom prst="rect">
            <a:avLst/>
          </a:prstGeom>
          <a:noFill/>
          <a:ln>
            <a:noFill/>
          </a:ln>
        </p:spPr>
      </p:pic>
      <p:sp>
        <p:nvSpPr>
          <p:cNvPr id="2610" name="Google Shape;2610;p104"/>
          <p:cNvSpPr/>
          <p:nvPr/>
        </p:nvSpPr>
        <p:spPr>
          <a:xfrm>
            <a:off x="1001321" y="2326822"/>
            <a:ext cx="3154848" cy="2968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1100"/>
              <a:buFont typeface="Arial"/>
              <a:buNone/>
            </a:pPr>
            <a:r>
              <a:rPr b="1" lang="en-GB" sz="1100">
                <a:solidFill>
                  <a:srgbClr val="1C2B3E"/>
                </a:solidFill>
                <a:latin typeface="Arial"/>
                <a:ea typeface="Arial"/>
                <a:cs typeface="Arial"/>
                <a:sym typeface="Arial"/>
              </a:rPr>
              <a:t>Customer relationship</a:t>
            </a:r>
            <a:endParaRPr sz="1100">
              <a:solidFill>
                <a:schemeClr val="dk1"/>
              </a:solidFill>
              <a:latin typeface="Calibri"/>
              <a:ea typeface="Calibri"/>
              <a:cs typeface="Calibri"/>
              <a:sym typeface="Calibri"/>
            </a:endParaRPr>
          </a:p>
        </p:txBody>
      </p:sp>
      <p:sp>
        <p:nvSpPr>
          <p:cNvPr id="2611" name="Google Shape;2611;p104"/>
          <p:cNvSpPr/>
          <p:nvPr/>
        </p:nvSpPr>
        <p:spPr>
          <a:xfrm>
            <a:off x="4252187" y="2326822"/>
            <a:ext cx="4343403" cy="2968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D"/>
              </a:buClr>
              <a:buSzPts val="900"/>
              <a:buFont typeface="Arial"/>
              <a:buNone/>
            </a:pPr>
            <a:r>
              <a:rPr lang="en-GB" sz="900">
                <a:solidFill>
                  <a:srgbClr val="5B6B7D"/>
                </a:solidFill>
                <a:latin typeface="Arial"/>
                <a:ea typeface="Arial"/>
                <a:cs typeface="Arial"/>
                <a:sym typeface="Arial"/>
              </a:rPr>
              <a:t>The primary point of contact for the customer.</a:t>
            </a:r>
            <a:endParaRPr sz="900">
              <a:solidFill>
                <a:schemeClr val="dk1"/>
              </a:solidFill>
              <a:latin typeface="Calibri"/>
              <a:ea typeface="Calibri"/>
              <a:cs typeface="Calibri"/>
              <a:sym typeface="Calibri"/>
            </a:endParaRPr>
          </a:p>
        </p:txBody>
      </p:sp>
      <p:sp>
        <p:nvSpPr>
          <p:cNvPr id="2612" name="Google Shape;2612;p104"/>
          <p:cNvSpPr/>
          <p:nvPr/>
        </p:nvSpPr>
        <p:spPr>
          <a:xfrm>
            <a:off x="411502" y="2733403"/>
            <a:ext cx="8321255" cy="296854"/>
          </a:xfrm>
          <a:prstGeom prst="roundRect">
            <a:avLst>
              <a:gd fmla="val 23102" name="adj"/>
            </a:avLst>
          </a:prstGeom>
          <a:solidFill>
            <a:srgbClr val="F5F7FA"/>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613" name="Google Shape;2613;p104"/>
          <p:cNvSpPr/>
          <p:nvPr/>
        </p:nvSpPr>
        <p:spPr>
          <a:xfrm>
            <a:off x="534953" y="2710379"/>
            <a:ext cx="342918" cy="342900"/>
          </a:xfrm>
          <a:prstGeom prst="roundRect">
            <a:avLst>
              <a:gd fmla="val 22000"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Target_white.png" id="2614" name="Google Shape;2614;p104"/>
          <p:cNvPicPr preferRelativeResize="0"/>
          <p:nvPr/>
        </p:nvPicPr>
        <p:blipFill rotWithShape="1">
          <a:blip r:embed="rId6">
            <a:alphaModFix/>
          </a:blip>
          <a:srcRect b="0" l="0" r="0" t="0"/>
          <a:stretch/>
        </p:blipFill>
        <p:spPr>
          <a:xfrm>
            <a:off x="620682" y="2796104"/>
            <a:ext cx="171450" cy="171450"/>
          </a:xfrm>
          <a:prstGeom prst="rect">
            <a:avLst/>
          </a:prstGeom>
          <a:noFill/>
          <a:ln>
            <a:noFill/>
          </a:ln>
        </p:spPr>
      </p:pic>
      <p:sp>
        <p:nvSpPr>
          <p:cNvPr id="2615" name="Google Shape;2615;p104"/>
          <p:cNvSpPr/>
          <p:nvPr/>
        </p:nvSpPr>
        <p:spPr>
          <a:xfrm>
            <a:off x="1001321" y="2733403"/>
            <a:ext cx="3154848" cy="2968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1100"/>
              <a:buFont typeface="Arial"/>
              <a:buNone/>
            </a:pPr>
            <a:r>
              <a:rPr b="1" lang="en-GB" sz="1100">
                <a:solidFill>
                  <a:srgbClr val="1C2B3E"/>
                </a:solidFill>
                <a:latin typeface="Arial"/>
                <a:ea typeface="Arial"/>
                <a:cs typeface="Arial"/>
                <a:sym typeface="Arial"/>
              </a:rPr>
              <a:t>Business development</a:t>
            </a:r>
            <a:endParaRPr sz="1100">
              <a:solidFill>
                <a:schemeClr val="dk1"/>
              </a:solidFill>
              <a:latin typeface="Calibri"/>
              <a:ea typeface="Calibri"/>
              <a:cs typeface="Calibri"/>
              <a:sym typeface="Calibri"/>
            </a:endParaRPr>
          </a:p>
        </p:txBody>
      </p:sp>
      <p:sp>
        <p:nvSpPr>
          <p:cNvPr id="2616" name="Google Shape;2616;p104"/>
          <p:cNvSpPr/>
          <p:nvPr/>
        </p:nvSpPr>
        <p:spPr>
          <a:xfrm>
            <a:off x="4252187" y="2733403"/>
            <a:ext cx="4343403" cy="2968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D"/>
              </a:buClr>
              <a:buSzPts val="900"/>
              <a:buFont typeface="Arial"/>
              <a:buNone/>
            </a:pPr>
            <a:r>
              <a:rPr lang="en-GB" sz="900">
                <a:solidFill>
                  <a:srgbClr val="5B6B7D"/>
                </a:solidFill>
                <a:latin typeface="Arial"/>
                <a:ea typeface="Arial"/>
                <a:cs typeface="Arial"/>
                <a:sym typeface="Arial"/>
              </a:rPr>
              <a:t>Identifies and pursues new opportunities.</a:t>
            </a:r>
            <a:endParaRPr sz="900">
              <a:solidFill>
                <a:schemeClr val="dk1"/>
              </a:solidFill>
              <a:latin typeface="Calibri"/>
              <a:ea typeface="Calibri"/>
              <a:cs typeface="Calibri"/>
              <a:sym typeface="Calibri"/>
            </a:endParaRPr>
          </a:p>
        </p:txBody>
      </p:sp>
      <p:sp>
        <p:nvSpPr>
          <p:cNvPr id="2617" name="Google Shape;2617;p104"/>
          <p:cNvSpPr/>
          <p:nvPr/>
        </p:nvSpPr>
        <p:spPr>
          <a:xfrm>
            <a:off x="411502" y="3139985"/>
            <a:ext cx="8321255" cy="296854"/>
          </a:xfrm>
          <a:prstGeom prst="roundRect">
            <a:avLst>
              <a:gd fmla="val 23102" name="adj"/>
            </a:avLst>
          </a:prstGeom>
          <a:solidFill>
            <a:srgbClr val="F5F7FA"/>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618" name="Google Shape;2618;p104"/>
          <p:cNvSpPr/>
          <p:nvPr/>
        </p:nvSpPr>
        <p:spPr>
          <a:xfrm>
            <a:off x="534953" y="3116961"/>
            <a:ext cx="342918" cy="342900"/>
          </a:xfrm>
          <a:prstGeom prst="roundRect">
            <a:avLst>
              <a:gd fmla="val 22000"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Clipboard_white.png" id="2619" name="Google Shape;2619;p104"/>
          <p:cNvPicPr preferRelativeResize="0"/>
          <p:nvPr/>
        </p:nvPicPr>
        <p:blipFill rotWithShape="1">
          <a:blip r:embed="rId7">
            <a:alphaModFix/>
          </a:blip>
          <a:srcRect b="0" l="0" r="0" t="0"/>
          <a:stretch/>
        </p:blipFill>
        <p:spPr>
          <a:xfrm>
            <a:off x="620682" y="3202686"/>
            <a:ext cx="171450" cy="171450"/>
          </a:xfrm>
          <a:prstGeom prst="rect">
            <a:avLst/>
          </a:prstGeom>
          <a:noFill/>
          <a:ln>
            <a:noFill/>
          </a:ln>
        </p:spPr>
      </p:pic>
      <p:sp>
        <p:nvSpPr>
          <p:cNvPr id="2620" name="Google Shape;2620;p104"/>
          <p:cNvSpPr/>
          <p:nvPr/>
        </p:nvSpPr>
        <p:spPr>
          <a:xfrm>
            <a:off x="1001321" y="3139985"/>
            <a:ext cx="3154848" cy="2968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1100"/>
              <a:buFont typeface="Arial"/>
              <a:buNone/>
            </a:pPr>
            <a:r>
              <a:rPr b="1" lang="en-GB" sz="1100">
                <a:solidFill>
                  <a:srgbClr val="1C2B3E"/>
                </a:solidFill>
                <a:latin typeface="Arial"/>
                <a:ea typeface="Arial"/>
                <a:cs typeface="Arial"/>
                <a:sym typeface="Arial"/>
              </a:rPr>
              <a:t>Creates and oversees fulfilment</a:t>
            </a:r>
            <a:endParaRPr sz="1100">
              <a:solidFill>
                <a:schemeClr val="dk1"/>
              </a:solidFill>
              <a:latin typeface="Calibri"/>
              <a:ea typeface="Calibri"/>
              <a:cs typeface="Calibri"/>
              <a:sym typeface="Calibri"/>
            </a:endParaRPr>
          </a:p>
        </p:txBody>
      </p:sp>
      <p:sp>
        <p:nvSpPr>
          <p:cNvPr id="2621" name="Google Shape;2621;p104"/>
          <p:cNvSpPr/>
          <p:nvPr/>
        </p:nvSpPr>
        <p:spPr>
          <a:xfrm>
            <a:off x="4252187" y="3139985"/>
            <a:ext cx="4343403" cy="2968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D"/>
              </a:buClr>
              <a:buSzPts val="900"/>
              <a:buFont typeface="Arial"/>
              <a:buNone/>
            </a:pPr>
            <a:r>
              <a:rPr lang="en-GB" sz="900">
                <a:solidFill>
                  <a:srgbClr val="5B6B7D"/>
                </a:solidFill>
                <a:latin typeface="Arial"/>
                <a:ea typeface="Arial"/>
                <a:cs typeface="Arial"/>
                <a:sym typeface="Arial"/>
              </a:rPr>
              <a:t>Initiates the order and tracks it through.</a:t>
            </a:r>
            <a:endParaRPr sz="900">
              <a:solidFill>
                <a:schemeClr val="dk1"/>
              </a:solidFill>
              <a:latin typeface="Calibri"/>
              <a:ea typeface="Calibri"/>
              <a:cs typeface="Calibri"/>
              <a:sym typeface="Calibri"/>
            </a:endParaRPr>
          </a:p>
        </p:txBody>
      </p:sp>
      <p:sp>
        <p:nvSpPr>
          <p:cNvPr id="2622" name="Google Shape;2622;p104"/>
          <p:cNvSpPr/>
          <p:nvPr/>
        </p:nvSpPr>
        <p:spPr>
          <a:xfrm>
            <a:off x="411502" y="3546566"/>
            <a:ext cx="8321255" cy="296854"/>
          </a:xfrm>
          <a:prstGeom prst="roundRect">
            <a:avLst>
              <a:gd fmla="val 23102" name="adj"/>
            </a:avLst>
          </a:prstGeom>
          <a:solidFill>
            <a:srgbClr val="F5F7FA"/>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623" name="Google Shape;2623;p104"/>
          <p:cNvSpPr/>
          <p:nvPr/>
        </p:nvSpPr>
        <p:spPr>
          <a:xfrm>
            <a:off x="534953" y="3523543"/>
            <a:ext cx="342918" cy="342900"/>
          </a:xfrm>
          <a:prstGeom prst="roundRect">
            <a:avLst>
              <a:gd fmla="val 22000"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Tag_white.png" id="2624" name="Google Shape;2624;p104"/>
          <p:cNvPicPr preferRelativeResize="0"/>
          <p:nvPr/>
        </p:nvPicPr>
        <p:blipFill rotWithShape="1">
          <a:blip r:embed="rId8">
            <a:alphaModFix/>
          </a:blip>
          <a:srcRect b="0" l="0" r="0" t="0"/>
          <a:stretch/>
        </p:blipFill>
        <p:spPr>
          <a:xfrm>
            <a:off x="620682" y="3609268"/>
            <a:ext cx="171450" cy="171450"/>
          </a:xfrm>
          <a:prstGeom prst="rect">
            <a:avLst/>
          </a:prstGeom>
          <a:noFill/>
          <a:ln>
            <a:noFill/>
          </a:ln>
        </p:spPr>
      </p:pic>
      <p:sp>
        <p:nvSpPr>
          <p:cNvPr id="2625" name="Google Shape;2625;p104"/>
          <p:cNvSpPr/>
          <p:nvPr/>
        </p:nvSpPr>
        <p:spPr>
          <a:xfrm>
            <a:off x="1001321" y="3546566"/>
            <a:ext cx="3154848" cy="2968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1100"/>
              <a:buFont typeface="Arial"/>
              <a:buNone/>
            </a:pPr>
            <a:r>
              <a:rPr b="1" lang="en-GB" sz="1100">
                <a:solidFill>
                  <a:srgbClr val="1C2B3E"/>
                </a:solidFill>
                <a:latin typeface="Arial"/>
                <a:ea typeface="Arial"/>
                <a:cs typeface="Arial"/>
                <a:sym typeface="Arial"/>
              </a:rPr>
              <a:t>Price negotiation</a:t>
            </a:r>
            <a:endParaRPr sz="1100">
              <a:solidFill>
                <a:schemeClr val="dk1"/>
              </a:solidFill>
              <a:latin typeface="Calibri"/>
              <a:ea typeface="Calibri"/>
              <a:cs typeface="Calibri"/>
              <a:sym typeface="Calibri"/>
            </a:endParaRPr>
          </a:p>
        </p:txBody>
      </p:sp>
      <p:sp>
        <p:nvSpPr>
          <p:cNvPr id="2626" name="Google Shape;2626;p104"/>
          <p:cNvSpPr/>
          <p:nvPr/>
        </p:nvSpPr>
        <p:spPr>
          <a:xfrm>
            <a:off x="4252187" y="3546566"/>
            <a:ext cx="4343403" cy="2968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D"/>
              </a:buClr>
              <a:buSzPts val="900"/>
              <a:buFont typeface="Arial"/>
              <a:buNone/>
            </a:pPr>
            <a:r>
              <a:rPr lang="en-GB" sz="900">
                <a:solidFill>
                  <a:srgbClr val="5B6B7D"/>
                </a:solidFill>
                <a:latin typeface="Arial"/>
                <a:ea typeface="Arial"/>
                <a:cs typeface="Arial"/>
                <a:sym typeface="Arial"/>
              </a:rPr>
              <a:t>Agrees rates within policy guardrails.</a:t>
            </a:r>
            <a:endParaRPr sz="900">
              <a:solidFill>
                <a:schemeClr val="dk1"/>
              </a:solidFill>
              <a:latin typeface="Calibri"/>
              <a:ea typeface="Calibri"/>
              <a:cs typeface="Calibri"/>
              <a:sym typeface="Calibri"/>
            </a:endParaRPr>
          </a:p>
        </p:txBody>
      </p:sp>
      <p:sp>
        <p:nvSpPr>
          <p:cNvPr id="2627" name="Google Shape;2627;p104"/>
          <p:cNvSpPr/>
          <p:nvPr/>
        </p:nvSpPr>
        <p:spPr>
          <a:xfrm>
            <a:off x="411502" y="3953147"/>
            <a:ext cx="8321255" cy="296854"/>
          </a:xfrm>
          <a:prstGeom prst="roundRect">
            <a:avLst>
              <a:gd fmla="val 23102" name="adj"/>
            </a:avLst>
          </a:prstGeom>
          <a:solidFill>
            <a:srgbClr val="F5F7FA"/>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628" name="Google Shape;2628;p104"/>
          <p:cNvSpPr/>
          <p:nvPr/>
        </p:nvSpPr>
        <p:spPr>
          <a:xfrm>
            <a:off x="534953" y="3930124"/>
            <a:ext cx="342918" cy="342900"/>
          </a:xfrm>
          <a:prstGeom prst="roundRect">
            <a:avLst>
              <a:gd fmla="val 22000"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Clock_white.png" id="2629" name="Google Shape;2629;p104"/>
          <p:cNvPicPr preferRelativeResize="0"/>
          <p:nvPr/>
        </p:nvPicPr>
        <p:blipFill rotWithShape="1">
          <a:blip r:embed="rId9">
            <a:alphaModFix/>
          </a:blip>
          <a:srcRect b="0" l="0" r="0" t="0"/>
          <a:stretch/>
        </p:blipFill>
        <p:spPr>
          <a:xfrm>
            <a:off x="620682" y="4015849"/>
            <a:ext cx="171450" cy="171450"/>
          </a:xfrm>
          <a:prstGeom prst="rect">
            <a:avLst/>
          </a:prstGeom>
          <a:noFill/>
          <a:ln>
            <a:noFill/>
          </a:ln>
        </p:spPr>
      </p:pic>
      <p:sp>
        <p:nvSpPr>
          <p:cNvPr id="2630" name="Google Shape;2630;p104"/>
          <p:cNvSpPr/>
          <p:nvPr/>
        </p:nvSpPr>
        <p:spPr>
          <a:xfrm>
            <a:off x="1001321" y="3953147"/>
            <a:ext cx="3154848" cy="2968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1100"/>
              <a:buFont typeface="Arial"/>
              <a:buNone/>
            </a:pPr>
            <a:r>
              <a:rPr b="1" lang="en-GB" sz="1100">
                <a:solidFill>
                  <a:srgbClr val="1C2B3E"/>
                </a:solidFill>
                <a:latin typeface="Arial"/>
                <a:ea typeface="Arial"/>
                <a:cs typeface="Arial"/>
                <a:sym typeface="Arial"/>
              </a:rPr>
              <a:t>Chases payment</a:t>
            </a:r>
            <a:endParaRPr sz="1100">
              <a:solidFill>
                <a:schemeClr val="dk1"/>
              </a:solidFill>
              <a:latin typeface="Calibri"/>
              <a:ea typeface="Calibri"/>
              <a:cs typeface="Calibri"/>
              <a:sym typeface="Calibri"/>
            </a:endParaRPr>
          </a:p>
        </p:txBody>
      </p:sp>
      <p:sp>
        <p:nvSpPr>
          <p:cNvPr id="2631" name="Google Shape;2631;p104"/>
          <p:cNvSpPr/>
          <p:nvPr/>
        </p:nvSpPr>
        <p:spPr>
          <a:xfrm>
            <a:off x="4252187" y="3953147"/>
            <a:ext cx="4343403" cy="2968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D"/>
              </a:buClr>
              <a:buSzPts val="900"/>
              <a:buFont typeface="Arial"/>
              <a:buNone/>
            </a:pPr>
            <a:r>
              <a:rPr lang="en-GB" sz="900">
                <a:solidFill>
                  <a:srgbClr val="5B6B7D"/>
                </a:solidFill>
                <a:latin typeface="Arial"/>
                <a:ea typeface="Arial"/>
                <a:cs typeface="Arial"/>
                <a:sym typeface="Arial"/>
              </a:rPr>
              <a:t>Follows up on overdue invoices.</a:t>
            </a:r>
            <a:endParaRPr sz="900">
              <a:solidFill>
                <a:schemeClr val="dk1"/>
              </a:solidFill>
              <a:latin typeface="Calibri"/>
              <a:ea typeface="Calibri"/>
              <a:cs typeface="Calibri"/>
              <a:sym typeface="Calibri"/>
            </a:endParaRPr>
          </a:p>
        </p:txBody>
      </p:sp>
      <p:sp>
        <p:nvSpPr>
          <p:cNvPr id="2632" name="Google Shape;2632;p104"/>
          <p:cNvSpPr/>
          <p:nvPr/>
        </p:nvSpPr>
        <p:spPr>
          <a:xfrm>
            <a:off x="411502" y="4359728"/>
            <a:ext cx="8321255" cy="296854"/>
          </a:xfrm>
          <a:prstGeom prst="roundRect">
            <a:avLst>
              <a:gd fmla="val 23102" name="adj"/>
            </a:avLst>
          </a:prstGeom>
          <a:solidFill>
            <a:srgbClr val="F5F7FA"/>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633" name="Google Shape;2633;p104"/>
          <p:cNvSpPr/>
          <p:nvPr/>
        </p:nvSpPr>
        <p:spPr>
          <a:xfrm>
            <a:off x="534953" y="4336706"/>
            <a:ext cx="342918" cy="342900"/>
          </a:xfrm>
          <a:prstGeom prst="roundRect">
            <a:avLst>
              <a:gd fmla="val 22000"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MessageCircle_white.png" id="2634" name="Google Shape;2634;p104"/>
          <p:cNvPicPr preferRelativeResize="0"/>
          <p:nvPr/>
        </p:nvPicPr>
        <p:blipFill rotWithShape="1">
          <a:blip r:embed="rId10">
            <a:alphaModFix/>
          </a:blip>
          <a:srcRect b="0" l="0" r="0" t="0"/>
          <a:stretch/>
        </p:blipFill>
        <p:spPr>
          <a:xfrm>
            <a:off x="620682" y="4422431"/>
            <a:ext cx="171450" cy="171450"/>
          </a:xfrm>
          <a:prstGeom prst="rect">
            <a:avLst/>
          </a:prstGeom>
          <a:noFill/>
          <a:ln>
            <a:noFill/>
          </a:ln>
        </p:spPr>
      </p:pic>
      <p:sp>
        <p:nvSpPr>
          <p:cNvPr id="2635" name="Google Shape;2635;p104"/>
          <p:cNvSpPr/>
          <p:nvPr/>
        </p:nvSpPr>
        <p:spPr>
          <a:xfrm>
            <a:off x="1001321" y="4359728"/>
            <a:ext cx="3154848" cy="2968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1100"/>
              <a:buFont typeface="Arial"/>
              <a:buNone/>
            </a:pPr>
            <a:r>
              <a:rPr b="1" lang="en-GB" sz="1100">
                <a:solidFill>
                  <a:srgbClr val="1C2B3E"/>
                </a:solidFill>
                <a:latin typeface="Arial"/>
                <a:ea typeface="Arial"/>
                <a:cs typeface="Arial"/>
                <a:sym typeface="Arial"/>
              </a:rPr>
              <a:t>Resolves complaints</a:t>
            </a:r>
            <a:endParaRPr sz="1100">
              <a:solidFill>
                <a:schemeClr val="dk1"/>
              </a:solidFill>
              <a:latin typeface="Calibri"/>
              <a:ea typeface="Calibri"/>
              <a:cs typeface="Calibri"/>
              <a:sym typeface="Calibri"/>
            </a:endParaRPr>
          </a:p>
        </p:txBody>
      </p:sp>
      <p:sp>
        <p:nvSpPr>
          <p:cNvPr id="2636" name="Google Shape;2636;p104"/>
          <p:cNvSpPr/>
          <p:nvPr/>
        </p:nvSpPr>
        <p:spPr>
          <a:xfrm>
            <a:off x="4252187" y="4359728"/>
            <a:ext cx="4343403" cy="2968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D"/>
              </a:buClr>
              <a:buSzPts val="900"/>
              <a:buFont typeface="Arial"/>
              <a:buNone/>
            </a:pPr>
            <a:r>
              <a:rPr lang="en-GB" sz="900">
                <a:solidFill>
                  <a:srgbClr val="5B6B7D"/>
                </a:solidFill>
                <a:latin typeface="Arial"/>
                <a:ea typeface="Arial"/>
                <a:cs typeface="Arial"/>
                <a:sym typeface="Arial"/>
              </a:rPr>
              <a:t>First line of response for customer issues.</a:t>
            </a:r>
            <a:endParaRPr sz="900">
              <a:solidFill>
                <a:schemeClr val="dk1"/>
              </a:solidFill>
              <a:latin typeface="Calibri"/>
              <a:ea typeface="Calibri"/>
              <a:cs typeface="Calibri"/>
              <a:sym typeface="Calibri"/>
            </a:endParaRPr>
          </a:p>
        </p:txBody>
      </p:sp>
      <p:sp>
        <p:nvSpPr>
          <p:cNvPr id="2637" name="Google Shape;2637;p104"/>
          <p:cNvSpPr txBox="1"/>
          <p:nvPr>
            <p:ph idx="12" type="sldNum"/>
          </p:nvPr>
        </p:nvSpPr>
        <p:spPr>
          <a:xfrm>
            <a:off x="8347216" y="4750189"/>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2642" name="Shape 2642"/>
        <p:cNvGrpSpPr/>
        <p:nvPr/>
      </p:nvGrpSpPr>
      <p:grpSpPr>
        <a:xfrm>
          <a:off x="0" y="0"/>
          <a:ext cx="0" cy="0"/>
          <a:chOff x="0" y="0"/>
          <a:chExt cx="0" cy="0"/>
        </a:xfrm>
      </p:grpSpPr>
      <p:sp>
        <p:nvSpPr>
          <p:cNvPr id="2643" name="Google Shape;2643;p105"/>
          <p:cNvSpPr/>
          <p:nvPr/>
        </p:nvSpPr>
        <p:spPr>
          <a:xfrm>
            <a:off x="411502" y="260604"/>
            <a:ext cx="6858366"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APPENDIX</a:t>
            </a:r>
            <a:endParaRPr sz="800">
              <a:solidFill>
                <a:schemeClr val="dk1"/>
              </a:solidFill>
              <a:latin typeface="Calibri"/>
              <a:ea typeface="Calibri"/>
              <a:cs typeface="Calibri"/>
              <a:sym typeface="Calibri"/>
            </a:endParaRPr>
          </a:p>
        </p:txBody>
      </p:sp>
      <p:sp>
        <p:nvSpPr>
          <p:cNvPr id="2644" name="Google Shape;2644;p105"/>
          <p:cNvSpPr/>
          <p:nvPr/>
        </p:nvSpPr>
        <p:spPr>
          <a:xfrm>
            <a:off x="411502" y="438912"/>
            <a:ext cx="8321255" cy="4800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C2B3E"/>
              </a:buClr>
              <a:buSzPts val="2200"/>
              <a:buFont typeface="Arial"/>
              <a:buNone/>
            </a:pPr>
            <a:r>
              <a:rPr b="1" lang="en-GB" sz="2200">
                <a:solidFill>
                  <a:srgbClr val="1C2B3E"/>
                </a:solidFill>
                <a:latin typeface="Poppins"/>
                <a:ea typeface="Poppins"/>
                <a:cs typeface="Poppins"/>
                <a:sym typeface="Poppins"/>
              </a:rPr>
              <a:t>Finance — Responsibilities</a:t>
            </a:r>
            <a:endParaRPr sz="2200">
              <a:solidFill>
                <a:schemeClr val="dk1"/>
              </a:solidFill>
              <a:latin typeface="Poppins"/>
              <a:ea typeface="Poppins"/>
              <a:cs typeface="Poppins"/>
              <a:sym typeface="Poppins"/>
            </a:endParaRPr>
          </a:p>
        </p:txBody>
      </p:sp>
      <p:sp>
        <p:nvSpPr>
          <p:cNvPr id="2645" name="Google Shape;2645;p105"/>
          <p:cNvSpPr/>
          <p:nvPr/>
        </p:nvSpPr>
        <p:spPr>
          <a:xfrm>
            <a:off x="411502" y="932688"/>
            <a:ext cx="8321255"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D"/>
              </a:buClr>
              <a:buSzPts val="1100"/>
              <a:buFont typeface="Arial"/>
              <a:buNone/>
            </a:pPr>
            <a:r>
              <a:rPr lang="en-GB" sz="1100">
                <a:solidFill>
                  <a:srgbClr val="5B6B7D"/>
                </a:solidFill>
                <a:latin typeface="Arial"/>
                <a:ea typeface="Arial"/>
                <a:cs typeface="Arial"/>
                <a:sym typeface="Arial"/>
              </a:rPr>
              <a:t>Responsibilities — full-day / facilitator reference.</a:t>
            </a:r>
            <a:endParaRPr sz="1100">
              <a:solidFill>
                <a:schemeClr val="dk1"/>
              </a:solidFill>
              <a:latin typeface="Calibri"/>
              <a:ea typeface="Calibri"/>
              <a:cs typeface="Calibri"/>
              <a:sym typeface="Calibri"/>
            </a:endParaRPr>
          </a:p>
        </p:txBody>
      </p:sp>
      <p:sp>
        <p:nvSpPr>
          <p:cNvPr id="2646" name="Google Shape;2646;p105"/>
          <p:cNvSpPr/>
          <p:nvPr/>
        </p:nvSpPr>
        <p:spPr>
          <a:xfrm>
            <a:off x="411502" y="1371600"/>
            <a:ext cx="1577424" cy="342900"/>
          </a:xfrm>
          <a:prstGeom prst="roundRect">
            <a:avLst>
              <a:gd fmla="val 50000"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DollarSign_white.png" id="2647" name="Google Shape;2647;p105"/>
          <p:cNvPicPr preferRelativeResize="0"/>
          <p:nvPr/>
        </p:nvPicPr>
        <p:blipFill rotWithShape="1">
          <a:blip r:embed="rId3">
            <a:alphaModFix/>
          </a:blip>
          <a:srcRect b="0" l="0" r="0" t="0"/>
          <a:stretch/>
        </p:blipFill>
        <p:spPr>
          <a:xfrm>
            <a:off x="493802" y="1457325"/>
            <a:ext cx="171450" cy="171450"/>
          </a:xfrm>
          <a:prstGeom prst="rect">
            <a:avLst/>
          </a:prstGeom>
          <a:noFill/>
          <a:ln>
            <a:noFill/>
          </a:ln>
        </p:spPr>
      </p:pic>
      <p:sp>
        <p:nvSpPr>
          <p:cNvPr id="2648" name="Google Shape;2648;p105"/>
          <p:cNvSpPr/>
          <p:nvPr/>
        </p:nvSpPr>
        <p:spPr>
          <a:xfrm>
            <a:off x="706412" y="1371600"/>
            <a:ext cx="1241364"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Arial"/>
              <a:buNone/>
            </a:pPr>
            <a:r>
              <a:rPr b="1" lang="en-GB" sz="1000">
                <a:solidFill>
                  <a:srgbClr val="FFFFFF"/>
                </a:solidFill>
                <a:latin typeface="Arial"/>
                <a:ea typeface="Arial"/>
                <a:cs typeface="Arial"/>
                <a:sym typeface="Arial"/>
              </a:rPr>
              <a:t>FINANCE</a:t>
            </a:r>
            <a:endParaRPr sz="1000">
              <a:solidFill>
                <a:schemeClr val="dk1"/>
              </a:solidFill>
              <a:latin typeface="Calibri"/>
              <a:ea typeface="Calibri"/>
              <a:cs typeface="Calibri"/>
              <a:sym typeface="Calibri"/>
            </a:endParaRPr>
          </a:p>
        </p:txBody>
      </p:sp>
      <p:sp>
        <p:nvSpPr>
          <p:cNvPr id="2649" name="Google Shape;2649;p105"/>
          <p:cNvSpPr/>
          <p:nvPr/>
        </p:nvSpPr>
        <p:spPr>
          <a:xfrm>
            <a:off x="411502" y="1920240"/>
            <a:ext cx="8321255" cy="541782"/>
          </a:xfrm>
          <a:prstGeom prst="roundRect">
            <a:avLst>
              <a:gd fmla="val 12658" name="adj"/>
            </a:avLst>
          </a:prstGeom>
          <a:solidFill>
            <a:srgbClr val="F5F7FA"/>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650" name="Google Shape;2650;p105"/>
          <p:cNvSpPr/>
          <p:nvPr/>
        </p:nvSpPr>
        <p:spPr>
          <a:xfrm>
            <a:off x="534953" y="2019681"/>
            <a:ext cx="342918" cy="342900"/>
          </a:xfrm>
          <a:prstGeom prst="roundRect">
            <a:avLst>
              <a:gd fmla="val 22000"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FileText_white.png" id="2651" name="Google Shape;2651;p105"/>
          <p:cNvPicPr preferRelativeResize="0"/>
          <p:nvPr/>
        </p:nvPicPr>
        <p:blipFill rotWithShape="1">
          <a:blip r:embed="rId4">
            <a:alphaModFix/>
          </a:blip>
          <a:srcRect b="0" l="0" r="0" t="0"/>
          <a:stretch/>
        </p:blipFill>
        <p:spPr>
          <a:xfrm>
            <a:off x="620682" y="2105406"/>
            <a:ext cx="171450" cy="171450"/>
          </a:xfrm>
          <a:prstGeom prst="rect">
            <a:avLst/>
          </a:prstGeom>
          <a:noFill/>
          <a:ln>
            <a:noFill/>
          </a:ln>
        </p:spPr>
      </p:pic>
      <p:sp>
        <p:nvSpPr>
          <p:cNvPr id="2652" name="Google Shape;2652;p105"/>
          <p:cNvSpPr/>
          <p:nvPr/>
        </p:nvSpPr>
        <p:spPr>
          <a:xfrm>
            <a:off x="1001321" y="1920240"/>
            <a:ext cx="3154848" cy="54178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1100"/>
              <a:buFont typeface="Arial"/>
              <a:buNone/>
            </a:pPr>
            <a:r>
              <a:rPr b="1" lang="en-GB" sz="1100">
                <a:solidFill>
                  <a:srgbClr val="1C2B3E"/>
                </a:solidFill>
                <a:latin typeface="Arial"/>
                <a:ea typeface="Arial"/>
                <a:cs typeface="Arial"/>
                <a:sym typeface="Arial"/>
              </a:rPr>
              <a:t>Debtor accounts (billing, payments)</a:t>
            </a:r>
            <a:endParaRPr sz="1100">
              <a:solidFill>
                <a:schemeClr val="dk1"/>
              </a:solidFill>
              <a:latin typeface="Calibri"/>
              <a:ea typeface="Calibri"/>
              <a:cs typeface="Calibri"/>
              <a:sym typeface="Calibri"/>
            </a:endParaRPr>
          </a:p>
        </p:txBody>
      </p:sp>
      <p:sp>
        <p:nvSpPr>
          <p:cNvPr id="2653" name="Google Shape;2653;p105"/>
          <p:cNvSpPr/>
          <p:nvPr/>
        </p:nvSpPr>
        <p:spPr>
          <a:xfrm>
            <a:off x="4252187" y="1920240"/>
            <a:ext cx="4343403" cy="54178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D"/>
              </a:buClr>
              <a:buSzPts val="900"/>
              <a:buFont typeface="Arial"/>
              <a:buNone/>
            </a:pPr>
            <a:r>
              <a:rPr lang="en-GB" sz="900">
                <a:solidFill>
                  <a:srgbClr val="5B6B7D"/>
                </a:solidFill>
                <a:latin typeface="Arial"/>
                <a:ea typeface="Arial"/>
                <a:cs typeface="Arial"/>
                <a:sym typeface="Arial"/>
              </a:rPr>
              <a:t>Owns the billing cycle and AR ledger.</a:t>
            </a:r>
            <a:endParaRPr sz="900">
              <a:solidFill>
                <a:schemeClr val="dk1"/>
              </a:solidFill>
              <a:latin typeface="Calibri"/>
              <a:ea typeface="Calibri"/>
              <a:cs typeface="Calibri"/>
              <a:sym typeface="Calibri"/>
            </a:endParaRPr>
          </a:p>
        </p:txBody>
      </p:sp>
      <p:sp>
        <p:nvSpPr>
          <p:cNvPr id="2654" name="Google Shape;2654;p105"/>
          <p:cNvSpPr/>
          <p:nvPr/>
        </p:nvSpPr>
        <p:spPr>
          <a:xfrm>
            <a:off x="411502" y="2571750"/>
            <a:ext cx="8321255" cy="541782"/>
          </a:xfrm>
          <a:prstGeom prst="roundRect">
            <a:avLst>
              <a:gd fmla="val 12658" name="adj"/>
            </a:avLst>
          </a:prstGeom>
          <a:solidFill>
            <a:srgbClr val="F5F7FA"/>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655" name="Google Shape;2655;p105"/>
          <p:cNvSpPr/>
          <p:nvPr/>
        </p:nvSpPr>
        <p:spPr>
          <a:xfrm>
            <a:off x="534953" y="2671191"/>
            <a:ext cx="342918" cy="342900"/>
          </a:xfrm>
          <a:prstGeom prst="roundRect">
            <a:avLst>
              <a:gd fmla="val 22000"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CheckCircle_white.png" id="2656" name="Google Shape;2656;p105"/>
          <p:cNvPicPr preferRelativeResize="0"/>
          <p:nvPr/>
        </p:nvPicPr>
        <p:blipFill rotWithShape="1">
          <a:blip r:embed="rId5">
            <a:alphaModFix/>
          </a:blip>
          <a:srcRect b="0" l="0" r="0" t="0"/>
          <a:stretch/>
        </p:blipFill>
        <p:spPr>
          <a:xfrm>
            <a:off x="620682" y="2756916"/>
            <a:ext cx="171450" cy="171450"/>
          </a:xfrm>
          <a:prstGeom prst="rect">
            <a:avLst/>
          </a:prstGeom>
          <a:noFill/>
          <a:ln>
            <a:noFill/>
          </a:ln>
        </p:spPr>
      </p:pic>
      <p:sp>
        <p:nvSpPr>
          <p:cNvPr id="2657" name="Google Shape;2657;p105"/>
          <p:cNvSpPr/>
          <p:nvPr/>
        </p:nvSpPr>
        <p:spPr>
          <a:xfrm>
            <a:off x="1001321" y="2571750"/>
            <a:ext cx="3154848" cy="54178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1100"/>
              <a:buFont typeface="Arial"/>
              <a:buNone/>
            </a:pPr>
            <a:r>
              <a:rPr b="1" lang="en-GB" sz="1100">
                <a:solidFill>
                  <a:srgbClr val="1C2B3E"/>
                </a:solidFill>
                <a:latin typeface="Arial"/>
                <a:ea typeface="Arial"/>
                <a:cs typeface="Arial"/>
                <a:sym typeface="Arial"/>
              </a:rPr>
              <a:t>Approves Receipt &amp; Payment Vouchers</a:t>
            </a:r>
            <a:endParaRPr sz="1100">
              <a:solidFill>
                <a:schemeClr val="dk1"/>
              </a:solidFill>
              <a:latin typeface="Calibri"/>
              <a:ea typeface="Calibri"/>
              <a:cs typeface="Calibri"/>
              <a:sym typeface="Calibri"/>
            </a:endParaRPr>
          </a:p>
        </p:txBody>
      </p:sp>
      <p:sp>
        <p:nvSpPr>
          <p:cNvPr id="2658" name="Google Shape;2658;p105"/>
          <p:cNvSpPr/>
          <p:nvPr/>
        </p:nvSpPr>
        <p:spPr>
          <a:xfrm>
            <a:off x="4252187" y="2571750"/>
            <a:ext cx="4343403" cy="54178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D"/>
              </a:buClr>
              <a:buSzPts val="900"/>
              <a:buFont typeface="Arial"/>
              <a:buNone/>
            </a:pPr>
            <a:r>
              <a:rPr lang="en-GB" sz="900">
                <a:solidFill>
                  <a:srgbClr val="5B6B7D"/>
                </a:solidFill>
                <a:latin typeface="Arial"/>
                <a:ea typeface="Arial"/>
                <a:cs typeface="Arial"/>
                <a:sym typeface="Arial"/>
              </a:rPr>
              <a:t>Validated against money hitting the bank before issuing.</a:t>
            </a:r>
            <a:endParaRPr sz="900">
              <a:solidFill>
                <a:schemeClr val="dk1"/>
              </a:solidFill>
              <a:latin typeface="Calibri"/>
              <a:ea typeface="Calibri"/>
              <a:cs typeface="Calibri"/>
              <a:sym typeface="Calibri"/>
            </a:endParaRPr>
          </a:p>
        </p:txBody>
      </p:sp>
      <p:sp>
        <p:nvSpPr>
          <p:cNvPr id="2659" name="Google Shape;2659;p105"/>
          <p:cNvSpPr/>
          <p:nvPr/>
        </p:nvSpPr>
        <p:spPr>
          <a:xfrm>
            <a:off x="411502" y="3223260"/>
            <a:ext cx="8321255" cy="541782"/>
          </a:xfrm>
          <a:prstGeom prst="roundRect">
            <a:avLst>
              <a:gd fmla="val 12658" name="adj"/>
            </a:avLst>
          </a:prstGeom>
          <a:solidFill>
            <a:srgbClr val="F5F7FA"/>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660" name="Google Shape;2660;p105"/>
          <p:cNvSpPr/>
          <p:nvPr/>
        </p:nvSpPr>
        <p:spPr>
          <a:xfrm>
            <a:off x="534953" y="3322701"/>
            <a:ext cx="342918" cy="342900"/>
          </a:xfrm>
          <a:prstGeom prst="roundRect">
            <a:avLst>
              <a:gd fmla="val 22000"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Repeat_white.png" id="2661" name="Google Shape;2661;p105"/>
          <p:cNvPicPr preferRelativeResize="0"/>
          <p:nvPr/>
        </p:nvPicPr>
        <p:blipFill rotWithShape="1">
          <a:blip r:embed="rId6">
            <a:alphaModFix/>
          </a:blip>
          <a:srcRect b="0" l="0" r="0" t="0"/>
          <a:stretch/>
        </p:blipFill>
        <p:spPr>
          <a:xfrm>
            <a:off x="620682" y="3408426"/>
            <a:ext cx="171450" cy="171450"/>
          </a:xfrm>
          <a:prstGeom prst="rect">
            <a:avLst/>
          </a:prstGeom>
          <a:noFill/>
          <a:ln>
            <a:noFill/>
          </a:ln>
        </p:spPr>
      </p:pic>
      <p:sp>
        <p:nvSpPr>
          <p:cNvPr id="2662" name="Google Shape;2662;p105"/>
          <p:cNvSpPr/>
          <p:nvPr/>
        </p:nvSpPr>
        <p:spPr>
          <a:xfrm>
            <a:off x="1001321" y="3223260"/>
            <a:ext cx="3154848" cy="54178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1100"/>
              <a:buFont typeface="Arial"/>
              <a:buNone/>
            </a:pPr>
            <a:r>
              <a:rPr b="1" lang="en-GB" sz="1100">
                <a:solidFill>
                  <a:srgbClr val="1C2B3E"/>
                </a:solidFill>
                <a:latin typeface="Arial"/>
                <a:ea typeface="Arial"/>
                <a:cs typeface="Arial"/>
                <a:sym typeface="Arial"/>
              </a:rPr>
              <a:t>Reconciles payments</a:t>
            </a:r>
            <a:endParaRPr sz="1100">
              <a:solidFill>
                <a:schemeClr val="dk1"/>
              </a:solidFill>
              <a:latin typeface="Calibri"/>
              <a:ea typeface="Calibri"/>
              <a:cs typeface="Calibri"/>
              <a:sym typeface="Calibri"/>
            </a:endParaRPr>
          </a:p>
        </p:txBody>
      </p:sp>
      <p:sp>
        <p:nvSpPr>
          <p:cNvPr id="2663" name="Google Shape;2663;p105"/>
          <p:cNvSpPr/>
          <p:nvPr/>
        </p:nvSpPr>
        <p:spPr>
          <a:xfrm>
            <a:off x="4252187" y="3223260"/>
            <a:ext cx="4343403" cy="54178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D"/>
              </a:buClr>
              <a:buSzPts val="900"/>
              <a:buFont typeface="Arial"/>
              <a:buNone/>
            </a:pPr>
            <a:r>
              <a:rPr lang="en-GB" sz="900">
                <a:solidFill>
                  <a:srgbClr val="5B6B7D"/>
                </a:solidFill>
                <a:latin typeface="Arial"/>
                <a:ea typeface="Arial"/>
                <a:cs typeface="Arial"/>
                <a:sym typeface="Arial"/>
              </a:rPr>
              <a:t>Matches receipts and payments to source documents.</a:t>
            </a:r>
            <a:endParaRPr sz="900">
              <a:solidFill>
                <a:schemeClr val="dk1"/>
              </a:solidFill>
              <a:latin typeface="Calibri"/>
              <a:ea typeface="Calibri"/>
              <a:cs typeface="Calibri"/>
              <a:sym typeface="Calibri"/>
            </a:endParaRPr>
          </a:p>
        </p:txBody>
      </p:sp>
      <p:sp>
        <p:nvSpPr>
          <p:cNvPr id="2664" name="Google Shape;2664;p105"/>
          <p:cNvSpPr txBox="1"/>
          <p:nvPr>
            <p:ph idx="12" type="sldNum"/>
          </p:nvPr>
        </p:nvSpPr>
        <p:spPr>
          <a:xfrm>
            <a:off x="8347216" y="4750189"/>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2669" name="Shape 2669"/>
        <p:cNvGrpSpPr/>
        <p:nvPr/>
      </p:nvGrpSpPr>
      <p:grpSpPr>
        <a:xfrm>
          <a:off x="0" y="0"/>
          <a:ext cx="0" cy="0"/>
          <a:chOff x="0" y="0"/>
          <a:chExt cx="0" cy="0"/>
        </a:xfrm>
      </p:grpSpPr>
      <p:sp>
        <p:nvSpPr>
          <p:cNvPr id="2670" name="Google Shape;2670;p106"/>
          <p:cNvSpPr/>
          <p:nvPr/>
        </p:nvSpPr>
        <p:spPr>
          <a:xfrm>
            <a:off x="411502" y="260604"/>
            <a:ext cx="6858366"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APPENDIX</a:t>
            </a:r>
            <a:endParaRPr sz="800">
              <a:solidFill>
                <a:schemeClr val="dk1"/>
              </a:solidFill>
              <a:latin typeface="Calibri"/>
              <a:ea typeface="Calibri"/>
              <a:cs typeface="Calibri"/>
              <a:sym typeface="Calibri"/>
            </a:endParaRPr>
          </a:p>
        </p:txBody>
      </p:sp>
      <p:sp>
        <p:nvSpPr>
          <p:cNvPr id="2671" name="Google Shape;2671;p106"/>
          <p:cNvSpPr/>
          <p:nvPr/>
        </p:nvSpPr>
        <p:spPr>
          <a:xfrm>
            <a:off x="411502" y="438912"/>
            <a:ext cx="8321255" cy="4800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C2B3E"/>
              </a:buClr>
              <a:buSzPts val="2200"/>
              <a:buFont typeface="Arial"/>
              <a:buNone/>
            </a:pPr>
            <a:r>
              <a:rPr b="1" lang="en-GB" sz="2200">
                <a:solidFill>
                  <a:srgbClr val="1C2B3E"/>
                </a:solidFill>
                <a:latin typeface="Poppins"/>
                <a:ea typeface="Poppins"/>
                <a:cs typeface="Poppins"/>
                <a:sym typeface="Poppins"/>
              </a:rPr>
              <a:t>Logistics / Warehouse — Responsibilities</a:t>
            </a:r>
            <a:endParaRPr sz="2200">
              <a:solidFill>
                <a:schemeClr val="dk1"/>
              </a:solidFill>
              <a:latin typeface="Poppins"/>
              <a:ea typeface="Poppins"/>
              <a:cs typeface="Poppins"/>
              <a:sym typeface="Poppins"/>
            </a:endParaRPr>
          </a:p>
        </p:txBody>
      </p:sp>
      <p:sp>
        <p:nvSpPr>
          <p:cNvPr id="2672" name="Google Shape;2672;p106"/>
          <p:cNvSpPr/>
          <p:nvPr/>
        </p:nvSpPr>
        <p:spPr>
          <a:xfrm>
            <a:off x="411502" y="932688"/>
            <a:ext cx="8321255"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D"/>
              </a:buClr>
              <a:buSzPts val="1100"/>
              <a:buFont typeface="Arial"/>
              <a:buNone/>
            </a:pPr>
            <a:r>
              <a:rPr lang="en-GB" sz="1100">
                <a:solidFill>
                  <a:srgbClr val="5B6B7D"/>
                </a:solidFill>
                <a:latin typeface="Arial"/>
                <a:ea typeface="Arial"/>
                <a:cs typeface="Arial"/>
                <a:sym typeface="Arial"/>
              </a:rPr>
              <a:t>Responsibilities — full-day / facilitator reference.</a:t>
            </a:r>
            <a:endParaRPr sz="1100">
              <a:solidFill>
                <a:schemeClr val="dk1"/>
              </a:solidFill>
              <a:latin typeface="Calibri"/>
              <a:ea typeface="Calibri"/>
              <a:cs typeface="Calibri"/>
              <a:sym typeface="Calibri"/>
            </a:endParaRPr>
          </a:p>
        </p:txBody>
      </p:sp>
      <p:sp>
        <p:nvSpPr>
          <p:cNvPr id="2673" name="Google Shape;2673;p106"/>
          <p:cNvSpPr/>
          <p:nvPr/>
        </p:nvSpPr>
        <p:spPr>
          <a:xfrm>
            <a:off x="411502" y="1371600"/>
            <a:ext cx="1577424" cy="342900"/>
          </a:xfrm>
          <a:prstGeom prst="roundRect">
            <a:avLst>
              <a:gd fmla="val 50000"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Package_white.png" id="2674" name="Google Shape;2674;p106"/>
          <p:cNvPicPr preferRelativeResize="0"/>
          <p:nvPr/>
        </p:nvPicPr>
        <p:blipFill rotWithShape="1">
          <a:blip r:embed="rId3">
            <a:alphaModFix/>
          </a:blip>
          <a:srcRect b="0" l="0" r="0" t="0"/>
          <a:stretch/>
        </p:blipFill>
        <p:spPr>
          <a:xfrm>
            <a:off x="493802" y="1457325"/>
            <a:ext cx="171450" cy="171450"/>
          </a:xfrm>
          <a:prstGeom prst="rect">
            <a:avLst/>
          </a:prstGeom>
          <a:noFill/>
          <a:ln>
            <a:noFill/>
          </a:ln>
        </p:spPr>
      </p:pic>
      <p:sp>
        <p:nvSpPr>
          <p:cNvPr id="2675" name="Google Shape;2675;p106"/>
          <p:cNvSpPr/>
          <p:nvPr/>
        </p:nvSpPr>
        <p:spPr>
          <a:xfrm>
            <a:off x="706412" y="1371600"/>
            <a:ext cx="1241364"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Arial"/>
              <a:buNone/>
            </a:pPr>
            <a:r>
              <a:rPr b="1" lang="en-GB" sz="1000">
                <a:solidFill>
                  <a:srgbClr val="FFFFFF"/>
                </a:solidFill>
                <a:latin typeface="Arial"/>
                <a:ea typeface="Arial"/>
                <a:cs typeface="Arial"/>
                <a:sym typeface="Arial"/>
              </a:rPr>
              <a:t>LOGISTICS</a:t>
            </a:r>
            <a:endParaRPr sz="1000">
              <a:solidFill>
                <a:schemeClr val="dk1"/>
              </a:solidFill>
              <a:latin typeface="Calibri"/>
              <a:ea typeface="Calibri"/>
              <a:cs typeface="Calibri"/>
              <a:sym typeface="Calibri"/>
            </a:endParaRPr>
          </a:p>
        </p:txBody>
      </p:sp>
      <p:sp>
        <p:nvSpPr>
          <p:cNvPr id="2676" name="Google Shape;2676;p106"/>
          <p:cNvSpPr/>
          <p:nvPr/>
        </p:nvSpPr>
        <p:spPr>
          <a:xfrm>
            <a:off x="411502" y="1920240"/>
            <a:ext cx="8321255" cy="541782"/>
          </a:xfrm>
          <a:prstGeom prst="roundRect">
            <a:avLst>
              <a:gd fmla="val 12658" name="adj"/>
            </a:avLst>
          </a:prstGeom>
          <a:solidFill>
            <a:srgbClr val="F5F7FA"/>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677" name="Google Shape;2677;p106"/>
          <p:cNvSpPr/>
          <p:nvPr/>
        </p:nvSpPr>
        <p:spPr>
          <a:xfrm>
            <a:off x="534953" y="2019681"/>
            <a:ext cx="342918" cy="342900"/>
          </a:xfrm>
          <a:prstGeom prst="roundRect">
            <a:avLst>
              <a:gd fmla="val 22000"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Clipboard_white.png" id="2678" name="Google Shape;2678;p106"/>
          <p:cNvPicPr preferRelativeResize="0"/>
          <p:nvPr/>
        </p:nvPicPr>
        <p:blipFill rotWithShape="1">
          <a:blip r:embed="rId4">
            <a:alphaModFix/>
          </a:blip>
          <a:srcRect b="0" l="0" r="0" t="0"/>
          <a:stretch/>
        </p:blipFill>
        <p:spPr>
          <a:xfrm>
            <a:off x="620682" y="2105406"/>
            <a:ext cx="171450" cy="171450"/>
          </a:xfrm>
          <a:prstGeom prst="rect">
            <a:avLst/>
          </a:prstGeom>
          <a:noFill/>
          <a:ln>
            <a:noFill/>
          </a:ln>
        </p:spPr>
      </p:pic>
      <p:sp>
        <p:nvSpPr>
          <p:cNvPr id="2679" name="Google Shape;2679;p106"/>
          <p:cNvSpPr/>
          <p:nvPr/>
        </p:nvSpPr>
        <p:spPr>
          <a:xfrm>
            <a:off x="1001321" y="1920240"/>
            <a:ext cx="3154848" cy="54178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1100"/>
              <a:buFont typeface="Arial"/>
              <a:buNone/>
            </a:pPr>
            <a:r>
              <a:rPr b="1" lang="en-GB" sz="1100">
                <a:solidFill>
                  <a:srgbClr val="1C2B3E"/>
                </a:solidFill>
                <a:latin typeface="Arial"/>
                <a:ea typeface="Arial"/>
                <a:cs typeface="Arial"/>
                <a:sym typeface="Arial"/>
              </a:rPr>
              <a:t>Plans fulfilment</a:t>
            </a:r>
            <a:endParaRPr sz="1100">
              <a:solidFill>
                <a:schemeClr val="dk1"/>
              </a:solidFill>
              <a:latin typeface="Calibri"/>
              <a:ea typeface="Calibri"/>
              <a:cs typeface="Calibri"/>
              <a:sym typeface="Calibri"/>
            </a:endParaRPr>
          </a:p>
        </p:txBody>
      </p:sp>
      <p:sp>
        <p:nvSpPr>
          <p:cNvPr id="2680" name="Google Shape;2680;p106"/>
          <p:cNvSpPr/>
          <p:nvPr/>
        </p:nvSpPr>
        <p:spPr>
          <a:xfrm>
            <a:off x="4252187" y="1920240"/>
            <a:ext cx="4343403" cy="54178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D"/>
              </a:buClr>
              <a:buSzPts val="900"/>
              <a:buFont typeface="Arial"/>
              <a:buNone/>
            </a:pPr>
            <a:r>
              <a:rPr lang="en-GB" sz="900">
                <a:solidFill>
                  <a:srgbClr val="5B6B7D"/>
                </a:solidFill>
                <a:latin typeface="Arial"/>
                <a:ea typeface="Arial"/>
                <a:cs typeface="Arial"/>
                <a:sym typeface="Arial"/>
              </a:rPr>
              <a:t>Sequences picks and deliveries for the day.</a:t>
            </a:r>
            <a:endParaRPr sz="900">
              <a:solidFill>
                <a:schemeClr val="dk1"/>
              </a:solidFill>
              <a:latin typeface="Calibri"/>
              <a:ea typeface="Calibri"/>
              <a:cs typeface="Calibri"/>
              <a:sym typeface="Calibri"/>
            </a:endParaRPr>
          </a:p>
        </p:txBody>
      </p:sp>
      <p:sp>
        <p:nvSpPr>
          <p:cNvPr id="2681" name="Google Shape;2681;p106"/>
          <p:cNvSpPr/>
          <p:nvPr/>
        </p:nvSpPr>
        <p:spPr>
          <a:xfrm>
            <a:off x="411502" y="2571750"/>
            <a:ext cx="8321255" cy="541782"/>
          </a:xfrm>
          <a:prstGeom prst="roundRect">
            <a:avLst>
              <a:gd fmla="val 12658" name="adj"/>
            </a:avLst>
          </a:prstGeom>
          <a:solidFill>
            <a:srgbClr val="F5F7FA"/>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682" name="Google Shape;2682;p106"/>
          <p:cNvSpPr/>
          <p:nvPr/>
        </p:nvSpPr>
        <p:spPr>
          <a:xfrm>
            <a:off x="534953" y="2671191"/>
            <a:ext cx="342918" cy="342900"/>
          </a:xfrm>
          <a:prstGeom prst="roundRect">
            <a:avLst>
              <a:gd fmla="val 22000"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Package_white.png" id="2683" name="Google Shape;2683;p106"/>
          <p:cNvPicPr preferRelativeResize="0"/>
          <p:nvPr/>
        </p:nvPicPr>
        <p:blipFill rotWithShape="1">
          <a:blip r:embed="rId3">
            <a:alphaModFix/>
          </a:blip>
          <a:srcRect b="0" l="0" r="0" t="0"/>
          <a:stretch/>
        </p:blipFill>
        <p:spPr>
          <a:xfrm>
            <a:off x="620682" y="2756916"/>
            <a:ext cx="171450" cy="171450"/>
          </a:xfrm>
          <a:prstGeom prst="rect">
            <a:avLst/>
          </a:prstGeom>
          <a:noFill/>
          <a:ln>
            <a:noFill/>
          </a:ln>
        </p:spPr>
      </p:pic>
      <p:sp>
        <p:nvSpPr>
          <p:cNvPr id="2684" name="Google Shape;2684;p106"/>
          <p:cNvSpPr/>
          <p:nvPr/>
        </p:nvSpPr>
        <p:spPr>
          <a:xfrm>
            <a:off x="1001321" y="2571750"/>
            <a:ext cx="3154848" cy="54178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1100"/>
              <a:buFont typeface="Arial"/>
              <a:buNone/>
            </a:pPr>
            <a:r>
              <a:rPr b="1" lang="en-GB" sz="1100">
                <a:solidFill>
                  <a:srgbClr val="1C2B3E"/>
                </a:solidFill>
                <a:latin typeface="Arial"/>
                <a:ea typeface="Arial"/>
                <a:cs typeface="Arial"/>
                <a:sym typeface="Arial"/>
              </a:rPr>
              <a:t>Stock movement and counts</a:t>
            </a:r>
            <a:endParaRPr sz="1100">
              <a:solidFill>
                <a:schemeClr val="dk1"/>
              </a:solidFill>
              <a:latin typeface="Calibri"/>
              <a:ea typeface="Calibri"/>
              <a:cs typeface="Calibri"/>
              <a:sym typeface="Calibri"/>
            </a:endParaRPr>
          </a:p>
        </p:txBody>
      </p:sp>
      <p:sp>
        <p:nvSpPr>
          <p:cNvPr id="2685" name="Google Shape;2685;p106"/>
          <p:cNvSpPr/>
          <p:nvPr/>
        </p:nvSpPr>
        <p:spPr>
          <a:xfrm>
            <a:off x="4252187" y="2571750"/>
            <a:ext cx="4343403" cy="54178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D"/>
              </a:buClr>
              <a:buSzPts val="900"/>
              <a:buFont typeface="Arial"/>
              <a:buNone/>
            </a:pPr>
            <a:r>
              <a:rPr lang="en-GB" sz="900">
                <a:solidFill>
                  <a:srgbClr val="5B6B7D"/>
                </a:solidFill>
                <a:latin typeface="Arial"/>
                <a:ea typeface="Arial"/>
                <a:cs typeface="Arial"/>
                <a:sym typeface="Arial"/>
              </a:rPr>
              <a:t>Executes physical movement and periodic counts.</a:t>
            </a:r>
            <a:endParaRPr sz="900">
              <a:solidFill>
                <a:schemeClr val="dk1"/>
              </a:solidFill>
              <a:latin typeface="Calibri"/>
              <a:ea typeface="Calibri"/>
              <a:cs typeface="Calibri"/>
              <a:sym typeface="Calibri"/>
            </a:endParaRPr>
          </a:p>
        </p:txBody>
      </p:sp>
      <p:sp>
        <p:nvSpPr>
          <p:cNvPr id="2686" name="Google Shape;2686;p106"/>
          <p:cNvSpPr/>
          <p:nvPr/>
        </p:nvSpPr>
        <p:spPr>
          <a:xfrm>
            <a:off x="411502" y="3223260"/>
            <a:ext cx="8321255" cy="541782"/>
          </a:xfrm>
          <a:prstGeom prst="roundRect">
            <a:avLst>
              <a:gd fmla="val 12658" name="adj"/>
            </a:avLst>
          </a:prstGeom>
          <a:solidFill>
            <a:srgbClr val="F5F7FA"/>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687" name="Google Shape;2687;p106"/>
          <p:cNvSpPr/>
          <p:nvPr/>
        </p:nvSpPr>
        <p:spPr>
          <a:xfrm>
            <a:off x="534953" y="3322701"/>
            <a:ext cx="342918" cy="342900"/>
          </a:xfrm>
          <a:prstGeom prst="roundRect">
            <a:avLst>
              <a:gd fmla="val 22000"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TrendingUp_white.png" id="2688" name="Google Shape;2688;p106"/>
          <p:cNvPicPr preferRelativeResize="0"/>
          <p:nvPr/>
        </p:nvPicPr>
        <p:blipFill rotWithShape="1">
          <a:blip r:embed="rId5">
            <a:alphaModFix/>
          </a:blip>
          <a:srcRect b="0" l="0" r="0" t="0"/>
          <a:stretch/>
        </p:blipFill>
        <p:spPr>
          <a:xfrm>
            <a:off x="620682" y="3408426"/>
            <a:ext cx="171450" cy="171450"/>
          </a:xfrm>
          <a:prstGeom prst="rect">
            <a:avLst/>
          </a:prstGeom>
          <a:noFill/>
          <a:ln>
            <a:noFill/>
          </a:ln>
        </p:spPr>
      </p:pic>
      <p:sp>
        <p:nvSpPr>
          <p:cNvPr id="2689" name="Google Shape;2689;p106"/>
          <p:cNvSpPr/>
          <p:nvPr/>
        </p:nvSpPr>
        <p:spPr>
          <a:xfrm>
            <a:off x="1001321" y="3223260"/>
            <a:ext cx="3154848" cy="54178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1100"/>
              <a:buFont typeface="Arial"/>
              <a:buNone/>
            </a:pPr>
            <a:r>
              <a:rPr b="1" lang="en-GB" sz="1100">
                <a:solidFill>
                  <a:srgbClr val="1C2B3E"/>
                </a:solidFill>
                <a:latin typeface="Arial"/>
                <a:ea typeface="Arial"/>
                <a:cs typeface="Arial"/>
                <a:sym typeface="Arial"/>
              </a:rPr>
              <a:t>Stock planning from projections and aging</a:t>
            </a:r>
            <a:endParaRPr sz="1100">
              <a:solidFill>
                <a:schemeClr val="dk1"/>
              </a:solidFill>
              <a:latin typeface="Calibri"/>
              <a:ea typeface="Calibri"/>
              <a:cs typeface="Calibri"/>
              <a:sym typeface="Calibri"/>
            </a:endParaRPr>
          </a:p>
        </p:txBody>
      </p:sp>
      <p:sp>
        <p:nvSpPr>
          <p:cNvPr id="2690" name="Google Shape;2690;p106"/>
          <p:cNvSpPr/>
          <p:nvPr/>
        </p:nvSpPr>
        <p:spPr>
          <a:xfrm>
            <a:off x="4252187" y="3223260"/>
            <a:ext cx="4343403" cy="54178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D"/>
              </a:buClr>
              <a:buSzPts val="900"/>
              <a:buFont typeface="Arial"/>
              <a:buNone/>
            </a:pPr>
            <a:r>
              <a:rPr lang="en-GB" sz="900">
                <a:solidFill>
                  <a:srgbClr val="5B6B7D"/>
                </a:solidFill>
                <a:latin typeface="Arial"/>
                <a:ea typeface="Arial"/>
                <a:cs typeface="Arial"/>
                <a:sym typeface="Arial"/>
              </a:rPr>
              <a:t>Triggers purchasing or selling signals from data.</a:t>
            </a:r>
            <a:endParaRPr sz="900">
              <a:solidFill>
                <a:schemeClr val="dk1"/>
              </a:solidFill>
              <a:latin typeface="Calibri"/>
              <a:ea typeface="Calibri"/>
              <a:cs typeface="Calibri"/>
              <a:sym typeface="Calibri"/>
            </a:endParaRPr>
          </a:p>
        </p:txBody>
      </p:sp>
      <p:sp>
        <p:nvSpPr>
          <p:cNvPr id="2691" name="Google Shape;2691;p106"/>
          <p:cNvSpPr txBox="1"/>
          <p:nvPr>
            <p:ph idx="12" type="sldNum"/>
          </p:nvPr>
        </p:nvSpPr>
        <p:spPr>
          <a:xfrm>
            <a:off x="8347216" y="4750189"/>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2696" name="Shape 2696"/>
        <p:cNvGrpSpPr/>
        <p:nvPr/>
      </p:nvGrpSpPr>
      <p:grpSpPr>
        <a:xfrm>
          <a:off x="0" y="0"/>
          <a:ext cx="0" cy="0"/>
          <a:chOff x="0" y="0"/>
          <a:chExt cx="0" cy="0"/>
        </a:xfrm>
      </p:grpSpPr>
      <p:sp>
        <p:nvSpPr>
          <p:cNvPr id="2697" name="Google Shape;2697;p107"/>
          <p:cNvSpPr/>
          <p:nvPr/>
        </p:nvSpPr>
        <p:spPr>
          <a:xfrm>
            <a:off x="411502" y="260604"/>
            <a:ext cx="6858366"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APPENDIX</a:t>
            </a:r>
            <a:endParaRPr sz="800">
              <a:solidFill>
                <a:schemeClr val="dk1"/>
              </a:solidFill>
              <a:latin typeface="Calibri"/>
              <a:ea typeface="Calibri"/>
              <a:cs typeface="Calibri"/>
              <a:sym typeface="Calibri"/>
            </a:endParaRPr>
          </a:p>
        </p:txBody>
      </p:sp>
      <p:sp>
        <p:nvSpPr>
          <p:cNvPr id="2698" name="Google Shape;2698;p107"/>
          <p:cNvSpPr/>
          <p:nvPr/>
        </p:nvSpPr>
        <p:spPr>
          <a:xfrm>
            <a:off x="411502" y="438912"/>
            <a:ext cx="8321255" cy="4800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C2B3E"/>
              </a:buClr>
              <a:buSzPts val="2200"/>
              <a:buFont typeface="Arial"/>
              <a:buNone/>
            </a:pPr>
            <a:r>
              <a:rPr b="1" lang="en-GB" sz="2200">
                <a:solidFill>
                  <a:srgbClr val="1C2B3E"/>
                </a:solidFill>
                <a:latin typeface="Poppins"/>
                <a:ea typeface="Poppins"/>
                <a:cs typeface="Poppins"/>
                <a:sym typeface="Poppins"/>
              </a:rPr>
              <a:t>Credit Controller — Responsibilities</a:t>
            </a:r>
            <a:endParaRPr sz="2200">
              <a:solidFill>
                <a:schemeClr val="dk1"/>
              </a:solidFill>
              <a:latin typeface="Poppins"/>
              <a:ea typeface="Poppins"/>
              <a:cs typeface="Poppins"/>
              <a:sym typeface="Poppins"/>
            </a:endParaRPr>
          </a:p>
        </p:txBody>
      </p:sp>
      <p:sp>
        <p:nvSpPr>
          <p:cNvPr id="2699" name="Google Shape;2699;p107"/>
          <p:cNvSpPr/>
          <p:nvPr/>
        </p:nvSpPr>
        <p:spPr>
          <a:xfrm>
            <a:off x="411502" y="932688"/>
            <a:ext cx="8321255"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D"/>
              </a:buClr>
              <a:buSzPts val="1100"/>
              <a:buFont typeface="Arial"/>
              <a:buNone/>
            </a:pPr>
            <a:r>
              <a:rPr lang="en-GB" sz="1100">
                <a:solidFill>
                  <a:srgbClr val="5B6B7D"/>
                </a:solidFill>
                <a:latin typeface="Arial"/>
                <a:ea typeface="Arial"/>
                <a:cs typeface="Arial"/>
                <a:sym typeface="Arial"/>
              </a:rPr>
              <a:t>Responsibilities — full-day / facilitator reference.</a:t>
            </a:r>
            <a:endParaRPr sz="1100">
              <a:solidFill>
                <a:schemeClr val="dk1"/>
              </a:solidFill>
              <a:latin typeface="Calibri"/>
              <a:ea typeface="Calibri"/>
              <a:cs typeface="Calibri"/>
              <a:sym typeface="Calibri"/>
            </a:endParaRPr>
          </a:p>
        </p:txBody>
      </p:sp>
      <p:sp>
        <p:nvSpPr>
          <p:cNvPr id="2700" name="Google Shape;2700;p107"/>
          <p:cNvSpPr/>
          <p:nvPr/>
        </p:nvSpPr>
        <p:spPr>
          <a:xfrm>
            <a:off x="411502" y="1371600"/>
            <a:ext cx="1577424" cy="342900"/>
          </a:xfrm>
          <a:prstGeom prst="roundRect">
            <a:avLst>
              <a:gd fmla="val 50000"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Shield_white.png" id="2701" name="Google Shape;2701;p107"/>
          <p:cNvPicPr preferRelativeResize="0"/>
          <p:nvPr/>
        </p:nvPicPr>
        <p:blipFill rotWithShape="1">
          <a:blip r:embed="rId3">
            <a:alphaModFix/>
          </a:blip>
          <a:srcRect b="0" l="0" r="0" t="0"/>
          <a:stretch/>
        </p:blipFill>
        <p:spPr>
          <a:xfrm>
            <a:off x="493802" y="1457325"/>
            <a:ext cx="171450" cy="171450"/>
          </a:xfrm>
          <a:prstGeom prst="rect">
            <a:avLst/>
          </a:prstGeom>
          <a:noFill/>
          <a:ln>
            <a:noFill/>
          </a:ln>
        </p:spPr>
      </p:pic>
      <p:sp>
        <p:nvSpPr>
          <p:cNvPr id="2702" name="Google Shape;2702;p107"/>
          <p:cNvSpPr/>
          <p:nvPr/>
        </p:nvSpPr>
        <p:spPr>
          <a:xfrm>
            <a:off x="706412" y="1371600"/>
            <a:ext cx="1241364"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Arial"/>
              <a:buNone/>
            </a:pPr>
            <a:r>
              <a:rPr b="1" lang="en-GB" sz="1000">
                <a:solidFill>
                  <a:srgbClr val="FFFFFF"/>
                </a:solidFill>
                <a:latin typeface="Arial"/>
                <a:ea typeface="Arial"/>
                <a:cs typeface="Arial"/>
                <a:sym typeface="Arial"/>
              </a:rPr>
              <a:t>CREDIT CTRL</a:t>
            </a:r>
            <a:endParaRPr sz="1000">
              <a:solidFill>
                <a:schemeClr val="dk1"/>
              </a:solidFill>
              <a:latin typeface="Calibri"/>
              <a:ea typeface="Calibri"/>
              <a:cs typeface="Calibri"/>
              <a:sym typeface="Calibri"/>
            </a:endParaRPr>
          </a:p>
        </p:txBody>
      </p:sp>
      <p:sp>
        <p:nvSpPr>
          <p:cNvPr id="2703" name="Google Shape;2703;p107"/>
          <p:cNvSpPr/>
          <p:nvPr/>
        </p:nvSpPr>
        <p:spPr>
          <a:xfrm>
            <a:off x="411502" y="1920240"/>
            <a:ext cx="8321255" cy="541782"/>
          </a:xfrm>
          <a:prstGeom prst="roundRect">
            <a:avLst>
              <a:gd fmla="val 12658" name="adj"/>
            </a:avLst>
          </a:prstGeom>
          <a:solidFill>
            <a:srgbClr val="F5F7FA"/>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704" name="Google Shape;2704;p107"/>
          <p:cNvSpPr/>
          <p:nvPr/>
        </p:nvSpPr>
        <p:spPr>
          <a:xfrm>
            <a:off x="534953" y="2019681"/>
            <a:ext cx="342918" cy="342900"/>
          </a:xfrm>
          <a:prstGeom prst="roundRect">
            <a:avLst>
              <a:gd fmla="val 22000"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Shield_white.png" id="2705" name="Google Shape;2705;p107"/>
          <p:cNvPicPr preferRelativeResize="0"/>
          <p:nvPr/>
        </p:nvPicPr>
        <p:blipFill rotWithShape="1">
          <a:blip r:embed="rId3">
            <a:alphaModFix/>
          </a:blip>
          <a:srcRect b="0" l="0" r="0" t="0"/>
          <a:stretch/>
        </p:blipFill>
        <p:spPr>
          <a:xfrm>
            <a:off x="620682" y="2105406"/>
            <a:ext cx="171450" cy="171450"/>
          </a:xfrm>
          <a:prstGeom prst="rect">
            <a:avLst/>
          </a:prstGeom>
          <a:noFill/>
          <a:ln>
            <a:noFill/>
          </a:ln>
        </p:spPr>
      </p:pic>
      <p:sp>
        <p:nvSpPr>
          <p:cNvPr id="2706" name="Google Shape;2706;p107"/>
          <p:cNvSpPr/>
          <p:nvPr/>
        </p:nvSpPr>
        <p:spPr>
          <a:xfrm>
            <a:off x="1001321" y="1920240"/>
            <a:ext cx="3154848" cy="54178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1100"/>
              <a:buFont typeface="Arial"/>
              <a:buNone/>
            </a:pPr>
            <a:r>
              <a:rPr b="1" lang="en-GB" sz="1100">
                <a:solidFill>
                  <a:srgbClr val="1C2B3E"/>
                </a:solidFill>
                <a:latin typeface="Arial"/>
                <a:ea typeface="Arial"/>
                <a:cs typeface="Arial"/>
                <a:sym typeface="Arial"/>
              </a:rPr>
              <a:t>Approves / overrides credit-limit or term breaches</a:t>
            </a:r>
            <a:endParaRPr sz="1100">
              <a:solidFill>
                <a:schemeClr val="dk1"/>
              </a:solidFill>
              <a:latin typeface="Calibri"/>
              <a:ea typeface="Calibri"/>
              <a:cs typeface="Calibri"/>
              <a:sym typeface="Calibri"/>
            </a:endParaRPr>
          </a:p>
        </p:txBody>
      </p:sp>
      <p:sp>
        <p:nvSpPr>
          <p:cNvPr id="2707" name="Google Shape;2707;p107"/>
          <p:cNvSpPr/>
          <p:nvPr/>
        </p:nvSpPr>
        <p:spPr>
          <a:xfrm>
            <a:off x="4252187" y="1920240"/>
            <a:ext cx="4343403" cy="54178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D"/>
              </a:buClr>
              <a:buSzPts val="900"/>
              <a:buFont typeface="Arial"/>
              <a:buNone/>
            </a:pPr>
            <a:r>
              <a:rPr lang="en-GB" sz="900">
                <a:solidFill>
                  <a:srgbClr val="5B6B7D"/>
                </a:solidFill>
                <a:latin typeface="Arial"/>
                <a:ea typeface="Arial"/>
                <a:cs typeface="Arial"/>
                <a:sym typeface="Arial"/>
              </a:rPr>
              <a:t>Makes the judgment call when an order is flagged.</a:t>
            </a:r>
            <a:endParaRPr sz="900">
              <a:solidFill>
                <a:schemeClr val="dk1"/>
              </a:solidFill>
              <a:latin typeface="Calibri"/>
              <a:ea typeface="Calibri"/>
              <a:cs typeface="Calibri"/>
              <a:sym typeface="Calibri"/>
            </a:endParaRPr>
          </a:p>
        </p:txBody>
      </p:sp>
      <p:sp>
        <p:nvSpPr>
          <p:cNvPr id="2708" name="Google Shape;2708;p107"/>
          <p:cNvSpPr/>
          <p:nvPr/>
        </p:nvSpPr>
        <p:spPr>
          <a:xfrm>
            <a:off x="411502" y="2571750"/>
            <a:ext cx="8321255" cy="541782"/>
          </a:xfrm>
          <a:prstGeom prst="roundRect">
            <a:avLst>
              <a:gd fmla="val 12658" name="adj"/>
            </a:avLst>
          </a:prstGeom>
          <a:solidFill>
            <a:srgbClr val="F5F7FA"/>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709" name="Google Shape;2709;p107"/>
          <p:cNvSpPr/>
          <p:nvPr/>
        </p:nvSpPr>
        <p:spPr>
          <a:xfrm>
            <a:off x="534953" y="2671191"/>
            <a:ext cx="342918" cy="342900"/>
          </a:xfrm>
          <a:prstGeom prst="roundRect">
            <a:avLst>
              <a:gd fmla="val 22000"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Lock_white.png" id="2710" name="Google Shape;2710;p107"/>
          <p:cNvPicPr preferRelativeResize="0"/>
          <p:nvPr/>
        </p:nvPicPr>
        <p:blipFill rotWithShape="1">
          <a:blip r:embed="rId4">
            <a:alphaModFix/>
          </a:blip>
          <a:srcRect b="0" l="0" r="0" t="0"/>
          <a:stretch/>
        </p:blipFill>
        <p:spPr>
          <a:xfrm>
            <a:off x="620682" y="2756916"/>
            <a:ext cx="171450" cy="171450"/>
          </a:xfrm>
          <a:prstGeom prst="rect">
            <a:avLst/>
          </a:prstGeom>
          <a:noFill/>
          <a:ln>
            <a:noFill/>
          </a:ln>
        </p:spPr>
      </p:pic>
      <p:sp>
        <p:nvSpPr>
          <p:cNvPr id="2711" name="Google Shape;2711;p107"/>
          <p:cNvSpPr/>
          <p:nvPr/>
        </p:nvSpPr>
        <p:spPr>
          <a:xfrm>
            <a:off x="1001321" y="2571750"/>
            <a:ext cx="3154848" cy="54178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1100"/>
              <a:buFont typeface="Arial"/>
              <a:buNone/>
            </a:pPr>
            <a:r>
              <a:rPr b="1" lang="en-GB" sz="1100">
                <a:solidFill>
                  <a:srgbClr val="1C2B3E"/>
                </a:solidFill>
                <a:latin typeface="Arial"/>
                <a:ea typeface="Arial"/>
                <a:cs typeface="Arial"/>
                <a:sym typeface="Arial"/>
              </a:rPr>
              <a:t>Sets and manages customer credit limits</a:t>
            </a:r>
            <a:endParaRPr sz="1100">
              <a:solidFill>
                <a:schemeClr val="dk1"/>
              </a:solidFill>
              <a:latin typeface="Calibri"/>
              <a:ea typeface="Calibri"/>
              <a:cs typeface="Calibri"/>
              <a:sym typeface="Calibri"/>
            </a:endParaRPr>
          </a:p>
        </p:txBody>
      </p:sp>
      <p:sp>
        <p:nvSpPr>
          <p:cNvPr id="2712" name="Google Shape;2712;p107"/>
          <p:cNvSpPr/>
          <p:nvPr/>
        </p:nvSpPr>
        <p:spPr>
          <a:xfrm>
            <a:off x="4252187" y="2571750"/>
            <a:ext cx="4343403" cy="54178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D"/>
              </a:buClr>
              <a:buSzPts val="900"/>
              <a:buFont typeface="Arial"/>
              <a:buNone/>
            </a:pPr>
            <a:r>
              <a:rPr lang="en-GB" sz="900">
                <a:solidFill>
                  <a:srgbClr val="5B6B7D"/>
                </a:solidFill>
                <a:latin typeface="Arial"/>
                <a:ea typeface="Arial"/>
                <a:cs typeface="Arial"/>
                <a:sym typeface="Arial"/>
              </a:rPr>
              <a:t>Owns the limit configuration per customer.</a:t>
            </a:r>
            <a:endParaRPr sz="900">
              <a:solidFill>
                <a:schemeClr val="dk1"/>
              </a:solidFill>
              <a:latin typeface="Calibri"/>
              <a:ea typeface="Calibri"/>
              <a:cs typeface="Calibri"/>
              <a:sym typeface="Calibri"/>
            </a:endParaRPr>
          </a:p>
        </p:txBody>
      </p:sp>
      <p:sp>
        <p:nvSpPr>
          <p:cNvPr id="2713" name="Google Shape;2713;p107"/>
          <p:cNvSpPr txBox="1"/>
          <p:nvPr>
            <p:ph idx="12" type="sldNum"/>
          </p:nvPr>
        </p:nvSpPr>
        <p:spPr>
          <a:xfrm>
            <a:off x="8347216" y="4750189"/>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2718" name="Shape 2718"/>
        <p:cNvGrpSpPr/>
        <p:nvPr/>
      </p:nvGrpSpPr>
      <p:grpSpPr>
        <a:xfrm>
          <a:off x="0" y="0"/>
          <a:ext cx="0" cy="0"/>
          <a:chOff x="0" y="0"/>
          <a:chExt cx="0" cy="0"/>
        </a:xfrm>
      </p:grpSpPr>
      <p:sp>
        <p:nvSpPr>
          <p:cNvPr id="2719" name="Google Shape;2719;p108"/>
          <p:cNvSpPr/>
          <p:nvPr/>
        </p:nvSpPr>
        <p:spPr>
          <a:xfrm>
            <a:off x="411502" y="260604"/>
            <a:ext cx="6858366"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APPENDIX</a:t>
            </a:r>
            <a:endParaRPr sz="800">
              <a:solidFill>
                <a:schemeClr val="dk1"/>
              </a:solidFill>
              <a:latin typeface="Calibri"/>
              <a:ea typeface="Calibri"/>
              <a:cs typeface="Calibri"/>
              <a:sym typeface="Calibri"/>
            </a:endParaRPr>
          </a:p>
        </p:txBody>
      </p:sp>
      <p:sp>
        <p:nvSpPr>
          <p:cNvPr id="2720" name="Google Shape;2720;p108"/>
          <p:cNvSpPr/>
          <p:nvPr/>
        </p:nvSpPr>
        <p:spPr>
          <a:xfrm>
            <a:off x="411502" y="438912"/>
            <a:ext cx="8321255" cy="4800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C2B3E"/>
              </a:buClr>
              <a:buSzPts val="2200"/>
              <a:buFont typeface="Arial"/>
              <a:buNone/>
            </a:pPr>
            <a:r>
              <a:rPr b="1" lang="en-GB" sz="2200">
                <a:solidFill>
                  <a:srgbClr val="1C2B3E"/>
                </a:solidFill>
                <a:latin typeface="Poppins"/>
                <a:ea typeface="Poppins"/>
                <a:cs typeface="Poppins"/>
                <a:sym typeface="Poppins"/>
              </a:rPr>
              <a:t>Role × Permission Matrix</a:t>
            </a:r>
            <a:endParaRPr sz="2200">
              <a:solidFill>
                <a:schemeClr val="dk1"/>
              </a:solidFill>
              <a:latin typeface="Poppins"/>
              <a:ea typeface="Poppins"/>
              <a:cs typeface="Poppins"/>
              <a:sym typeface="Poppins"/>
            </a:endParaRPr>
          </a:p>
        </p:txBody>
      </p:sp>
      <p:sp>
        <p:nvSpPr>
          <p:cNvPr id="2721" name="Google Shape;2721;p108"/>
          <p:cNvSpPr/>
          <p:nvPr/>
        </p:nvSpPr>
        <p:spPr>
          <a:xfrm>
            <a:off x="411502" y="932688"/>
            <a:ext cx="8321255"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D"/>
              </a:buClr>
              <a:buSzPts val="1100"/>
              <a:buFont typeface="Arial"/>
              <a:buNone/>
            </a:pPr>
            <a:r>
              <a:rPr lang="en-GB" sz="1100">
                <a:solidFill>
                  <a:srgbClr val="5B6B7D"/>
                </a:solidFill>
                <a:latin typeface="Arial"/>
                <a:ea typeface="Arial"/>
                <a:cs typeface="Arial"/>
                <a:sym typeface="Arial"/>
              </a:rPr>
              <a:t>● create (navy)     ● approve / override (orange)     ○ view     </a:t>
            </a:r>
            <a:endParaRPr sz="1100">
              <a:solidFill>
                <a:schemeClr val="dk1"/>
              </a:solidFill>
              <a:latin typeface="Calibri"/>
              <a:ea typeface="Calibri"/>
              <a:cs typeface="Calibri"/>
              <a:sym typeface="Calibri"/>
            </a:endParaRPr>
          </a:p>
        </p:txBody>
      </p:sp>
      <p:sp>
        <p:nvSpPr>
          <p:cNvPr id="2722" name="Google Shape;2722;p108"/>
          <p:cNvSpPr/>
          <p:nvPr/>
        </p:nvSpPr>
        <p:spPr>
          <a:xfrm>
            <a:off x="411502" y="1337310"/>
            <a:ext cx="8321255" cy="288036"/>
          </a:xfrm>
          <a:prstGeom prst="roundRect">
            <a:avLst>
              <a:gd fmla="val 19048"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723" name="Google Shape;2723;p108"/>
          <p:cNvSpPr/>
          <p:nvPr/>
        </p:nvSpPr>
        <p:spPr>
          <a:xfrm>
            <a:off x="548669" y="1337310"/>
            <a:ext cx="1920342" cy="2880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Arial"/>
              <a:buNone/>
            </a:pPr>
            <a:r>
              <a:rPr b="1" lang="en-GB" sz="900">
                <a:solidFill>
                  <a:srgbClr val="FFFFFF"/>
                </a:solidFill>
                <a:latin typeface="Arial"/>
                <a:ea typeface="Arial"/>
                <a:cs typeface="Arial"/>
                <a:sym typeface="Arial"/>
              </a:rPr>
              <a:t>Document</a:t>
            </a:r>
            <a:endParaRPr sz="900">
              <a:solidFill>
                <a:schemeClr val="dk1"/>
              </a:solidFill>
              <a:latin typeface="Calibri"/>
              <a:ea typeface="Calibri"/>
              <a:cs typeface="Calibri"/>
              <a:sym typeface="Calibri"/>
            </a:endParaRPr>
          </a:p>
        </p:txBody>
      </p:sp>
      <p:sp>
        <p:nvSpPr>
          <p:cNvPr id="2724" name="Google Shape;2724;p108"/>
          <p:cNvSpPr/>
          <p:nvPr/>
        </p:nvSpPr>
        <p:spPr>
          <a:xfrm>
            <a:off x="2469012" y="1337310"/>
            <a:ext cx="1043957" cy="2880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Arial"/>
              <a:buNone/>
            </a:pPr>
            <a:r>
              <a:rPr b="1" lang="en-GB" sz="900">
                <a:solidFill>
                  <a:srgbClr val="FFFFFF"/>
                </a:solidFill>
                <a:latin typeface="Arial"/>
                <a:ea typeface="Arial"/>
                <a:cs typeface="Arial"/>
                <a:sym typeface="Arial"/>
              </a:rPr>
              <a:t>Sales</a:t>
            </a:r>
            <a:endParaRPr sz="900">
              <a:solidFill>
                <a:schemeClr val="dk1"/>
              </a:solidFill>
              <a:latin typeface="Calibri"/>
              <a:ea typeface="Calibri"/>
              <a:cs typeface="Calibri"/>
              <a:sym typeface="Calibri"/>
            </a:endParaRPr>
          </a:p>
        </p:txBody>
      </p:sp>
      <p:sp>
        <p:nvSpPr>
          <p:cNvPr id="2725" name="Google Shape;2725;p108"/>
          <p:cNvSpPr/>
          <p:nvPr/>
        </p:nvSpPr>
        <p:spPr>
          <a:xfrm>
            <a:off x="3512969" y="1337310"/>
            <a:ext cx="1043957" cy="2880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Arial"/>
              <a:buNone/>
            </a:pPr>
            <a:r>
              <a:rPr b="1" lang="en-GB" sz="900">
                <a:solidFill>
                  <a:srgbClr val="FFFFFF"/>
                </a:solidFill>
                <a:latin typeface="Arial"/>
                <a:ea typeface="Arial"/>
                <a:cs typeface="Arial"/>
                <a:sym typeface="Arial"/>
              </a:rPr>
              <a:t>Credit Ctrl</a:t>
            </a:r>
            <a:endParaRPr sz="900">
              <a:solidFill>
                <a:schemeClr val="dk1"/>
              </a:solidFill>
              <a:latin typeface="Calibri"/>
              <a:ea typeface="Calibri"/>
              <a:cs typeface="Calibri"/>
              <a:sym typeface="Calibri"/>
            </a:endParaRPr>
          </a:p>
        </p:txBody>
      </p:sp>
      <p:sp>
        <p:nvSpPr>
          <p:cNvPr id="2726" name="Google Shape;2726;p108"/>
          <p:cNvSpPr/>
          <p:nvPr/>
        </p:nvSpPr>
        <p:spPr>
          <a:xfrm>
            <a:off x="4556926" y="1337310"/>
            <a:ext cx="1043957" cy="2880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Arial"/>
              <a:buNone/>
            </a:pPr>
            <a:r>
              <a:rPr b="1" lang="en-GB" sz="900">
                <a:solidFill>
                  <a:srgbClr val="FFFFFF"/>
                </a:solidFill>
                <a:latin typeface="Arial"/>
                <a:ea typeface="Arial"/>
                <a:cs typeface="Arial"/>
                <a:sym typeface="Arial"/>
              </a:rPr>
              <a:t>Finance</a:t>
            </a:r>
            <a:endParaRPr sz="900">
              <a:solidFill>
                <a:schemeClr val="dk1"/>
              </a:solidFill>
              <a:latin typeface="Calibri"/>
              <a:ea typeface="Calibri"/>
              <a:cs typeface="Calibri"/>
              <a:sym typeface="Calibri"/>
            </a:endParaRPr>
          </a:p>
        </p:txBody>
      </p:sp>
      <p:sp>
        <p:nvSpPr>
          <p:cNvPr id="2727" name="Google Shape;2727;p108"/>
          <p:cNvSpPr/>
          <p:nvPr/>
        </p:nvSpPr>
        <p:spPr>
          <a:xfrm>
            <a:off x="5600885" y="1337310"/>
            <a:ext cx="1043957" cy="2880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Arial"/>
              <a:buNone/>
            </a:pPr>
            <a:r>
              <a:rPr b="1" lang="en-GB" sz="900">
                <a:solidFill>
                  <a:srgbClr val="FFFFFF"/>
                </a:solidFill>
                <a:latin typeface="Arial"/>
                <a:ea typeface="Arial"/>
                <a:cs typeface="Arial"/>
                <a:sym typeface="Arial"/>
              </a:rPr>
              <a:t>Logistics</a:t>
            </a:r>
            <a:endParaRPr sz="900">
              <a:solidFill>
                <a:schemeClr val="dk1"/>
              </a:solidFill>
              <a:latin typeface="Calibri"/>
              <a:ea typeface="Calibri"/>
              <a:cs typeface="Calibri"/>
              <a:sym typeface="Calibri"/>
            </a:endParaRPr>
          </a:p>
        </p:txBody>
      </p:sp>
      <p:sp>
        <p:nvSpPr>
          <p:cNvPr id="2728" name="Google Shape;2728;p108"/>
          <p:cNvSpPr/>
          <p:nvPr/>
        </p:nvSpPr>
        <p:spPr>
          <a:xfrm>
            <a:off x="6644842" y="1337310"/>
            <a:ext cx="1043957" cy="2880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Arial"/>
              <a:buNone/>
            </a:pPr>
            <a:r>
              <a:rPr b="1" lang="en-GB" sz="900">
                <a:solidFill>
                  <a:srgbClr val="FFFFFF"/>
                </a:solidFill>
                <a:latin typeface="Arial"/>
                <a:ea typeface="Arial"/>
                <a:cs typeface="Arial"/>
                <a:sym typeface="Arial"/>
              </a:rPr>
              <a:t>Driver</a:t>
            </a:r>
            <a:endParaRPr sz="900">
              <a:solidFill>
                <a:schemeClr val="dk1"/>
              </a:solidFill>
              <a:latin typeface="Calibri"/>
              <a:ea typeface="Calibri"/>
              <a:cs typeface="Calibri"/>
              <a:sym typeface="Calibri"/>
            </a:endParaRPr>
          </a:p>
        </p:txBody>
      </p:sp>
      <p:sp>
        <p:nvSpPr>
          <p:cNvPr id="2729" name="Google Shape;2729;p108"/>
          <p:cNvSpPr/>
          <p:nvPr/>
        </p:nvSpPr>
        <p:spPr>
          <a:xfrm>
            <a:off x="7688799" y="1337310"/>
            <a:ext cx="1043957" cy="2880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Arial"/>
              <a:buNone/>
            </a:pPr>
            <a:r>
              <a:rPr b="1" lang="en-GB" sz="900">
                <a:solidFill>
                  <a:srgbClr val="FFFFFF"/>
                </a:solidFill>
                <a:latin typeface="Arial"/>
                <a:ea typeface="Arial"/>
                <a:cs typeface="Arial"/>
                <a:sym typeface="Arial"/>
              </a:rPr>
              <a:t>Svc Coord</a:t>
            </a:r>
            <a:endParaRPr sz="900">
              <a:solidFill>
                <a:schemeClr val="dk1"/>
              </a:solidFill>
              <a:latin typeface="Calibri"/>
              <a:ea typeface="Calibri"/>
              <a:cs typeface="Calibri"/>
              <a:sym typeface="Calibri"/>
            </a:endParaRPr>
          </a:p>
        </p:txBody>
      </p:sp>
      <p:sp>
        <p:nvSpPr>
          <p:cNvPr id="2730" name="Google Shape;2730;p108"/>
          <p:cNvSpPr/>
          <p:nvPr/>
        </p:nvSpPr>
        <p:spPr>
          <a:xfrm>
            <a:off x="411502" y="1604772"/>
            <a:ext cx="8319198" cy="195452"/>
          </a:xfrm>
          <a:prstGeom prst="roundRect">
            <a:avLst>
              <a:gd fmla="val 16667" name="adj"/>
            </a:avLst>
          </a:prstGeom>
          <a:solidFill>
            <a:srgbClr val="F5F7FA"/>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731" name="Google Shape;2731;p108"/>
          <p:cNvSpPr/>
          <p:nvPr/>
        </p:nvSpPr>
        <p:spPr>
          <a:xfrm>
            <a:off x="548669" y="1604772"/>
            <a:ext cx="1920342" cy="1954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800"/>
              <a:buFont typeface="Arial"/>
              <a:buNone/>
            </a:pPr>
            <a:r>
              <a:rPr b="1" lang="en-GB" sz="800">
                <a:solidFill>
                  <a:srgbClr val="1C2B3E"/>
                </a:solidFill>
                <a:latin typeface="Arial"/>
                <a:ea typeface="Arial"/>
                <a:cs typeface="Arial"/>
                <a:sym typeface="Arial"/>
              </a:rPr>
              <a:t>Quotation / cRFQ</a:t>
            </a:r>
            <a:endParaRPr sz="900">
              <a:solidFill>
                <a:schemeClr val="dk1"/>
              </a:solidFill>
              <a:latin typeface="Calibri"/>
              <a:ea typeface="Calibri"/>
              <a:cs typeface="Calibri"/>
              <a:sym typeface="Calibri"/>
            </a:endParaRPr>
          </a:p>
        </p:txBody>
      </p:sp>
      <p:sp>
        <p:nvSpPr>
          <p:cNvPr id="2732" name="Google Shape;2732;p108"/>
          <p:cNvSpPr/>
          <p:nvPr/>
        </p:nvSpPr>
        <p:spPr>
          <a:xfrm>
            <a:off x="2469012" y="1604772"/>
            <a:ext cx="1042472" cy="1954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2B3E"/>
              </a:buClr>
              <a:buSzPts val="800"/>
              <a:buFont typeface="Arial"/>
              <a:buNone/>
            </a:pPr>
            <a:r>
              <a:rPr b="1" lang="en-GB" sz="800">
                <a:solidFill>
                  <a:srgbClr val="1C2B3E"/>
                </a:solidFill>
                <a:latin typeface="Arial"/>
                <a:ea typeface="Arial"/>
                <a:cs typeface="Arial"/>
                <a:sym typeface="Arial"/>
              </a:rPr>
              <a:t>●</a:t>
            </a:r>
            <a:endParaRPr sz="1200">
              <a:solidFill>
                <a:schemeClr val="dk1"/>
              </a:solidFill>
              <a:latin typeface="Calibri"/>
              <a:ea typeface="Calibri"/>
              <a:cs typeface="Calibri"/>
              <a:sym typeface="Calibri"/>
            </a:endParaRPr>
          </a:p>
        </p:txBody>
      </p:sp>
      <p:sp>
        <p:nvSpPr>
          <p:cNvPr id="2733" name="Google Shape;2733;p108"/>
          <p:cNvSpPr/>
          <p:nvPr/>
        </p:nvSpPr>
        <p:spPr>
          <a:xfrm>
            <a:off x="548669" y="1800225"/>
            <a:ext cx="1920342" cy="1954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800"/>
              <a:buFont typeface="Arial"/>
              <a:buNone/>
            </a:pPr>
            <a:r>
              <a:rPr b="1" lang="en-GB" sz="800">
                <a:solidFill>
                  <a:srgbClr val="1C2B3E"/>
                </a:solidFill>
                <a:latin typeface="Arial"/>
                <a:ea typeface="Arial"/>
                <a:cs typeface="Arial"/>
                <a:sym typeface="Arial"/>
              </a:rPr>
              <a:t>Customer PO</a:t>
            </a:r>
            <a:endParaRPr sz="900">
              <a:solidFill>
                <a:schemeClr val="dk1"/>
              </a:solidFill>
              <a:latin typeface="Calibri"/>
              <a:ea typeface="Calibri"/>
              <a:cs typeface="Calibri"/>
              <a:sym typeface="Calibri"/>
            </a:endParaRPr>
          </a:p>
        </p:txBody>
      </p:sp>
      <p:sp>
        <p:nvSpPr>
          <p:cNvPr id="2734" name="Google Shape;2734;p108"/>
          <p:cNvSpPr/>
          <p:nvPr/>
        </p:nvSpPr>
        <p:spPr>
          <a:xfrm>
            <a:off x="2469012" y="1800225"/>
            <a:ext cx="1042472" cy="1954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2B3E"/>
              </a:buClr>
              <a:buSzPts val="800"/>
              <a:buFont typeface="Arial"/>
              <a:buNone/>
            </a:pPr>
            <a:r>
              <a:rPr b="1" lang="en-GB" sz="800">
                <a:solidFill>
                  <a:srgbClr val="1C2B3E"/>
                </a:solidFill>
                <a:latin typeface="Arial"/>
                <a:ea typeface="Arial"/>
                <a:cs typeface="Arial"/>
                <a:sym typeface="Arial"/>
              </a:rPr>
              <a:t>●</a:t>
            </a:r>
            <a:endParaRPr sz="1200">
              <a:solidFill>
                <a:schemeClr val="dk1"/>
              </a:solidFill>
              <a:latin typeface="Calibri"/>
              <a:ea typeface="Calibri"/>
              <a:cs typeface="Calibri"/>
              <a:sym typeface="Calibri"/>
            </a:endParaRPr>
          </a:p>
        </p:txBody>
      </p:sp>
      <p:sp>
        <p:nvSpPr>
          <p:cNvPr id="2735" name="Google Shape;2735;p108"/>
          <p:cNvSpPr/>
          <p:nvPr/>
        </p:nvSpPr>
        <p:spPr>
          <a:xfrm>
            <a:off x="411502" y="1995677"/>
            <a:ext cx="8319198" cy="195452"/>
          </a:xfrm>
          <a:prstGeom prst="roundRect">
            <a:avLst>
              <a:gd fmla="val 16667" name="adj"/>
            </a:avLst>
          </a:prstGeom>
          <a:solidFill>
            <a:srgbClr val="F5F7FA"/>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736" name="Google Shape;2736;p108"/>
          <p:cNvSpPr/>
          <p:nvPr/>
        </p:nvSpPr>
        <p:spPr>
          <a:xfrm>
            <a:off x="548669" y="1995677"/>
            <a:ext cx="1920342" cy="1954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800"/>
              <a:buFont typeface="Arial"/>
              <a:buNone/>
            </a:pPr>
            <a:r>
              <a:rPr b="1" lang="en-GB" sz="800">
                <a:solidFill>
                  <a:srgbClr val="1C2B3E"/>
                </a:solidFill>
                <a:latin typeface="Arial"/>
                <a:ea typeface="Arial"/>
                <a:cs typeface="Arial"/>
                <a:sym typeface="Arial"/>
              </a:rPr>
              <a:t>Sales Order</a:t>
            </a:r>
            <a:endParaRPr sz="900">
              <a:solidFill>
                <a:schemeClr val="dk1"/>
              </a:solidFill>
              <a:latin typeface="Calibri"/>
              <a:ea typeface="Calibri"/>
              <a:cs typeface="Calibri"/>
              <a:sym typeface="Calibri"/>
            </a:endParaRPr>
          </a:p>
        </p:txBody>
      </p:sp>
      <p:sp>
        <p:nvSpPr>
          <p:cNvPr id="2737" name="Google Shape;2737;p108"/>
          <p:cNvSpPr/>
          <p:nvPr/>
        </p:nvSpPr>
        <p:spPr>
          <a:xfrm>
            <a:off x="2469012" y="1995677"/>
            <a:ext cx="1042472" cy="1954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2B3E"/>
              </a:buClr>
              <a:buSzPts val="800"/>
              <a:buFont typeface="Arial"/>
              <a:buNone/>
            </a:pPr>
            <a:r>
              <a:rPr b="1" lang="en-GB" sz="800">
                <a:solidFill>
                  <a:srgbClr val="1C2B3E"/>
                </a:solidFill>
                <a:latin typeface="Arial"/>
                <a:ea typeface="Arial"/>
                <a:cs typeface="Arial"/>
                <a:sym typeface="Arial"/>
              </a:rPr>
              <a:t>●</a:t>
            </a:r>
            <a:endParaRPr sz="1200">
              <a:solidFill>
                <a:schemeClr val="dk1"/>
              </a:solidFill>
              <a:latin typeface="Calibri"/>
              <a:ea typeface="Calibri"/>
              <a:cs typeface="Calibri"/>
              <a:sym typeface="Calibri"/>
            </a:endParaRPr>
          </a:p>
        </p:txBody>
      </p:sp>
      <p:sp>
        <p:nvSpPr>
          <p:cNvPr id="2738" name="Google Shape;2738;p108"/>
          <p:cNvSpPr/>
          <p:nvPr/>
        </p:nvSpPr>
        <p:spPr>
          <a:xfrm>
            <a:off x="3511483" y="1995677"/>
            <a:ext cx="1042472" cy="1954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a:t>
            </a:r>
            <a:endParaRPr sz="1200">
              <a:solidFill>
                <a:schemeClr val="dk1"/>
              </a:solidFill>
              <a:latin typeface="Calibri"/>
              <a:ea typeface="Calibri"/>
              <a:cs typeface="Calibri"/>
              <a:sym typeface="Calibri"/>
            </a:endParaRPr>
          </a:p>
        </p:txBody>
      </p:sp>
      <p:sp>
        <p:nvSpPr>
          <p:cNvPr id="2739" name="Google Shape;2739;p108"/>
          <p:cNvSpPr/>
          <p:nvPr/>
        </p:nvSpPr>
        <p:spPr>
          <a:xfrm>
            <a:off x="4553955" y="1995677"/>
            <a:ext cx="1042472" cy="1954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800"/>
              <a:buFont typeface="Arial"/>
              <a:buNone/>
            </a:pPr>
            <a:r>
              <a:rPr b="1" lang="en-GB" sz="800">
                <a:solidFill>
                  <a:srgbClr val="94A3B8"/>
                </a:solidFill>
                <a:latin typeface="Arial"/>
                <a:ea typeface="Arial"/>
                <a:cs typeface="Arial"/>
                <a:sym typeface="Arial"/>
              </a:rPr>
              <a:t>○</a:t>
            </a:r>
            <a:endParaRPr sz="1200">
              <a:solidFill>
                <a:schemeClr val="dk1"/>
              </a:solidFill>
              <a:latin typeface="Calibri"/>
              <a:ea typeface="Calibri"/>
              <a:cs typeface="Calibri"/>
              <a:sym typeface="Calibri"/>
            </a:endParaRPr>
          </a:p>
        </p:txBody>
      </p:sp>
      <p:sp>
        <p:nvSpPr>
          <p:cNvPr id="2740" name="Google Shape;2740;p108"/>
          <p:cNvSpPr/>
          <p:nvPr/>
        </p:nvSpPr>
        <p:spPr>
          <a:xfrm>
            <a:off x="548669" y="2191131"/>
            <a:ext cx="1920342" cy="1954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800"/>
              <a:buFont typeface="Arial"/>
              <a:buNone/>
            </a:pPr>
            <a:r>
              <a:rPr b="1" lang="en-GB" sz="800">
                <a:solidFill>
                  <a:srgbClr val="1C2B3E"/>
                </a:solidFill>
                <a:latin typeface="Arial"/>
                <a:ea typeface="Arial"/>
                <a:cs typeface="Arial"/>
                <a:sym typeface="Arial"/>
              </a:rPr>
              <a:t>Pick List</a:t>
            </a:r>
            <a:endParaRPr sz="900">
              <a:solidFill>
                <a:schemeClr val="dk1"/>
              </a:solidFill>
              <a:latin typeface="Calibri"/>
              <a:ea typeface="Calibri"/>
              <a:cs typeface="Calibri"/>
              <a:sym typeface="Calibri"/>
            </a:endParaRPr>
          </a:p>
        </p:txBody>
      </p:sp>
      <p:sp>
        <p:nvSpPr>
          <p:cNvPr id="2741" name="Google Shape;2741;p108"/>
          <p:cNvSpPr/>
          <p:nvPr/>
        </p:nvSpPr>
        <p:spPr>
          <a:xfrm>
            <a:off x="2469012" y="2191131"/>
            <a:ext cx="1042472" cy="1954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800"/>
              <a:buFont typeface="Arial"/>
              <a:buNone/>
            </a:pPr>
            <a:r>
              <a:rPr b="1" lang="en-GB" sz="800">
                <a:solidFill>
                  <a:srgbClr val="94A3B8"/>
                </a:solidFill>
                <a:latin typeface="Arial"/>
                <a:ea typeface="Arial"/>
                <a:cs typeface="Arial"/>
                <a:sym typeface="Arial"/>
              </a:rPr>
              <a:t>○</a:t>
            </a:r>
            <a:endParaRPr sz="1200">
              <a:solidFill>
                <a:schemeClr val="dk1"/>
              </a:solidFill>
              <a:latin typeface="Calibri"/>
              <a:ea typeface="Calibri"/>
              <a:cs typeface="Calibri"/>
              <a:sym typeface="Calibri"/>
            </a:endParaRPr>
          </a:p>
        </p:txBody>
      </p:sp>
      <p:sp>
        <p:nvSpPr>
          <p:cNvPr id="2742" name="Google Shape;2742;p108"/>
          <p:cNvSpPr/>
          <p:nvPr/>
        </p:nvSpPr>
        <p:spPr>
          <a:xfrm>
            <a:off x="5603285" y="2191131"/>
            <a:ext cx="1042472" cy="1954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2B3E"/>
              </a:buClr>
              <a:buSzPts val="800"/>
              <a:buFont typeface="Arial"/>
              <a:buNone/>
            </a:pPr>
            <a:r>
              <a:rPr b="1" lang="en-GB" sz="800">
                <a:solidFill>
                  <a:srgbClr val="1C2B3E"/>
                </a:solidFill>
                <a:latin typeface="Arial"/>
                <a:ea typeface="Arial"/>
                <a:cs typeface="Arial"/>
                <a:sym typeface="Arial"/>
              </a:rPr>
              <a:t>●</a:t>
            </a:r>
            <a:endParaRPr sz="1200">
              <a:solidFill>
                <a:schemeClr val="dk1"/>
              </a:solidFill>
              <a:latin typeface="Calibri"/>
              <a:ea typeface="Calibri"/>
              <a:cs typeface="Calibri"/>
              <a:sym typeface="Calibri"/>
            </a:endParaRPr>
          </a:p>
        </p:txBody>
      </p:sp>
      <p:sp>
        <p:nvSpPr>
          <p:cNvPr id="2743" name="Google Shape;2743;p108"/>
          <p:cNvSpPr/>
          <p:nvPr/>
        </p:nvSpPr>
        <p:spPr>
          <a:xfrm>
            <a:off x="411502" y="2386583"/>
            <a:ext cx="8319198" cy="195452"/>
          </a:xfrm>
          <a:prstGeom prst="roundRect">
            <a:avLst>
              <a:gd fmla="val 16667" name="adj"/>
            </a:avLst>
          </a:prstGeom>
          <a:solidFill>
            <a:srgbClr val="F5F7FA"/>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744" name="Google Shape;2744;p108"/>
          <p:cNvSpPr/>
          <p:nvPr/>
        </p:nvSpPr>
        <p:spPr>
          <a:xfrm>
            <a:off x="548669" y="2386583"/>
            <a:ext cx="1920342" cy="1954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800"/>
              <a:buFont typeface="Arial"/>
              <a:buNone/>
            </a:pPr>
            <a:r>
              <a:rPr b="1" lang="en-GB" sz="800">
                <a:solidFill>
                  <a:srgbClr val="1C2B3E"/>
                </a:solidFill>
                <a:latin typeface="Arial"/>
                <a:ea typeface="Arial"/>
                <a:cs typeface="Arial"/>
                <a:sym typeface="Arial"/>
              </a:rPr>
              <a:t>Delivery Note</a:t>
            </a:r>
            <a:endParaRPr sz="900">
              <a:solidFill>
                <a:schemeClr val="dk1"/>
              </a:solidFill>
              <a:latin typeface="Calibri"/>
              <a:ea typeface="Calibri"/>
              <a:cs typeface="Calibri"/>
              <a:sym typeface="Calibri"/>
            </a:endParaRPr>
          </a:p>
        </p:txBody>
      </p:sp>
      <p:sp>
        <p:nvSpPr>
          <p:cNvPr id="2745" name="Google Shape;2745;p108"/>
          <p:cNvSpPr/>
          <p:nvPr/>
        </p:nvSpPr>
        <p:spPr>
          <a:xfrm>
            <a:off x="2469012" y="2386583"/>
            <a:ext cx="1042472" cy="1954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800"/>
              <a:buFont typeface="Arial"/>
              <a:buNone/>
            </a:pPr>
            <a:r>
              <a:rPr b="1" lang="en-GB" sz="800">
                <a:solidFill>
                  <a:srgbClr val="94A3B8"/>
                </a:solidFill>
                <a:latin typeface="Arial"/>
                <a:ea typeface="Arial"/>
                <a:cs typeface="Arial"/>
                <a:sym typeface="Arial"/>
              </a:rPr>
              <a:t>○</a:t>
            </a:r>
            <a:endParaRPr sz="1200">
              <a:solidFill>
                <a:schemeClr val="dk1"/>
              </a:solidFill>
              <a:latin typeface="Calibri"/>
              <a:ea typeface="Calibri"/>
              <a:cs typeface="Calibri"/>
              <a:sym typeface="Calibri"/>
            </a:endParaRPr>
          </a:p>
        </p:txBody>
      </p:sp>
      <p:sp>
        <p:nvSpPr>
          <p:cNvPr id="2746" name="Google Shape;2746;p108"/>
          <p:cNvSpPr/>
          <p:nvPr/>
        </p:nvSpPr>
        <p:spPr>
          <a:xfrm>
            <a:off x="4553955" y="2386583"/>
            <a:ext cx="1042472" cy="1954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800"/>
              <a:buFont typeface="Arial"/>
              <a:buNone/>
            </a:pPr>
            <a:r>
              <a:rPr b="1" lang="en-GB" sz="800">
                <a:solidFill>
                  <a:srgbClr val="94A3B8"/>
                </a:solidFill>
                <a:latin typeface="Arial"/>
                <a:ea typeface="Arial"/>
                <a:cs typeface="Arial"/>
                <a:sym typeface="Arial"/>
              </a:rPr>
              <a:t>○</a:t>
            </a:r>
            <a:endParaRPr sz="1200">
              <a:solidFill>
                <a:schemeClr val="dk1"/>
              </a:solidFill>
              <a:latin typeface="Calibri"/>
              <a:ea typeface="Calibri"/>
              <a:cs typeface="Calibri"/>
              <a:sym typeface="Calibri"/>
            </a:endParaRPr>
          </a:p>
        </p:txBody>
      </p:sp>
      <p:sp>
        <p:nvSpPr>
          <p:cNvPr id="2747" name="Google Shape;2747;p108"/>
          <p:cNvSpPr/>
          <p:nvPr/>
        </p:nvSpPr>
        <p:spPr>
          <a:xfrm>
            <a:off x="5603285" y="2386583"/>
            <a:ext cx="1042472" cy="1954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2B3E"/>
              </a:buClr>
              <a:buSzPts val="800"/>
              <a:buFont typeface="Arial"/>
              <a:buNone/>
            </a:pPr>
            <a:r>
              <a:rPr b="1" lang="en-GB" sz="800">
                <a:solidFill>
                  <a:srgbClr val="1C2B3E"/>
                </a:solidFill>
                <a:latin typeface="Arial"/>
                <a:ea typeface="Arial"/>
                <a:cs typeface="Arial"/>
                <a:sym typeface="Arial"/>
              </a:rPr>
              <a:t>●</a:t>
            </a:r>
            <a:endParaRPr sz="1200">
              <a:solidFill>
                <a:schemeClr val="dk1"/>
              </a:solidFill>
              <a:latin typeface="Calibri"/>
              <a:ea typeface="Calibri"/>
              <a:cs typeface="Calibri"/>
              <a:sym typeface="Calibri"/>
            </a:endParaRPr>
          </a:p>
        </p:txBody>
      </p:sp>
      <p:sp>
        <p:nvSpPr>
          <p:cNvPr id="2748" name="Google Shape;2748;p108"/>
          <p:cNvSpPr/>
          <p:nvPr/>
        </p:nvSpPr>
        <p:spPr>
          <a:xfrm>
            <a:off x="548669" y="2582036"/>
            <a:ext cx="1920342" cy="1954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800"/>
              <a:buFont typeface="Arial"/>
              <a:buNone/>
            </a:pPr>
            <a:r>
              <a:rPr b="1" lang="en-GB" sz="800">
                <a:solidFill>
                  <a:srgbClr val="1C2B3E"/>
                </a:solidFill>
                <a:latin typeface="Arial"/>
                <a:ea typeface="Arial"/>
                <a:cs typeface="Arial"/>
                <a:sym typeface="Arial"/>
              </a:rPr>
              <a:t>Delivery Trip / POD</a:t>
            </a:r>
            <a:endParaRPr sz="900">
              <a:solidFill>
                <a:schemeClr val="dk1"/>
              </a:solidFill>
              <a:latin typeface="Calibri"/>
              <a:ea typeface="Calibri"/>
              <a:cs typeface="Calibri"/>
              <a:sym typeface="Calibri"/>
            </a:endParaRPr>
          </a:p>
        </p:txBody>
      </p:sp>
      <p:sp>
        <p:nvSpPr>
          <p:cNvPr id="2749" name="Google Shape;2749;p108"/>
          <p:cNvSpPr/>
          <p:nvPr/>
        </p:nvSpPr>
        <p:spPr>
          <a:xfrm>
            <a:off x="5603285" y="2582036"/>
            <a:ext cx="1042472" cy="1954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2B3E"/>
              </a:buClr>
              <a:buSzPts val="800"/>
              <a:buFont typeface="Arial"/>
              <a:buNone/>
            </a:pPr>
            <a:r>
              <a:rPr b="1" lang="en-GB" sz="800">
                <a:solidFill>
                  <a:srgbClr val="1C2B3E"/>
                </a:solidFill>
                <a:latin typeface="Arial"/>
                <a:ea typeface="Arial"/>
                <a:cs typeface="Arial"/>
                <a:sym typeface="Arial"/>
              </a:rPr>
              <a:t>●</a:t>
            </a:r>
            <a:endParaRPr sz="1200">
              <a:solidFill>
                <a:schemeClr val="dk1"/>
              </a:solidFill>
              <a:latin typeface="Calibri"/>
              <a:ea typeface="Calibri"/>
              <a:cs typeface="Calibri"/>
              <a:sym typeface="Calibri"/>
            </a:endParaRPr>
          </a:p>
        </p:txBody>
      </p:sp>
      <p:sp>
        <p:nvSpPr>
          <p:cNvPr id="2750" name="Google Shape;2750;p108"/>
          <p:cNvSpPr/>
          <p:nvPr/>
        </p:nvSpPr>
        <p:spPr>
          <a:xfrm>
            <a:off x="6645756" y="2582036"/>
            <a:ext cx="1042472" cy="1954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2B3E"/>
              </a:buClr>
              <a:buSzPts val="800"/>
              <a:buFont typeface="Arial"/>
              <a:buNone/>
            </a:pPr>
            <a:r>
              <a:rPr b="1" lang="en-GB" sz="800">
                <a:solidFill>
                  <a:srgbClr val="1C2B3E"/>
                </a:solidFill>
                <a:latin typeface="Arial"/>
                <a:ea typeface="Arial"/>
                <a:cs typeface="Arial"/>
                <a:sym typeface="Arial"/>
              </a:rPr>
              <a:t>●</a:t>
            </a:r>
            <a:endParaRPr sz="1200">
              <a:solidFill>
                <a:schemeClr val="dk1"/>
              </a:solidFill>
              <a:latin typeface="Calibri"/>
              <a:ea typeface="Calibri"/>
              <a:cs typeface="Calibri"/>
              <a:sym typeface="Calibri"/>
            </a:endParaRPr>
          </a:p>
        </p:txBody>
      </p:sp>
      <p:sp>
        <p:nvSpPr>
          <p:cNvPr id="2751" name="Google Shape;2751;p108"/>
          <p:cNvSpPr/>
          <p:nvPr/>
        </p:nvSpPr>
        <p:spPr>
          <a:xfrm>
            <a:off x="411502" y="2777490"/>
            <a:ext cx="8319198" cy="195452"/>
          </a:xfrm>
          <a:prstGeom prst="roundRect">
            <a:avLst>
              <a:gd fmla="val 16667" name="adj"/>
            </a:avLst>
          </a:prstGeom>
          <a:solidFill>
            <a:srgbClr val="F5F7FA"/>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752" name="Google Shape;2752;p108"/>
          <p:cNvSpPr/>
          <p:nvPr/>
        </p:nvSpPr>
        <p:spPr>
          <a:xfrm>
            <a:off x="548669" y="2777490"/>
            <a:ext cx="1920342" cy="1954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800"/>
              <a:buFont typeface="Arial"/>
              <a:buNone/>
            </a:pPr>
            <a:r>
              <a:rPr b="1" lang="en-GB" sz="800">
                <a:solidFill>
                  <a:srgbClr val="1C2B3E"/>
                </a:solidFill>
                <a:latin typeface="Arial"/>
                <a:ea typeface="Arial"/>
                <a:cs typeface="Arial"/>
                <a:sym typeface="Arial"/>
              </a:rPr>
              <a:t>Service Work Order</a:t>
            </a:r>
            <a:endParaRPr sz="900">
              <a:solidFill>
                <a:schemeClr val="dk1"/>
              </a:solidFill>
              <a:latin typeface="Calibri"/>
              <a:ea typeface="Calibri"/>
              <a:cs typeface="Calibri"/>
              <a:sym typeface="Calibri"/>
            </a:endParaRPr>
          </a:p>
        </p:txBody>
      </p:sp>
      <p:sp>
        <p:nvSpPr>
          <p:cNvPr id="2753" name="Google Shape;2753;p108"/>
          <p:cNvSpPr/>
          <p:nvPr/>
        </p:nvSpPr>
        <p:spPr>
          <a:xfrm>
            <a:off x="2469012" y="2777490"/>
            <a:ext cx="1042472" cy="1954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800"/>
              <a:buFont typeface="Arial"/>
              <a:buNone/>
            </a:pPr>
            <a:r>
              <a:rPr b="1" lang="en-GB" sz="800">
                <a:solidFill>
                  <a:srgbClr val="94A3B8"/>
                </a:solidFill>
                <a:latin typeface="Arial"/>
                <a:ea typeface="Arial"/>
                <a:cs typeface="Arial"/>
                <a:sym typeface="Arial"/>
              </a:rPr>
              <a:t>○</a:t>
            </a:r>
            <a:endParaRPr sz="1200">
              <a:solidFill>
                <a:schemeClr val="dk1"/>
              </a:solidFill>
              <a:latin typeface="Calibri"/>
              <a:ea typeface="Calibri"/>
              <a:cs typeface="Calibri"/>
              <a:sym typeface="Calibri"/>
            </a:endParaRPr>
          </a:p>
        </p:txBody>
      </p:sp>
      <p:sp>
        <p:nvSpPr>
          <p:cNvPr id="2754" name="Google Shape;2754;p108"/>
          <p:cNvSpPr/>
          <p:nvPr/>
        </p:nvSpPr>
        <p:spPr>
          <a:xfrm>
            <a:off x="7688228" y="2777490"/>
            <a:ext cx="1042472" cy="1954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2B3E"/>
              </a:buClr>
              <a:buSzPts val="800"/>
              <a:buFont typeface="Arial"/>
              <a:buNone/>
            </a:pPr>
            <a:r>
              <a:rPr b="1" lang="en-GB" sz="800">
                <a:solidFill>
                  <a:srgbClr val="1C2B3E"/>
                </a:solidFill>
                <a:latin typeface="Arial"/>
                <a:ea typeface="Arial"/>
                <a:cs typeface="Arial"/>
                <a:sym typeface="Arial"/>
              </a:rPr>
              <a:t>●</a:t>
            </a:r>
            <a:endParaRPr sz="1200">
              <a:solidFill>
                <a:schemeClr val="dk1"/>
              </a:solidFill>
              <a:latin typeface="Calibri"/>
              <a:ea typeface="Calibri"/>
              <a:cs typeface="Calibri"/>
              <a:sym typeface="Calibri"/>
            </a:endParaRPr>
          </a:p>
        </p:txBody>
      </p:sp>
      <p:sp>
        <p:nvSpPr>
          <p:cNvPr id="2755" name="Google Shape;2755;p108"/>
          <p:cNvSpPr/>
          <p:nvPr/>
        </p:nvSpPr>
        <p:spPr>
          <a:xfrm>
            <a:off x="548669" y="2972943"/>
            <a:ext cx="1920342" cy="1954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800"/>
              <a:buFont typeface="Arial"/>
              <a:buNone/>
            </a:pPr>
            <a:r>
              <a:rPr b="1" lang="en-GB" sz="800">
                <a:solidFill>
                  <a:srgbClr val="1C2B3E"/>
                </a:solidFill>
                <a:latin typeface="Arial"/>
                <a:ea typeface="Arial"/>
                <a:cs typeface="Arial"/>
                <a:sym typeface="Arial"/>
              </a:rPr>
              <a:t>Sales Invoice</a:t>
            </a:r>
            <a:endParaRPr sz="900">
              <a:solidFill>
                <a:schemeClr val="dk1"/>
              </a:solidFill>
              <a:latin typeface="Calibri"/>
              <a:ea typeface="Calibri"/>
              <a:cs typeface="Calibri"/>
              <a:sym typeface="Calibri"/>
            </a:endParaRPr>
          </a:p>
        </p:txBody>
      </p:sp>
      <p:sp>
        <p:nvSpPr>
          <p:cNvPr id="2756" name="Google Shape;2756;p108"/>
          <p:cNvSpPr/>
          <p:nvPr/>
        </p:nvSpPr>
        <p:spPr>
          <a:xfrm>
            <a:off x="2469012" y="2972943"/>
            <a:ext cx="1042472" cy="1954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800"/>
              <a:buFont typeface="Arial"/>
              <a:buNone/>
            </a:pPr>
            <a:r>
              <a:rPr b="1" lang="en-GB" sz="800">
                <a:solidFill>
                  <a:srgbClr val="94A3B8"/>
                </a:solidFill>
                <a:latin typeface="Arial"/>
                <a:ea typeface="Arial"/>
                <a:cs typeface="Arial"/>
                <a:sym typeface="Arial"/>
              </a:rPr>
              <a:t>○</a:t>
            </a:r>
            <a:endParaRPr sz="1200">
              <a:solidFill>
                <a:schemeClr val="dk1"/>
              </a:solidFill>
              <a:latin typeface="Calibri"/>
              <a:ea typeface="Calibri"/>
              <a:cs typeface="Calibri"/>
              <a:sym typeface="Calibri"/>
            </a:endParaRPr>
          </a:p>
        </p:txBody>
      </p:sp>
      <p:sp>
        <p:nvSpPr>
          <p:cNvPr id="2757" name="Google Shape;2757;p108"/>
          <p:cNvSpPr/>
          <p:nvPr/>
        </p:nvSpPr>
        <p:spPr>
          <a:xfrm>
            <a:off x="4553955" y="2972943"/>
            <a:ext cx="1042472" cy="1954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2B3E"/>
              </a:buClr>
              <a:buSzPts val="800"/>
              <a:buFont typeface="Arial"/>
              <a:buNone/>
            </a:pPr>
            <a:r>
              <a:rPr b="1" lang="en-GB" sz="800">
                <a:solidFill>
                  <a:srgbClr val="1C2B3E"/>
                </a:solidFill>
                <a:latin typeface="Arial"/>
                <a:ea typeface="Arial"/>
                <a:cs typeface="Arial"/>
                <a:sym typeface="Arial"/>
              </a:rPr>
              <a:t>●</a:t>
            </a:r>
            <a:endParaRPr sz="1200">
              <a:solidFill>
                <a:schemeClr val="dk1"/>
              </a:solidFill>
              <a:latin typeface="Calibri"/>
              <a:ea typeface="Calibri"/>
              <a:cs typeface="Calibri"/>
              <a:sym typeface="Calibri"/>
            </a:endParaRPr>
          </a:p>
        </p:txBody>
      </p:sp>
      <p:sp>
        <p:nvSpPr>
          <p:cNvPr id="2758" name="Google Shape;2758;p108"/>
          <p:cNvSpPr/>
          <p:nvPr/>
        </p:nvSpPr>
        <p:spPr>
          <a:xfrm>
            <a:off x="411502" y="3168395"/>
            <a:ext cx="8319198" cy="195452"/>
          </a:xfrm>
          <a:prstGeom prst="roundRect">
            <a:avLst>
              <a:gd fmla="val 16667" name="adj"/>
            </a:avLst>
          </a:prstGeom>
          <a:solidFill>
            <a:srgbClr val="F5F7FA"/>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759" name="Google Shape;2759;p108"/>
          <p:cNvSpPr/>
          <p:nvPr/>
        </p:nvSpPr>
        <p:spPr>
          <a:xfrm>
            <a:off x="548669" y="3168395"/>
            <a:ext cx="1920342" cy="1954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800"/>
              <a:buFont typeface="Arial"/>
              <a:buNone/>
            </a:pPr>
            <a:r>
              <a:rPr b="1" lang="en-GB" sz="800">
                <a:solidFill>
                  <a:srgbClr val="1C2B3E"/>
                </a:solidFill>
                <a:latin typeface="Arial"/>
                <a:ea typeface="Arial"/>
                <a:cs typeface="Arial"/>
                <a:sym typeface="Arial"/>
              </a:rPr>
              <a:t>Credit Note</a:t>
            </a:r>
            <a:endParaRPr sz="900">
              <a:solidFill>
                <a:schemeClr val="dk1"/>
              </a:solidFill>
              <a:latin typeface="Calibri"/>
              <a:ea typeface="Calibri"/>
              <a:cs typeface="Calibri"/>
              <a:sym typeface="Calibri"/>
            </a:endParaRPr>
          </a:p>
        </p:txBody>
      </p:sp>
      <p:sp>
        <p:nvSpPr>
          <p:cNvPr id="2760" name="Google Shape;2760;p108"/>
          <p:cNvSpPr/>
          <p:nvPr/>
        </p:nvSpPr>
        <p:spPr>
          <a:xfrm>
            <a:off x="2469012" y="3168395"/>
            <a:ext cx="1042472" cy="1954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800"/>
              <a:buFont typeface="Arial"/>
              <a:buNone/>
            </a:pPr>
            <a:r>
              <a:rPr b="1" lang="en-GB" sz="800">
                <a:solidFill>
                  <a:srgbClr val="94A3B8"/>
                </a:solidFill>
                <a:latin typeface="Arial"/>
                <a:ea typeface="Arial"/>
                <a:cs typeface="Arial"/>
                <a:sym typeface="Arial"/>
              </a:rPr>
              <a:t>○</a:t>
            </a:r>
            <a:endParaRPr sz="1200">
              <a:solidFill>
                <a:schemeClr val="dk1"/>
              </a:solidFill>
              <a:latin typeface="Calibri"/>
              <a:ea typeface="Calibri"/>
              <a:cs typeface="Calibri"/>
              <a:sym typeface="Calibri"/>
            </a:endParaRPr>
          </a:p>
        </p:txBody>
      </p:sp>
      <p:sp>
        <p:nvSpPr>
          <p:cNvPr id="2761" name="Google Shape;2761;p108"/>
          <p:cNvSpPr/>
          <p:nvPr/>
        </p:nvSpPr>
        <p:spPr>
          <a:xfrm>
            <a:off x="4553955" y="3168395"/>
            <a:ext cx="1042472" cy="1954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2B3E"/>
              </a:buClr>
              <a:buSzPts val="800"/>
              <a:buFont typeface="Arial"/>
              <a:buNone/>
            </a:pPr>
            <a:r>
              <a:rPr b="1" lang="en-GB" sz="800">
                <a:solidFill>
                  <a:srgbClr val="1C2B3E"/>
                </a:solidFill>
                <a:latin typeface="Arial"/>
                <a:ea typeface="Arial"/>
                <a:cs typeface="Arial"/>
                <a:sym typeface="Arial"/>
              </a:rPr>
              <a:t>●</a:t>
            </a:r>
            <a:endParaRPr sz="1200">
              <a:solidFill>
                <a:schemeClr val="dk1"/>
              </a:solidFill>
              <a:latin typeface="Calibri"/>
              <a:ea typeface="Calibri"/>
              <a:cs typeface="Calibri"/>
              <a:sym typeface="Calibri"/>
            </a:endParaRPr>
          </a:p>
        </p:txBody>
      </p:sp>
      <p:sp>
        <p:nvSpPr>
          <p:cNvPr id="2762" name="Google Shape;2762;p108"/>
          <p:cNvSpPr/>
          <p:nvPr/>
        </p:nvSpPr>
        <p:spPr>
          <a:xfrm>
            <a:off x="548669" y="3363848"/>
            <a:ext cx="1920342" cy="1954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800"/>
              <a:buFont typeface="Arial"/>
              <a:buNone/>
            </a:pPr>
            <a:r>
              <a:rPr b="1" lang="en-GB" sz="800">
                <a:solidFill>
                  <a:srgbClr val="1C2B3E"/>
                </a:solidFill>
                <a:latin typeface="Arial"/>
                <a:ea typeface="Arial"/>
                <a:cs typeface="Arial"/>
                <a:sym typeface="Arial"/>
              </a:rPr>
              <a:t>Return Note</a:t>
            </a:r>
            <a:endParaRPr sz="900">
              <a:solidFill>
                <a:schemeClr val="dk1"/>
              </a:solidFill>
              <a:latin typeface="Calibri"/>
              <a:ea typeface="Calibri"/>
              <a:cs typeface="Calibri"/>
              <a:sym typeface="Calibri"/>
            </a:endParaRPr>
          </a:p>
        </p:txBody>
      </p:sp>
      <p:sp>
        <p:nvSpPr>
          <p:cNvPr id="2763" name="Google Shape;2763;p108"/>
          <p:cNvSpPr/>
          <p:nvPr/>
        </p:nvSpPr>
        <p:spPr>
          <a:xfrm>
            <a:off x="2469012" y="3363848"/>
            <a:ext cx="1042472" cy="1954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800"/>
              <a:buFont typeface="Arial"/>
              <a:buNone/>
            </a:pPr>
            <a:r>
              <a:rPr b="1" lang="en-GB" sz="800">
                <a:solidFill>
                  <a:srgbClr val="94A3B8"/>
                </a:solidFill>
                <a:latin typeface="Arial"/>
                <a:ea typeface="Arial"/>
                <a:cs typeface="Arial"/>
                <a:sym typeface="Arial"/>
              </a:rPr>
              <a:t>○</a:t>
            </a:r>
            <a:endParaRPr sz="1200">
              <a:solidFill>
                <a:schemeClr val="dk1"/>
              </a:solidFill>
              <a:latin typeface="Calibri"/>
              <a:ea typeface="Calibri"/>
              <a:cs typeface="Calibri"/>
              <a:sym typeface="Calibri"/>
            </a:endParaRPr>
          </a:p>
        </p:txBody>
      </p:sp>
      <p:sp>
        <p:nvSpPr>
          <p:cNvPr id="2764" name="Google Shape;2764;p108"/>
          <p:cNvSpPr/>
          <p:nvPr/>
        </p:nvSpPr>
        <p:spPr>
          <a:xfrm>
            <a:off x="5603285" y="3363848"/>
            <a:ext cx="1042472" cy="1954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2B3E"/>
              </a:buClr>
              <a:buSzPts val="800"/>
              <a:buFont typeface="Arial"/>
              <a:buNone/>
            </a:pPr>
            <a:r>
              <a:rPr b="1" lang="en-GB" sz="800">
                <a:solidFill>
                  <a:srgbClr val="1C2B3E"/>
                </a:solidFill>
                <a:latin typeface="Arial"/>
                <a:ea typeface="Arial"/>
                <a:cs typeface="Arial"/>
                <a:sym typeface="Arial"/>
              </a:rPr>
              <a:t>●</a:t>
            </a:r>
            <a:endParaRPr sz="1200">
              <a:solidFill>
                <a:schemeClr val="dk1"/>
              </a:solidFill>
              <a:latin typeface="Calibri"/>
              <a:ea typeface="Calibri"/>
              <a:cs typeface="Calibri"/>
              <a:sym typeface="Calibri"/>
            </a:endParaRPr>
          </a:p>
        </p:txBody>
      </p:sp>
      <p:sp>
        <p:nvSpPr>
          <p:cNvPr id="2765" name="Google Shape;2765;p108"/>
          <p:cNvSpPr/>
          <p:nvPr/>
        </p:nvSpPr>
        <p:spPr>
          <a:xfrm>
            <a:off x="4553955" y="3363848"/>
            <a:ext cx="1042472" cy="1954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800"/>
              <a:buFont typeface="Arial"/>
              <a:buNone/>
            </a:pPr>
            <a:r>
              <a:rPr b="1" lang="en-GB" sz="800">
                <a:solidFill>
                  <a:srgbClr val="94A3B8"/>
                </a:solidFill>
                <a:latin typeface="Arial"/>
                <a:ea typeface="Arial"/>
                <a:cs typeface="Arial"/>
                <a:sym typeface="Arial"/>
              </a:rPr>
              <a:t>○</a:t>
            </a:r>
            <a:endParaRPr sz="1200">
              <a:solidFill>
                <a:schemeClr val="dk1"/>
              </a:solidFill>
              <a:latin typeface="Calibri"/>
              <a:ea typeface="Calibri"/>
              <a:cs typeface="Calibri"/>
              <a:sym typeface="Calibri"/>
            </a:endParaRPr>
          </a:p>
        </p:txBody>
      </p:sp>
      <p:sp>
        <p:nvSpPr>
          <p:cNvPr id="2766" name="Google Shape;2766;p108"/>
          <p:cNvSpPr/>
          <p:nvPr/>
        </p:nvSpPr>
        <p:spPr>
          <a:xfrm>
            <a:off x="411502" y="3559302"/>
            <a:ext cx="8319198" cy="195452"/>
          </a:xfrm>
          <a:prstGeom prst="roundRect">
            <a:avLst>
              <a:gd fmla="val 16667" name="adj"/>
            </a:avLst>
          </a:prstGeom>
          <a:solidFill>
            <a:srgbClr val="F5F7FA"/>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767" name="Google Shape;2767;p108"/>
          <p:cNvSpPr/>
          <p:nvPr/>
        </p:nvSpPr>
        <p:spPr>
          <a:xfrm>
            <a:off x="548669" y="3559302"/>
            <a:ext cx="1920342" cy="1954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800"/>
              <a:buFont typeface="Arial"/>
              <a:buNone/>
            </a:pPr>
            <a:r>
              <a:rPr b="1" lang="en-GB" sz="800">
                <a:solidFill>
                  <a:srgbClr val="1C2B3E"/>
                </a:solidFill>
                <a:latin typeface="Arial"/>
                <a:ea typeface="Arial"/>
                <a:cs typeface="Arial"/>
                <a:sym typeface="Arial"/>
              </a:rPr>
              <a:t>Payment Entry</a:t>
            </a:r>
            <a:endParaRPr sz="900">
              <a:solidFill>
                <a:schemeClr val="dk1"/>
              </a:solidFill>
              <a:latin typeface="Calibri"/>
              <a:ea typeface="Calibri"/>
              <a:cs typeface="Calibri"/>
              <a:sym typeface="Calibri"/>
            </a:endParaRPr>
          </a:p>
        </p:txBody>
      </p:sp>
      <p:sp>
        <p:nvSpPr>
          <p:cNvPr id="2768" name="Google Shape;2768;p108"/>
          <p:cNvSpPr/>
          <p:nvPr/>
        </p:nvSpPr>
        <p:spPr>
          <a:xfrm>
            <a:off x="4553955" y="3559302"/>
            <a:ext cx="1042472" cy="1954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2B3E"/>
              </a:buClr>
              <a:buSzPts val="800"/>
              <a:buFont typeface="Arial"/>
              <a:buNone/>
            </a:pPr>
            <a:r>
              <a:rPr b="1" lang="en-GB" sz="800">
                <a:solidFill>
                  <a:srgbClr val="1C2B3E"/>
                </a:solidFill>
                <a:latin typeface="Arial"/>
                <a:ea typeface="Arial"/>
                <a:cs typeface="Arial"/>
                <a:sym typeface="Arial"/>
              </a:rPr>
              <a:t>●</a:t>
            </a:r>
            <a:endParaRPr sz="1200">
              <a:solidFill>
                <a:schemeClr val="dk1"/>
              </a:solidFill>
              <a:latin typeface="Calibri"/>
              <a:ea typeface="Calibri"/>
              <a:cs typeface="Calibri"/>
              <a:sym typeface="Calibri"/>
            </a:endParaRPr>
          </a:p>
        </p:txBody>
      </p:sp>
      <p:sp>
        <p:nvSpPr>
          <p:cNvPr id="2769" name="Google Shape;2769;p108"/>
          <p:cNvSpPr/>
          <p:nvPr/>
        </p:nvSpPr>
        <p:spPr>
          <a:xfrm>
            <a:off x="548669" y="3754755"/>
            <a:ext cx="1920342" cy="1954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800"/>
              <a:buFont typeface="Arial"/>
              <a:buNone/>
            </a:pPr>
            <a:r>
              <a:rPr b="1" lang="en-GB" sz="800">
                <a:solidFill>
                  <a:srgbClr val="1C2B3E"/>
                </a:solidFill>
                <a:latin typeface="Arial"/>
                <a:ea typeface="Arial"/>
                <a:cs typeface="Arial"/>
                <a:sym typeface="Arial"/>
              </a:rPr>
              <a:t>Payment Voucher</a:t>
            </a:r>
            <a:endParaRPr sz="900">
              <a:solidFill>
                <a:schemeClr val="dk1"/>
              </a:solidFill>
              <a:latin typeface="Calibri"/>
              <a:ea typeface="Calibri"/>
              <a:cs typeface="Calibri"/>
              <a:sym typeface="Calibri"/>
            </a:endParaRPr>
          </a:p>
        </p:txBody>
      </p:sp>
      <p:sp>
        <p:nvSpPr>
          <p:cNvPr id="2770" name="Google Shape;2770;p108"/>
          <p:cNvSpPr/>
          <p:nvPr/>
        </p:nvSpPr>
        <p:spPr>
          <a:xfrm>
            <a:off x="4553955" y="3754755"/>
            <a:ext cx="1042472" cy="1954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2B3E"/>
              </a:buClr>
              <a:buSzPts val="800"/>
              <a:buFont typeface="Arial"/>
              <a:buNone/>
            </a:pPr>
            <a:r>
              <a:rPr b="1" lang="en-GB" sz="800">
                <a:solidFill>
                  <a:srgbClr val="1C2B3E"/>
                </a:solidFill>
                <a:latin typeface="Arial"/>
                <a:ea typeface="Arial"/>
                <a:cs typeface="Arial"/>
                <a:sym typeface="Arial"/>
              </a:rPr>
              <a:t>●</a:t>
            </a:r>
            <a:endParaRPr sz="1200">
              <a:solidFill>
                <a:schemeClr val="dk1"/>
              </a:solidFill>
              <a:latin typeface="Calibri"/>
              <a:ea typeface="Calibri"/>
              <a:cs typeface="Calibri"/>
              <a:sym typeface="Calibri"/>
            </a:endParaRPr>
          </a:p>
        </p:txBody>
      </p:sp>
      <p:sp>
        <p:nvSpPr>
          <p:cNvPr id="2771" name="Google Shape;2771;p108"/>
          <p:cNvSpPr/>
          <p:nvPr/>
        </p:nvSpPr>
        <p:spPr>
          <a:xfrm>
            <a:off x="411502" y="3950208"/>
            <a:ext cx="8319198" cy="195452"/>
          </a:xfrm>
          <a:prstGeom prst="roundRect">
            <a:avLst>
              <a:gd fmla="val 16667" name="adj"/>
            </a:avLst>
          </a:prstGeom>
          <a:solidFill>
            <a:srgbClr val="F5F7FA"/>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772" name="Google Shape;2772;p108"/>
          <p:cNvSpPr/>
          <p:nvPr/>
        </p:nvSpPr>
        <p:spPr>
          <a:xfrm>
            <a:off x="548669" y="3950208"/>
            <a:ext cx="1920342" cy="1954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800"/>
              <a:buFont typeface="Arial"/>
              <a:buNone/>
            </a:pPr>
            <a:r>
              <a:rPr b="1" lang="en-GB" sz="800">
                <a:solidFill>
                  <a:srgbClr val="1C2B3E"/>
                </a:solidFill>
                <a:latin typeface="Arial"/>
                <a:ea typeface="Arial"/>
                <a:cs typeface="Arial"/>
                <a:sym typeface="Arial"/>
              </a:rPr>
              <a:t>Purchase Invoice</a:t>
            </a:r>
            <a:endParaRPr sz="900">
              <a:solidFill>
                <a:schemeClr val="dk1"/>
              </a:solidFill>
              <a:latin typeface="Calibri"/>
              <a:ea typeface="Calibri"/>
              <a:cs typeface="Calibri"/>
              <a:sym typeface="Calibri"/>
            </a:endParaRPr>
          </a:p>
        </p:txBody>
      </p:sp>
      <p:sp>
        <p:nvSpPr>
          <p:cNvPr id="2773" name="Google Shape;2773;p108"/>
          <p:cNvSpPr/>
          <p:nvPr/>
        </p:nvSpPr>
        <p:spPr>
          <a:xfrm>
            <a:off x="4553955" y="3950208"/>
            <a:ext cx="1042472" cy="1954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2B3E"/>
              </a:buClr>
              <a:buSzPts val="800"/>
              <a:buFont typeface="Arial"/>
              <a:buNone/>
            </a:pPr>
            <a:r>
              <a:rPr b="1" lang="en-GB" sz="800">
                <a:solidFill>
                  <a:srgbClr val="1C2B3E"/>
                </a:solidFill>
                <a:latin typeface="Arial"/>
                <a:ea typeface="Arial"/>
                <a:cs typeface="Arial"/>
                <a:sym typeface="Arial"/>
              </a:rPr>
              <a:t>●</a:t>
            </a:r>
            <a:endParaRPr sz="1200">
              <a:solidFill>
                <a:schemeClr val="dk1"/>
              </a:solidFill>
              <a:latin typeface="Calibri"/>
              <a:ea typeface="Calibri"/>
              <a:cs typeface="Calibri"/>
              <a:sym typeface="Calibri"/>
            </a:endParaRPr>
          </a:p>
        </p:txBody>
      </p:sp>
      <p:sp>
        <p:nvSpPr>
          <p:cNvPr id="2774" name="Google Shape;2774;p108"/>
          <p:cNvSpPr/>
          <p:nvPr/>
        </p:nvSpPr>
        <p:spPr>
          <a:xfrm>
            <a:off x="548669" y="4145661"/>
            <a:ext cx="1920342" cy="1954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800"/>
              <a:buFont typeface="Arial"/>
              <a:buNone/>
            </a:pPr>
            <a:r>
              <a:rPr b="1" lang="en-GB" sz="800">
                <a:solidFill>
                  <a:srgbClr val="1C2B3E"/>
                </a:solidFill>
                <a:latin typeface="Arial"/>
                <a:ea typeface="Arial"/>
                <a:cs typeface="Arial"/>
                <a:sym typeface="Arial"/>
              </a:rPr>
              <a:t>Stock Entry</a:t>
            </a:r>
            <a:endParaRPr sz="900">
              <a:solidFill>
                <a:schemeClr val="dk1"/>
              </a:solidFill>
              <a:latin typeface="Calibri"/>
              <a:ea typeface="Calibri"/>
              <a:cs typeface="Calibri"/>
              <a:sym typeface="Calibri"/>
            </a:endParaRPr>
          </a:p>
        </p:txBody>
      </p:sp>
      <p:sp>
        <p:nvSpPr>
          <p:cNvPr id="2775" name="Google Shape;2775;p108"/>
          <p:cNvSpPr/>
          <p:nvPr/>
        </p:nvSpPr>
        <p:spPr>
          <a:xfrm>
            <a:off x="5603285" y="4145661"/>
            <a:ext cx="1042472" cy="1954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2B3E"/>
              </a:buClr>
              <a:buSzPts val="800"/>
              <a:buFont typeface="Arial"/>
              <a:buNone/>
            </a:pPr>
            <a:r>
              <a:rPr b="1" lang="en-GB" sz="800">
                <a:solidFill>
                  <a:srgbClr val="1C2B3E"/>
                </a:solidFill>
                <a:latin typeface="Arial"/>
                <a:ea typeface="Arial"/>
                <a:cs typeface="Arial"/>
                <a:sym typeface="Arial"/>
              </a:rPr>
              <a:t>●</a:t>
            </a:r>
            <a:endParaRPr sz="1200">
              <a:solidFill>
                <a:schemeClr val="dk1"/>
              </a:solidFill>
              <a:latin typeface="Calibri"/>
              <a:ea typeface="Calibri"/>
              <a:cs typeface="Calibri"/>
              <a:sym typeface="Calibri"/>
            </a:endParaRPr>
          </a:p>
        </p:txBody>
      </p:sp>
      <p:sp>
        <p:nvSpPr>
          <p:cNvPr id="2776" name="Google Shape;2776;p108"/>
          <p:cNvSpPr/>
          <p:nvPr/>
        </p:nvSpPr>
        <p:spPr>
          <a:xfrm>
            <a:off x="4553955" y="4145661"/>
            <a:ext cx="1042472" cy="1954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800"/>
              <a:buFont typeface="Arial"/>
              <a:buNone/>
            </a:pPr>
            <a:r>
              <a:rPr b="1" lang="en-GB" sz="800">
                <a:solidFill>
                  <a:srgbClr val="94A3B8"/>
                </a:solidFill>
                <a:latin typeface="Arial"/>
                <a:ea typeface="Arial"/>
                <a:cs typeface="Arial"/>
                <a:sym typeface="Arial"/>
              </a:rPr>
              <a:t>○</a:t>
            </a:r>
            <a:endParaRPr sz="1200">
              <a:solidFill>
                <a:schemeClr val="dk1"/>
              </a:solidFill>
              <a:latin typeface="Calibri"/>
              <a:ea typeface="Calibri"/>
              <a:cs typeface="Calibri"/>
              <a:sym typeface="Calibri"/>
            </a:endParaRPr>
          </a:p>
        </p:txBody>
      </p:sp>
      <p:sp>
        <p:nvSpPr>
          <p:cNvPr id="2777" name="Google Shape;2777;p108"/>
          <p:cNvSpPr/>
          <p:nvPr/>
        </p:nvSpPr>
        <p:spPr>
          <a:xfrm>
            <a:off x="411502" y="4341114"/>
            <a:ext cx="8319198" cy="195452"/>
          </a:xfrm>
          <a:prstGeom prst="roundRect">
            <a:avLst>
              <a:gd fmla="val 16667" name="adj"/>
            </a:avLst>
          </a:prstGeom>
          <a:solidFill>
            <a:srgbClr val="F5F7FA"/>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778" name="Google Shape;2778;p108"/>
          <p:cNvSpPr/>
          <p:nvPr/>
        </p:nvSpPr>
        <p:spPr>
          <a:xfrm>
            <a:off x="548669" y="4341114"/>
            <a:ext cx="1920342" cy="1954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800"/>
              <a:buFont typeface="Arial"/>
              <a:buNone/>
            </a:pPr>
            <a:r>
              <a:rPr b="1" lang="en-GB" sz="800">
                <a:solidFill>
                  <a:srgbClr val="1C2B3E"/>
                </a:solidFill>
                <a:latin typeface="Arial"/>
                <a:ea typeface="Arial"/>
                <a:cs typeface="Arial"/>
                <a:sym typeface="Arial"/>
              </a:rPr>
              <a:t>Stock Reconciliation</a:t>
            </a:r>
            <a:endParaRPr sz="900">
              <a:solidFill>
                <a:schemeClr val="dk1"/>
              </a:solidFill>
              <a:latin typeface="Calibri"/>
              <a:ea typeface="Calibri"/>
              <a:cs typeface="Calibri"/>
              <a:sym typeface="Calibri"/>
            </a:endParaRPr>
          </a:p>
        </p:txBody>
      </p:sp>
      <p:sp>
        <p:nvSpPr>
          <p:cNvPr id="2779" name="Google Shape;2779;p108"/>
          <p:cNvSpPr/>
          <p:nvPr/>
        </p:nvSpPr>
        <p:spPr>
          <a:xfrm>
            <a:off x="5603285" y="4341114"/>
            <a:ext cx="1042472" cy="1954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2B3E"/>
              </a:buClr>
              <a:buSzPts val="800"/>
              <a:buFont typeface="Arial"/>
              <a:buNone/>
            </a:pPr>
            <a:r>
              <a:rPr b="1" lang="en-GB" sz="800">
                <a:solidFill>
                  <a:srgbClr val="1C2B3E"/>
                </a:solidFill>
                <a:latin typeface="Arial"/>
                <a:ea typeface="Arial"/>
                <a:cs typeface="Arial"/>
                <a:sym typeface="Arial"/>
              </a:rPr>
              <a:t>●</a:t>
            </a:r>
            <a:endParaRPr sz="1200">
              <a:solidFill>
                <a:schemeClr val="dk1"/>
              </a:solidFill>
              <a:latin typeface="Calibri"/>
              <a:ea typeface="Calibri"/>
              <a:cs typeface="Calibri"/>
              <a:sym typeface="Calibri"/>
            </a:endParaRPr>
          </a:p>
        </p:txBody>
      </p:sp>
      <p:sp>
        <p:nvSpPr>
          <p:cNvPr id="2780" name="Google Shape;2780;p108"/>
          <p:cNvSpPr/>
          <p:nvPr/>
        </p:nvSpPr>
        <p:spPr>
          <a:xfrm>
            <a:off x="548669" y="4536566"/>
            <a:ext cx="1920342" cy="1954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800"/>
              <a:buFont typeface="Arial"/>
              <a:buNone/>
            </a:pPr>
            <a:r>
              <a:rPr b="1" lang="en-GB" sz="800">
                <a:solidFill>
                  <a:srgbClr val="1C2B3E"/>
                </a:solidFill>
                <a:latin typeface="Arial"/>
                <a:ea typeface="Arial"/>
                <a:cs typeface="Arial"/>
                <a:sym typeface="Arial"/>
              </a:rPr>
              <a:t>Credit limit / override</a:t>
            </a:r>
            <a:endParaRPr sz="900">
              <a:solidFill>
                <a:schemeClr val="dk1"/>
              </a:solidFill>
              <a:latin typeface="Calibri"/>
              <a:ea typeface="Calibri"/>
              <a:cs typeface="Calibri"/>
              <a:sym typeface="Calibri"/>
            </a:endParaRPr>
          </a:p>
        </p:txBody>
      </p:sp>
      <p:sp>
        <p:nvSpPr>
          <p:cNvPr id="2781" name="Google Shape;2781;p108"/>
          <p:cNvSpPr/>
          <p:nvPr/>
        </p:nvSpPr>
        <p:spPr>
          <a:xfrm>
            <a:off x="3511483" y="4536566"/>
            <a:ext cx="1042472" cy="1954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a:t>
            </a:r>
            <a:endParaRPr sz="1200">
              <a:solidFill>
                <a:schemeClr val="dk1"/>
              </a:solidFill>
              <a:latin typeface="Calibri"/>
              <a:ea typeface="Calibri"/>
              <a:cs typeface="Calibri"/>
              <a:sym typeface="Calibri"/>
            </a:endParaRPr>
          </a:p>
        </p:txBody>
      </p:sp>
      <p:sp>
        <p:nvSpPr>
          <p:cNvPr id="2782" name="Google Shape;2782;p108"/>
          <p:cNvSpPr/>
          <p:nvPr/>
        </p:nvSpPr>
        <p:spPr>
          <a:xfrm>
            <a:off x="4553955" y="4536566"/>
            <a:ext cx="1042472" cy="1954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800"/>
              <a:buFont typeface="Arial"/>
              <a:buNone/>
            </a:pPr>
            <a:r>
              <a:rPr b="1" lang="en-GB" sz="800">
                <a:solidFill>
                  <a:srgbClr val="94A3B8"/>
                </a:solidFill>
                <a:latin typeface="Arial"/>
                <a:ea typeface="Arial"/>
                <a:cs typeface="Arial"/>
                <a:sym typeface="Arial"/>
              </a:rPr>
              <a:t>○</a:t>
            </a:r>
            <a:endParaRPr sz="1200">
              <a:solidFill>
                <a:schemeClr val="dk1"/>
              </a:solidFill>
              <a:latin typeface="Calibri"/>
              <a:ea typeface="Calibri"/>
              <a:cs typeface="Calibri"/>
              <a:sym typeface="Calibri"/>
            </a:endParaRPr>
          </a:p>
        </p:txBody>
      </p:sp>
      <p:sp>
        <p:nvSpPr>
          <p:cNvPr id="2783" name="Google Shape;2783;p108"/>
          <p:cNvSpPr txBox="1"/>
          <p:nvPr>
            <p:ph idx="12" type="sldNum"/>
          </p:nvPr>
        </p:nvSpPr>
        <p:spPr>
          <a:xfrm>
            <a:off x="8347216" y="4750189"/>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787" name="Shape 2787"/>
        <p:cNvGrpSpPr/>
        <p:nvPr/>
      </p:nvGrpSpPr>
      <p:grpSpPr>
        <a:xfrm>
          <a:off x="0" y="0"/>
          <a:ext cx="0" cy="0"/>
          <a:chOff x="0" y="0"/>
          <a:chExt cx="0" cy="0"/>
        </a:xfrm>
      </p:grpSpPr>
      <p:sp>
        <p:nvSpPr>
          <p:cNvPr id="2788" name="Google Shape;2788;p109"/>
          <p:cNvSpPr txBox="1"/>
          <p:nvPr>
            <p:ph idx="12" type="sldNum"/>
          </p:nvPr>
        </p:nvSpPr>
        <p:spPr>
          <a:xfrm>
            <a:off x="8347216" y="4750189"/>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789" name="Google Shape;2789;p109"/>
          <p:cNvSpPr txBox="1"/>
          <p:nvPr/>
        </p:nvSpPr>
        <p:spPr>
          <a:xfrm>
            <a:off x="1848600" y="2017650"/>
            <a:ext cx="72954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6000"/>
              <a:t>archived</a:t>
            </a:r>
            <a:endParaRPr b="1" sz="6000"/>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2794" name="Shape 2794"/>
        <p:cNvGrpSpPr/>
        <p:nvPr/>
      </p:nvGrpSpPr>
      <p:grpSpPr>
        <a:xfrm>
          <a:off x="0" y="0"/>
          <a:ext cx="0" cy="0"/>
          <a:chOff x="0" y="0"/>
          <a:chExt cx="0" cy="0"/>
        </a:xfrm>
      </p:grpSpPr>
      <p:sp>
        <p:nvSpPr>
          <p:cNvPr id="2795" name="Google Shape;2795;p110"/>
          <p:cNvSpPr/>
          <p:nvPr/>
        </p:nvSpPr>
        <p:spPr>
          <a:xfrm>
            <a:off x="411502" y="260604"/>
            <a:ext cx="68583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APPENDIX</a:t>
            </a:r>
            <a:endParaRPr sz="800">
              <a:solidFill>
                <a:schemeClr val="dk1"/>
              </a:solidFill>
              <a:latin typeface="Calibri"/>
              <a:ea typeface="Calibri"/>
              <a:cs typeface="Calibri"/>
              <a:sym typeface="Calibri"/>
            </a:endParaRPr>
          </a:p>
        </p:txBody>
      </p:sp>
      <p:sp>
        <p:nvSpPr>
          <p:cNvPr id="2796" name="Google Shape;2796;p110"/>
          <p:cNvSpPr/>
          <p:nvPr/>
        </p:nvSpPr>
        <p:spPr>
          <a:xfrm>
            <a:off x="411502" y="438912"/>
            <a:ext cx="8321400" cy="480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C2B3E"/>
              </a:buClr>
              <a:buSzPts val="2200"/>
              <a:buFont typeface="Arial"/>
              <a:buNone/>
            </a:pPr>
            <a:r>
              <a:rPr b="1" lang="en-GB" sz="2200">
                <a:solidFill>
                  <a:srgbClr val="1C2B3E"/>
                </a:solidFill>
                <a:latin typeface="Arial"/>
                <a:ea typeface="Arial"/>
                <a:cs typeface="Arial"/>
                <a:sym typeface="Arial"/>
              </a:rPr>
              <a:t>Integration Deep-Dive</a:t>
            </a:r>
            <a:endParaRPr sz="2200">
              <a:solidFill>
                <a:schemeClr val="dk1"/>
              </a:solidFill>
              <a:latin typeface="Calibri"/>
              <a:ea typeface="Calibri"/>
              <a:cs typeface="Calibri"/>
              <a:sym typeface="Calibri"/>
            </a:endParaRPr>
          </a:p>
        </p:txBody>
      </p:sp>
      <p:sp>
        <p:nvSpPr>
          <p:cNvPr id="2797" name="Google Shape;2797;p110"/>
          <p:cNvSpPr/>
          <p:nvPr/>
        </p:nvSpPr>
        <p:spPr>
          <a:xfrm>
            <a:off x="411502" y="932688"/>
            <a:ext cx="8321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D"/>
              </a:buClr>
              <a:buSzPts val="1100"/>
              <a:buFont typeface="Arial"/>
              <a:buNone/>
            </a:pPr>
            <a:r>
              <a:rPr lang="en-GB" sz="1100">
                <a:solidFill>
                  <a:srgbClr val="5B6B7D"/>
                </a:solidFill>
                <a:latin typeface="Arial"/>
                <a:ea typeface="Arial"/>
                <a:cs typeface="Arial"/>
                <a:sym typeface="Arial"/>
              </a:rPr>
              <a:t>Source of truth: MAIA Value Propositions §4 — Third-Party System Product Knowledge.</a:t>
            </a:r>
            <a:endParaRPr sz="1100">
              <a:solidFill>
                <a:schemeClr val="dk1"/>
              </a:solidFill>
              <a:latin typeface="Calibri"/>
              <a:ea typeface="Calibri"/>
              <a:cs typeface="Calibri"/>
              <a:sym typeface="Calibri"/>
            </a:endParaRPr>
          </a:p>
        </p:txBody>
      </p:sp>
      <p:sp>
        <p:nvSpPr>
          <p:cNvPr id="2798" name="Google Shape;2798;p110"/>
          <p:cNvSpPr/>
          <p:nvPr/>
        </p:nvSpPr>
        <p:spPr>
          <a:xfrm>
            <a:off x="411502" y="1337310"/>
            <a:ext cx="1272600" cy="480000"/>
          </a:xfrm>
          <a:prstGeom prst="roundRect">
            <a:avLst>
              <a:gd fmla="val 11429"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799" name="Google Shape;2799;p110"/>
          <p:cNvSpPr/>
          <p:nvPr/>
        </p:nvSpPr>
        <p:spPr>
          <a:xfrm>
            <a:off x="411502" y="1378458"/>
            <a:ext cx="1272600" cy="2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Arial"/>
              <a:buNone/>
            </a:pPr>
            <a:r>
              <a:rPr b="1" lang="en-GB" sz="900">
                <a:solidFill>
                  <a:srgbClr val="FFFFFF"/>
                </a:solidFill>
                <a:latin typeface="Arial"/>
                <a:ea typeface="Arial"/>
                <a:cs typeface="Arial"/>
                <a:sym typeface="Arial"/>
              </a:rPr>
              <a:t>AutoCount</a:t>
            </a:r>
            <a:endParaRPr sz="900">
              <a:solidFill>
                <a:schemeClr val="dk1"/>
              </a:solidFill>
              <a:latin typeface="Calibri"/>
              <a:ea typeface="Calibri"/>
              <a:cs typeface="Calibri"/>
              <a:sym typeface="Calibri"/>
            </a:endParaRPr>
          </a:p>
        </p:txBody>
      </p:sp>
      <p:sp>
        <p:nvSpPr>
          <p:cNvPr id="2800" name="Google Shape;2800;p110"/>
          <p:cNvSpPr/>
          <p:nvPr/>
        </p:nvSpPr>
        <p:spPr>
          <a:xfrm>
            <a:off x="411502" y="1597914"/>
            <a:ext cx="1272600" cy="178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2A6BE"/>
              </a:buClr>
              <a:buSzPts val="700"/>
              <a:buFont typeface="Arial"/>
              <a:buNone/>
            </a:pPr>
            <a:r>
              <a:rPr lang="en-GB" sz="700">
                <a:solidFill>
                  <a:srgbClr val="92A6BE"/>
                </a:solidFill>
                <a:latin typeface="Arial"/>
                <a:ea typeface="Arial"/>
                <a:cs typeface="Arial"/>
                <a:sym typeface="Arial"/>
              </a:rPr>
              <a:t>Supported</a:t>
            </a:r>
            <a:endParaRPr sz="700">
              <a:solidFill>
                <a:schemeClr val="dk1"/>
              </a:solidFill>
              <a:latin typeface="Calibri"/>
              <a:ea typeface="Calibri"/>
              <a:cs typeface="Calibri"/>
              <a:sym typeface="Calibri"/>
            </a:endParaRPr>
          </a:p>
        </p:txBody>
      </p:sp>
      <p:sp>
        <p:nvSpPr>
          <p:cNvPr id="2801" name="Google Shape;2801;p110"/>
          <p:cNvSpPr/>
          <p:nvPr/>
        </p:nvSpPr>
        <p:spPr>
          <a:xfrm>
            <a:off x="1821239" y="1337310"/>
            <a:ext cx="1272600" cy="480000"/>
          </a:xfrm>
          <a:prstGeom prst="roundRect">
            <a:avLst>
              <a:gd fmla="val 11429"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802" name="Google Shape;2802;p110"/>
          <p:cNvSpPr/>
          <p:nvPr/>
        </p:nvSpPr>
        <p:spPr>
          <a:xfrm>
            <a:off x="1821239" y="1378458"/>
            <a:ext cx="1272600" cy="2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Arial"/>
              <a:buNone/>
            </a:pPr>
            <a:r>
              <a:rPr b="1" lang="en-GB" sz="900">
                <a:solidFill>
                  <a:srgbClr val="FFFFFF"/>
                </a:solidFill>
                <a:latin typeface="Arial"/>
                <a:ea typeface="Arial"/>
                <a:cs typeface="Arial"/>
                <a:sym typeface="Arial"/>
              </a:rPr>
              <a:t>SQL</a:t>
            </a:r>
            <a:endParaRPr sz="900">
              <a:solidFill>
                <a:schemeClr val="dk1"/>
              </a:solidFill>
              <a:latin typeface="Calibri"/>
              <a:ea typeface="Calibri"/>
              <a:cs typeface="Calibri"/>
              <a:sym typeface="Calibri"/>
            </a:endParaRPr>
          </a:p>
        </p:txBody>
      </p:sp>
      <p:sp>
        <p:nvSpPr>
          <p:cNvPr id="2803" name="Google Shape;2803;p110"/>
          <p:cNvSpPr/>
          <p:nvPr/>
        </p:nvSpPr>
        <p:spPr>
          <a:xfrm>
            <a:off x="1821239" y="1597914"/>
            <a:ext cx="1272600" cy="178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2A6BE"/>
              </a:buClr>
              <a:buSzPts val="700"/>
              <a:buFont typeface="Arial"/>
              <a:buNone/>
            </a:pPr>
            <a:r>
              <a:rPr lang="en-GB" sz="700">
                <a:solidFill>
                  <a:srgbClr val="92A6BE"/>
                </a:solidFill>
                <a:latin typeface="Arial"/>
                <a:ea typeface="Arial"/>
                <a:cs typeface="Arial"/>
                <a:sym typeface="Arial"/>
              </a:rPr>
              <a:t>Supported</a:t>
            </a:r>
            <a:endParaRPr sz="700">
              <a:solidFill>
                <a:schemeClr val="dk1"/>
              </a:solidFill>
              <a:latin typeface="Calibri"/>
              <a:ea typeface="Calibri"/>
              <a:cs typeface="Calibri"/>
              <a:sym typeface="Calibri"/>
            </a:endParaRPr>
          </a:p>
        </p:txBody>
      </p:sp>
      <p:sp>
        <p:nvSpPr>
          <p:cNvPr id="2804" name="Google Shape;2804;p110"/>
          <p:cNvSpPr/>
          <p:nvPr/>
        </p:nvSpPr>
        <p:spPr>
          <a:xfrm>
            <a:off x="3230976" y="1337310"/>
            <a:ext cx="1272600" cy="480000"/>
          </a:xfrm>
          <a:prstGeom prst="roundRect">
            <a:avLst>
              <a:gd fmla="val 11429"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805" name="Google Shape;2805;p110"/>
          <p:cNvSpPr/>
          <p:nvPr/>
        </p:nvSpPr>
        <p:spPr>
          <a:xfrm>
            <a:off x="3230976" y="1378458"/>
            <a:ext cx="1272600" cy="2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Arial"/>
              <a:buNone/>
            </a:pPr>
            <a:r>
              <a:rPr b="1" lang="en-GB" sz="900">
                <a:solidFill>
                  <a:srgbClr val="FFFFFF"/>
                </a:solidFill>
                <a:latin typeface="Arial"/>
                <a:ea typeface="Arial"/>
                <a:cs typeface="Arial"/>
                <a:sym typeface="Arial"/>
              </a:rPr>
              <a:t>SAP B1</a:t>
            </a:r>
            <a:endParaRPr sz="900">
              <a:solidFill>
                <a:schemeClr val="dk1"/>
              </a:solidFill>
              <a:latin typeface="Calibri"/>
              <a:ea typeface="Calibri"/>
              <a:cs typeface="Calibri"/>
              <a:sym typeface="Calibri"/>
            </a:endParaRPr>
          </a:p>
        </p:txBody>
      </p:sp>
      <p:sp>
        <p:nvSpPr>
          <p:cNvPr id="2806" name="Google Shape;2806;p110"/>
          <p:cNvSpPr/>
          <p:nvPr/>
        </p:nvSpPr>
        <p:spPr>
          <a:xfrm>
            <a:off x="3230976" y="1597914"/>
            <a:ext cx="1272600" cy="178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2A6BE"/>
              </a:buClr>
              <a:buSzPts val="700"/>
              <a:buFont typeface="Arial"/>
              <a:buNone/>
            </a:pPr>
            <a:r>
              <a:rPr lang="en-GB" sz="700">
                <a:solidFill>
                  <a:srgbClr val="92A6BE"/>
                </a:solidFill>
                <a:latin typeface="Arial"/>
                <a:ea typeface="Arial"/>
                <a:cs typeface="Arial"/>
                <a:sym typeface="Arial"/>
              </a:rPr>
              <a:t>Supported</a:t>
            </a:r>
            <a:endParaRPr sz="700">
              <a:solidFill>
                <a:schemeClr val="dk1"/>
              </a:solidFill>
              <a:latin typeface="Calibri"/>
              <a:ea typeface="Calibri"/>
              <a:cs typeface="Calibri"/>
              <a:sym typeface="Calibri"/>
            </a:endParaRPr>
          </a:p>
        </p:txBody>
      </p:sp>
      <p:sp>
        <p:nvSpPr>
          <p:cNvPr id="2807" name="Google Shape;2807;p110"/>
          <p:cNvSpPr/>
          <p:nvPr/>
        </p:nvSpPr>
        <p:spPr>
          <a:xfrm>
            <a:off x="4640713" y="1337310"/>
            <a:ext cx="1272600" cy="480000"/>
          </a:xfrm>
          <a:prstGeom prst="roundRect">
            <a:avLst>
              <a:gd fmla="val 11429"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808" name="Google Shape;2808;p110"/>
          <p:cNvSpPr/>
          <p:nvPr/>
        </p:nvSpPr>
        <p:spPr>
          <a:xfrm>
            <a:off x="4640713" y="1378458"/>
            <a:ext cx="1272600" cy="2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Arial"/>
              <a:buNone/>
            </a:pPr>
            <a:r>
              <a:rPr b="1" lang="en-GB" sz="900">
                <a:solidFill>
                  <a:srgbClr val="FFFFFF"/>
                </a:solidFill>
                <a:latin typeface="Arial"/>
                <a:ea typeface="Arial"/>
                <a:cs typeface="Arial"/>
                <a:sym typeface="Arial"/>
              </a:rPr>
              <a:t>Epicor</a:t>
            </a:r>
            <a:endParaRPr sz="900">
              <a:solidFill>
                <a:schemeClr val="dk1"/>
              </a:solidFill>
              <a:latin typeface="Calibri"/>
              <a:ea typeface="Calibri"/>
              <a:cs typeface="Calibri"/>
              <a:sym typeface="Calibri"/>
            </a:endParaRPr>
          </a:p>
        </p:txBody>
      </p:sp>
      <p:sp>
        <p:nvSpPr>
          <p:cNvPr id="2809" name="Google Shape;2809;p110"/>
          <p:cNvSpPr/>
          <p:nvPr/>
        </p:nvSpPr>
        <p:spPr>
          <a:xfrm>
            <a:off x="4640713" y="1597914"/>
            <a:ext cx="1272600" cy="178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2A6BE"/>
              </a:buClr>
              <a:buSzPts val="700"/>
              <a:buFont typeface="Arial"/>
              <a:buNone/>
            </a:pPr>
            <a:r>
              <a:rPr lang="en-GB" sz="700">
                <a:solidFill>
                  <a:srgbClr val="92A6BE"/>
                </a:solidFill>
                <a:latin typeface="Arial"/>
                <a:ea typeface="Arial"/>
                <a:cs typeface="Arial"/>
                <a:sym typeface="Arial"/>
              </a:rPr>
              <a:t>Supported</a:t>
            </a:r>
            <a:endParaRPr sz="700">
              <a:solidFill>
                <a:schemeClr val="dk1"/>
              </a:solidFill>
              <a:latin typeface="Calibri"/>
              <a:ea typeface="Calibri"/>
              <a:cs typeface="Calibri"/>
              <a:sym typeface="Calibri"/>
            </a:endParaRPr>
          </a:p>
        </p:txBody>
      </p:sp>
      <p:sp>
        <p:nvSpPr>
          <p:cNvPr id="2810" name="Google Shape;2810;p110"/>
          <p:cNvSpPr/>
          <p:nvPr/>
        </p:nvSpPr>
        <p:spPr>
          <a:xfrm>
            <a:off x="6050450" y="1337310"/>
            <a:ext cx="1272600" cy="480000"/>
          </a:xfrm>
          <a:prstGeom prst="roundRect">
            <a:avLst>
              <a:gd fmla="val 11429" name="adj"/>
            </a:avLst>
          </a:prstGeom>
          <a:solidFill>
            <a:srgbClr val="FFFFFF"/>
          </a:solidFill>
          <a:ln cap="flat" cmpd="sng" w="15875">
            <a:solidFill>
              <a:srgbClr val="E8821E"/>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811" name="Google Shape;2811;p110"/>
          <p:cNvSpPr/>
          <p:nvPr/>
        </p:nvSpPr>
        <p:spPr>
          <a:xfrm>
            <a:off x="6050450" y="1378458"/>
            <a:ext cx="1272600" cy="2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2B3E"/>
              </a:buClr>
              <a:buSzPts val="900"/>
              <a:buFont typeface="Arial"/>
              <a:buNone/>
            </a:pPr>
            <a:r>
              <a:rPr b="1" lang="en-GB" sz="900">
                <a:solidFill>
                  <a:srgbClr val="1C2B3E"/>
                </a:solidFill>
                <a:latin typeface="Arial"/>
                <a:ea typeface="Arial"/>
                <a:cs typeface="Arial"/>
                <a:sym typeface="Arial"/>
              </a:rPr>
              <a:t>SAP HANA</a:t>
            </a:r>
            <a:endParaRPr sz="900">
              <a:solidFill>
                <a:schemeClr val="dk1"/>
              </a:solidFill>
              <a:latin typeface="Calibri"/>
              <a:ea typeface="Calibri"/>
              <a:cs typeface="Calibri"/>
              <a:sym typeface="Calibri"/>
            </a:endParaRPr>
          </a:p>
        </p:txBody>
      </p:sp>
      <p:sp>
        <p:nvSpPr>
          <p:cNvPr id="2812" name="Google Shape;2812;p110"/>
          <p:cNvSpPr/>
          <p:nvPr/>
        </p:nvSpPr>
        <p:spPr>
          <a:xfrm>
            <a:off x="6050450" y="1597914"/>
            <a:ext cx="1272600" cy="178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821E"/>
              </a:buClr>
              <a:buSzPts val="700"/>
              <a:buFont typeface="Arial"/>
              <a:buNone/>
            </a:pPr>
            <a:r>
              <a:rPr lang="en-GB" sz="700">
                <a:solidFill>
                  <a:srgbClr val="E8821E"/>
                </a:solidFill>
                <a:latin typeface="Arial"/>
                <a:ea typeface="Arial"/>
                <a:cs typeface="Arial"/>
                <a:sym typeface="Arial"/>
              </a:rPr>
              <a:t>In development</a:t>
            </a:r>
            <a:endParaRPr sz="700">
              <a:solidFill>
                <a:schemeClr val="dk1"/>
              </a:solidFill>
              <a:latin typeface="Calibri"/>
              <a:ea typeface="Calibri"/>
              <a:cs typeface="Calibri"/>
              <a:sym typeface="Calibri"/>
            </a:endParaRPr>
          </a:p>
        </p:txBody>
      </p:sp>
      <p:sp>
        <p:nvSpPr>
          <p:cNvPr id="2813" name="Google Shape;2813;p110"/>
          <p:cNvSpPr/>
          <p:nvPr/>
        </p:nvSpPr>
        <p:spPr>
          <a:xfrm>
            <a:off x="7460187" y="1337310"/>
            <a:ext cx="1272600" cy="480000"/>
          </a:xfrm>
          <a:prstGeom prst="roundRect">
            <a:avLst>
              <a:gd fmla="val 11429" name="adj"/>
            </a:avLst>
          </a:prstGeom>
          <a:solidFill>
            <a:srgbClr val="FFFFFF"/>
          </a:solidFill>
          <a:ln cap="flat" cmpd="sng" w="15875">
            <a:solidFill>
              <a:srgbClr val="E8821E"/>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814" name="Google Shape;2814;p110"/>
          <p:cNvSpPr/>
          <p:nvPr/>
        </p:nvSpPr>
        <p:spPr>
          <a:xfrm>
            <a:off x="7460187" y="1378458"/>
            <a:ext cx="1272600" cy="2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2B3E"/>
              </a:buClr>
              <a:buSzPts val="900"/>
              <a:buFont typeface="Arial"/>
              <a:buNone/>
            </a:pPr>
            <a:r>
              <a:rPr b="1" lang="en-GB" sz="900">
                <a:solidFill>
                  <a:srgbClr val="1C2B3E"/>
                </a:solidFill>
                <a:latin typeface="Arial"/>
                <a:ea typeface="Arial"/>
                <a:cs typeface="Arial"/>
                <a:sym typeface="Arial"/>
              </a:rPr>
              <a:t>Xeersoft</a:t>
            </a:r>
            <a:endParaRPr sz="900">
              <a:solidFill>
                <a:schemeClr val="dk1"/>
              </a:solidFill>
              <a:latin typeface="Calibri"/>
              <a:ea typeface="Calibri"/>
              <a:cs typeface="Calibri"/>
              <a:sym typeface="Calibri"/>
            </a:endParaRPr>
          </a:p>
        </p:txBody>
      </p:sp>
      <p:sp>
        <p:nvSpPr>
          <p:cNvPr id="2815" name="Google Shape;2815;p110"/>
          <p:cNvSpPr/>
          <p:nvPr/>
        </p:nvSpPr>
        <p:spPr>
          <a:xfrm>
            <a:off x="7460187" y="1597914"/>
            <a:ext cx="1272600" cy="178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821E"/>
              </a:buClr>
              <a:buSzPts val="700"/>
              <a:buFont typeface="Arial"/>
              <a:buNone/>
            </a:pPr>
            <a:r>
              <a:rPr lang="en-GB" sz="700">
                <a:solidFill>
                  <a:srgbClr val="E8821E"/>
                </a:solidFill>
                <a:latin typeface="Arial"/>
                <a:ea typeface="Arial"/>
                <a:cs typeface="Arial"/>
                <a:sym typeface="Arial"/>
              </a:rPr>
              <a:t>In development</a:t>
            </a:r>
            <a:endParaRPr sz="700">
              <a:solidFill>
                <a:schemeClr val="dk1"/>
              </a:solidFill>
              <a:latin typeface="Calibri"/>
              <a:ea typeface="Calibri"/>
              <a:cs typeface="Calibri"/>
              <a:sym typeface="Calibri"/>
            </a:endParaRPr>
          </a:p>
        </p:txBody>
      </p:sp>
      <p:sp>
        <p:nvSpPr>
          <p:cNvPr id="2816" name="Google Shape;2816;p110"/>
          <p:cNvSpPr/>
          <p:nvPr/>
        </p:nvSpPr>
        <p:spPr>
          <a:xfrm>
            <a:off x="411502" y="2057400"/>
            <a:ext cx="8321400" cy="754500"/>
          </a:xfrm>
          <a:prstGeom prst="roundRect">
            <a:avLst>
              <a:gd fmla="val 10909" name="adj"/>
            </a:avLst>
          </a:prstGeom>
          <a:solidFill>
            <a:srgbClr val="FBEBD9"/>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817" name="Google Shape;2817;p110"/>
          <p:cNvSpPr/>
          <p:nvPr/>
        </p:nvSpPr>
        <p:spPr>
          <a:xfrm>
            <a:off x="576103" y="2153412"/>
            <a:ext cx="17145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Worked example</a:t>
            </a:r>
            <a:endParaRPr sz="800">
              <a:solidFill>
                <a:schemeClr val="dk1"/>
              </a:solidFill>
              <a:latin typeface="Calibri"/>
              <a:ea typeface="Calibri"/>
              <a:cs typeface="Calibri"/>
              <a:sym typeface="Calibri"/>
            </a:endParaRPr>
          </a:p>
        </p:txBody>
      </p:sp>
      <p:sp>
        <p:nvSpPr>
          <p:cNvPr id="2818" name="Google Shape;2818;p110"/>
          <p:cNvSpPr/>
          <p:nvPr/>
        </p:nvSpPr>
        <p:spPr>
          <a:xfrm>
            <a:off x="576103" y="2400300"/>
            <a:ext cx="1783200" cy="315600"/>
          </a:xfrm>
          <a:prstGeom prst="roundRect">
            <a:avLst>
              <a:gd fmla="val 50000"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819" name="Google Shape;2819;p110"/>
          <p:cNvSpPr/>
          <p:nvPr/>
        </p:nvSpPr>
        <p:spPr>
          <a:xfrm>
            <a:off x="576103" y="2400300"/>
            <a:ext cx="1783200" cy="31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Arial"/>
              <a:buNone/>
            </a:pPr>
            <a:r>
              <a:rPr b="1" lang="en-GB" sz="900">
                <a:solidFill>
                  <a:srgbClr val="FFFFFF"/>
                </a:solidFill>
                <a:latin typeface="Arial"/>
                <a:ea typeface="Arial"/>
                <a:cs typeface="Arial"/>
                <a:sym typeface="Arial"/>
              </a:rPr>
              <a:t>SO created in MAIA</a:t>
            </a:r>
            <a:endParaRPr sz="900">
              <a:solidFill>
                <a:schemeClr val="dk1"/>
              </a:solidFill>
              <a:latin typeface="Calibri"/>
              <a:ea typeface="Calibri"/>
              <a:cs typeface="Calibri"/>
              <a:sym typeface="Calibri"/>
            </a:endParaRPr>
          </a:p>
        </p:txBody>
      </p:sp>
      <p:sp>
        <p:nvSpPr>
          <p:cNvPr id="2820" name="Google Shape;2820;p110"/>
          <p:cNvSpPr/>
          <p:nvPr/>
        </p:nvSpPr>
        <p:spPr>
          <a:xfrm>
            <a:off x="2469012" y="2400300"/>
            <a:ext cx="2742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821E"/>
              </a:buClr>
              <a:buSzPts val="2100"/>
              <a:buFont typeface="Arial"/>
              <a:buNone/>
            </a:pPr>
            <a:r>
              <a:rPr b="1" lang="en-GB" sz="2100">
                <a:solidFill>
                  <a:srgbClr val="E8821E"/>
                </a:solidFill>
                <a:latin typeface="Arial"/>
                <a:ea typeface="Arial"/>
                <a:cs typeface="Arial"/>
                <a:sym typeface="Arial"/>
              </a:rPr>
              <a:t>›</a:t>
            </a:r>
            <a:endParaRPr sz="2100">
              <a:solidFill>
                <a:schemeClr val="dk1"/>
              </a:solidFill>
              <a:latin typeface="Calibri"/>
              <a:ea typeface="Calibri"/>
              <a:cs typeface="Calibri"/>
              <a:sym typeface="Calibri"/>
            </a:endParaRPr>
          </a:p>
        </p:txBody>
      </p:sp>
      <p:sp>
        <p:nvSpPr>
          <p:cNvPr id="2821" name="Google Shape;2821;p110"/>
          <p:cNvSpPr/>
          <p:nvPr/>
        </p:nvSpPr>
        <p:spPr>
          <a:xfrm>
            <a:off x="2811930" y="2400300"/>
            <a:ext cx="2743200" cy="315600"/>
          </a:xfrm>
          <a:prstGeom prst="roundRect">
            <a:avLst>
              <a:gd fmla="val 50000" name="adj"/>
            </a:avLst>
          </a:prstGeom>
          <a:solidFill>
            <a:srgbClr val="FFFFFF"/>
          </a:solidFill>
          <a:ln cap="flat" cmpd="sng" w="12700">
            <a:solidFill>
              <a:srgbClr val="E3E8EF"/>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822" name="Google Shape;2822;p110"/>
          <p:cNvSpPr/>
          <p:nvPr/>
        </p:nvSpPr>
        <p:spPr>
          <a:xfrm>
            <a:off x="2811930" y="2400300"/>
            <a:ext cx="2743200" cy="31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2B3E"/>
              </a:buClr>
              <a:buSzPts val="900"/>
              <a:buFont typeface="Arial"/>
              <a:buNone/>
            </a:pPr>
            <a:r>
              <a:rPr b="1" lang="en-GB" sz="900">
                <a:solidFill>
                  <a:srgbClr val="1C2B3E"/>
                </a:solidFill>
                <a:latin typeface="Arial"/>
                <a:ea typeface="Arial"/>
                <a:cs typeface="Arial"/>
                <a:sym typeface="Arial"/>
              </a:rPr>
              <a:t>Appears in client ERP / Accounting</a:t>
            </a:r>
            <a:endParaRPr sz="900">
              <a:solidFill>
                <a:schemeClr val="dk1"/>
              </a:solidFill>
              <a:latin typeface="Calibri"/>
              <a:ea typeface="Calibri"/>
              <a:cs typeface="Calibri"/>
              <a:sym typeface="Calibri"/>
            </a:endParaRPr>
          </a:p>
        </p:txBody>
      </p:sp>
      <p:sp>
        <p:nvSpPr>
          <p:cNvPr id="2823" name="Google Shape;2823;p110"/>
          <p:cNvSpPr/>
          <p:nvPr/>
        </p:nvSpPr>
        <p:spPr>
          <a:xfrm>
            <a:off x="5692443" y="2400300"/>
            <a:ext cx="2903100" cy="315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D"/>
              </a:buClr>
              <a:buSzPts val="900"/>
              <a:buFont typeface="Arial"/>
              <a:buNone/>
            </a:pPr>
            <a:r>
              <a:rPr i="1" lang="en-GB" sz="900">
                <a:solidFill>
                  <a:srgbClr val="5B6B7D"/>
                </a:solidFill>
                <a:latin typeface="Arial"/>
                <a:ea typeface="Arial"/>
                <a:cs typeface="Arial"/>
                <a:sym typeface="Arial"/>
              </a:rPr>
              <a:t>where the connector and scope allow — no re-keying</a:t>
            </a:r>
            <a:endParaRPr sz="900">
              <a:solidFill>
                <a:schemeClr val="dk1"/>
              </a:solidFill>
              <a:latin typeface="Calibri"/>
              <a:ea typeface="Calibri"/>
              <a:cs typeface="Calibri"/>
              <a:sym typeface="Calibri"/>
            </a:endParaRPr>
          </a:p>
        </p:txBody>
      </p:sp>
      <p:sp>
        <p:nvSpPr>
          <p:cNvPr id="2824" name="Google Shape;2824;p110"/>
          <p:cNvSpPr/>
          <p:nvPr/>
        </p:nvSpPr>
        <p:spPr>
          <a:xfrm>
            <a:off x="411502" y="3017520"/>
            <a:ext cx="4023600" cy="1783200"/>
          </a:xfrm>
          <a:prstGeom prst="roundRect">
            <a:avLst>
              <a:gd fmla="val 4615" name="adj"/>
            </a:avLst>
          </a:prstGeom>
          <a:solidFill>
            <a:srgbClr val="F5F7FA"/>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825" name="Google Shape;2825;p110"/>
          <p:cNvSpPr/>
          <p:nvPr/>
        </p:nvSpPr>
        <p:spPr>
          <a:xfrm>
            <a:off x="562386" y="3127248"/>
            <a:ext cx="37218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1000"/>
              <a:buFont typeface="Arial"/>
              <a:buNone/>
            </a:pPr>
            <a:r>
              <a:rPr b="1" lang="en-GB" sz="1000">
                <a:solidFill>
                  <a:srgbClr val="1C2B3E"/>
                </a:solidFill>
                <a:latin typeface="Arial"/>
                <a:ea typeface="Arial"/>
                <a:cs typeface="Arial"/>
                <a:sym typeface="Arial"/>
              </a:rPr>
              <a:t>UDF / UDH — plain English</a:t>
            </a:r>
            <a:endParaRPr sz="1000">
              <a:solidFill>
                <a:schemeClr val="dk1"/>
              </a:solidFill>
              <a:latin typeface="Calibri"/>
              <a:ea typeface="Calibri"/>
              <a:cs typeface="Calibri"/>
              <a:sym typeface="Calibri"/>
            </a:endParaRPr>
          </a:p>
        </p:txBody>
      </p:sp>
      <p:sp>
        <p:nvSpPr>
          <p:cNvPr id="2826" name="Google Shape;2826;p110"/>
          <p:cNvSpPr/>
          <p:nvPr/>
        </p:nvSpPr>
        <p:spPr>
          <a:xfrm>
            <a:off x="562386" y="3401568"/>
            <a:ext cx="3721800" cy="13029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5B6B7D"/>
              </a:buClr>
              <a:buSzPts val="900"/>
              <a:buFont typeface="Arial"/>
              <a:buNone/>
            </a:pPr>
            <a:r>
              <a:rPr lang="en-GB" sz="900">
                <a:solidFill>
                  <a:srgbClr val="5B6B7D"/>
                </a:solidFill>
                <a:latin typeface="Arial"/>
                <a:ea typeface="Arial"/>
                <a:cs typeface="Arial"/>
                <a:sym typeface="Arial"/>
              </a:rPr>
              <a:t>A User Defined Field is a custom extra box the client added to an old system. A User Defined Hook is a custom automatic rule. Both are out of standard integration scope unless Product/Solutions confirms MAIA already covers the need, or scopes a custom build.</a:t>
            </a:r>
            <a:endParaRPr sz="900">
              <a:solidFill>
                <a:schemeClr val="dk1"/>
              </a:solidFill>
              <a:latin typeface="Calibri"/>
              <a:ea typeface="Calibri"/>
              <a:cs typeface="Calibri"/>
              <a:sym typeface="Calibri"/>
            </a:endParaRPr>
          </a:p>
        </p:txBody>
      </p:sp>
      <p:sp>
        <p:nvSpPr>
          <p:cNvPr id="2827" name="Google Shape;2827;p110"/>
          <p:cNvSpPr/>
          <p:nvPr/>
        </p:nvSpPr>
        <p:spPr>
          <a:xfrm>
            <a:off x="4709297" y="3017520"/>
            <a:ext cx="4023600" cy="1783200"/>
          </a:xfrm>
          <a:prstGeom prst="roundRect">
            <a:avLst>
              <a:gd fmla="val 4615" name="adj"/>
            </a:avLst>
          </a:prstGeom>
          <a:solidFill>
            <a:srgbClr val="F5F7FA"/>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828" name="Google Shape;2828;p110"/>
          <p:cNvSpPr/>
          <p:nvPr/>
        </p:nvSpPr>
        <p:spPr>
          <a:xfrm>
            <a:off x="4860181" y="3127248"/>
            <a:ext cx="37218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1000"/>
              <a:buFont typeface="Arial"/>
              <a:buNone/>
            </a:pPr>
            <a:r>
              <a:rPr b="1" lang="en-GB" sz="1000">
                <a:solidFill>
                  <a:srgbClr val="1C2B3E"/>
                </a:solidFill>
                <a:latin typeface="Arial"/>
                <a:ea typeface="Arial"/>
                <a:cs typeface="Arial"/>
                <a:sym typeface="Arial"/>
              </a:rPr>
              <a:t>Channel boundary</a:t>
            </a:r>
            <a:endParaRPr sz="1000">
              <a:solidFill>
                <a:schemeClr val="dk1"/>
              </a:solidFill>
              <a:latin typeface="Calibri"/>
              <a:ea typeface="Calibri"/>
              <a:cs typeface="Calibri"/>
              <a:sym typeface="Calibri"/>
            </a:endParaRPr>
          </a:p>
        </p:txBody>
      </p:sp>
      <p:sp>
        <p:nvSpPr>
          <p:cNvPr id="2829" name="Google Shape;2829;p110"/>
          <p:cNvSpPr/>
          <p:nvPr/>
        </p:nvSpPr>
        <p:spPr>
          <a:xfrm>
            <a:off x="4860181" y="3401568"/>
            <a:ext cx="3721800" cy="13029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5B6B7D"/>
              </a:buClr>
              <a:buSzPts val="900"/>
              <a:buFont typeface="Arial"/>
              <a:buNone/>
            </a:pPr>
            <a:r>
              <a:rPr lang="en-GB" sz="900">
                <a:solidFill>
                  <a:srgbClr val="5B6B7D"/>
                </a:solidFill>
                <a:latin typeface="Arial"/>
                <a:ea typeface="Arial"/>
                <a:cs typeface="Arial"/>
                <a:sym typeface="Arial"/>
              </a:rPr>
              <a:t>WhatsApp and Telegram are conversational access channels — used directly in training. Email and Microsoft Teams are add-on channels, scoped separately. Other chat platforms can be customised if commercially and technically justified.</a:t>
            </a:r>
            <a:endParaRPr sz="900">
              <a:solidFill>
                <a:schemeClr val="dk1"/>
              </a:solidFill>
              <a:latin typeface="Calibri"/>
              <a:ea typeface="Calibri"/>
              <a:cs typeface="Calibri"/>
              <a:sym typeface="Calibri"/>
            </a:endParaRPr>
          </a:p>
        </p:txBody>
      </p:sp>
      <p:sp>
        <p:nvSpPr>
          <p:cNvPr id="2830" name="Google Shape;2830;p110"/>
          <p:cNvSpPr/>
          <p:nvPr/>
        </p:nvSpPr>
        <p:spPr>
          <a:xfrm>
            <a:off x="411502" y="4869180"/>
            <a:ext cx="54867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700"/>
              <a:buFont typeface="Arial"/>
              <a:buNone/>
            </a:pPr>
            <a:r>
              <a:rPr lang="en-GB" sz="700">
                <a:solidFill>
                  <a:srgbClr val="94A3B8"/>
                </a:solidFill>
                <a:latin typeface="Arial"/>
                <a:ea typeface="Arial"/>
                <a:cs typeface="Arial"/>
                <a:sym typeface="Arial"/>
              </a:rPr>
              <a:t>APPENDIX</a:t>
            </a:r>
            <a:endParaRPr sz="700">
              <a:solidFill>
                <a:schemeClr val="dk1"/>
              </a:solidFill>
              <a:latin typeface="Calibri"/>
              <a:ea typeface="Calibri"/>
              <a:cs typeface="Calibri"/>
              <a:sym typeface="Calibri"/>
            </a:endParaRPr>
          </a:p>
        </p:txBody>
      </p:sp>
      <p:sp>
        <p:nvSpPr>
          <p:cNvPr id="2831" name="Google Shape;2831;p110"/>
          <p:cNvSpPr/>
          <p:nvPr/>
        </p:nvSpPr>
        <p:spPr>
          <a:xfrm>
            <a:off x="7361084" y="4869180"/>
            <a:ext cx="1371600" cy="205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700"/>
              <a:buFont typeface="Arial"/>
              <a:buNone/>
            </a:pPr>
            <a:r>
              <a:rPr lang="en-GB" sz="700">
                <a:solidFill>
                  <a:srgbClr val="94A3B8"/>
                </a:solidFill>
                <a:latin typeface="Arial"/>
                <a:ea typeface="Arial"/>
                <a:cs typeface="Arial"/>
                <a:sym typeface="Arial"/>
              </a:rPr>
              <a:t>60 / 82</a:t>
            </a:r>
            <a:endParaRPr sz="700">
              <a:solidFill>
                <a:schemeClr val="dk1"/>
              </a:solidFill>
              <a:latin typeface="Calibri"/>
              <a:ea typeface="Calibri"/>
              <a:cs typeface="Calibri"/>
              <a:sym typeface="Calibri"/>
            </a:endParaRPr>
          </a:p>
        </p:txBody>
      </p:sp>
      <p:sp>
        <p:nvSpPr>
          <p:cNvPr id="2832" name="Google Shape;2832;p110"/>
          <p:cNvSpPr txBox="1"/>
          <p:nvPr>
            <p:ph idx="12" type="sldNum"/>
          </p:nvPr>
        </p:nvSpPr>
        <p:spPr>
          <a:xfrm>
            <a:off x="8347216" y="4750189"/>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2837" name="Shape 2837"/>
        <p:cNvGrpSpPr/>
        <p:nvPr/>
      </p:nvGrpSpPr>
      <p:grpSpPr>
        <a:xfrm>
          <a:off x="0" y="0"/>
          <a:ext cx="0" cy="0"/>
          <a:chOff x="0" y="0"/>
          <a:chExt cx="0" cy="0"/>
        </a:xfrm>
      </p:grpSpPr>
      <p:sp>
        <p:nvSpPr>
          <p:cNvPr id="2838" name="Google Shape;2838;p111"/>
          <p:cNvSpPr/>
          <p:nvPr/>
        </p:nvSpPr>
        <p:spPr>
          <a:xfrm>
            <a:off x="411502" y="260604"/>
            <a:ext cx="68583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APPENDIX</a:t>
            </a:r>
            <a:endParaRPr sz="800">
              <a:solidFill>
                <a:schemeClr val="dk1"/>
              </a:solidFill>
              <a:latin typeface="Calibri"/>
              <a:ea typeface="Calibri"/>
              <a:cs typeface="Calibri"/>
              <a:sym typeface="Calibri"/>
            </a:endParaRPr>
          </a:p>
        </p:txBody>
      </p:sp>
      <p:sp>
        <p:nvSpPr>
          <p:cNvPr id="2839" name="Google Shape;2839;p111"/>
          <p:cNvSpPr/>
          <p:nvPr/>
        </p:nvSpPr>
        <p:spPr>
          <a:xfrm>
            <a:off x="411502" y="438912"/>
            <a:ext cx="8321400" cy="480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C2B3E"/>
              </a:buClr>
              <a:buSzPts val="2200"/>
              <a:buFont typeface="Arial"/>
              <a:buNone/>
            </a:pPr>
            <a:r>
              <a:rPr b="1" lang="en-GB" sz="2200">
                <a:solidFill>
                  <a:srgbClr val="1C2B3E"/>
                </a:solidFill>
                <a:latin typeface="Arial"/>
                <a:ea typeface="Arial"/>
                <a:cs typeface="Arial"/>
                <a:sym typeface="Arial"/>
              </a:rPr>
              <a:t>Integration Deep-Dive — sync model</a:t>
            </a:r>
            <a:endParaRPr sz="2200">
              <a:solidFill>
                <a:schemeClr val="dk1"/>
              </a:solidFill>
              <a:latin typeface="Calibri"/>
              <a:ea typeface="Calibri"/>
              <a:cs typeface="Calibri"/>
              <a:sym typeface="Calibri"/>
            </a:endParaRPr>
          </a:p>
        </p:txBody>
      </p:sp>
      <p:sp>
        <p:nvSpPr>
          <p:cNvPr id="2840" name="Google Shape;2840;p111"/>
          <p:cNvSpPr/>
          <p:nvPr/>
        </p:nvSpPr>
        <p:spPr>
          <a:xfrm>
            <a:off x="411502" y="932688"/>
            <a:ext cx="8321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D"/>
              </a:buClr>
              <a:buSzPts val="1100"/>
              <a:buFont typeface="Arial"/>
              <a:buNone/>
            </a:pPr>
            <a:r>
              <a:rPr lang="en-GB" sz="1100">
                <a:solidFill>
                  <a:srgbClr val="5B6B7D"/>
                </a:solidFill>
                <a:latin typeface="Arial"/>
                <a:ea typeface="Arial"/>
                <a:cs typeface="Arial"/>
                <a:sym typeface="Arial"/>
              </a:rPr>
              <a:t>What moves, which direction, and what happens when there's no ERP at all.</a:t>
            </a:r>
            <a:endParaRPr sz="1100">
              <a:solidFill>
                <a:schemeClr val="dk1"/>
              </a:solidFill>
              <a:latin typeface="Calibri"/>
              <a:ea typeface="Calibri"/>
              <a:cs typeface="Calibri"/>
              <a:sym typeface="Calibri"/>
            </a:endParaRPr>
          </a:p>
        </p:txBody>
      </p:sp>
      <p:sp>
        <p:nvSpPr>
          <p:cNvPr id="2841" name="Google Shape;2841;p111"/>
          <p:cNvSpPr/>
          <p:nvPr/>
        </p:nvSpPr>
        <p:spPr>
          <a:xfrm>
            <a:off x="411502" y="1337310"/>
            <a:ext cx="8319300" cy="1577400"/>
          </a:xfrm>
          <a:prstGeom prst="roundRect">
            <a:avLst>
              <a:gd fmla="val 4615" name="adj"/>
            </a:avLst>
          </a:prstGeom>
          <a:solidFill>
            <a:srgbClr val="F5F7FA"/>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842" name="Google Shape;2842;p111"/>
          <p:cNvSpPr/>
          <p:nvPr/>
        </p:nvSpPr>
        <p:spPr>
          <a:xfrm>
            <a:off x="576103" y="1447038"/>
            <a:ext cx="79557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1000"/>
              <a:buFont typeface="Arial"/>
              <a:buNone/>
            </a:pPr>
            <a:r>
              <a:rPr b="1" lang="en-GB" sz="1000">
                <a:solidFill>
                  <a:srgbClr val="1C2B3E"/>
                </a:solidFill>
                <a:latin typeface="Arial"/>
                <a:ea typeface="Arial"/>
                <a:cs typeface="Arial"/>
                <a:sym typeface="Arial"/>
              </a:rPr>
              <a:t>What syncs, and which way</a:t>
            </a:r>
            <a:endParaRPr sz="1000">
              <a:solidFill>
                <a:schemeClr val="dk1"/>
              </a:solidFill>
              <a:latin typeface="Calibri"/>
              <a:ea typeface="Calibri"/>
              <a:cs typeface="Calibri"/>
              <a:sym typeface="Calibri"/>
            </a:endParaRPr>
          </a:p>
        </p:txBody>
      </p:sp>
      <p:sp>
        <p:nvSpPr>
          <p:cNvPr id="2843" name="Google Shape;2843;p111"/>
          <p:cNvSpPr/>
          <p:nvPr/>
        </p:nvSpPr>
        <p:spPr>
          <a:xfrm>
            <a:off x="562386" y="3401568"/>
            <a:ext cx="3721800" cy="69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chemeClr val="dk1"/>
              </a:buClr>
              <a:buSzPts val="900"/>
              <a:buFont typeface="Calibri"/>
              <a:buNone/>
            </a:pPr>
            <a:r>
              <a:t/>
            </a:r>
            <a:endParaRPr sz="900">
              <a:solidFill>
                <a:schemeClr val="dk1"/>
              </a:solidFill>
              <a:latin typeface="Calibri"/>
              <a:ea typeface="Calibri"/>
              <a:cs typeface="Calibri"/>
              <a:sym typeface="Calibri"/>
            </a:endParaRPr>
          </a:p>
        </p:txBody>
      </p:sp>
      <p:sp>
        <p:nvSpPr>
          <p:cNvPr id="2844" name="Google Shape;2844;p111"/>
          <p:cNvSpPr/>
          <p:nvPr/>
        </p:nvSpPr>
        <p:spPr>
          <a:xfrm>
            <a:off x="411502" y="3051810"/>
            <a:ext cx="8319300" cy="1680300"/>
          </a:xfrm>
          <a:prstGeom prst="roundRect">
            <a:avLst>
              <a:gd fmla="val 4615" name="adj"/>
            </a:avLst>
          </a:prstGeom>
          <a:solidFill>
            <a:srgbClr val="F5F7FA"/>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845" name="Google Shape;2845;p111"/>
          <p:cNvSpPr/>
          <p:nvPr/>
        </p:nvSpPr>
        <p:spPr>
          <a:xfrm>
            <a:off x="562386" y="3161538"/>
            <a:ext cx="79557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1000"/>
              <a:buFont typeface="Arial"/>
              <a:buNone/>
            </a:pPr>
            <a:r>
              <a:rPr b="1" lang="en-GB" sz="1000">
                <a:solidFill>
                  <a:srgbClr val="1C2B3E"/>
                </a:solidFill>
                <a:latin typeface="Arial"/>
                <a:ea typeface="Arial"/>
                <a:cs typeface="Arial"/>
                <a:sym typeface="Arial"/>
              </a:rPr>
              <a:t>No external ERP / accounting system?</a:t>
            </a:r>
            <a:endParaRPr sz="1000">
              <a:solidFill>
                <a:schemeClr val="dk1"/>
              </a:solidFill>
              <a:latin typeface="Calibri"/>
              <a:ea typeface="Calibri"/>
              <a:cs typeface="Calibri"/>
              <a:sym typeface="Calibri"/>
            </a:endParaRPr>
          </a:p>
        </p:txBody>
      </p:sp>
      <p:sp>
        <p:nvSpPr>
          <p:cNvPr id="2846" name="Google Shape;2846;p111"/>
          <p:cNvSpPr/>
          <p:nvPr/>
        </p:nvSpPr>
        <p:spPr>
          <a:xfrm>
            <a:off x="562386" y="3463290"/>
            <a:ext cx="7955700" cy="11658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5B6B7D"/>
              </a:buClr>
              <a:buSzPts val="900"/>
              <a:buFont typeface="Arial"/>
              <a:buNone/>
            </a:pPr>
            <a:r>
              <a:rPr lang="en-GB" sz="900">
                <a:solidFill>
                  <a:srgbClr val="5B6B7D"/>
                </a:solidFill>
                <a:latin typeface="Arial"/>
                <a:ea typeface="Arial"/>
                <a:cs typeface="Arial"/>
                <a:sym typeface="Arial"/>
              </a:rPr>
              <a:t>MAIA becomes the system of record. It owns customers, items, stock, orders, invoices, payments and the full audit trail — no third-party sync required. Stock is updated inside MAIA (Stock Entry / Stock Reconciliation) rather than read from an ERP. When the client later adopts an ERP, the same documents become the push source; nothing has to be re-keyed.</a:t>
            </a:r>
            <a:endParaRPr sz="900">
              <a:solidFill>
                <a:schemeClr val="dk1"/>
              </a:solidFill>
              <a:latin typeface="Calibri"/>
              <a:ea typeface="Calibri"/>
              <a:cs typeface="Calibri"/>
              <a:sym typeface="Calibri"/>
            </a:endParaRPr>
          </a:p>
        </p:txBody>
      </p:sp>
      <p:sp>
        <p:nvSpPr>
          <p:cNvPr id="2847" name="Google Shape;2847;p111"/>
          <p:cNvSpPr/>
          <p:nvPr/>
        </p:nvSpPr>
        <p:spPr>
          <a:xfrm>
            <a:off x="411502" y="4869180"/>
            <a:ext cx="54867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700"/>
              <a:buFont typeface="Arial"/>
              <a:buNone/>
            </a:pPr>
            <a:r>
              <a:rPr lang="en-GB" sz="700">
                <a:solidFill>
                  <a:srgbClr val="94A3B8"/>
                </a:solidFill>
                <a:latin typeface="Arial"/>
                <a:ea typeface="Arial"/>
                <a:cs typeface="Arial"/>
                <a:sym typeface="Arial"/>
              </a:rPr>
              <a:t>APPENDIX</a:t>
            </a:r>
            <a:endParaRPr sz="700">
              <a:solidFill>
                <a:schemeClr val="dk1"/>
              </a:solidFill>
              <a:latin typeface="Calibri"/>
              <a:ea typeface="Calibri"/>
              <a:cs typeface="Calibri"/>
              <a:sym typeface="Calibri"/>
            </a:endParaRPr>
          </a:p>
        </p:txBody>
      </p:sp>
      <p:sp>
        <p:nvSpPr>
          <p:cNvPr id="2848" name="Google Shape;2848;p111"/>
          <p:cNvSpPr/>
          <p:nvPr/>
        </p:nvSpPr>
        <p:spPr>
          <a:xfrm>
            <a:off x="7361084" y="4869180"/>
            <a:ext cx="1371600" cy="205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700"/>
              <a:buFont typeface="Arial"/>
              <a:buNone/>
            </a:pPr>
            <a:r>
              <a:rPr lang="en-GB" sz="700">
                <a:solidFill>
                  <a:srgbClr val="94A3B8"/>
                </a:solidFill>
                <a:latin typeface="Arial"/>
                <a:ea typeface="Arial"/>
                <a:cs typeface="Arial"/>
                <a:sym typeface="Arial"/>
              </a:rPr>
              <a:t>61 / 82</a:t>
            </a:r>
            <a:endParaRPr sz="700">
              <a:solidFill>
                <a:schemeClr val="dk1"/>
              </a:solidFill>
              <a:latin typeface="Calibri"/>
              <a:ea typeface="Calibri"/>
              <a:cs typeface="Calibri"/>
              <a:sym typeface="Calibri"/>
            </a:endParaRPr>
          </a:p>
        </p:txBody>
      </p:sp>
      <p:sp>
        <p:nvSpPr>
          <p:cNvPr id="2849" name="Google Shape;2849;p111"/>
          <p:cNvSpPr/>
          <p:nvPr/>
        </p:nvSpPr>
        <p:spPr>
          <a:xfrm>
            <a:off x="576103" y="1748790"/>
            <a:ext cx="22632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9D5C"/>
              </a:buClr>
              <a:buSzPts val="900"/>
              <a:buFont typeface="Arial"/>
              <a:buNone/>
            </a:pPr>
            <a:r>
              <a:rPr b="1" lang="en-GB" sz="900">
                <a:solidFill>
                  <a:srgbClr val="1A9D5C"/>
                </a:solidFill>
                <a:latin typeface="Arial"/>
                <a:ea typeface="Arial"/>
                <a:cs typeface="Arial"/>
                <a:sym typeface="Arial"/>
              </a:rPr>
              <a:t>PULL INTO MAIA</a:t>
            </a:r>
            <a:endParaRPr sz="1000">
              <a:solidFill>
                <a:schemeClr val="dk1"/>
              </a:solidFill>
              <a:latin typeface="Calibri"/>
              <a:ea typeface="Calibri"/>
              <a:cs typeface="Calibri"/>
              <a:sym typeface="Calibri"/>
            </a:endParaRPr>
          </a:p>
        </p:txBody>
      </p:sp>
      <p:sp>
        <p:nvSpPr>
          <p:cNvPr id="2850" name="Google Shape;2850;p111"/>
          <p:cNvSpPr/>
          <p:nvPr/>
        </p:nvSpPr>
        <p:spPr>
          <a:xfrm>
            <a:off x="2914805" y="1748790"/>
            <a:ext cx="562380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D"/>
              </a:buClr>
              <a:buSzPts val="900"/>
              <a:buFont typeface="Arial"/>
              <a:buNone/>
            </a:pPr>
            <a:r>
              <a:rPr b="0" lang="en-GB" sz="900">
                <a:solidFill>
                  <a:srgbClr val="5B6B7D"/>
                </a:solidFill>
                <a:latin typeface="Arial"/>
                <a:ea typeface="Arial"/>
                <a:cs typeface="Arial"/>
                <a:sym typeface="Arial"/>
              </a:rPr>
              <a:t>Customers · items · price lists · stock levels · suppliers.  Webhook preferred; scheduled sync as fallback.</a:t>
            </a:r>
            <a:endParaRPr sz="1000">
              <a:solidFill>
                <a:schemeClr val="dk1"/>
              </a:solidFill>
              <a:latin typeface="Calibri"/>
              <a:ea typeface="Calibri"/>
              <a:cs typeface="Calibri"/>
              <a:sym typeface="Calibri"/>
            </a:endParaRPr>
          </a:p>
        </p:txBody>
      </p:sp>
      <p:sp>
        <p:nvSpPr>
          <p:cNvPr id="2851" name="Google Shape;2851;p111"/>
          <p:cNvSpPr/>
          <p:nvPr/>
        </p:nvSpPr>
        <p:spPr>
          <a:xfrm>
            <a:off x="576103" y="2125979"/>
            <a:ext cx="22632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21E"/>
              </a:buClr>
              <a:buSzPts val="900"/>
              <a:buFont typeface="Arial"/>
              <a:buNone/>
            </a:pPr>
            <a:r>
              <a:rPr b="1" lang="en-GB" sz="900">
                <a:solidFill>
                  <a:srgbClr val="E8821E"/>
                </a:solidFill>
                <a:latin typeface="Arial"/>
                <a:ea typeface="Arial"/>
                <a:cs typeface="Arial"/>
                <a:sym typeface="Arial"/>
              </a:rPr>
              <a:t>PUSH FROM MAIA</a:t>
            </a:r>
            <a:endParaRPr sz="1000">
              <a:solidFill>
                <a:schemeClr val="dk1"/>
              </a:solidFill>
              <a:latin typeface="Calibri"/>
              <a:ea typeface="Calibri"/>
              <a:cs typeface="Calibri"/>
              <a:sym typeface="Calibri"/>
            </a:endParaRPr>
          </a:p>
        </p:txBody>
      </p:sp>
      <p:sp>
        <p:nvSpPr>
          <p:cNvPr id="2852" name="Google Shape;2852;p111"/>
          <p:cNvSpPr/>
          <p:nvPr/>
        </p:nvSpPr>
        <p:spPr>
          <a:xfrm>
            <a:off x="2914805" y="2125979"/>
            <a:ext cx="562380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D"/>
              </a:buClr>
              <a:buSzPts val="900"/>
              <a:buFont typeface="Arial"/>
              <a:buNone/>
            </a:pPr>
            <a:r>
              <a:rPr b="0" lang="en-GB" sz="900">
                <a:solidFill>
                  <a:srgbClr val="5B6B7D"/>
                </a:solidFill>
                <a:latin typeface="Arial"/>
                <a:ea typeface="Arial"/>
                <a:cs typeface="Arial"/>
                <a:sym typeface="Arial"/>
              </a:rPr>
              <a:t>Quotation · Sales Order · Delivery Note · Sales Invoice · Credit/Debit Note · Payment Entry.  Fires on submit / workflow trigger.</a:t>
            </a:r>
            <a:endParaRPr sz="1000">
              <a:solidFill>
                <a:schemeClr val="dk1"/>
              </a:solidFill>
              <a:latin typeface="Calibri"/>
              <a:ea typeface="Calibri"/>
              <a:cs typeface="Calibri"/>
              <a:sym typeface="Calibri"/>
            </a:endParaRPr>
          </a:p>
        </p:txBody>
      </p:sp>
      <p:sp>
        <p:nvSpPr>
          <p:cNvPr id="2853" name="Google Shape;2853;p111"/>
          <p:cNvSpPr/>
          <p:nvPr/>
        </p:nvSpPr>
        <p:spPr>
          <a:xfrm>
            <a:off x="576103" y="2503169"/>
            <a:ext cx="22632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D"/>
              </a:buClr>
              <a:buSzPts val="900"/>
              <a:buFont typeface="Arial"/>
              <a:buNone/>
            </a:pPr>
            <a:r>
              <a:rPr b="1" lang="en-GB" sz="900">
                <a:solidFill>
                  <a:srgbClr val="5B6B7D"/>
                </a:solidFill>
                <a:latin typeface="Arial"/>
                <a:ea typeface="Arial"/>
                <a:cs typeface="Arial"/>
                <a:sym typeface="Arial"/>
              </a:rPr>
              <a:t>TWO-WAY (WHERE SCOPED)</a:t>
            </a:r>
            <a:endParaRPr sz="1000">
              <a:solidFill>
                <a:schemeClr val="dk1"/>
              </a:solidFill>
              <a:latin typeface="Calibri"/>
              <a:ea typeface="Calibri"/>
              <a:cs typeface="Calibri"/>
              <a:sym typeface="Calibri"/>
            </a:endParaRPr>
          </a:p>
        </p:txBody>
      </p:sp>
      <p:sp>
        <p:nvSpPr>
          <p:cNvPr id="2854" name="Google Shape;2854;p111"/>
          <p:cNvSpPr/>
          <p:nvPr/>
        </p:nvSpPr>
        <p:spPr>
          <a:xfrm>
            <a:off x="2914805" y="2503169"/>
            <a:ext cx="562380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D"/>
              </a:buClr>
              <a:buSzPts val="900"/>
              <a:buFont typeface="Arial"/>
              <a:buNone/>
            </a:pPr>
            <a:r>
              <a:rPr b="0" lang="en-GB" sz="900">
                <a:solidFill>
                  <a:srgbClr val="5B6B7D"/>
                </a:solidFill>
                <a:latin typeface="Arial"/>
                <a:ea typeface="Arial"/>
                <a:cs typeface="Arial"/>
                <a:sym typeface="Arial"/>
              </a:rPr>
              <a:t>Customer &amp; item master only.  Conflicts resolved by per-deployment source-of-truth rules — never blind overwrite.</a:t>
            </a:r>
            <a:endParaRPr sz="1000">
              <a:solidFill>
                <a:schemeClr val="dk1"/>
              </a:solidFill>
              <a:latin typeface="Calibri"/>
              <a:ea typeface="Calibri"/>
              <a:cs typeface="Calibri"/>
              <a:sym typeface="Calibri"/>
            </a:endParaRPr>
          </a:p>
        </p:txBody>
      </p:sp>
      <p:sp>
        <p:nvSpPr>
          <p:cNvPr id="2855" name="Google Shape;2855;p111"/>
          <p:cNvSpPr txBox="1"/>
          <p:nvPr>
            <p:ph idx="12" type="sldNum"/>
          </p:nvPr>
        </p:nvSpPr>
        <p:spPr>
          <a:xfrm>
            <a:off x="8347216" y="4750189"/>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2860" name="Shape 2860"/>
        <p:cNvGrpSpPr/>
        <p:nvPr/>
      </p:nvGrpSpPr>
      <p:grpSpPr>
        <a:xfrm>
          <a:off x="0" y="0"/>
          <a:ext cx="0" cy="0"/>
          <a:chOff x="0" y="0"/>
          <a:chExt cx="0" cy="0"/>
        </a:xfrm>
      </p:grpSpPr>
      <p:sp>
        <p:nvSpPr>
          <p:cNvPr id="2861" name="Google Shape;2861;p112"/>
          <p:cNvSpPr/>
          <p:nvPr/>
        </p:nvSpPr>
        <p:spPr>
          <a:xfrm>
            <a:off x="411502" y="260604"/>
            <a:ext cx="68583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OPTIONAL ADD-ON VIDEO</a:t>
            </a:r>
            <a:endParaRPr sz="800">
              <a:solidFill>
                <a:schemeClr val="dk1"/>
              </a:solidFill>
              <a:latin typeface="Calibri"/>
              <a:ea typeface="Calibri"/>
              <a:cs typeface="Calibri"/>
              <a:sym typeface="Calibri"/>
            </a:endParaRPr>
          </a:p>
        </p:txBody>
      </p:sp>
      <p:sp>
        <p:nvSpPr>
          <p:cNvPr id="2862" name="Google Shape;2862;p112"/>
          <p:cNvSpPr/>
          <p:nvPr/>
        </p:nvSpPr>
        <p:spPr>
          <a:xfrm>
            <a:off x="411502" y="438912"/>
            <a:ext cx="8321400" cy="480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C2B3E"/>
              </a:buClr>
              <a:buSzPts val="2200"/>
              <a:buFont typeface="Arial"/>
              <a:buNone/>
            </a:pPr>
            <a:r>
              <a:rPr b="1" lang="en-GB" sz="2200">
                <a:solidFill>
                  <a:srgbClr val="1C2B3E"/>
                </a:solidFill>
                <a:latin typeface="Arial"/>
                <a:ea typeface="Arial"/>
                <a:cs typeface="Arial"/>
                <a:sym typeface="Arial"/>
              </a:rPr>
              <a:t>Integration: connected ERP or MAIA source of truth</a:t>
            </a:r>
            <a:endParaRPr sz="2200">
              <a:solidFill>
                <a:schemeClr val="dk1"/>
              </a:solidFill>
              <a:latin typeface="Calibri"/>
              <a:ea typeface="Calibri"/>
              <a:cs typeface="Calibri"/>
              <a:sym typeface="Calibri"/>
            </a:endParaRPr>
          </a:p>
        </p:txBody>
      </p:sp>
      <p:sp>
        <p:nvSpPr>
          <p:cNvPr id="2863" name="Google Shape;2863;p112"/>
          <p:cNvSpPr/>
          <p:nvPr/>
        </p:nvSpPr>
        <p:spPr>
          <a:xfrm>
            <a:off x="411502" y="932688"/>
            <a:ext cx="8321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D"/>
              </a:buClr>
              <a:buSzPts val="1100"/>
              <a:buFont typeface="Arial"/>
              <a:buNone/>
            </a:pPr>
            <a:r>
              <a:rPr lang="en-GB" sz="1100">
                <a:solidFill>
                  <a:srgbClr val="5B6B7D"/>
                </a:solidFill>
                <a:latin typeface="Arial"/>
                <a:ea typeface="Arial"/>
                <a:cs typeface="Arial"/>
                <a:sym typeface="Arial"/>
              </a:rPr>
              <a:t>For scoping &amp; stakeholder confidence — not connector configuration.</a:t>
            </a:r>
            <a:endParaRPr sz="1100">
              <a:solidFill>
                <a:schemeClr val="dk1"/>
              </a:solidFill>
              <a:latin typeface="Calibri"/>
              <a:ea typeface="Calibri"/>
              <a:cs typeface="Calibri"/>
              <a:sym typeface="Calibri"/>
            </a:endParaRPr>
          </a:p>
        </p:txBody>
      </p:sp>
      <p:sp>
        <p:nvSpPr>
          <p:cNvPr id="2864" name="Google Shape;2864;p112"/>
          <p:cNvSpPr/>
          <p:nvPr/>
        </p:nvSpPr>
        <p:spPr>
          <a:xfrm>
            <a:off x="411502" y="1337310"/>
            <a:ext cx="5006700" cy="2434500"/>
          </a:xfrm>
          <a:prstGeom prst="roundRect">
            <a:avLst>
              <a:gd fmla="val 3380" name="adj"/>
            </a:avLst>
          </a:prstGeom>
          <a:solidFill>
            <a:srgbClr val="F5F7FA"/>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865" name="Google Shape;2865;p112"/>
          <p:cNvSpPr/>
          <p:nvPr/>
        </p:nvSpPr>
        <p:spPr>
          <a:xfrm>
            <a:off x="617253" y="1537335"/>
            <a:ext cx="411600" cy="411600"/>
          </a:xfrm>
          <a:prstGeom prst="roundRect">
            <a:avLst>
              <a:gd fmla="val 22000"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FileText_white.png" id="2866" name="Google Shape;2866;p112"/>
          <p:cNvPicPr preferRelativeResize="0"/>
          <p:nvPr/>
        </p:nvPicPr>
        <p:blipFill rotWithShape="1">
          <a:blip r:embed="rId3">
            <a:alphaModFix/>
          </a:blip>
          <a:srcRect b="0" l="0" r="0" t="0"/>
          <a:stretch/>
        </p:blipFill>
        <p:spPr>
          <a:xfrm>
            <a:off x="720128" y="1640205"/>
            <a:ext cx="205740" cy="205740"/>
          </a:xfrm>
          <a:prstGeom prst="rect">
            <a:avLst/>
          </a:prstGeom>
          <a:noFill/>
          <a:ln>
            <a:noFill/>
          </a:ln>
        </p:spPr>
      </p:pic>
      <p:sp>
        <p:nvSpPr>
          <p:cNvPr id="2867" name="Google Shape;2867;p112"/>
          <p:cNvSpPr/>
          <p:nvPr/>
        </p:nvSpPr>
        <p:spPr>
          <a:xfrm>
            <a:off x="1165922" y="1337310"/>
            <a:ext cx="3223500" cy="811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1100"/>
              <a:buFont typeface="Arial"/>
              <a:buNone/>
            </a:pPr>
            <a:r>
              <a:rPr b="1" lang="en-GB" sz="1100">
                <a:solidFill>
                  <a:srgbClr val="1C2B3E"/>
                </a:solidFill>
                <a:latin typeface="Arial"/>
                <a:ea typeface="Arial"/>
                <a:cs typeface="Arial"/>
                <a:sym typeface="Arial"/>
              </a:rPr>
              <a:t>Integrated: ERP owns master data &amp; stock</a:t>
            </a:r>
            <a:endParaRPr sz="1100">
              <a:solidFill>
                <a:schemeClr val="dk1"/>
              </a:solidFill>
              <a:latin typeface="Calibri"/>
              <a:ea typeface="Calibri"/>
              <a:cs typeface="Calibri"/>
              <a:sym typeface="Calibri"/>
            </a:endParaRPr>
          </a:p>
        </p:txBody>
      </p:sp>
      <p:sp>
        <p:nvSpPr>
          <p:cNvPr id="2868" name="Google Shape;2868;p112"/>
          <p:cNvSpPr/>
          <p:nvPr/>
        </p:nvSpPr>
        <p:spPr>
          <a:xfrm>
            <a:off x="4389354" y="1605915"/>
            <a:ext cx="857400" cy="274200"/>
          </a:xfrm>
          <a:prstGeom prst="roundRect">
            <a:avLst>
              <a:gd fmla="val 50000"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869" name="Google Shape;2869;p112"/>
          <p:cNvSpPr/>
          <p:nvPr/>
        </p:nvSpPr>
        <p:spPr>
          <a:xfrm>
            <a:off x="4389354" y="1605915"/>
            <a:ext cx="8574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PULL</a:t>
            </a:r>
            <a:endParaRPr sz="800">
              <a:solidFill>
                <a:schemeClr val="dk1"/>
              </a:solidFill>
              <a:latin typeface="Calibri"/>
              <a:ea typeface="Calibri"/>
              <a:cs typeface="Calibri"/>
              <a:sym typeface="Calibri"/>
            </a:endParaRPr>
          </a:p>
        </p:txBody>
      </p:sp>
      <p:cxnSp>
        <p:nvCxnSpPr>
          <p:cNvPr id="2870" name="Google Shape;2870;p112"/>
          <p:cNvCxnSpPr/>
          <p:nvPr/>
        </p:nvCxnSpPr>
        <p:spPr>
          <a:xfrm>
            <a:off x="576103" y="2148840"/>
            <a:ext cx="4677300" cy="0"/>
          </a:xfrm>
          <a:prstGeom prst="straightConnector1">
            <a:avLst/>
          </a:prstGeom>
          <a:noFill/>
          <a:ln cap="flat" cmpd="sng" w="12700">
            <a:solidFill>
              <a:srgbClr val="E3E8EF"/>
            </a:solidFill>
            <a:prstDash val="solid"/>
            <a:round/>
            <a:headEnd len="sm" w="sm" type="none"/>
            <a:tailEnd len="sm" w="sm" type="none"/>
          </a:ln>
        </p:spPr>
      </p:cxnSp>
      <p:sp>
        <p:nvSpPr>
          <p:cNvPr id="2871" name="Google Shape;2871;p112"/>
          <p:cNvSpPr/>
          <p:nvPr/>
        </p:nvSpPr>
        <p:spPr>
          <a:xfrm>
            <a:off x="617253" y="2348865"/>
            <a:ext cx="411600" cy="411600"/>
          </a:xfrm>
          <a:prstGeom prst="roundRect">
            <a:avLst>
              <a:gd fmla="val 22000" name="adj"/>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AlertTriangle_white.png" id="2872" name="Google Shape;2872;p112"/>
          <p:cNvPicPr preferRelativeResize="0"/>
          <p:nvPr/>
        </p:nvPicPr>
        <p:blipFill rotWithShape="1">
          <a:blip r:embed="rId4">
            <a:alphaModFix/>
          </a:blip>
          <a:srcRect b="0" l="0" r="0" t="0"/>
          <a:stretch/>
        </p:blipFill>
        <p:spPr>
          <a:xfrm>
            <a:off x="720128" y="2451735"/>
            <a:ext cx="205740" cy="205740"/>
          </a:xfrm>
          <a:prstGeom prst="rect">
            <a:avLst/>
          </a:prstGeom>
          <a:noFill/>
          <a:ln>
            <a:noFill/>
          </a:ln>
        </p:spPr>
      </p:pic>
      <p:sp>
        <p:nvSpPr>
          <p:cNvPr id="2873" name="Google Shape;2873;p112"/>
          <p:cNvSpPr/>
          <p:nvPr/>
        </p:nvSpPr>
        <p:spPr>
          <a:xfrm>
            <a:off x="1165922" y="2148840"/>
            <a:ext cx="3223500" cy="811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1100"/>
              <a:buFont typeface="Arial"/>
              <a:buNone/>
            </a:pPr>
            <a:r>
              <a:rPr b="1" lang="en-GB" sz="1100">
                <a:solidFill>
                  <a:srgbClr val="1C2B3E"/>
                </a:solidFill>
                <a:latin typeface="Arial"/>
                <a:ea typeface="Arial"/>
                <a:cs typeface="Arial"/>
                <a:sym typeface="Arial"/>
              </a:rPr>
              <a:t>MAIA pushes QT/SO/DN/SI on triggers</a:t>
            </a:r>
            <a:endParaRPr sz="1100">
              <a:solidFill>
                <a:schemeClr val="dk1"/>
              </a:solidFill>
              <a:latin typeface="Calibri"/>
              <a:ea typeface="Calibri"/>
              <a:cs typeface="Calibri"/>
              <a:sym typeface="Calibri"/>
            </a:endParaRPr>
          </a:p>
        </p:txBody>
      </p:sp>
      <p:sp>
        <p:nvSpPr>
          <p:cNvPr id="2874" name="Google Shape;2874;p112"/>
          <p:cNvSpPr/>
          <p:nvPr/>
        </p:nvSpPr>
        <p:spPr>
          <a:xfrm>
            <a:off x="4389354" y="2417445"/>
            <a:ext cx="857400" cy="274200"/>
          </a:xfrm>
          <a:prstGeom prst="roundRect">
            <a:avLst>
              <a:gd fmla="val 50000" name="adj"/>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875" name="Google Shape;2875;p112"/>
          <p:cNvSpPr/>
          <p:nvPr/>
        </p:nvSpPr>
        <p:spPr>
          <a:xfrm>
            <a:off x="4389354" y="2417445"/>
            <a:ext cx="8574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PUSH</a:t>
            </a:r>
            <a:endParaRPr sz="800">
              <a:solidFill>
                <a:schemeClr val="dk1"/>
              </a:solidFill>
              <a:latin typeface="Calibri"/>
              <a:ea typeface="Calibri"/>
              <a:cs typeface="Calibri"/>
              <a:sym typeface="Calibri"/>
            </a:endParaRPr>
          </a:p>
        </p:txBody>
      </p:sp>
      <p:cxnSp>
        <p:nvCxnSpPr>
          <p:cNvPr id="2876" name="Google Shape;2876;p112"/>
          <p:cNvCxnSpPr/>
          <p:nvPr/>
        </p:nvCxnSpPr>
        <p:spPr>
          <a:xfrm>
            <a:off x="576103" y="2960370"/>
            <a:ext cx="4677300" cy="0"/>
          </a:xfrm>
          <a:prstGeom prst="straightConnector1">
            <a:avLst/>
          </a:prstGeom>
          <a:noFill/>
          <a:ln cap="flat" cmpd="sng" w="12700">
            <a:solidFill>
              <a:srgbClr val="E3E8EF"/>
            </a:solidFill>
            <a:prstDash val="solid"/>
            <a:round/>
            <a:headEnd len="sm" w="sm" type="none"/>
            <a:tailEnd len="sm" w="sm" type="none"/>
          </a:ln>
        </p:spPr>
      </p:cxnSp>
      <p:sp>
        <p:nvSpPr>
          <p:cNvPr id="2877" name="Google Shape;2877;p112"/>
          <p:cNvSpPr/>
          <p:nvPr/>
        </p:nvSpPr>
        <p:spPr>
          <a:xfrm>
            <a:off x="617253" y="3160395"/>
            <a:ext cx="411600" cy="411600"/>
          </a:xfrm>
          <a:prstGeom prst="roundRect">
            <a:avLst>
              <a:gd fmla="val 22000" name="adj"/>
            </a:avLst>
          </a:prstGeom>
          <a:solidFill>
            <a:srgbClr val="1A9D5C"/>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CheckCircle_white.png" id="2878" name="Google Shape;2878;p112"/>
          <p:cNvPicPr preferRelativeResize="0"/>
          <p:nvPr/>
        </p:nvPicPr>
        <p:blipFill rotWithShape="1">
          <a:blip r:embed="rId5">
            <a:alphaModFix/>
          </a:blip>
          <a:srcRect b="0" l="0" r="0" t="0"/>
          <a:stretch/>
        </p:blipFill>
        <p:spPr>
          <a:xfrm>
            <a:off x="720128" y="3263265"/>
            <a:ext cx="205740" cy="205740"/>
          </a:xfrm>
          <a:prstGeom prst="rect">
            <a:avLst/>
          </a:prstGeom>
          <a:noFill/>
          <a:ln>
            <a:noFill/>
          </a:ln>
        </p:spPr>
      </p:pic>
      <p:sp>
        <p:nvSpPr>
          <p:cNvPr id="2879" name="Google Shape;2879;p112"/>
          <p:cNvSpPr/>
          <p:nvPr/>
        </p:nvSpPr>
        <p:spPr>
          <a:xfrm>
            <a:off x="1165922" y="2960370"/>
            <a:ext cx="3223500" cy="811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1100"/>
              <a:buFont typeface="Arial"/>
              <a:buNone/>
            </a:pPr>
            <a:r>
              <a:rPr b="1" lang="en-GB" sz="1100">
                <a:solidFill>
                  <a:srgbClr val="1C2B3E"/>
                </a:solidFill>
                <a:latin typeface="Arial"/>
                <a:ea typeface="Arial"/>
                <a:cs typeface="Arial"/>
                <a:sym typeface="Arial"/>
              </a:rPr>
              <a:t>No-ERP: MAIA owns the full ledger</a:t>
            </a:r>
            <a:endParaRPr sz="1100">
              <a:solidFill>
                <a:schemeClr val="dk1"/>
              </a:solidFill>
              <a:latin typeface="Calibri"/>
              <a:ea typeface="Calibri"/>
              <a:cs typeface="Calibri"/>
              <a:sym typeface="Calibri"/>
            </a:endParaRPr>
          </a:p>
        </p:txBody>
      </p:sp>
      <p:sp>
        <p:nvSpPr>
          <p:cNvPr id="2880" name="Google Shape;2880;p112"/>
          <p:cNvSpPr/>
          <p:nvPr/>
        </p:nvSpPr>
        <p:spPr>
          <a:xfrm>
            <a:off x="4389354" y="3228975"/>
            <a:ext cx="857400" cy="274200"/>
          </a:xfrm>
          <a:prstGeom prst="roundRect">
            <a:avLst>
              <a:gd fmla="val 50000" name="adj"/>
            </a:avLst>
          </a:prstGeom>
          <a:solidFill>
            <a:srgbClr val="1A9D5C"/>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881" name="Google Shape;2881;p112"/>
          <p:cNvSpPr/>
          <p:nvPr/>
        </p:nvSpPr>
        <p:spPr>
          <a:xfrm>
            <a:off x="4389354" y="3228975"/>
            <a:ext cx="8574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OWN</a:t>
            </a:r>
            <a:endParaRPr sz="800">
              <a:solidFill>
                <a:schemeClr val="dk1"/>
              </a:solidFill>
              <a:latin typeface="Calibri"/>
              <a:ea typeface="Calibri"/>
              <a:cs typeface="Calibri"/>
              <a:sym typeface="Calibri"/>
            </a:endParaRPr>
          </a:p>
        </p:txBody>
      </p:sp>
      <p:sp>
        <p:nvSpPr>
          <p:cNvPr id="2882" name="Google Shape;2882;p112"/>
          <p:cNvSpPr/>
          <p:nvPr/>
        </p:nvSpPr>
        <p:spPr>
          <a:xfrm>
            <a:off x="5692443" y="1337310"/>
            <a:ext cx="3040200" cy="2434500"/>
          </a:xfrm>
          <a:prstGeom prst="roundRect">
            <a:avLst>
              <a:gd fmla="val 3380" name="adj"/>
            </a:avLst>
          </a:prstGeom>
          <a:solidFill>
            <a:srgbClr val="F5F7FA"/>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883" name="Google Shape;2883;p112"/>
          <p:cNvSpPr/>
          <p:nvPr/>
        </p:nvSpPr>
        <p:spPr>
          <a:xfrm>
            <a:off x="5843328" y="1460754"/>
            <a:ext cx="27384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800"/>
              <a:buFont typeface="Arial"/>
              <a:buNone/>
            </a:pPr>
            <a:r>
              <a:rPr b="1" lang="en-GB" sz="800">
                <a:solidFill>
                  <a:srgbClr val="94A3B8"/>
                </a:solidFill>
                <a:latin typeface="Arial"/>
                <a:ea typeface="Arial"/>
                <a:cs typeface="Arial"/>
                <a:sym typeface="Arial"/>
              </a:rPr>
              <a:t>WHAT YOU'LL SEE</a:t>
            </a:r>
            <a:endParaRPr sz="800">
              <a:solidFill>
                <a:schemeClr val="dk1"/>
              </a:solidFill>
              <a:latin typeface="Calibri"/>
              <a:ea typeface="Calibri"/>
              <a:cs typeface="Calibri"/>
              <a:sym typeface="Calibri"/>
            </a:endParaRPr>
          </a:p>
        </p:txBody>
      </p:sp>
      <p:sp>
        <p:nvSpPr>
          <p:cNvPr id="2884" name="Google Shape;2884;p112"/>
          <p:cNvSpPr/>
          <p:nvPr/>
        </p:nvSpPr>
        <p:spPr>
          <a:xfrm>
            <a:off x="5843328" y="1762506"/>
            <a:ext cx="219600" cy="219600"/>
          </a:xfrm>
          <a:prstGeom prst="ellipse">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885" name="Google Shape;2885;p112"/>
          <p:cNvSpPr/>
          <p:nvPr/>
        </p:nvSpPr>
        <p:spPr>
          <a:xfrm>
            <a:off x="5843328" y="1762506"/>
            <a:ext cx="219600" cy="2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1</a:t>
            </a:r>
            <a:endParaRPr sz="800">
              <a:solidFill>
                <a:schemeClr val="dk1"/>
              </a:solidFill>
              <a:latin typeface="Calibri"/>
              <a:ea typeface="Calibri"/>
              <a:cs typeface="Calibri"/>
              <a:sym typeface="Calibri"/>
            </a:endParaRPr>
          </a:p>
        </p:txBody>
      </p:sp>
      <p:sp>
        <p:nvSpPr>
          <p:cNvPr id="2886" name="Google Shape;2886;p112"/>
          <p:cNvSpPr/>
          <p:nvPr/>
        </p:nvSpPr>
        <p:spPr>
          <a:xfrm>
            <a:off x="6145096" y="1735074"/>
            <a:ext cx="2423100" cy="41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B3E"/>
              </a:buClr>
              <a:buSzPts val="900"/>
              <a:buFont typeface="Arial"/>
              <a:buNone/>
            </a:pPr>
            <a:r>
              <a:rPr lang="en-GB" sz="900">
                <a:solidFill>
                  <a:srgbClr val="1C2B3E"/>
                </a:solidFill>
                <a:latin typeface="Arial"/>
                <a:ea typeface="Arial"/>
                <a:cs typeface="Arial"/>
                <a:sym typeface="Arial"/>
              </a:rPr>
              <a:t>Integrated deployment — ERP owns selected master data and stock; MAIA pulls reference, pushes sales docs</a:t>
            </a:r>
            <a:endParaRPr sz="900">
              <a:solidFill>
                <a:schemeClr val="dk1"/>
              </a:solidFill>
              <a:latin typeface="Calibri"/>
              <a:ea typeface="Calibri"/>
              <a:cs typeface="Calibri"/>
              <a:sym typeface="Calibri"/>
            </a:endParaRPr>
          </a:p>
        </p:txBody>
      </p:sp>
      <p:sp>
        <p:nvSpPr>
          <p:cNvPr id="2887" name="Google Shape;2887;p112"/>
          <p:cNvSpPr/>
          <p:nvPr/>
        </p:nvSpPr>
        <p:spPr>
          <a:xfrm>
            <a:off x="5843328" y="2173986"/>
            <a:ext cx="219600" cy="219600"/>
          </a:xfrm>
          <a:prstGeom prst="ellipse">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888" name="Google Shape;2888;p112"/>
          <p:cNvSpPr/>
          <p:nvPr/>
        </p:nvSpPr>
        <p:spPr>
          <a:xfrm>
            <a:off x="5843328" y="2173986"/>
            <a:ext cx="219600" cy="2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2</a:t>
            </a:r>
            <a:endParaRPr sz="800">
              <a:solidFill>
                <a:schemeClr val="dk1"/>
              </a:solidFill>
              <a:latin typeface="Calibri"/>
              <a:ea typeface="Calibri"/>
              <a:cs typeface="Calibri"/>
              <a:sym typeface="Calibri"/>
            </a:endParaRPr>
          </a:p>
        </p:txBody>
      </p:sp>
      <p:sp>
        <p:nvSpPr>
          <p:cNvPr id="2889" name="Google Shape;2889;p112"/>
          <p:cNvSpPr/>
          <p:nvPr/>
        </p:nvSpPr>
        <p:spPr>
          <a:xfrm>
            <a:off x="6145096" y="2146554"/>
            <a:ext cx="2423100" cy="41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B3E"/>
              </a:buClr>
              <a:buSzPts val="900"/>
              <a:buFont typeface="Arial"/>
              <a:buNone/>
            </a:pPr>
            <a:r>
              <a:rPr lang="en-GB" sz="900">
                <a:solidFill>
                  <a:srgbClr val="1C2B3E"/>
                </a:solidFill>
                <a:latin typeface="Arial"/>
                <a:ea typeface="Arial"/>
                <a:cs typeface="Arial"/>
                <a:sym typeface="Arial"/>
              </a:rPr>
              <a:t>Sync status — webhook/event-driven where available, scheduled polling where required, outbound retry on outage</a:t>
            </a:r>
            <a:endParaRPr sz="900">
              <a:solidFill>
                <a:schemeClr val="dk1"/>
              </a:solidFill>
              <a:latin typeface="Calibri"/>
              <a:ea typeface="Calibri"/>
              <a:cs typeface="Calibri"/>
              <a:sym typeface="Calibri"/>
            </a:endParaRPr>
          </a:p>
        </p:txBody>
      </p:sp>
      <p:sp>
        <p:nvSpPr>
          <p:cNvPr id="2890" name="Google Shape;2890;p112"/>
          <p:cNvSpPr/>
          <p:nvPr/>
        </p:nvSpPr>
        <p:spPr>
          <a:xfrm>
            <a:off x="5843328" y="2585466"/>
            <a:ext cx="219600" cy="219600"/>
          </a:xfrm>
          <a:prstGeom prst="ellipse">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891" name="Google Shape;2891;p112"/>
          <p:cNvSpPr/>
          <p:nvPr/>
        </p:nvSpPr>
        <p:spPr>
          <a:xfrm>
            <a:off x="5843328" y="2585466"/>
            <a:ext cx="219600" cy="2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3</a:t>
            </a:r>
            <a:endParaRPr sz="800">
              <a:solidFill>
                <a:schemeClr val="dk1"/>
              </a:solidFill>
              <a:latin typeface="Calibri"/>
              <a:ea typeface="Calibri"/>
              <a:cs typeface="Calibri"/>
              <a:sym typeface="Calibri"/>
            </a:endParaRPr>
          </a:p>
        </p:txBody>
      </p:sp>
      <p:sp>
        <p:nvSpPr>
          <p:cNvPr id="2892" name="Google Shape;2892;p112"/>
          <p:cNvSpPr/>
          <p:nvPr/>
        </p:nvSpPr>
        <p:spPr>
          <a:xfrm>
            <a:off x="6145096" y="2558034"/>
            <a:ext cx="2423100" cy="41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B3E"/>
              </a:buClr>
              <a:buSzPts val="900"/>
              <a:buFont typeface="Arial"/>
              <a:buNone/>
            </a:pPr>
            <a:r>
              <a:rPr lang="en-GB" sz="900">
                <a:solidFill>
                  <a:srgbClr val="1C2B3E"/>
                </a:solidFill>
                <a:latin typeface="Arial"/>
                <a:ea typeface="Arial"/>
                <a:cs typeface="Arial"/>
                <a:sym typeface="Arial"/>
              </a:rPr>
              <a:t>No-ERP deployment — MAIA owns customers, items, warehouses, stock ledger, all sales docs, SOA, audit trail</a:t>
            </a:r>
            <a:endParaRPr sz="900">
              <a:solidFill>
                <a:schemeClr val="dk1"/>
              </a:solidFill>
              <a:latin typeface="Calibri"/>
              <a:ea typeface="Calibri"/>
              <a:cs typeface="Calibri"/>
              <a:sym typeface="Calibri"/>
            </a:endParaRPr>
          </a:p>
        </p:txBody>
      </p:sp>
      <p:sp>
        <p:nvSpPr>
          <p:cNvPr id="2893" name="Google Shape;2893;p112"/>
          <p:cNvSpPr/>
          <p:nvPr/>
        </p:nvSpPr>
        <p:spPr>
          <a:xfrm>
            <a:off x="5843328" y="2996946"/>
            <a:ext cx="219600" cy="219600"/>
          </a:xfrm>
          <a:prstGeom prst="ellipse">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894" name="Google Shape;2894;p112"/>
          <p:cNvSpPr/>
          <p:nvPr/>
        </p:nvSpPr>
        <p:spPr>
          <a:xfrm>
            <a:off x="5843328" y="2996946"/>
            <a:ext cx="219600" cy="2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4</a:t>
            </a:r>
            <a:endParaRPr sz="800">
              <a:solidFill>
                <a:schemeClr val="dk1"/>
              </a:solidFill>
              <a:latin typeface="Calibri"/>
              <a:ea typeface="Calibri"/>
              <a:cs typeface="Calibri"/>
              <a:sym typeface="Calibri"/>
            </a:endParaRPr>
          </a:p>
        </p:txBody>
      </p:sp>
      <p:sp>
        <p:nvSpPr>
          <p:cNvPr id="2895" name="Google Shape;2895;p112"/>
          <p:cNvSpPr/>
          <p:nvPr/>
        </p:nvSpPr>
        <p:spPr>
          <a:xfrm>
            <a:off x="6145096" y="2969514"/>
            <a:ext cx="2423100" cy="41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B3E"/>
              </a:buClr>
              <a:buSzPts val="900"/>
              <a:buFont typeface="Arial"/>
              <a:buNone/>
            </a:pPr>
            <a:r>
              <a:rPr lang="en-GB" sz="900">
                <a:solidFill>
                  <a:srgbClr val="1C2B3E"/>
                </a:solidFill>
                <a:latin typeface="Arial"/>
                <a:ea typeface="Arial"/>
                <a:cs typeface="Arial"/>
                <a:sym typeface="Arial"/>
              </a:rPr>
              <a:t>Source-of-truth table — Customer · Item · Price · Stock · Sales Docs · Payment · PDF/SOA</a:t>
            </a:r>
            <a:endParaRPr sz="900">
              <a:solidFill>
                <a:schemeClr val="dk1"/>
              </a:solidFill>
              <a:latin typeface="Calibri"/>
              <a:ea typeface="Calibri"/>
              <a:cs typeface="Calibri"/>
              <a:sym typeface="Calibri"/>
            </a:endParaRPr>
          </a:p>
        </p:txBody>
      </p:sp>
      <p:sp>
        <p:nvSpPr>
          <p:cNvPr id="2896" name="Google Shape;2896;p112"/>
          <p:cNvSpPr/>
          <p:nvPr/>
        </p:nvSpPr>
        <p:spPr>
          <a:xfrm>
            <a:off x="5843328" y="3408426"/>
            <a:ext cx="219600" cy="219600"/>
          </a:xfrm>
          <a:prstGeom prst="ellipse">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897" name="Google Shape;2897;p112"/>
          <p:cNvSpPr/>
          <p:nvPr/>
        </p:nvSpPr>
        <p:spPr>
          <a:xfrm>
            <a:off x="5843328" y="3408426"/>
            <a:ext cx="219600" cy="2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5</a:t>
            </a:r>
            <a:endParaRPr sz="800">
              <a:solidFill>
                <a:schemeClr val="dk1"/>
              </a:solidFill>
              <a:latin typeface="Calibri"/>
              <a:ea typeface="Calibri"/>
              <a:cs typeface="Calibri"/>
              <a:sym typeface="Calibri"/>
            </a:endParaRPr>
          </a:p>
        </p:txBody>
      </p:sp>
      <p:sp>
        <p:nvSpPr>
          <p:cNvPr id="2898" name="Google Shape;2898;p112"/>
          <p:cNvSpPr/>
          <p:nvPr/>
        </p:nvSpPr>
        <p:spPr>
          <a:xfrm>
            <a:off x="6145096" y="3380994"/>
            <a:ext cx="2423100" cy="41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B3E"/>
              </a:buClr>
              <a:buSzPts val="900"/>
              <a:buFont typeface="Arial"/>
              <a:buNone/>
            </a:pPr>
            <a:r>
              <a:rPr lang="en-GB" sz="900">
                <a:solidFill>
                  <a:srgbClr val="1C2B3E"/>
                </a:solidFill>
                <a:latin typeface="Arial"/>
                <a:ea typeface="Arial"/>
                <a:cs typeface="Arial"/>
                <a:sym typeface="Arial"/>
              </a:rPr>
              <a:t>Governance — whichever system is source of truth must be named before go-live</a:t>
            </a:r>
            <a:endParaRPr sz="900">
              <a:solidFill>
                <a:schemeClr val="dk1"/>
              </a:solidFill>
              <a:latin typeface="Calibri"/>
              <a:ea typeface="Calibri"/>
              <a:cs typeface="Calibri"/>
              <a:sym typeface="Calibri"/>
            </a:endParaRPr>
          </a:p>
        </p:txBody>
      </p:sp>
      <p:sp>
        <p:nvSpPr>
          <p:cNvPr id="2899" name="Google Shape;2899;p112"/>
          <p:cNvSpPr/>
          <p:nvPr/>
        </p:nvSpPr>
        <p:spPr>
          <a:xfrm>
            <a:off x="411502" y="3943350"/>
            <a:ext cx="8321400" cy="720000"/>
          </a:xfrm>
          <a:prstGeom prst="roundRect">
            <a:avLst>
              <a:gd fmla="val 11429" name="adj"/>
            </a:avLst>
          </a:prstGeom>
          <a:solidFill>
            <a:srgbClr val="FBEBD9"/>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900" name="Google Shape;2900;p112"/>
          <p:cNvSpPr/>
          <p:nvPr/>
        </p:nvSpPr>
        <p:spPr>
          <a:xfrm>
            <a:off x="562386" y="4094226"/>
            <a:ext cx="342900" cy="342900"/>
          </a:xfrm>
          <a:prstGeom prst="roundRect">
            <a:avLst>
              <a:gd fmla="val 22000" name="adj"/>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MessageCircle_white.png" id="2901" name="Google Shape;2901;p112"/>
          <p:cNvPicPr preferRelativeResize="0"/>
          <p:nvPr/>
        </p:nvPicPr>
        <p:blipFill rotWithShape="1">
          <a:blip r:embed="rId6">
            <a:alphaModFix/>
          </a:blip>
          <a:srcRect b="0" l="0" r="0" t="0"/>
          <a:stretch/>
        </p:blipFill>
        <p:spPr>
          <a:xfrm>
            <a:off x="639543" y="4171379"/>
            <a:ext cx="188595" cy="188595"/>
          </a:xfrm>
          <a:prstGeom prst="rect">
            <a:avLst/>
          </a:prstGeom>
          <a:noFill/>
          <a:ln>
            <a:noFill/>
          </a:ln>
        </p:spPr>
      </p:pic>
      <p:sp>
        <p:nvSpPr>
          <p:cNvPr id="2902" name="Google Shape;2902;p112"/>
          <p:cNvSpPr/>
          <p:nvPr/>
        </p:nvSpPr>
        <p:spPr>
          <a:xfrm>
            <a:off x="1028755" y="4039362"/>
            <a:ext cx="7532400" cy="5280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1C2B3E"/>
              </a:buClr>
              <a:buSzPts val="1000"/>
              <a:buFont typeface="Arial"/>
              <a:buNone/>
            </a:pPr>
            <a:r>
              <a:rPr i="1" lang="en-GB" sz="1000">
                <a:solidFill>
                  <a:srgbClr val="1C2B3E"/>
                </a:solidFill>
                <a:latin typeface="Arial"/>
                <a:ea typeface="Arial"/>
                <a:cs typeface="Arial"/>
                <a:sym typeface="Arial"/>
              </a:rPr>
              <a:t>Boundary: integration setup is not trained in the 2-hour core. This is for scoping, not connector config.</a:t>
            </a:r>
            <a:endParaRPr sz="1000">
              <a:solidFill>
                <a:schemeClr val="dk1"/>
              </a:solidFill>
              <a:latin typeface="Calibri"/>
              <a:ea typeface="Calibri"/>
              <a:cs typeface="Calibri"/>
              <a:sym typeface="Calibri"/>
            </a:endParaRPr>
          </a:p>
        </p:txBody>
      </p:sp>
      <p:sp>
        <p:nvSpPr>
          <p:cNvPr id="2903" name="Google Shape;2903;p112"/>
          <p:cNvSpPr/>
          <p:nvPr/>
        </p:nvSpPr>
        <p:spPr>
          <a:xfrm>
            <a:off x="411502" y="4869180"/>
            <a:ext cx="54867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700"/>
              <a:buFont typeface="Arial"/>
              <a:buNone/>
            </a:pPr>
            <a:r>
              <a:rPr lang="en-GB" sz="700">
                <a:solidFill>
                  <a:srgbClr val="94A3B8"/>
                </a:solidFill>
                <a:latin typeface="Arial"/>
                <a:ea typeface="Arial"/>
                <a:cs typeface="Arial"/>
                <a:sym typeface="Arial"/>
              </a:rPr>
              <a:t>APPENDIX</a:t>
            </a:r>
            <a:endParaRPr sz="700">
              <a:solidFill>
                <a:schemeClr val="dk1"/>
              </a:solidFill>
              <a:latin typeface="Calibri"/>
              <a:ea typeface="Calibri"/>
              <a:cs typeface="Calibri"/>
              <a:sym typeface="Calibri"/>
            </a:endParaRPr>
          </a:p>
        </p:txBody>
      </p:sp>
      <p:sp>
        <p:nvSpPr>
          <p:cNvPr id="2904" name="Google Shape;2904;p112"/>
          <p:cNvSpPr/>
          <p:nvPr/>
        </p:nvSpPr>
        <p:spPr>
          <a:xfrm>
            <a:off x="7361084" y="4869180"/>
            <a:ext cx="1371600" cy="205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700"/>
              <a:buFont typeface="Arial"/>
              <a:buNone/>
            </a:pPr>
            <a:r>
              <a:rPr lang="en-GB" sz="700">
                <a:solidFill>
                  <a:srgbClr val="94A3B8"/>
                </a:solidFill>
                <a:latin typeface="Arial"/>
                <a:ea typeface="Arial"/>
                <a:cs typeface="Arial"/>
                <a:sym typeface="Arial"/>
              </a:rPr>
              <a:t>80 / 82</a:t>
            </a:r>
            <a:endParaRPr sz="700">
              <a:solidFill>
                <a:schemeClr val="dk1"/>
              </a:solidFill>
              <a:latin typeface="Calibri"/>
              <a:ea typeface="Calibri"/>
              <a:cs typeface="Calibri"/>
              <a:sym typeface="Calibri"/>
            </a:endParaRPr>
          </a:p>
        </p:txBody>
      </p:sp>
      <p:sp>
        <p:nvSpPr>
          <p:cNvPr id="2905" name="Google Shape;2905;p112"/>
          <p:cNvSpPr txBox="1"/>
          <p:nvPr>
            <p:ph idx="12" type="sldNum"/>
          </p:nvPr>
        </p:nvSpPr>
        <p:spPr>
          <a:xfrm>
            <a:off x="8347216" y="4750189"/>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2910" name="Shape 2910"/>
        <p:cNvGrpSpPr/>
        <p:nvPr/>
      </p:nvGrpSpPr>
      <p:grpSpPr>
        <a:xfrm>
          <a:off x="0" y="0"/>
          <a:ext cx="0" cy="0"/>
          <a:chOff x="0" y="0"/>
          <a:chExt cx="0" cy="0"/>
        </a:xfrm>
      </p:grpSpPr>
      <p:sp>
        <p:nvSpPr>
          <p:cNvPr id="2911" name="Google Shape;2911;p113"/>
          <p:cNvSpPr/>
          <p:nvPr/>
        </p:nvSpPr>
        <p:spPr>
          <a:xfrm>
            <a:off x="411502" y="260604"/>
            <a:ext cx="68583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OPTIONAL ADD-ON VIDEO</a:t>
            </a:r>
            <a:endParaRPr sz="800">
              <a:solidFill>
                <a:schemeClr val="dk1"/>
              </a:solidFill>
              <a:latin typeface="Calibri"/>
              <a:ea typeface="Calibri"/>
              <a:cs typeface="Calibri"/>
              <a:sym typeface="Calibri"/>
            </a:endParaRPr>
          </a:p>
        </p:txBody>
      </p:sp>
      <p:sp>
        <p:nvSpPr>
          <p:cNvPr id="2912" name="Google Shape;2912;p113"/>
          <p:cNvSpPr/>
          <p:nvPr/>
        </p:nvSpPr>
        <p:spPr>
          <a:xfrm>
            <a:off x="411502" y="438912"/>
            <a:ext cx="8321400" cy="480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C2B3E"/>
              </a:buClr>
              <a:buSzPts val="2200"/>
              <a:buFont typeface="Arial"/>
              <a:buNone/>
            </a:pPr>
            <a:r>
              <a:rPr b="1" lang="en-GB" sz="2200">
                <a:solidFill>
                  <a:srgbClr val="1C2B3E"/>
                </a:solidFill>
                <a:latin typeface="Arial"/>
                <a:ea typeface="Arial"/>
                <a:cs typeface="Arial"/>
                <a:sym typeface="Arial"/>
              </a:rPr>
              <a:t>SOA Portal: customer self-service</a:t>
            </a:r>
            <a:endParaRPr sz="2200">
              <a:solidFill>
                <a:schemeClr val="dk1"/>
              </a:solidFill>
              <a:latin typeface="Calibri"/>
              <a:ea typeface="Calibri"/>
              <a:cs typeface="Calibri"/>
              <a:sym typeface="Calibri"/>
            </a:endParaRPr>
          </a:p>
        </p:txBody>
      </p:sp>
      <p:sp>
        <p:nvSpPr>
          <p:cNvPr id="2913" name="Google Shape;2913;p113"/>
          <p:cNvSpPr/>
          <p:nvPr/>
        </p:nvSpPr>
        <p:spPr>
          <a:xfrm>
            <a:off x="411502" y="932688"/>
            <a:ext cx="8321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D"/>
              </a:buClr>
              <a:buSzPts val="1100"/>
              <a:buFont typeface="Arial"/>
              <a:buNone/>
            </a:pPr>
            <a:r>
              <a:rPr lang="en-GB" sz="1100">
                <a:solidFill>
                  <a:srgbClr val="5B6B7D"/>
                </a:solidFill>
                <a:latin typeface="Arial"/>
                <a:ea typeface="Arial"/>
                <a:cs typeface="Arial"/>
                <a:sym typeface="Arial"/>
              </a:rPr>
              <a:t>For finance / customer-service audiences asking about customer self-service.</a:t>
            </a:r>
            <a:endParaRPr sz="1100">
              <a:solidFill>
                <a:schemeClr val="dk1"/>
              </a:solidFill>
              <a:latin typeface="Calibri"/>
              <a:ea typeface="Calibri"/>
              <a:cs typeface="Calibri"/>
              <a:sym typeface="Calibri"/>
            </a:endParaRPr>
          </a:p>
        </p:txBody>
      </p:sp>
      <p:sp>
        <p:nvSpPr>
          <p:cNvPr id="2914" name="Google Shape;2914;p113"/>
          <p:cNvSpPr/>
          <p:nvPr/>
        </p:nvSpPr>
        <p:spPr>
          <a:xfrm>
            <a:off x="411502" y="1337310"/>
            <a:ext cx="5006700" cy="2434500"/>
          </a:xfrm>
          <a:prstGeom prst="roundRect">
            <a:avLst>
              <a:gd fmla="val 3380" name="adj"/>
            </a:avLst>
          </a:prstGeom>
          <a:solidFill>
            <a:srgbClr val="F5F7FA"/>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915" name="Google Shape;2915;p113"/>
          <p:cNvSpPr/>
          <p:nvPr/>
        </p:nvSpPr>
        <p:spPr>
          <a:xfrm>
            <a:off x="617253" y="1537335"/>
            <a:ext cx="411600" cy="411600"/>
          </a:xfrm>
          <a:prstGeom prst="roundRect">
            <a:avLst>
              <a:gd fmla="val 22000"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FileText_white.png" id="2916" name="Google Shape;2916;p113"/>
          <p:cNvPicPr preferRelativeResize="0"/>
          <p:nvPr/>
        </p:nvPicPr>
        <p:blipFill rotWithShape="1">
          <a:blip r:embed="rId3">
            <a:alphaModFix/>
          </a:blip>
          <a:srcRect b="0" l="0" r="0" t="0"/>
          <a:stretch/>
        </p:blipFill>
        <p:spPr>
          <a:xfrm>
            <a:off x="720128" y="1640205"/>
            <a:ext cx="205740" cy="205740"/>
          </a:xfrm>
          <a:prstGeom prst="rect">
            <a:avLst/>
          </a:prstGeom>
          <a:noFill/>
          <a:ln>
            <a:noFill/>
          </a:ln>
        </p:spPr>
      </p:pic>
      <p:sp>
        <p:nvSpPr>
          <p:cNvPr id="2917" name="Google Shape;2917;p113"/>
          <p:cNvSpPr/>
          <p:nvPr/>
        </p:nvSpPr>
        <p:spPr>
          <a:xfrm>
            <a:off x="1165922" y="1337310"/>
            <a:ext cx="3223500" cy="811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1100"/>
              <a:buFont typeface="Arial"/>
              <a:buNone/>
            </a:pPr>
            <a:r>
              <a:rPr b="1" lang="en-GB" sz="1100">
                <a:solidFill>
                  <a:srgbClr val="1C2B3E"/>
                </a:solidFill>
                <a:latin typeface="Arial"/>
                <a:ea typeface="Arial"/>
                <a:cs typeface="Arial"/>
                <a:sym typeface="Arial"/>
              </a:rPr>
              <a:t>Internal: “share SOA portal link”</a:t>
            </a:r>
            <a:endParaRPr sz="1100">
              <a:solidFill>
                <a:schemeClr val="dk1"/>
              </a:solidFill>
              <a:latin typeface="Calibri"/>
              <a:ea typeface="Calibri"/>
              <a:cs typeface="Calibri"/>
              <a:sym typeface="Calibri"/>
            </a:endParaRPr>
          </a:p>
        </p:txBody>
      </p:sp>
      <p:sp>
        <p:nvSpPr>
          <p:cNvPr id="2918" name="Google Shape;2918;p113"/>
          <p:cNvSpPr/>
          <p:nvPr/>
        </p:nvSpPr>
        <p:spPr>
          <a:xfrm>
            <a:off x="4389354" y="1605915"/>
            <a:ext cx="857400" cy="274200"/>
          </a:xfrm>
          <a:prstGeom prst="roundRect">
            <a:avLst>
              <a:gd fmla="val 50000"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919" name="Google Shape;2919;p113"/>
          <p:cNvSpPr/>
          <p:nvPr/>
        </p:nvSpPr>
        <p:spPr>
          <a:xfrm>
            <a:off x="4389354" y="1605915"/>
            <a:ext cx="8574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SHARE</a:t>
            </a:r>
            <a:endParaRPr sz="800">
              <a:solidFill>
                <a:schemeClr val="dk1"/>
              </a:solidFill>
              <a:latin typeface="Calibri"/>
              <a:ea typeface="Calibri"/>
              <a:cs typeface="Calibri"/>
              <a:sym typeface="Calibri"/>
            </a:endParaRPr>
          </a:p>
        </p:txBody>
      </p:sp>
      <p:cxnSp>
        <p:nvCxnSpPr>
          <p:cNvPr id="2920" name="Google Shape;2920;p113"/>
          <p:cNvCxnSpPr/>
          <p:nvPr/>
        </p:nvCxnSpPr>
        <p:spPr>
          <a:xfrm>
            <a:off x="576103" y="2148840"/>
            <a:ext cx="4677300" cy="0"/>
          </a:xfrm>
          <a:prstGeom prst="straightConnector1">
            <a:avLst/>
          </a:prstGeom>
          <a:noFill/>
          <a:ln cap="flat" cmpd="sng" w="12700">
            <a:solidFill>
              <a:srgbClr val="E3E8EF"/>
            </a:solidFill>
            <a:prstDash val="solid"/>
            <a:round/>
            <a:headEnd len="sm" w="sm" type="none"/>
            <a:tailEnd len="sm" w="sm" type="none"/>
          </a:ln>
        </p:spPr>
      </p:cxnSp>
      <p:sp>
        <p:nvSpPr>
          <p:cNvPr id="2921" name="Google Shape;2921;p113"/>
          <p:cNvSpPr/>
          <p:nvPr/>
        </p:nvSpPr>
        <p:spPr>
          <a:xfrm>
            <a:off x="617253" y="2348865"/>
            <a:ext cx="411600" cy="411600"/>
          </a:xfrm>
          <a:prstGeom prst="roundRect">
            <a:avLst>
              <a:gd fmla="val 22000" name="adj"/>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AlertTriangle_white.png" id="2922" name="Google Shape;2922;p113"/>
          <p:cNvPicPr preferRelativeResize="0"/>
          <p:nvPr/>
        </p:nvPicPr>
        <p:blipFill rotWithShape="1">
          <a:blip r:embed="rId4">
            <a:alphaModFix/>
          </a:blip>
          <a:srcRect b="0" l="0" r="0" t="0"/>
          <a:stretch/>
        </p:blipFill>
        <p:spPr>
          <a:xfrm>
            <a:off x="720128" y="2451735"/>
            <a:ext cx="205740" cy="205740"/>
          </a:xfrm>
          <a:prstGeom prst="rect">
            <a:avLst/>
          </a:prstGeom>
          <a:noFill/>
          <a:ln>
            <a:noFill/>
          </a:ln>
        </p:spPr>
      </p:pic>
      <p:sp>
        <p:nvSpPr>
          <p:cNvPr id="2923" name="Google Shape;2923;p113"/>
          <p:cNvSpPr/>
          <p:nvPr/>
        </p:nvSpPr>
        <p:spPr>
          <a:xfrm>
            <a:off x="1165922" y="2148840"/>
            <a:ext cx="3223500" cy="811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1100"/>
              <a:buFont typeface="Arial"/>
              <a:buNone/>
            </a:pPr>
            <a:r>
              <a:rPr b="1" lang="en-GB" sz="1100">
                <a:solidFill>
                  <a:srgbClr val="1C2B3E"/>
                </a:solidFill>
                <a:latin typeface="Arial"/>
                <a:ea typeface="Arial"/>
                <a:cs typeface="Arial"/>
                <a:sym typeface="Arial"/>
              </a:rPr>
              <a:t>Customer opens the secure link</a:t>
            </a:r>
            <a:endParaRPr sz="1100">
              <a:solidFill>
                <a:schemeClr val="dk1"/>
              </a:solidFill>
              <a:latin typeface="Calibri"/>
              <a:ea typeface="Calibri"/>
              <a:cs typeface="Calibri"/>
              <a:sym typeface="Calibri"/>
            </a:endParaRPr>
          </a:p>
        </p:txBody>
      </p:sp>
      <p:sp>
        <p:nvSpPr>
          <p:cNvPr id="2924" name="Google Shape;2924;p113"/>
          <p:cNvSpPr/>
          <p:nvPr/>
        </p:nvSpPr>
        <p:spPr>
          <a:xfrm>
            <a:off x="4389354" y="2417445"/>
            <a:ext cx="857400" cy="274200"/>
          </a:xfrm>
          <a:prstGeom prst="roundRect">
            <a:avLst>
              <a:gd fmla="val 50000" name="adj"/>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925" name="Google Shape;2925;p113"/>
          <p:cNvSpPr/>
          <p:nvPr/>
        </p:nvSpPr>
        <p:spPr>
          <a:xfrm>
            <a:off x="4389354" y="2417445"/>
            <a:ext cx="8574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LOGIN</a:t>
            </a:r>
            <a:endParaRPr sz="800">
              <a:solidFill>
                <a:schemeClr val="dk1"/>
              </a:solidFill>
              <a:latin typeface="Calibri"/>
              <a:ea typeface="Calibri"/>
              <a:cs typeface="Calibri"/>
              <a:sym typeface="Calibri"/>
            </a:endParaRPr>
          </a:p>
        </p:txBody>
      </p:sp>
      <p:cxnSp>
        <p:nvCxnSpPr>
          <p:cNvPr id="2926" name="Google Shape;2926;p113"/>
          <p:cNvCxnSpPr/>
          <p:nvPr/>
        </p:nvCxnSpPr>
        <p:spPr>
          <a:xfrm>
            <a:off x="576103" y="2960370"/>
            <a:ext cx="4677300" cy="0"/>
          </a:xfrm>
          <a:prstGeom prst="straightConnector1">
            <a:avLst/>
          </a:prstGeom>
          <a:noFill/>
          <a:ln cap="flat" cmpd="sng" w="12700">
            <a:solidFill>
              <a:srgbClr val="E3E8EF"/>
            </a:solidFill>
            <a:prstDash val="solid"/>
            <a:round/>
            <a:headEnd len="sm" w="sm" type="none"/>
            <a:tailEnd len="sm" w="sm" type="none"/>
          </a:ln>
        </p:spPr>
      </p:cxnSp>
      <p:sp>
        <p:nvSpPr>
          <p:cNvPr id="2927" name="Google Shape;2927;p113"/>
          <p:cNvSpPr/>
          <p:nvPr/>
        </p:nvSpPr>
        <p:spPr>
          <a:xfrm>
            <a:off x="617253" y="3160395"/>
            <a:ext cx="411600" cy="411600"/>
          </a:xfrm>
          <a:prstGeom prst="roundRect">
            <a:avLst>
              <a:gd fmla="val 22000" name="adj"/>
            </a:avLst>
          </a:prstGeom>
          <a:solidFill>
            <a:srgbClr val="1A9D5C"/>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CheckCircle_white.png" id="2928" name="Google Shape;2928;p113"/>
          <p:cNvPicPr preferRelativeResize="0"/>
          <p:nvPr/>
        </p:nvPicPr>
        <p:blipFill rotWithShape="1">
          <a:blip r:embed="rId5">
            <a:alphaModFix/>
          </a:blip>
          <a:srcRect b="0" l="0" r="0" t="0"/>
          <a:stretch/>
        </p:blipFill>
        <p:spPr>
          <a:xfrm>
            <a:off x="720128" y="3263265"/>
            <a:ext cx="205740" cy="205740"/>
          </a:xfrm>
          <a:prstGeom prst="rect">
            <a:avLst/>
          </a:prstGeom>
          <a:noFill/>
          <a:ln>
            <a:noFill/>
          </a:ln>
        </p:spPr>
      </p:pic>
      <p:sp>
        <p:nvSpPr>
          <p:cNvPr id="2929" name="Google Shape;2929;p113"/>
          <p:cNvSpPr/>
          <p:nvPr/>
        </p:nvSpPr>
        <p:spPr>
          <a:xfrm>
            <a:off x="1165922" y="2960370"/>
            <a:ext cx="3223500" cy="811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1100"/>
              <a:buFont typeface="Arial"/>
              <a:buNone/>
            </a:pPr>
            <a:r>
              <a:rPr b="1" lang="en-GB" sz="1100">
                <a:solidFill>
                  <a:srgbClr val="1C2B3E"/>
                </a:solidFill>
                <a:latin typeface="Arial"/>
                <a:ea typeface="Arial"/>
                <a:cs typeface="Arial"/>
                <a:sym typeface="Arial"/>
              </a:rPr>
              <a:t>Customer self-serves documents</a:t>
            </a:r>
            <a:endParaRPr sz="1100">
              <a:solidFill>
                <a:schemeClr val="dk1"/>
              </a:solidFill>
              <a:latin typeface="Calibri"/>
              <a:ea typeface="Calibri"/>
              <a:cs typeface="Calibri"/>
              <a:sym typeface="Calibri"/>
            </a:endParaRPr>
          </a:p>
        </p:txBody>
      </p:sp>
      <p:sp>
        <p:nvSpPr>
          <p:cNvPr id="2930" name="Google Shape;2930;p113"/>
          <p:cNvSpPr/>
          <p:nvPr/>
        </p:nvSpPr>
        <p:spPr>
          <a:xfrm>
            <a:off x="4389354" y="3228975"/>
            <a:ext cx="857400" cy="274200"/>
          </a:xfrm>
          <a:prstGeom prst="roundRect">
            <a:avLst>
              <a:gd fmla="val 50000" name="adj"/>
            </a:avLst>
          </a:prstGeom>
          <a:solidFill>
            <a:srgbClr val="1A9D5C"/>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931" name="Google Shape;2931;p113"/>
          <p:cNvSpPr/>
          <p:nvPr/>
        </p:nvSpPr>
        <p:spPr>
          <a:xfrm>
            <a:off x="4389354" y="3228975"/>
            <a:ext cx="8574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PORTAL</a:t>
            </a:r>
            <a:endParaRPr sz="800">
              <a:solidFill>
                <a:schemeClr val="dk1"/>
              </a:solidFill>
              <a:latin typeface="Calibri"/>
              <a:ea typeface="Calibri"/>
              <a:cs typeface="Calibri"/>
              <a:sym typeface="Calibri"/>
            </a:endParaRPr>
          </a:p>
        </p:txBody>
      </p:sp>
      <p:sp>
        <p:nvSpPr>
          <p:cNvPr id="2932" name="Google Shape;2932;p113"/>
          <p:cNvSpPr/>
          <p:nvPr/>
        </p:nvSpPr>
        <p:spPr>
          <a:xfrm>
            <a:off x="5692443" y="1337310"/>
            <a:ext cx="3040200" cy="2434500"/>
          </a:xfrm>
          <a:prstGeom prst="roundRect">
            <a:avLst>
              <a:gd fmla="val 3380" name="adj"/>
            </a:avLst>
          </a:prstGeom>
          <a:solidFill>
            <a:srgbClr val="F5F7FA"/>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933" name="Google Shape;2933;p113"/>
          <p:cNvSpPr/>
          <p:nvPr/>
        </p:nvSpPr>
        <p:spPr>
          <a:xfrm>
            <a:off x="5843328" y="1460754"/>
            <a:ext cx="27384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800"/>
              <a:buFont typeface="Arial"/>
              <a:buNone/>
            </a:pPr>
            <a:r>
              <a:rPr b="1" lang="en-GB" sz="800">
                <a:solidFill>
                  <a:srgbClr val="94A3B8"/>
                </a:solidFill>
                <a:latin typeface="Arial"/>
                <a:ea typeface="Arial"/>
                <a:cs typeface="Arial"/>
                <a:sym typeface="Arial"/>
              </a:rPr>
              <a:t>WHAT YOU'LL SEE</a:t>
            </a:r>
            <a:endParaRPr sz="800">
              <a:solidFill>
                <a:schemeClr val="dk1"/>
              </a:solidFill>
              <a:latin typeface="Calibri"/>
              <a:ea typeface="Calibri"/>
              <a:cs typeface="Calibri"/>
              <a:sym typeface="Calibri"/>
            </a:endParaRPr>
          </a:p>
        </p:txBody>
      </p:sp>
      <p:sp>
        <p:nvSpPr>
          <p:cNvPr id="2934" name="Google Shape;2934;p113"/>
          <p:cNvSpPr/>
          <p:nvPr/>
        </p:nvSpPr>
        <p:spPr>
          <a:xfrm>
            <a:off x="5843328" y="1762506"/>
            <a:ext cx="219600" cy="219600"/>
          </a:xfrm>
          <a:prstGeom prst="ellipse">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935" name="Google Shape;2935;p113"/>
          <p:cNvSpPr/>
          <p:nvPr/>
        </p:nvSpPr>
        <p:spPr>
          <a:xfrm>
            <a:off x="5843328" y="1762506"/>
            <a:ext cx="219600" cy="2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1</a:t>
            </a:r>
            <a:endParaRPr sz="800">
              <a:solidFill>
                <a:schemeClr val="dk1"/>
              </a:solidFill>
              <a:latin typeface="Calibri"/>
              <a:ea typeface="Calibri"/>
              <a:cs typeface="Calibri"/>
              <a:sym typeface="Calibri"/>
            </a:endParaRPr>
          </a:p>
        </p:txBody>
      </p:sp>
      <p:sp>
        <p:nvSpPr>
          <p:cNvPr id="2936" name="Google Shape;2936;p113"/>
          <p:cNvSpPr/>
          <p:nvPr/>
        </p:nvSpPr>
        <p:spPr>
          <a:xfrm>
            <a:off x="6145096" y="1735074"/>
            <a:ext cx="2423100" cy="41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B3E"/>
              </a:buClr>
              <a:buSzPts val="900"/>
              <a:buFont typeface="Arial"/>
              <a:buNone/>
            </a:pPr>
            <a:r>
              <a:rPr lang="en-GB" sz="900">
                <a:solidFill>
                  <a:srgbClr val="1C2B3E"/>
                </a:solidFill>
                <a:latin typeface="Arial"/>
                <a:ea typeface="Arial"/>
                <a:cs typeface="Arial"/>
                <a:sym typeface="Arial"/>
              </a:rPr>
              <a:t>Internal user types “share Restoran Maju SOA portal link” → MAIA replies with the SOA link card</a:t>
            </a:r>
            <a:endParaRPr sz="900">
              <a:solidFill>
                <a:schemeClr val="dk1"/>
              </a:solidFill>
              <a:latin typeface="Calibri"/>
              <a:ea typeface="Calibri"/>
              <a:cs typeface="Calibri"/>
              <a:sym typeface="Calibri"/>
            </a:endParaRPr>
          </a:p>
        </p:txBody>
      </p:sp>
      <p:sp>
        <p:nvSpPr>
          <p:cNvPr id="2937" name="Google Shape;2937;p113"/>
          <p:cNvSpPr/>
          <p:nvPr/>
        </p:nvSpPr>
        <p:spPr>
          <a:xfrm>
            <a:off x="5843328" y="2173986"/>
            <a:ext cx="219600" cy="219600"/>
          </a:xfrm>
          <a:prstGeom prst="ellipse">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938" name="Google Shape;2938;p113"/>
          <p:cNvSpPr/>
          <p:nvPr/>
        </p:nvSpPr>
        <p:spPr>
          <a:xfrm>
            <a:off x="5843328" y="2173986"/>
            <a:ext cx="219600" cy="2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2</a:t>
            </a:r>
            <a:endParaRPr sz="800">
              <a:solidFill>
                <a:schemeClr val="dk1"/>
              </a:solidFill>
              <a:latin typeface="Calibri"/>
              <a:ea typeface="Calibri"/>
              <a:cs typeface="Calibri"/>
              <a:sym typeface="Calibri"/>
            </a:endParaRPr>
          </a:p>
        </p:txBody>
      </p:sp>
      <p:sp>
        <p:nvSpPr>
          <p:cNvPr id="2939" name="Google Shape;2939;p113"/>
          <p:cNvSpPr/>
          <p:nvPr/>
        </p:nvSpPr>
        <p:spPr>
          <a:xfrm>
            <a:off x="6145096" y="2146554"/>
            <a:ext cx="2423100" cy="41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B3E"/>
              </a:buClr>
              <a:buSzPts val="900"/>
              <a:buFont typeface="Arial"/>
              <a:buNone/>
            </a:pPr>
            <a:r>
              <a:rPr lang="en-GB" sz="900">
                <a:solidFill>
                  <a:srgbClr val="1C2B3E"/>
                </a:solidFill>
                <a:latin typeface="Arial"/>
                <a:ea typeface="Arial"/>
                <a:cs typeface="Arial"/>
                <a:sym typeface="Arial"/>
              </a:rPr>
              <a:t>User sends the link; customer opens the secure portal and logs in</a:t>
            </a:r>
            <a:endParaRPr sz="900">
              <a:solidFill>
                <a:schemeClr val="dk1"/>
              </a:solidFill>
              <a:latin typeface="Calibri"/>
              <a:ea typeface="Calibri"/>
              <a:cs typeface="Calibri"/>
              <a:sym typeface="Calibri"/>
            </a:endParaRPr>
          </a:p>
        </p:txBody>
      </p:sp>
      <p:sp>
        <p:nvSpPr>
          <p:cNvPr id="2940" name="Google Shape;2940;p113"/>
          <p:cNvSpPr/>
          <p:nvPr/>
        </p:nvSpPr>
        <p:spPr>
          <a:xfrm>
            <a:off x="5843328" y="2585466"/>
            <a:ext cx="219600" cy="219600"/>
          </a:xfrm>
          <a:prstGeom prst="ellipse">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941" name="Google Shape;2941;p113"/>
          <p:cNvSpPr/>
          <p:nvPr/>
        </p:nvSpPr>
        <p:spPr>
          <a:xfrm>
            <a:off x="5843328" y="2585466"/>
            <a:ext cx="219600" cy="2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3</a:t>
            </a:r>
            <a:endParaRPr sz="800">
              <a:solidFill>
                <a:schemeClr val="dk1"/>
              </a:solidFill>
              <a:latin typeface="Calibri"/>
              <a:ea typeface="Calibri"/>
              <a:cs typeface="Calibri"/>
              <a:sym typeface="Calibri"/>
            </a:endParaRPr>
          </a:p>
        </p:txBody>
      </p:sp>
      <p:sp>
        <p:nvSpPr>
          <p:cNvPr id="2942" name="Google Shape;2942;p113"/>
          <p:cNvSpPr/>
          <p:nvPr/>
        </p:nvSpPr>
        <p:spPr>
          <a:xfrm>
            <a:off x="6145096" y="2558034"/>
            <a:ext cx="2423100" cy="41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B3E"/>
              </a:buClr>
              <a:buSzPts val="900"/>
              <a:buFont typeface="Arial"/>
              <a:buNone/>
            </a:pPr>
            <a:r>
              <a:rPr lang="en-GB" sz="900">
                <a:solidFill>
                  <a:srgbClr val="1C2B3E"/>
                </a:solidFill>
                <a:latin typeface="Arial"/>
                <a:ea typeface="Arial"/>
                <a:cs typeface="Arial"/>
                <a:sym typeface="Arial"/>
              </a:rPr>
              <a:t>Customer navigates — outstanding summary, overdue filter, invoice list, document downloads, export</a:t>
            </a:r>
            <a:endParaRPr sz="900">
              <a:solidFill>
                <a:schemeClr val="dk1"/>
              </a:solidFill>
              <a:latin typeface="Calibri"/>
              <a:ea typeface="Calibri"/>
              <a:cs typeface="Calibri"/>
              <a:sym typeface="Calibri"/>
            </a:endParaRPr>
          </a:p>
        </p:txBody>
      </p:sp>
      <p:sp>
        <p:nvSpPr>
          <p:cNvPr id="2943" name="Google Shape;2943;p113"/>
          <p:cNvSpPr/>
          <p:nvPr/>
        </p:nvSpPr>
        <p:spPr>
          <a:xfrm>
            <a:off x="5843328" y="2996946"/>
            <a:ext cx="219600" cy="219600"/>
          </a:xfrm>
          <a:prstGeom prst="ellipse">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944" name="Google Shape;2944;p113"/>
          <p:cNvSpPr/>
          <p:nvPr/>
        </p:nvSpPr>
        <p:spPr>
          <a:xfrm>
            <a:off x="5843328" y="2996946"/>
            <a:ext cx="219600" cy="2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4</a:t>
            </a:r>
            <a:endParaRPr sz="800">
              <a:solidFill>
                <a:schemeClr val="dk1"/>
              </a:solidFill>
              <a:latin typeface="Calibri"/>
              <a:ea typeface="Calibri"/>
              <a:cs typeface="Calibri"/>
              <a:sym typeface="Calibri"/>
            </a:endParaRPr>
          </a:p>
        </p:txBody>
      </p:sp>
      <p:sp>
        <p:nvSpPr>
          <p:cNvPr id="2945" name="Google Shape;2945;p113"/>
          <p:cNvSpPr/>
          <p:nvPr/>
        </p:nvSpPr>
        <p:spPr>
          <a:xfrm>
            <a:off x="6145096" y="2969514"/>
            <a:ext cx="2423100" cy="41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B3E"/>
              </a:buClr>
              <a:buSzPts val="900"/>
              <a:buFont typeface="Arial"/>
              <a:buNone/>
            </a:pPr>
            <a:r>
              <a:rPr lang="en-GB" sz="900">
                <a:solidFill>
                  <a:srgbClr val="1C2B3E"/>
                </a:solidFill>
                <a:latin typeface="Arial"/>
                <a:ea typeface="Arial"/>
                <a:cs typeface="Arial"/>
                <a:sym typeface="Arial"/>
              </a:rPr>
              <a:t>Optional quick retrieval — “find the oil order from last Tuesday” → result surfaces, no codes</a:t>
            </a:r>
            <a:endParaRPr sz="900">
              <a:solidFill>
                <a:schemeClr val="dk1"/>
              </a:solidFill>
              <a:latin typeface="Calibri"/>
              <a:ea typeface="Calibri"/>
              <a:cs typeface="Calibri"/>
              <a:sym typeface="Calibri"/>
            </a:endParaRPr>
          </a:p>
        </p:txBody>
      </p:sp>
      <p:sp>
        <p:nvSpPr>
          <p:cNvPr id="2946" name="Google Shape;2946;p113"/>
          <p:cNvSpPr/>
          <p:nvPr/>
        </p:nvSpPr>
        <p:spPr>
          <a:xfrm>
            <a:off x="5843328" y="3408426"/>
            <a:ext cx="219600" cy="219600"/>
          </a:xfrm>
          <a:prstGeom prst="ellipse">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947" name="Google Shape;2947;p113"/>
          <p:cNvSpPr/>
          <p:nvPr/>
        </p:nvSpPr>
        <p:spPr>
          <a:xfrm>
            <a:off x="5843328" y="3408426"/>
            <a:ext cx="219600" cy="2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5</a:t>
            </a:r>
            <a:endParaRPr sz="800">
              <a:solidFill>
                <a:schemeClr val="dk1"/>
              </a:solidFill>
              <a:latin typeface="Calibri"/>
              <a:ea typeface="Calibri"/>
              <a:cs typeface="Calibri"/>
              <a:sym typeface="Calibri"/>
            </a:endParaRPr>
          </a:p>
        </p:txBody>
      </p:sp>
      <p:sp>
        <p:nvSpPr>
          <p:cNvPr id="2948" name="Google Shape;2948;p113"/>
          <p:cNvSpPr/>
          <p:nvPr/>
        </p:nvSpPr>
        <p:spPr>
          <a:xfrm>
            <a:off x="6145096" y="3380994"/>
            <a:ext cx="2423100" cy="41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B3E"/>
              </a:buClr>
              <a:buSzPts val="900"/>
              <a:buFont typeface="Arial"/>
              <a:buNone/>
            </a:pPr>
            <a:r>
              <a:rPr lang="en-GB" sz="900">
                <a:solidFill>
                  <a:srgbClr val="1C2B3E"/>
                </a:solidFill>
                <a:latin typeface="Arial"/>
                <a:ea typeface="Arial"/>
                <a:cs typeface="Arial"/>
                <a:sym typeface="Arial"/>
              </a:rPr>
              <a:t>Ties back to the earlier statement-of-account pain — the “resend my statement” interruption stops here</a:t>
            </a:r>
            <a:endParaRPr sz="900">
              <a:solidFill>
                <a:schemeClr val="dk1"/>
              </a:solidFill>
              <a:latin typeface="Calibri"/>
              <a:ea typeface="Calibri"/>
              <a:cs typeface="Calibri"/>
              <a:sym typeface="Calibri"/>
            </a:endParaRPr>
          </a:p>
        </p:txBody>
      </p:sp>
      <p:sp>
        <p:nvSpPr>
          <p:cNvPr id="2949" name="Google Shape;2949;p113"/>
          <p:cNvSpPr/>
          <p:nvPr/>
        </p:nvSpPr>
        <p:spPr>
          <a:xfrm>
            <a:off x="411502" y="3943350"/>
            <a:ext cx="8321400" cy="720000"/>
          </a:xfrm>
          <a:prstGeom prst="roundRect">
            <a:avLst>
              <a:gd fmla="val 11429" name="adj"/>
            </a:avLst>
          </a:prstGeom>
          <a:solidFill>
            <a:srgbClr val="FBEBD9"/>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950" name="Google Shape;2950;p113"/>
          <p:cNvSpPr/>
          <p:nvPr/>
        </p:nvSpPr>
        <p:spPr>
          <a:xfrm>
            <a:off x="562386" y="4094226"/>
            <a:ext cx="342900" cy="342900"/>
          </a:xfrm>
          <a:prstGeom prst="roundRect">
            <a:avLst>
              <a:gd fmla="val 22000" name="adj"/>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MessageCircle_white.png" id="2951" name="Google Shape;2951;p113"/>
          <p:cNvPicPr preferRelativeResize="0"/>
          <p:nvPr/>
        </p:nvPicPr>
        <p:blipFill rotWithShape="1">
          <a:blip r:embed="rId6">
            <a:alphaModFix/>
          </a:blip>
          <a:srcRect b="0" l="0" r="0" t="0"/>
          <a:stretch/>
        </p:blipFill>
        <p:spPr>
          <a:xfrm>
            <a:off x="639543" y="4171379"/>
            <a:ext cx="188595" cy="188595"/>
          </a:xfrm>
          <a:prstGeom prst="rect">
            <a:avLst/>
          </a:prstGeom>
          <a:noFill/>
          <a:ln>
            <a:noFill/>
          </a:ln>
        </p:spPr>
      </p:pic>
      <p:sp>
        <p:nvSpPr>
          <p:cNvPr id="2952" name="Google Shape;2952;p113"/>
          <p:cNvSpPr/>
          <p:nvPr/>
        </p:nvSpPr>
        <p:spPr>
          <a:xfrm>
            <a:off x="1028755" y="4039362"/>
            <a:ext cx="7532400" cy="5280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1C2B3E"/>
              </a:buClr>
              <a:buSzPts val="1000"/>
              <a:buFont typeface="Arial"/>
              <a:buNone/>
            </a:pPr>
            <a:r>
              <a:rPr i="1" lang="en-GB" sz="1000">
                <a:solidFill>
                  <a:srgbClr val="1C2B3E"/>
                </a:solidFill>
                <a:latin typeface="Arial"/>
                <a:ea typeface="Arial"/>
                <a:cs typeface="Arial"/>
                <a:sym typeface="Arial"/>
              </a:rPr>
              <a:t>Boundary: this gives the customer the documents they’re allowed to see — it does not settle disputes or expose everything.</a:t>
            </a:r>
            <a:endParaRPr sz="1000">
              <a:solidFill>
                <a:schemeClr val="dk1"/>
              </a:solidFill>
              <a:latin typeface="Calibri"/>
              <a:ea typeface="Calibri"/>
              <a:cs typeface="Calibri"/>
              <a:sym typeface="Calibri"/>
            </a:endParaRPr>
          </a:p>
        </p:txBody>
      </p:sp>
      <p:sp>
        <p:nvSpPr>
          <p:cNvPr id="2953" name="Google Shape;2953;p113"/>
          <p:cNvSpPr/>
          <p:nvPr/>
        </p:nvSpPr>
        <p:spPr>
          <a:xfrm>
            <a:off x="411502" y="4869180"/>
            <a:ext cx="54867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700"/>
              <a:buFont typeface="Arial"/>
              <a:buNone/>
            </a:pPr>
            <a:r>
              <a:rPr lang="en-GB" sz="700">
                <a:solidFill>
                  <a:srgbClr val="94A3B8"/>
                </a:solidFill>
                <a:latin typeface="Arial"/>
                <a:ea typeface="Arial"/>
                <a:cs typeface="Arial"/>
                <a:sym typeface="Arial"/>
              </a:rPr>
              <a:t>APPENDIX</a:t>
            </a:r>
            <a:endParaRPr sz="700">
              <a:solidFill>
                <a:schemeClr val="dk1"/>
              </a:solidFill>
              <a:latin typeface="Calibri"/>
              <a:ea typeface="Calibri"/>
              <a:cs typeface="Calibri"/>
              <a:sym typeface="Calibri"/>
            </a:endParaRPr>
          </a:p>
        </p:txBody>
      </p:sp>
      <p:sp>
        <p:nvSpPr>
          <p:cNvPr id="2954" name="Google Shape;2954;p113"/>
          <p:cNvSpPr/>
          <p:nvPr/>
        </p:nvSpPr>
        <p:spPr>
          <a:xfrm>
            <a:off x="7361084" y="4869180"/>
            <a:ext cx="1371600" cy="205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700"/>
              <a:buFont typeface="Arial"/>
              <a:buNone/>
            </a:pPr>
            <a:r>
              <a:rPr lang="en-GB" sz="700">
                <a:solidFill>
                  <a:srgbClr val="94A3B8"/>
                </a:solidFill>
                <a:latin typeface="Arial"/>
                <a:ea typeface="Arial"/>
                <a:cs typeface="Arial"/>
                <a:sym typeface="Arial"/>
              </a:rPr>
              <a:t>81 / 82</a:t>
            </a:r>
            <a:endParaRPr sz="700">
              <a:solidFill>
                <a:schemeClr val="dk1"/>
              </a:solidFill>
              <a:latin typeface="Calibri"/>
              <a:ea typeface="Calibri"/>
              <a:cs typeface="Calibri"/>
              <a:sym typeface="Calibri"/>
            </a:endParaRPr>
          </a:p>
        </p:txBody>
      </p:sp>
      <p:sp>
        <p:nvSpPr>
          <p:cNvPr id="2955" name="Google Shape;2955;p113"/>
          <p:cNvSpPr txBox="1"/>
          <p:nvPr>
            <p:ph idx="12" type="sldNum"/>
          </p:nvPr>
        </p:nvSpPr>
        <p:spPr>
          <a:xfrm>
            <a:off x="8347216" y="4750189"/>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2960" name="Shape 2960"/>
        <p:cNvGrpSpPr/>
        <p:nvPr/>
      </p:nvGrpSpPr>
      <p:grpSpPr>
        <a:xfrm>
          <a:off x="0" y="0"/>
          <a:ext cx="0" cy="0"/>
          <a:chOff x="0" y="0"/>
          <a:chExt cx="0" cy="0"/>
        </a:xfrm>
      </p:grpSpPr>
      <p:sp>
        <p:nvSpPr>
          <p:cNvPr id="2961" name="Google Shape;2961;p114"/>
          <p:cNvSpPr/>
          <p:nvPr/>
        </p:nvSpPr>
        <p:spPr>
          <a:xfrm>
            <a:off x="411502" y="260604"/>
            <a:ext cx="68583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OPTIONAL ADD-ON VIDEO</a:t>
            </a:r>
            <a:endParaRPr sz="800">
              <a:solidFill>
                <a:schemeClr val="dk1"/>
              </a:solidFill>
              <a:latin typeface="Calibri"/>
              <a:ea typeface="Calibri"/>
              <a:cs typeface="Calibri"/>
              <a:sym typeface="Calibri"/>
            </a:endParaRPr>
          </a:p>
        </p:txBody>
      </p:sp>
      <p:sp>
        <p:nvSpPr>
          <p:cNvPr id="2962" name="Google Shape;2962;p114"/>
          <p:cNvSpPr/>
          <p:nvPr/>
        </p:nvSpPr>
        <p:spPr>
          <a:xfrm>
            <a:off x="411502" y="438912"/>
            <a:ext cx="8321400" cy="480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C2B3E"/>
              </a:buClr>
              <a:buSzPts val="2200"/>
              <a:buFont typeface="Arial"/>
              <a:buNone/>
            </a:pPr>
            <a:r>
              <a:rPr b="1" lang="en-GB" sz="2200">
                <a:solidFill>
                  <a:srgbClr val="1C2B3E"/>
                </a:solidFill>
                <a:latin typeface="Arial"/>
                <a:ea typeface="Arial"/>
                <a:cs typeface="Arial"/>
                <a:sym typeface="Arial"/>
              </a:rPr>
              <a:t>Inventory updates: Stock Entry + Stock Reconciliation</a:t>
            </a:r>
            <a:endParaRPr sz="2200">
              <a:solidFill>
                <a:schemeClr val="dk1"/>
              </a:solidFill>
              <a:latin typeface="Calibri"/>
              <a:ea typeface="Calibri"/>
              <a:cs typeface="Calibri"/>
              <a:sym typeface="Calibri"/>
            </a:endParaRPr>
          </a:p>
        </p:txBody>
      </p:sp>
      <p:sp>
        <p:nvSpPr>
          <p:cNvPr id="2963" name="Google Shape;2963;p114"/>
          <p:cNvSpPr/>
          <p:nvPr/>
        </p:nvSpPr>
        <p:spPr>
          <a:xfrm>
            <a:off x="411502" y="932688"/>
            <a:ext cx="8321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D"/>
              </a:buClr>
              <a:buSzPts val="1100"/>
              <a:buFont typeface="Arial"/>
              <a:buNone/>
            </a:pPr>
            <a:r>
              <a:rPr lang="en-GB" sz="1100">
                <a:solidFill>
                  <a:srgbClr val="5B6B7D"/>
                </a:solidFill>
                <a:latin typeface="Arial"/>
                <a:ea typeface="Arial"/>
                <a:cs typeface="Arial"/>
                <a:sym typeface="Arial"/>
              </a:rPr>
              <a:t>For warehouse / inventory / finance / no-ERP audiences.</a:t>
            </a:r>
            <a:endParaRPr sz="1100">
              <a:solidFill>
                <a:schemeClr val="dk1"/>
              </a:solidFill>
              <a:latin typeface="Calibri"/>
              <a:ea typeface="Calibri"/>
              <a:cs typeface="Calibri"/>
              <a:sym typeface="Calibri"/>
            </a:endParaRPr>
          </a:p>
        </p:txBody>
      </p:sp>
      <p:sp>
        <p:nvSpPr>
          <p:cNvPr id="2964" name="Google Shape;2964;p114"/>
          <p:cNvSpPr/>
          <p:nvPr/>
        </p:nvSpPr>
        <p:spPr>
          <a:xfrm>
            <a:off x="411502" y="1337310"/>
            <a:ext cx="5006700" cy="2434500"/>
          </a:xfrm>
          <a:prstGeom prst="roundRect">
            <a:avLst>
              <a:gd fmla="val 3380" name="adj"/>
            </a:avLst>
          </a:prstGeom>
          <a:solidFill>
            <a:srgbClr val="F5F7FA"/>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965" name="Google Shape;2965;p114"/>
          <p:cNvSpPr/>
          <p:nvPr/>
        </p:nvSpPr>
        <p:spPr>
          <a:xfrm>
            <a:off x="617253" y="1537335"/>
            <a:ext cx="411600" cy="411600"/>
          </a:xfrm>
          <a:prstGeom prst="roundRect">
            <a:avLst>
              <a:gd fmla="val 22000"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FileText_white.png" id="2966" name="Google Shape;2966;p114"/>
          <p:cNvPicPr preferRelativeResize="0"/>
          <p:nvPr/>
        </p:nvPicPr>
        <p:blipFill rotWithShape="1">
          <a:blip r:embed="rId3">
            <a:alphaModFix/>
          </a:blip>
          <a:srcRect b="0" l="0" r="0" t="0"/>
          <a:stretch/>
        </p:blipFill>
        <p:spPr>
          <a:xfrm>
            <a:off x="720128" y="1640205"/>
            <a:ext cx="205740" cy="205740"/>
          </a:xfrm>
          <a:prstGeom prst="rect">
            <a:avLst/>
          </a:prstGeom>
          <a:noFill/>
          <a:ln>
            <a:noFill/>
          </a:ln>
        </p:spPr>
      </p:pic>
      <p:sp>
        <p:nvSpPr>
          <p:cNvPr id="2967" name="Google Shape;2967;p114"/>
          <p:cNvSpPr/>
          <p:nvPr/>
        </p:nvSpPr>
        <p:spPr>
          <a:xfrm>
            <a:off x="1165922" y="1337310"/>
            <a:ext cx="3223500" cy="811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1100"/>
              <a:buFont typeface="Arial"/>
              <a:buNone/>
            </a:pPr>
            <a:r>
              <a:rPr b="1" lang="en-GB" sz="1100">
                <a:solidFill>
                  <a:srgbClr val="1C2B3E"/>
                </a:solidFill>
                <a:latin typeface="Arial"/>
                <a:ea typeface="Arial"/>
                <a:cs typeface="Arial"/>
                <a:sym typeface="Arial"/>
              </a:rPr>
              <a:t>Known movement → Stock Entry</a:t>
            </a:r>
            <a:endParaRPr sz="1100">
              <a:solidFill>
                <a:schemeClr val="dk1"/>
              </a:solidFill>
              <a:latin typeface="Calibri"/>
              <a:ea typeface="Calibri"/>
              <a:cs typeface="Calibri"/>
              <a:sym typeface="Calibri"/>
            </a:endParaRPr>
          </a:p>
        </p:txBody>
      </p:sp>
      <p:sp>
        <p:nvSpPr>
          <p:cNvPr id="2968" name="Google Shape;2968;p114"/>
          <p:cNvSpPr/>
          <p:nvPr/>
        </p:nvSpPr>
        <p:spPr>
          <a:xfrm>
            <a:off x="4389354" y="1605915"/>
            <a:ext cx="857400" cy="274200"/>
          </a:xfrm>
          <a:prstGeom prst="roundRect">
            <a:avLst>
              <a:gd fmla="val 50000"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969" name="Google Shape;2969;p114"/>
          <p:cNvSpPr/>
          <p:nvPr/>
        </p:nvSpPr>
        <p:spPr>
          <a:xfrm>
            <a:off x="4389354" y="1605915"/>
            <a:ext cx="8574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ENTRY</a:t>
            </a:r>
            <a:endParaRPr sz="800">
              <a:solidFill>
                <a:schemeClr val="dk1"/>
              </a:solidFill>
              <a:latin typeface="Calibri"/>
              <a:ea typeface="Calibri"/>
              <a:cs typeface="Calibri"/>
              <a:sym typeface="Calibri"/>
            </a:endParaRPr>
          </a:p>
        </p:txBody>
      </p:sp>
      <p:cxnSp>
        <p:nvCxnSpPr>
          <p:cNvPr id="2970" name="Google Shape;2970;p114"/>
          <p:cNvCxnSpPr/>
          <p:nvPr/>
        </p:nvCxnSpPr>
        <p:spPr>
          <a:xfrm>
            <a:off x="576103" y="2148840"/>
            <a:ext cx="4677300" cy="0"/>
          </a:xfrm>
          <a:prstGeom prst="straightConnector1">
            <a:avLst/>
          </a:prstGeom>
          <a:noFill/>
          <a:ln cap="flat" cmpd="sng" w="12700">
            <a:solidFill>
              <a:srgbClr val="E3E8EF"/>
            </a:solidFill>
            <a:prstDash val="solid"/>
            <a:round/>
            <a:headEnd len="sm" w="sm" type="none"/>
            <a:tailEnd len="sm" w="sm" type="none"/>
          </a:ln>
        </p:spPr>
      </p:cxnSp>
      <p:sp>
        <p:nvSpPr>
          <p:cNvPr id="2971" name="Google Shape;2971;p114"/>
          <p:cNvSpPr/>
          <p:nvPr/>
        </p:nvSpPr>
        <p:spPr>
          <a:xfrm>
            <a:off x="617253" y="2348865"/>
            <a:ext cx="411600" cy="411600"/>
          </a:xfrm>
          <a:prstGeom prst="roundRect">
            <a:avLst>
              <a:gd fmla="val 22000" name="adj"/>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AlertTriangle_white.png" id="2972" name="Google Shape;2972;p114"/>
          <p:cNvPicPr preferRelativeResize="0"/>
          <p:nvPr/>
        </p:nvPicPr>
        <p:blipFill rotWithShape="1">
          <a:blip r:embed="rId4">
            <a:alphaModFix/>
          </a:blip>
          <a:srcRect b="0" l="0" r="0" t="0"/>
          <a:stretch/>
        </p:blipFill>
        <p:spPr>
          <a:xfrm>
            <a:off x="720128" y="2451735"/>
            <a:ext cx="205740" cy="205740"/>
          </a:xfrm>
          <a:prstGeom prst="rect">
            <a:avLst/>
          </a:prstGeom>
          <a:noFill/>
          <a:ln>
            <a:noFill/>
          </a:ln>
        </p:spPr>
      </p:pic>
      <p:sp>
        <p:nvSpPr>
          <p:cNvPr id="2973" name="Google Shape;2973;p114"/>
          <p:cNvSpPr/>
          <p:nvPr/>
        </p:nvSpPr>
        <p:spPr>
          <a:xfrm>
            <a:off x="1165922" y="2148840"/>
            <a:ext cx="3223500" cy="811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1100"/>
              <a:buFont typeface="Arial"/>
              <a:buNone/>
            </a:pPr>
            <a:r>
              <a:rPr b="1" lang="en-GB" sz="1100">
                <a:solidFill>
                  <a:srgbClr val="1C2B3E"/>
                </a:solidFill>
                <a:latin typeface="Arial"/>
                <a:ea typeface="Arial"/>
                <a:cs typeface="Arial"/>
                <a:sym typeface="Arial"/>
              </a:rPr>
              <a:t>Count correction → Reconciliation</a:t>
            </a:r>
            <a:endParaRPr sz="1100">
              <a:solidFill>
                <a:schemeClr val="dk1"/>
              </a:solidFill>
              <a:latin typeface="Calibri"/>
              <a:ea typeface="Calibri"/>
              <a:cs typeface="Calibri"/>
              <a:sym typeface="Calibri"/>
            </a:endParaRPr>
          </a:p>
        </p:txBody>
      </p:sp>
      <p:sp>
        <p:nvSpPr>
          <p:cNvPr id="2974" name="Google Shape;2974;p114"/>
          <p:cNvSpPr/>
          <p:nvPr/>
        </p:nvSpPr>
        <p:spPr>
          <a:xfrm>
            <a:off x="4389354" y="2417445"/>
            <a:ext cx="857400" cy="274200"/>
          </a:xfrm>
          <a:prstGeom prst="roundRect">
            <a:avLst>
              <a:gd fmla="val 50000" name="adj"/>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975" name="Google Shape;2975;p114"/>
          <p:cNvSpPr/>
          <p:nvPr/>
        </p:nvSpPr>
        <p:spPr>
          <a:xfrm>
            <a:off x="4389354" y="2417445"/>
            <a:ext cx="8574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RECON</a:t>
            </a:r>
            <a:endParaRPr sz="800">
              <a:solidFill>
                <a:schemeClr val="dk1"/>
              </a:solidFill>
              <a:latin typeface="Calibri"/>
              <a:ea typeface="Calibri"/>
              <a:cs typeface="Calibri"/>
              <a:sym typeface="Calibri"/>
            </a:endParaRPr>
          </a:p>
        </p:txBody>
      </p:sp>
      <p:cxnSp>
        <p:nvCxnSpPr>
          <p:cNvPr id="2976" name="Google Shape;2976;p114"/>
          <p:cNvCxnSpPr/>
          <p:nvPr/>
        </p:nvCxnSpPr>
        <p:spPr>
          <a:xfrm>
            <a:off x="576103" y="2960370"/>
            <a:ext cx="4677300" cy="0"/>
          </a:xfrm>
          <a:prstGeom prst="straightConnector1">
            <a:avLst/>
          </a:prstGeom>
          <a:noFill/>
          <a:ln cap="flat" cmpd="sng" w="12700">
            <a:solidFill>
              <a:srgbClr val="E3E8EF"/>
            </a:solidFill>
            <a:prstDash val="solid"/>
            <a:round/>
            <a:headEnd len="sm" w="sm" type="none"/>
            <a:tailEnd len="sm" w="sm" type="none"/>
          </a:ln>
        </p:spPr>
      </p:cxnSp>
      <p:sp>
        <p:nvSpPr>
          <p:cNvPr id="2977" name="Google Shape;2977;p114"/>
          <p:cNvSpPr/>
          <p:nvPr/>
        </p:nvSpPr>
        <p:spPr>
          <a:xfrm>
            <a:off x="617253" y="3160395"/>
            <a:ext cx="411600" cy="411600"/>
          </a:xfrm>
          <a:prstGeom prst="roundRect">
            <a:avLst>
              <a:gd fmla="val 22000" name="adj"/>
            </a:avLst>
          </a:prstGeom>
          <a:solidFill>
            <a:srgbClr val="1A9D5C"/>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CheckCircle_white.png" id="2978" name="Google Shape;2978;p114"/>
          <p:cNvPicPr preferRelativeResize="0"/>
          <p:nvPr/>
        </p:nvPicPr>
        <p:blipFill rotWithShape="1">
          <a:blip r:embed="rId5">
            <a:alphaModFix/>
          </a:blip>
          <a:srcRect b="0" l="0" r="0" t="0"/>
          <a:stretch/>
        </p:blipFill>
        <p:spPr>
          <a:xfrm>
            <a:off x="720128" y="3263265"/>
            <a:ext cx="205740" cy="205740"/>
          </a:xfrm>
          <a:prstGeom prst="rect">
            <a:avLst/>
          </a:prstGeom>
          <a:noFill/>
          <a:ln>
            <a:noFill/>
          </a:ln>
        </p:spPr>
      </p:pic>
      <p:sp>
        <p:nvSpPr>
          <p:cNvPr id="2979" name="Google Shape;2979;p114"/>
          <p:cNvSpPr/>
          <p:nvPr/>
        </p:nvSpPr>
        <p:spPr>
          <a:xfrm>
            <a:off x="1165922" y="2960370"/>
            <a:ext cx="3223500" cy="811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1100"/>
              <a:buFont typeface="Arial"/>
              <a:buNone/>
            </a:pPr>
            <a:r>
              <a:rPr b="1" lang="en-GB" sz="1100">
                <a:solidFill>
                  <a:srgbClr val="1C2B3E"/>
                </a:solidFill>
                <a:latin typeface="Arial"/>
                <a:ea typeface="Arial"/>
                <a:cs typeface="Arial"/>
                <a:sym typeface="Arial"/>
              </a:rPr>
              <a:t>Bulk path → CSV with validation</a:t>
            </a:r>
            <a:endParaRPr sz="1100">
              <a:solidFill>
                <a:schemeClr val="dk1"/>
              </a:solidFill>
              <a:latin typeface="Calibri"/>
              <a:ea typeface="Calibri"/>
              <a:cs typeface="Calibri"/>
              <a:sym typeface="Calibri"/>
            </a:endParaRPr>
          </a:p>
        </p:txBody>
      </p:sp>
      <p:sp>
        <p:nvSpPr>
          <p:cNvPr id="2980" name="Google Shape;2980;p114"/>
          <p:cNvSpPr/>
          <p:nvPr/>
        </p:nvSpPr>
        <p:spPr>
          <a:xfrm>
            <a:off x="4389354" y="3228975"/>
            <a:ext cx="857400" cy="274200"/>
          </a:xfrm>
          <a:prstGeom prst="roundRect">
            <a:avLst>
              <a:gd fmla="val 50000" name="adj"/>
            </a:avLst>
          </a:prstGeom>
          <a:solidFill>
            <a:srgbClr val="1A9D5C"/>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981" name="Google Shape;2981;p114"/>
          <p:cNvSpPr/>
          <p:nvPr/>
        </p:nvSpPr>
        <p:spPr>
          <a:xfrm>
            <a:off x="4389354" y="3228975"/>
            <a:ext cx="8574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BULK</a:t>
            </a:r>
            <a:endParaRPr sz="800">
              <a:solidFill>
                <a:schemeClr val="dk1"/>
              </a:solidFill>
              <a:latin typeface="Calibri"/>
              <a:ea typeface="Calibri"/>
              <a:cs typeface="Calibri"/>
              <a:sym typeface="Calibri"/>
            </a:endParaRPr>
          </a:p>
        </p:txBody>
      </p:sp>
      <p:sp>
        <p:nvSpPr>
          <p:cNvPr id="2982" name="Google Shape;2982;p114"/>
          <p:cNvSpPr/>
          <p:nvPr/>
        </p:nvSpPr>
        <p:spPr>
          <a:xfrm>
            <a:off x="5692443" y="1337310"/>
            <a:ext cx="3040200" cy="2434500"/>
          </a:xfrm>
          <a:prstGeom prst="roundRect">
            <a:avLst>
              <a:gd fmla="val 3380" name="adj"/>
            </a:avLst>
          </a:prstGeom>
          <a:solidFill>
            <a:srgbClr val="F5F7FA"/>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983" name="Google Shape;2983;p114"/>
          <p:cNvSpPr/>
          <p:nvPr/>
        </p:nvSpPr>
        <p:spPr>
          <a:xfrm>
            <a:off x="5843328" y="1460754"/>
            <a:ext cx="27384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800"/>
              <a:buFont typeface="Arial"/>
              <a:buNone/>
            </a:pPr>
            <a:r>
              <a:rPr b="1" lang="en-GB" sz="800">
                <a:solidFill>
                  <a:srgbClr val="94A3B8"/>
                </a:solidFill>
                <a:latin typeface="Arial"/>
                <a:ea typeface="Arial"/>
                <a:cs typeface="Arial"/>
                <a:sym typeface="Arial"/>
              </a:rPr>
              <a:t>WHAT YOU'LL SEE</a:t>
            </a:r>
            <a:endParaRPr sz="800">
              <a:solidFill>
                <a:schemeClr val="dk1"/>
              </a:solidFill>
              <a:latin typeface="Calibri"/>
              <a:ea typeface="Calibri"/>
              <a:cs typeface="Calibri"/>
              <a:sym typeface="Calibri"/>
            </a:endParaRPr>
          </a:p>
        </p:txBody>
      </p:sp>
      <p:sp>
        <p:nvSpPr>
          <p:cNvPr id="2984" name="Google Shape;2984;p114"/>
          <p:cNvSpPr/>
          <p:nvPr/>
        </p:nvSpPr>
        <p:spPr>
          <a:xfrm>
            <a:off x="5843328" y="1762506"/>
            <a:ext cx="219600" cy="219600"/>
          </a:xfrm>
          <a:prstGeom prst="ellipse">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985" name="Google Shape;2985;p114"/>
          <p:cNvSpPr/>
          <p:nvPr/>
        </p:nvSpPr>
        <p:spPr>
          <a:xfrm>
            <a:off x="5843328" y="1762506"/>
            <a:ext cx="219600" cy="2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1</a:t>
            </a:r>
            <a:endParaRPr sz="800">
              <a:solidFill>
                <a:schemeClr val="dk1"/>
              </a:solidFill>
              <a:latin typeface="Calibri"/>
              <a:ea typeface="Calibri"/>
              <a:cs typeface="Calibri"/>
              <a:sym typeface="Calibri"/>
            </a:endParaRPr>
          </a:p>
        </p:txBody>
      </p:sp>
      <p:sp>
        <p:nvSpPr>
          <p:cNvPr id="2986" name="Google Shape;2986;p114"/>
          <p:cNvSpPr/>
          <p:nvPr/>
        </p:nvSpPr>
        <p:spPr>
          <a:xfrm>
            <a:off x="6145096" y="1735074"/>
            <a:ext cx="2423100" cy="41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B3E"/>
              </a:buClr>
              <a:buSzPts val="900"/>
              <a:buFont typeface="Arial"/>
              <a:buNone/>
            </a:pPr>
            <a:r>
              <a:rPr lang="en-GB" sz="900">
                <a:solidFill>
                  <a:srgbClr val="1C2B3E"/>
                </a:solidFill>
                <a:latin typeface="Arial"/>
                <a:ea typeface="Arial"/>
                <a:cs typeface="Arial"/>
                <a:sym typeface="Arial"/>
              </a:rPr>
              <a:t>Decision fork — Stock Entry for known movement; Stock Reconciliation for physical-count correction</a:t>
            </a:r>
            <a:endParaRPr sz="900">
              <a:solidFill>
                <a:schemeClr val="dk1"/>
              </a:solidFill>
              <a:latin typeface="Calibri"/>
              <a:ea typeface="Calibri"/>
              <a:cs typeface="Calibri"/>
              <a:sym typeface="Calibri"/>
            </a:endParaRPr>
          </a:p>
        </p:txBody>
      </p:sp>
      <p:sp>
        <p:nvSpPr>
          <p:cNvPr id="2987" name="Google Shape;2987;p114"/>
          <p:cNvSpPr/>
          <p:nvPr/>
        </p:nvSpPr>
        <p:spPr>
          <a:xfrm>
            <a:off x="5843328" y="2173986"/>
            <a:ext cx="219600" cy="219600"/>
          </a:xfrm>
          <a:prstGeom prst="ellipse">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988" name="Google Shape;2988;p114"/>
          <p:cNvSpPr/>
          <p:nvPr/>
        </p:nvSpPr>
        <p:spPr>
          <a:xfrm>
            <a:off x="5843328" y="2173986"/>
            <a:ext cx="219600" cy="2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2</a:t>
            </a:r>
            <a:endParaRPr sz="800">
              <a:solidFill>
                <a:schemeClr val="dk1"/>
              </a:solidFill>
              <a:latin typeface="Calibri"/>
              <a:ea typeface="Calibri"/>
              <a:cs typeface="Calibri"/>
              <a:sym typeface="Calibri"/>
            </a:endParaRPr>
          </a:p>
        </p:txBody>
      </p:sp>
      <p:sp>
        <p:nvSpPr>
          <p:cNvPr id="2989" name="Google Shape;2989;p114"/>
          <p:cNvSpPr/>
          <p:nvPr/>
        </p:nvSpPr>
        <p:spPr>
          <a:xfrm>
            <a:off x="6145096" y="2146554"/>
            <a:ext cx="2423100" cy="41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B3E"/>
              </a:buClr>
              <a:buSzPts val="900"/>
              <a:buFont typeface="Arial"/>
              <a:buNone/>
            </a:pPr>
            <a:r>
              <a:rPr lang="en-GB" sz="900">
                <a:solidFill>
                  <a:srgbClr val="1C2B3E"/>
                </a:solidFill>
                <a:latin typeface="Arial"/>
                <a:ea typeface="Arial"/>
                <a:cs typeface="Arial"/>
                <a:sym typeface="Arial"/>
              </a:rPr>
              <a:t>Stock Entry — Material Receipt/Issue/Transfer; item, warehouse, qty, UOM, batch/SN, date, reason → ledger impact</a:t>
            </a:r>
            <a:endParaRPr sz="900">
              <a:solidFill>
                <a:schemeClr val="dk1"/>
              </a:solidFill>
              <a:latin typeface="Calibri"/>
              <a:ea typeface="Calibri"/>
              <a:cs typeface="Calibri"/>
              <a:sym typeface="Calibri"/>
            </a:endParaRPr>
          </a:p>
        </p:txBody>
      </p:sp>
      <p:sp>
        <p:nvSpPr>
          <p:cNvPr id="2990" name="Google Shape;2990;p114"/>
          <p:cNvSpPr/>
          <p:nvPr/>
        </p:nvSpPr>
        <p:spPr>
          <a:xfrm>
            <a:off x="5843328" y="2585466"/>
            <a:ext cx="219600" cy="219600"/>
          </a:xfrm>
          <a:prstGeom prst="ellipse">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991" name="Google Shape;2991;p114"/>
          <p:cNvSpPr/>
          <p:nvPr/>
        </p:nvSpPr>
        <p:spPr>
          <a:xfrm>
            <a:off x="5843328" y="2585466"/>
            <a:ext cx="219600" cy="2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3</a:t>
            </a:r>
            <a:endParaRPr sz="800">
              <a:solidFill>
                <a:schemeClr val="dk1"/>
              </a:solidFill>
              <a:latin typeface="Calibri"/>
              <a:ea typeface="Calibri"/>
              <a:cs typeface="Calibri"/>
              <a:sym typeface="Calibri"/>
            </a:endParaRPr>
          </a:p>
        </p:txBody>
      </p:sp>
      <p:sp>
        <p:nvSpPr>
          <p:cNvPr id="2992" name="Google Shape;2992;p114"/>
          <p:cNvSpPr/>
          <p:nvPr/>
        </p:nvSpPr>
        <p:spPr>
          <a:xfrm>
            <a:off x="6145096" y="2558034"/>
            <a:ext cx="2423100" cy="41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B3E"/>
              </a:buClr>
              <a:buSzPts val="900"/>
              <a:buFont typeface="Arial"/>
              <a:buNone/>
            </a:pPr>
            <a:r>
              <a:rPr lang="en-GB" sz="900">
                <a:solidFill>
                  <a:srgbClr val="1C2B3E"/>
                </a:solidFill>
                <a:latin typeface="Arial"/>
                <a:ea typeface="Arial"/>
                <a:cs typeface="Arial"/>
                <a:sym typeface="Arial"/>
              </a:rPr>
              <a:t>Stock Reconciliation — counted qty per item/warehouse/batch; validate, review variance, submit → audit trail</a:t>
            </a:r>
            <a:endParaRPr sz="900">
              <a:solidFill>
                <a:schemeClr val="dk1"/>
              </a:solidFill>
              <a:latin typeface="Calibri"/>
              <a:ea typeface="Calibri"/>
              <a:cs typeface="Calibri"/>
              <a:sym typeface="Calibri"/>
            </a:endParaRPr>
          </a:p>
        </p:txBody>
      </p:sp>
      <p:sp>
        <p:nvSpPr>
          <p:cNvPr id="2993" name="Google Shape;2993;p114"/>
          <p:cNvSpPr/>
          <p:nvPr/>
        </p:nvSpPr>
        <p:spPr>
          <a:xfrm>
            <a:off x="5843328" y="2996946"/>
            <a:ext cx="219600" cy="219600"/>
          </a:xfrm>
          <a:prstGeom prst="ellipse">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994" name="Google Shape;2994;p114"/>
          <p:cNvSpPr/>
          <p:nvPr/>
        </p:nvSpPr>
        <p:spPr>
          <a:xfrm>
            <a:off x="5843328" y="2996946"/>
            <a:ext cx="219600" cy="2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4</a:t>
            </a:r>
            <a:endParaRPr sz="800">
              <a:solidFill>
                <a:schemeClr val="dk1"/>
              </a:solidFill>
              <a:latin typeface="Calibri"/>
              <a:ea typeface="Calibri"/>
              <a:cs typeface="Calibri"/>
              <a:sym typeface="Calibri"/>
            </a:endParaRPr>
          </a:p>
        </p:txBody>
      </p:sp>
      <p:sp>
        <p:nvSpPr>
          <p:cNvPr id="2995" name="Google Shape;2995;p114"/>
          <p:cNvSpPr/>
          <p:nvPr/>
        </p:nvSpPr>
        <p:spPr>
          <a:xfrm>
            <a:off x="6145096" y="2969514"/>
            <a:ext cx="2423100" cy="41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B3E"/>
              </a:buClr>
              <a:buSzPts val="900"/>
              <a:buFont typeface="Arial"/>
              <a:buNone/>
            </a:pPr>
            <a:r>
              <a:rPr lang="en-GB" sz="900">
                <a:solidFill>
                  <a:srgbClr val="1C2B3E"/>
                </a:solidFill>
                <a:latin typeface="Arial"/>
                <a:ea typeface="Arial"/>
                <a:cs typeface="Arial"/>
                <a:sym typeface="Arial"/>
              </a:rPr>
              <a:t>Bulk path — CSV upload, row validation, partial import, downloadable error report</a:t>
            </a:r>
            <a:endParaRPr sz="900">
              <a:solidFill>
                <a:schemeClr val="dk1"/>
              </a:solidFill>
              <a:latin typeface="Calibri"/>
              <a:ea typeface="Calibri"/>
              <a:cs typeface="Calibri"/>
              <a:sym typeface="Calibri"/>
            </a:endParaRPr>
          </a:p>
        </p:txBody>
      </p:sp>
      <p:sp>
        <p:nvSpPr>
          <p:cNvPr id="2996" name="Google Shape;2996;p114"/>
          <p:cNvSpPr/>
          <p:nvPr/>
        </p:nvSpPr>
        <p:spPr>
          <a:xfrm>
            <a:off x="5843328" y="3408426"/>
            <a:ext cx="219600" cy="219600"/>
          </a:xfrm>
          <a:prstGeom prst="ellipse">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997" name="Google Shape;2997;p114"/>
          <p:cNvSpPr/>
          <p:nvPr/>
        </p:nvSpPr>
        <p:spPr>
          <a:xfrm>
            <a:off x="5843328" y="3408426"/>
            <a:ext cx="219600" cy="2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5</a:t>
            </a:r>
            <a:endParaRPr sz="800">
              <a:solidFill>
                <a:schemeClr val="dk1"/>
              </a:solidFill>
              <a:latin typeface="Calibri"/>
              <a:ea typeface="Calibri"/>
              <a:cs typeface="Calibri"/>
              <a:sym typeface="Calibri"/>
            </a:endParaRPr>
          </a:p>
        </p:txBody>
      </p:sp>
      <p:sp>
        <p:nvSpPr>
          <p:cNvPr id="2998" name="Google Shape;2998;p114"/>
          <p:cNvSpPr/>
          <p:nvPr/>
        </p:nvSpPr>
        <p:spPr>
          <a:xfrm>
            <a:off x="6145096" y="3380994"/>
            <a:ext cx="2423100" cy="41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B3E"/>
              </a:buClr>
              <a:buSzPts val="900"/>
              <a:buFont typeface="Arial"/>
              <a:buNone/>
            </a:pPr>
            <a:r>
              <a:rPr lang="en-GB" sz="900">
                <a:solidFill>
                  <a:srgbClr val="1C2B3E"/>
                </a:solidFill>
                <a:latin typeface="Arial"/>
                <a:ea typeface="Arial"/>
                <a:cs typeface="Arial"/>
                <a:sym typeface="Arial"/>
              </a:rPr>
              <a:t>Deployment boundary — ERP source of truth syncs to MAIA; no-ERP means MAIA owns the stock ledger</a:t>
            </a:r>
            <a:endParaRPr sz="900">
              <a:solidFill>
                <a:schemeClr val="dk1"/>
              </a:solidFill>
              <a:latin typeface="Calibri"/>
              <a:ea typeface="Calibri"/>
              <a:cs typeface="Calibri"/>
              <a:sym typeface="Calibri"/>
            </a:endParaRPr>
          </a:p>
        </p:txBody>
      </p:sp>
      <p:sp>
        <p:nvSpPr>
          <p:cNvPr id="2999" name="Google Shape;2999;p114"/>
          <p:cNvSpPr/>
          <p:nvPr/>
        </p:nvSpPr>
        <p:spPr>
          <a:xfrm>
            <a:off x="411502" y="3943350"/>
            <a:ext cx="8321400" cy="720000"/>
          </a:xfrm>
          <a:prstGeom prst="roundRect">
            <a:avLst>
              <a:gd fmla="val 11429" name="adj"/>
            </a:avLst>
          </a:prstGeom>
          <a:solidFill>
            <a:srgbClr val="FBEBD9"/>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000" name="Google Shape;3000;p114"/>
          <p:cNvSpPr/>
          <p:nvPr/>
        </p:nvSpPr>
        <p:spPr>
          <a:xfrm>
            <a:off x="562386" y="4094226"/>
            <a:ext cx="342900" cy="342900"/>
          </a:xfrm>
          <a:prstGeom prst="roundRect">
            <a:avLst>
              <a:gd fmla="val 22000" name="adj"/>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MessageCircle_white.png" id="3001" name="Google Shape;3001;p114"/>
          <p:cNvPicPr preferRelativeResize="0"/>
          <p:nvPr/>
        </p:nvPicPr>
        <p:blipFill rotWithShape="1">
          <a:blip r:embed="rId6">
            <a:alphaModFix/>
          </a:blip>
          <a:srcRect b="0" l="0" r="0" t="0"/>
          <a:stretch/>
        </p:blipFill>
        <p:spPr>
          <a:xfrm>
            <a:off x="639543" y="4171379"/>
            <a:ext cx="188595" cy="188595"/>
          </a:xfrm>
          <a:prstGeom prst="rect">
            <a:avLst/>
          </a:prstGeom>
          <a:noFill/>
          <a:ln>
            <a:noFill/>
          </a:ln>
        </p:spPr>
      </p:pic>
      <p:sp>
        <p:nvSpPr>
          <p:cNvPr id="3002" name="Google Shape;3002;p114"/>
          <p:cNvSpPr/>
          <p:nvPr/>
        </p:nvSpPr>
        <p:spPr>
          <a:xfrm>
            <a:off x="1028755" y="4039362"/>
            <a:ext cx="7532400" cy="5280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1C2B3E"/>
              </a:buClr>
              <a:buSzPts val="1000"/>
              <a:buFont typeface="Arial"/>
              <a:buNone/>
            </a:pPr>
            <a:r>
              <a:rPr i="1" lang="en-GB" sz="1000">
                <a:solidFill>
                  <a:srgbClr val="1C2B3E"/>
                </a:solidFill>
                <a:latin typeface="Arial"/>
                <a:ea typeface="Arial"/>
                <a:cs typeface="Arial"/>
                <a:sym typeface="Arial"/>
              </a:rPr>
              <a:t>Boundary: inventory adjustments require permission. Never fix stock by editing delivered orders or invoices.</a:t>
            </a:r>
            <a:endParaRPr sz="1000">
              <a:solidFill>
                <a:schemeClr val="dk1"/>
              </a:solidFill>
              <a:latin typeface="Calibri"/>
              <a:ea typeface="Calibri"/>
              <a:cs typeface="Calibri"/>
              <a:sym typeface="Calibri"/>
            </a:endParaRPr>
          </a:p>
        </p:txBody>
      </p:sp>
      <p:sp>
        <p:nvSpPr>
          <p:cNvPr id="3003" name="Google Shape;3003;p114"/>
          <p:cNvSpPr/>
          <p:nvPr/>
        </p:nvSpPr>
        <p:spPr>
          <a:xfrm>
            <a:off x="411502" y="4869180"/>
            <a:ext cx="54867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700"/>
              <a:buFont typeface="Arial"/>
              <a:buNone/>
            </a:pPr>
            <a:r>
              <a:rPr lang="en-GB" sz="700">
                <a:solidFill>
                  <a:srgbClr val="94A3B8"/>
                </a:solidFill>
                <a:latin typeface="Arial"/>
                <a:ea typeface="Arial"/>
                <a:cs typeface="Arial"/>
                <a:sym typeface="Arial"/>
              </a:rPr>
              <a:t>APPENDIX</a:t>
            </a:r>
            <a:endParaRPr sz="700">
              <a:solidFill>
                <a:schemeClr val="dk1"/>
              </a:solidFill>
              <a:latin typeface="Calibri"/>
              <a:ea typeface="Calibri"/>
              <a:cs typeface="Calibri"/>
              <a:sym typeface="Calibri"/>
            </a:endParaRPr>
          </a:p>
        </p:txBody>
      </p:sp>
      <p:sp>
        <p:nvSpPr>
          <p:cNvPr id="3004" name="Google Shape;3004;p114"/>
          <p:cNvSpPr/>
          <p:nvPr/>
        </p:nvSpPr>
        <p:spPr>
          <a:xfrm>
            <a:off x="7361084" y="4869180"/>
            <a:ext cx="1371600" cy="205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700"/>
              <a:buFont typeface="Arial"/>
              <a:buNone/>
            </a:pPr>
            <a:r>
              <a:rPr lang="en-GB" sz="700">
                <a:solidFill>
                  <a:srgbClr val="94A3B8"/>
                </a:solidFill>
                <a:latin typeface="Arial"/>
                <a:ea typeface="Arial"/>
                <a:cs typeface="Arial"/>
                <a:sym typeface="Arial"/>
              </a:rPr>
              <a:t>82 / 82</a:t>
            </a:r>
            <a:endParaRPr sz="700">
              <a:solidFill>
                <a:schemeClr val="dk1"/>
              </a:solidFill>
              <a:latin typeface="Calibri"/>
              <a:ea typeface="Calibri"/>
              <a:cs typeface="Calibri"/>
              <a:sym typeface="Calibri"/>
            </a:endParaRPr>
          </a:p>
        </p:txBody>
      </p:sp>
      <p:sp>
        <p:nvSpPr>
          <p:cNvPr id="3005" name="Google Shape;3005;p114"/>
          <p:cNvSpPr txBox="1"/>
          <p:nvPr>
            <p:ph idx="12" type="sldNum"/>
          </p:nvPr>
        </p:nvSpPr>
        <p:spPr>
          <a:xfrm>
            <a:off x="8347216" y="4750189"/>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3010" name="Shape 3010"/>
        <p:cNvGrpSpPr/>
        <p:nvPr/>
      </p:nvGrpSpPr>
      <p:grpSpPr>
        <a:xfrm>
          <a:off x="0" y="0"/>
          <a:ext cx="0" cy="0"/>
          <a:chOff x="0" y="0"/>
          <a:chExt cx="0" cy="0"/>
        </a:xfrm>
      </p:grpSpPr>
      <p:sp>
        <p:nvSpPr>
          <p:cNvPr id="3011" name="Google Shape;3011;p115"/>
          <p:cNvSpPr/>
          <p:nvPr/>
        </p:nvSpPr>
        <p:spPr>
          <a:xfrm>
            <a:off x="411502" y="260604"/>
            <a:ext cx="68583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SECTION 1</a:t>
            </a:r>
            <a:endParaRPr sz="800">
              <a:solidFill>
                <a:schemeClr val="dk1"/>
              </a:solidFill>
              <a:latin typeface="Calibri"/>
              <a:ea typeface="Calibri"/>
              <a:cs typeface="Calibri"/>
              <a:sym typeface="Calibri"/>
            </a:endParaRPr>
          </a:p>
        </p:txBody>
      </p:sp>
      <p:sp>
        <p:nvSpPr>
          <p:cNvPr id="3012" name="Google Shape;3012;p115"/>
          <p:cNvSpPr/>
          <p:nvPr/>
        </p:nvSpPr>
        <p:spPr>
          <a:xfrm>
            <a:off x="411502" y="438912"/>
            <a:ext cx="8321400" cy="480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C2B3E"/>
              </a:buClr>
              <a:buSzPts val="2200"/>
              <a:buFont typeface="Arial"/>
              <a:buNone/>
            </a:pPr>
            <a:r>
              <a:rPr b="1" lang="en-GB" sz="2200">
                <a:solidFill>
                  <a:srgbClr val="1C2B3E"/>
                </a:solidFill>
                <a:latin typeface="Arial"/>
                <a:ea typeface="Arial"/>
                <a:cs typeface="Arial"/>
                <a:sym typeface="Arial"/>
              </a:rPr>
              <a:t>MAIA meets you where you work.</a:t>
            </a:r>
            <a:endParaRPr sz="2200">
              <a:solidFill>
                <a:schemeClr val="dk1"/>
              </a:solidFill>
              <a:latin typeface="Calibri"/>
              <a:ea typeface="Calibri"/>
              <a:cs typeface="Calibri"/>
              <a:sym typeface="Calibri"/>
            </a:endParaRPr>
          </a:p>
        </p:txBody>
      </p:sp>
      <p:sp>
        <p:nvSpPr>
          <p:cNvPr id="3013" name="Google Shape;3013;p115"/>
          <p:cNvSpPr/>
          <p:nvPr/>
        </p:nvSpPr>
        <p:spPr>
          <a:xfrm>
            <a:off x="411502" y="932688"/>
            <a:ext cx="8321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D"/>
              </a:buClr>
              <a:buSzPts val="1100"/>
              <a:buFont typeface="Arial"/>
              <a:buNone/>
            </a:pPr>
            <a:r>
              <a:rPr lang="en-GB" sz="1100">
                <a:solidFill>
                  <a:srgbClr val="5B6B7D"/>
                </a:solidFill>
                <a:latin typeface="Arial"/>
                <a:ea typeface="Arial"/>
                <a:cs typeface="Arial"/>
                <a:sym typeface="Arial"/>
              </a:rPr>
              <a:t>Your system stays. MAIA adds the workflow layer.</a:t>
            </a:r>
            <a:endParaRPr sz="1100">
              <a:solidFill>
                <a:schemeClr val="dk1"/>
              </a:solidFill>
              <a:latin typeface="Calibri"/>
              <a:ea typeface="Calibri"/>
              <a:cs typeface="Calibri"/>
              <a:sym typeface="Calibri"/>
            </a:endParaRPr>
          </a:p>
        </p:txBody>
      </p:sp>
      <p:sp>
        <p:nvSpPr>
          <p:cNvPr id="3014" name="Google Shape;3014;p115"/>
          <p:cNvSpPr/>
          <p:nvPr/>
        </p:nvSpPr>
        <p:spPr>
          <a:xfrm>
            <a:off x="411502" y="1337310"/>
            <a:ext cx="4286400" cy="768000"/>
          </a:xfrm>
          <a:prstGeom prst="roundRect">
            <a:avLst>
              <a:gd fmla="val 8929" name="adj"/>
            </a:avLst>
          </a:prstGeom>
          <a:solidFill>
            <a:srgbClr val="F5F7FA"/>
          </a:solidFill>
          <a:ln>
            <a:noFill/>
          </a:ln>
          <a:effectLst>
            <a:outerShdw blurRad="101600" rotWithShape="0" algn="bl" dir="5400000" dist="38100">
              <a:srgbClr val="1C2B3E">
                <a:alpha val="1019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015" name="Google Shape;3015;p115"/>
          <p:cNvSpPr/>
          <p:nvPr/>
        </p:nvSpPr>
        <p:spPr>
          <a:xfrm>
            <a:off x="576103" y="1433322"/>
            <a:ext cx="3957300" cy="233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1100"/>
              <a:buFont typeface="Arial"/>
              <a:buNone/>
            </a:pPr>
            <a:r>
              <a:rPr b="1" lang="en-GB" sz="1100">
                <a:solidFill>
                  <a:srgbClr val="1C2B3E"/>
                </a:solidFill>
                <a:latin typeface="Arial"/>
                <a:ea typeface="Arial"/>
                <a:cs typeface="Arial"/>
                <a:sym typeface="Arial"/>
              </a:rPr>
              <a:t>Familiar Channels</a:t>
            </a:r>
            <a:endParaRPr sz="1100">
              <a:solidFill>
                <a:schemeClr val="dk1"/>
              </a:solidFill>
              <a:latin typeface="Calibri"/>
              <a:ea typeface="Calibri"/>
              <a:cs typeface="Calibri"/>
              <a:sym typeface="Calibri"/>
            </a:endParaRPr>
          </a:p>
        </p:txBody>
      </p:sp>
      <p:sp>
        <p:nvSpPr>
          <p:cNvPr id="3016" name="Google Shape;3016;p115"/>
          <p:cNvSpPr/>
          <p:nvPr/>
        </p:nvSpPr>
        <p:spPr>
          <a:xfrm>
            <a:off x="576103" y="1748790"/>
            <a:ext cx="891600" cy="246900"/>
          </a:xfrm>
          <a:prstGeom prst="roundRect">
            <a:avLst>
              <a:gd fmla="val 50000"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017" name="Google Shape;3017;p115"/>
          <p:cNvSpPr/>
          <p:nvPr/>
        </p:nvSpPr>
        <p:spPr>
          <a:xfrm>
            <a:off x="576103" y="1748790"/>
            <a:ext cx="891600" cy="246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WhatsApp</a:t>
            </a:r>
            <a:endParaRPr sz="800">
              <a:solidFill>
                <a:schemeClr val="dk1"/>
              </a:solidFill>
              <a:latin typeface="Calibri"/>
              <a:ea typeface="Calibri"/>
              <a:cs typeface="Calibri"/>
              <a:sym typeface="Calibri"/>
            </a:endParaRPr>
          </a:p>
        </p:txBody>
      </p:sp>
      <p:sp>
        <p:nvSpPr>
          <p:cNvPr id="3018" name="Google Shape;3018;p115"/>
          <p:cNvSpPr/>
          <p:nvPr/>
        </p:nvSpPr>
        <p:spPr>
          <a:xfrm>
            <a:off x="1549991" y="1748790"/>
            <a:ext cx="891600" cy="246900"/>
          </a:xfrm>
          <a:prstGeom prst="roundRect">
            <a:avLst>
              <a:gd fmla="val 50000"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019" name="Google Shape;3019;p115"/>
          <p:cNvSpPr/>
          <p:nvPr/>
        </p:nvSpPr>
        <p:spPr>
          <a:xfrm>
            <a:off x="1549991" y="1748790"/>
            <a:ext cx="891600" cy="246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Telegram</a:t>
            </a:r>
            <a:endParaRPr sz="800">
              <a:solidFill>
                <a:schemeClr val="dk1"/>
              </a:solidFill>
              <a:latin typeface="Calibri"/>
              <a:ea typeface="Calibri"/>
              <a:cs typeface="Calibri"/>
              <a:sym typeface="Calibri"/>
            </a:endParaRPr>
          </a:p>
        </p:txBody>
      </p:sp>
      <p:sp>
        <p:nvSpPr>
          <p:cNvPr id="3020" name="Google Shape;3020;p115"/>
          <p:cNvSpPr/>
          <p:nvPr/>
        </p:nvSpPr>
        <p:spPr>
          <a:xfrm>
            <a:off x="2523879" y="1748790"/>
            <a:ext cx="891600" cy="246900"/>
          </a:xfrm>
          <a:prstGeom prst="roundRect">
            <a:avLst>
              <a:gd fmla="val 50000" name="adj"/>
            </a:avLst>
          </a:prstGeom>
          <a:solidFill>
            <a:srgbClr val="FFFFFF"/>
          </a:solidFill>
          <a:ln cap="flat" cmpd="sng" w="12700">
            <a:solidFill>
              <a:srgbClr val="E3E8EF"/>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021" name="Google Shape;3021;p115"/>
          <p:cNvSpPr/>
          <p:nvPr/>
        </p:nvSpPr>
        <p:spPr>
          <a:xfrm>
            <a:off x="2523879" y="1748790"/>
            <a:ext cx="891600" cy="246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800"/>
              <a:buFont typeface="Arial"/>
              <a:buNone/>
            </a:pPr>
            <a:r>
              <a:rPr b="1" lang="en-GB" sz="800">
                <a:solidFill>
                  <a:srgbClr val="94A3B8"/>
                </a:solidFill>
                <a:latin typeface="Arial"/>
                <a:ea typeface="Arial"/>
                <a:cs typeface="Arial"/>
                <a:sym typeface="Arial"/>
              </a:rPr>
              <a:t>Email*</a:t>
            </a:r>
            <a:endParaRPr sz="800">
              <a:solidFill>
                <a:schemeClr val="dk1"/>
              </a:solidFill>
              <a:latin typeface="Calibri"/>
              <a:ea typeface="Calibri"/>
              <a:cs typeface="Calibri"/>
              <a:sym typeface="Calibri"/>
            </a:endParaRPr>
          </a:p>
        </p:txBody>
      </p:sp>
      <p:sp>
        <p:nvSpPr>
          <p:cNvPr id="3022" name="Google Shape;3022;p115"/>
          <p:cNvSpPr/>
          <p:nvPr/>
        </p:nvSpPr>
        <p:spPr>
          <a:xfrm>
            <a:off x="3497766" y="1748790"/>
            <a:ext cx="891600" cy="246900"/>
          </a:xfrm>
          <a:prstGeom prst="roundRect">
            <a:avLst>
              <a:gd fmla="val 50000" name="adj"/>
            </a:avLst>
          </a:prstGeom>
          <a:solidFill>
            <a:srgbClr val="FFFFFF"/>
          </a:solidFill>
          <a:ln cap="flat" cmpd="sng" w="12700">
            <a:solidFill>
              <a:srgbClr val="E3E8EF"/>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023" name="Google Shape;3023;p115"/>
          <p:cNvSpPr/>
          <p:nvPr/>
        </p:nvSpPr>
        <p:spPr>
          <a:xfrm>
            <a:off x="3497766" y="1748790"/>
            <a:ext cx="891600" cy="246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800"/>
              <a:buFont typeface="Arial"/>
              <a:buNone/>
            </a:pPr>
            <a:r>
              <a:rPr b="1" lang="en-GB" sz="800">
                <a:solidFill>
                  <a:srgbClr val="94A3B8"/>
                </a:solidFill>
                <a:latin typeface="Arial"/>
                <a:ea typeface="Arial"/>
                <a:cs typeface="Arial"/>
                <a:sym typeface="Arial"/>
              </a:rPr>
              <a:t>Teams*</a:t>
            </a:r>
            <a:endParaRPr sz="800">
              <a:solidFill>
                <a:schemeClr val="dk1"/>
              </a:solidFill>
              <a:latin typeface="Calibri"/>
              <a:ea typeface="Calibri"/>
              <a:cs typeface="Calibri"/>
              <a:sym typeface="Calibri"/>
            </a:endParaRPr>
          </a:p>
        </p:txBody>
      </p:sp>
      <p:pic>
        <p:nvPicPr>
          <p:cNvPr descr="/home/claude/maia/icons/FiRepeat_accent.png" id="3024" name="Google Shape;3024;p115"/>
          <p:cNvPicPr preferRelativeResize="0"/>
          <p:nvPr/>
        </p:nvPicPr>
        <p:blipFill rotWithShape="1">
          <a:blip r:embed="rId3">
            <a:alphaModFix/>
          </a:blip>
          <a:srcRect b="0" l="0" r="0" t="0"/>
          <a:stretch/>
        </p:blipFill>
        <p:spPr>
          <a:xfrm>
            <a:off x="2465582" y="2125980"/>
            <a:ext cx="178308" cy="178308"/>
          </a:xfrm>
          <a:prstGeom prst="rect">
            <a:avLst/>
          </a:prstGeom>
          <a:noFill/>
          <a:ln>
            <a:noFill/>
          </a:ln>
        </p:spPr>
      </p:pic>
      <p:sp>
        <p:nvSpPr>
          <p:cNvPr id="3025" name="Google Shape;3025;p115"/>
          <p:cNvSpPr/>
          <p:nvPr/>
        </p:nvSpPr>
        <p:spPr>
          <a:xfrm>
            <a:off x="411502" y="2324862"/>
            <a:ext cx="4286400" cy="768000"/>
          </a:xfrm>
          <a:prstGeom prst="roundRect">
            <a:avLst>
              <a:gd fmla="val 8929" name="adj"/>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026" name="Google Shape;3026;p115"/>
          <p:cNvSpPr/>
          <p:nvPr/>
        </p:nvSpPr>
        <p:spPr>
          <a:xfrm>
            <a:off x="576103" y="2420874"/>
            <a:ext cx="3957300" cy="233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Arial"/>
              <a:buNone/>
            </a:pPr>
            <a:r>
              <a:rPr b="1" lang="en-GB" sz="1100">
                <a:solidFill>
                  <a:srgbClr val="FFFFFF"/>
                </a:solidFill>
                <a:latin typeface="Arial"/>
                <a:ea typeface="Arial"/>
                <a:cs typeface="Arial"/>
                <a:sym typeface="Arial"/>
              </a:rPr>
              <a:t>MAIA</a:t>
            </a:r>
            <a:endParaRPr sz="1100">
              <a:solidFill>
                <a:schemeClr val="dk1"/>
              </a:solidFill>
              <a:latin typeface="Calibri"/>
              <a:ea typeface="Calibri"/>
              <a:cs typeface="Calibri"/>
              <a:sym typeface="Calibri"/>
            </a:endParaRPr>
          </a:p>
        </p:txBody>
      </p:sp>
      <p:sp>
        <p:nvSpPr>
          <p:cNvPr id="3027" name="Google Shape;3027;p115"/>
          <p:cNvSpPr/>
          <p:nvPr/>
        </p:nvSpPr>
        <p:spPr>
          <a:xfrm>
            <a:off x="576103" y="2708910"/>
            <a:ext cx="3957300" cy="233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Arial"/>
              <a:buNone/>
            </a:pPr>
            <a:r>
              <a:rPr lang="en-GB" sz="900">
                <a:solidFill>
                  <a:srgbClr val="FFFFFF"/>
                </a:solidFill>
                <a:latin typeface="Arial"/>
                <a:ea typeface="Arial"/>
                <a:cs typeface="Arial"/>
                <a:sym typeface="Arial"/>
              </a:rPr>
              <a:t>capture  ·  validate  ·  route  ·  audit</a:t>
            </a:r>
            <a:endParaRPr sz="900">
              <a:solidFill>
                <a:schemeClr val="dk1"/>
              </a:solidFill>
              <a:latin typeface="Calibri"/>
              <a:ea typeface="Calibri"/>
              <a:cs typeface="Calibri"/>
              <a:sym typeface="Calibri"/>
            </a:endParaRPr>
          </a:p>
        </p:txBody>
      </p:sp>
      <p:pic>
        <p:nvPicPr>
          <p:cNvPr descr="/home/claude/maia/icons/FiRepeat_accent.png" id="3028" name="Google Shape;3028;p115"/>
          <p:cNvPicPr preferRelativeResize="0"/>
          <p:nvPr/>
        </p:nvPicPr>
        <p:blipFill rotWithShape="1">
          <a:blip r:embed="rId3">
            <a:alphaModFix/>
          </a:blip>
          <a:srcRect b="0" l="0" r="0" t="0"/>
          <a:stretch/>
        </p:blipFill>
        <p:spPr>
          <a:xfrm>
            <a:off x="2465582" y="3113532"/>
            <a:ext cx="178308" cy="178308"/>
          </a:xfrm>
          <a:prstGeom prst="rect">
            <a:avLst/>
          </a:prstGeom>
          <a:noFill/>
          <a:ln>
            <a:noFill/>
          </a:ln>
        </p:spPr>
      </p:pic>
      <p:sp>
        <p:nvSpPr>
          <p:cNvPr id="3029" name="Google Shape;3029;p115"/>
          <p:cNvSpPr/>
          <p:nvPr/>
        </p:nvSpPr>
        <p:spPr>
          <a:xfrm>
            <a:off x="411502" y="3312414"/>
            <a:ext cx="4286400" cy="768000"/>
          </a:xfrm>
          <a:prstGeom prst="roundRect">
            <a:avLst>
              <a:gd fmla="val 8929"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030" name="Google Shape;3030;p115"/>
          <p:cNvSpPr/>
          <p:nvPr/>
        </p:nvSpPr>
        <p:spPr>
          <a:xfrm>
            <a:off x="576103" y="3408426"/>
            <a:ext cx="3957300" cy="233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Arial"/>
              <a:buNone/>
            </a:pPr>
            <a:r>
              <a:rPr b="1" lang="en-GB" sz="1100">
                <a:solidFill>
                  <a:srgbClr val="FFFFFF"/>
                </a:solidFill>
                <a:latin typeface="Arial"/>
                <a:ea typeface="Arial"/>
                <a:cs typeface="Arial"/>
                <a:sym typeface="Arial"/>
              </a:rPr>
              <a:t>Your ERP / Accounting</a:t>
            </a:r>
            <a:endParaRPr sz="1100">
              <a:solidFill>
                <a:schemeClr val="dk1"/>
              </a:solidFill>
              <a:latin typeface="Calibri"/>
              <a:ea typeface="Calibri"/>
              <a:cs typeface="Calibri"/>
              <a:sym typeface="Calibri"/>
            </a:endParaRPr>
          </a:p>
        </p:txBody>
      </p:sp>
      <p:sp>
        <p:nvSpPr>
          <p:cNvPr id="3031" name="Google Shape;3031;p115"/>
          <p:cNvSpPr/>
          <p:nvPr/>
        </p:nvSpPr>
        <p:spPr>
          <a:xfrm>
            <a:off x="576103" y="3723894"/>
            <a:ext cx="891600" cy="246900"/>
          </a:xfrm>
          <a:prstGeom prst="roundRect">
            <a:avLst>
              <a:gd fmla="val 50000" name="adj"/>
            </a:avLst>
          </a:prstGeom>
          <a:solidFill>
            <a:srgbClr val="32495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032" name="Google Shape;3032;p115"/>
          <p:cNvSpPr/>
          <p:nvPr/>
        </p:nvSpPr>
        <p:spPr>
          <a:xfrm>
            <a:off x="576103" y="3723894"/>
            <a:ext cx="891600" cy="246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2A6BE"/>
              </a:buClr>
              <a:buSzPts val="800"/>
              <a:buFont typeface="Arial"/>
              <a:buNone/>
            </a:pPr>
            <a:r>
              <a:rPr b="1" lang="en-GB" sz="800">
                <a:solidFill>
                  <a:srgbClr val="92A6BE"/>
                </a:solidFill>
                <a:latin typeface="Arial"/>
                <a:ea typeface="Arial"/>
                <a:cs typeface="Arial"/>
                <a:sym typeface="Arial"/>
              </a:rPr>
              <a:t>AutoCount</a:t>
            </a:r>
            <a:endParaRPr sz="800">
              <a:solidFill>
                <a:schemeClr val="dk1"/>
              </a:solidFill>
              <a:latin typeface="Calibri"/>
              <a:ea typeface="Calibri"/>
              <a:cs typeface="Calibri"/>
              <a:sym typeface="Calibri"/>
            </a:endParaRPr>
          </a:p>
        </p:txBody>
      </p:sp>
      <p:sp>
        <p:nvSpPr>
          <p:cNvPr id="3033" name="Google Shape;3033;p115"/>
          <p:cNvSpPr/>
          <p:nvPr/>
        </p:nvSpPr>
        <p:spPr>
          <a:xfrm>
            <a:off x="1549991" y="3723894"/>
            <a:ext cx="891600" cy="246900"/>
          </a:xfrm>
          <a:prstGeom prst="roundRect">
            <a:avLst>
              <a:gd fmla="val 50000" name="adj"/>
            </a:avLst>
          </a:prstGeom>
          <a:solidFill>
            <a:srgbClr val="32495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034" name="Google Shape;3034;p115"/>
          <p:cNvSpPr/>
          <p:nvPr/>
        </p:nvSpPr>
        <p:spPr>
          <a:xfrm>
            <a:off x="1549991" y="3723894"/>
            <a:ext cx="891600" cy="246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2A6BE"/>
              </a:buClr>
              <a:buSzPts val="800"/>
              <a:buFont typeface="Arial"/>
              <a:buNone/>
            </a:pPr>
            <a:r>
              <a:rPr b="1" lang="en-GB" sz="800">
                <a:solidFill>
                  <a:srgbClr val="92A6BE"/>
                </a:solidFill>
                <a:latin typeface="Arial"/>
                <a:ea typeface="Arial"/>
                <a:cs typeface="Arial"/>
                <a:sym typeface="Arial"/>
              </a:rPr>
              <a:t>SQL</a:t>
            </a:r>
            <a:endParaRPr sz="800">
              <a:solidFill>
                <a:schemeClr val="dk1"/>
              </a:solidFill>
              <a:latin typeface="Calibri"/>
              <a:ea typeface="Calibri"/>
              <a:cs typeface="Calibri"/>
              <a:sym typeface="Calibri"/>
            </a:endParaRPr>
          </a:p>
        </p:txBody>
      </p:sp>
      <p:sp>
        <p:nvSpPr>
          <p:cNvPr id="3035" name="Google Shape;3035;p115"/>
          <p:cNvSpPr/>
          <p:nvPr/>
        </p:nvSpPr>
        <p:spPr>
          <a:xfrm>
            <a:off x="2523879" y="3723894"/>
            <a:ext cx="891600" cy="246900"/>
          </a:xfrm>
          <a:prstGeom prst="roundRect">
            <a:avLst>
              <a:gd fmla="val 50000" name="adj"/>
            </a:avLst>
          </a:prstGeom>
          <a:solidFill>
            <a:srgbClr val="32495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036" name="Google Shape;3036;p115"/>
          <p:cNvSpPr/>
          <p:nvPr/>
        </p:nvSpPr>
        <p:spPr>
          <a:xfrm>
            <a:off x="2523879" y="3723894"/>
            <a:ext cx="891600" cy="246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2A6BE"/>
              </a:buClr>
              <a:buSzPts val="800"/>
              <a:buFont typeface="Arial"/>
              <a:buNone/>
            </a:pPr>
            <a:r>
              <a:rPr b="1" lang="en-GB" sz="800">
                <a:solidFill>
                  <a:srgbClr val="92A6BE"/>
                </a:solidFill>
                <a:latin typeface="Arial"/>
                <a:ea typeface="Arial"/>
                <a:cs typeface="Arial"/>
                <a:sym typeface="Arial"/>
              </a:rPr>
              <a:t>SAP B1</a:t>
            </a:r>
            <a:endParaRPr sz="800">
              <a:solidFill>
                <a:schemeClr val="dk1"/>
              </a:solidFill>
              <a:latin typeface="Calibri"/>
              <a:ea typeface="Calibri"/>
              <a:cs typeface="Calibri"/>
              <a:sym typeface="Calibri"/>
            </a:endParaRPr>
          </a:p>
        </p:txBody>
      </p:sp>
      <p:sp>
        <p:nvSpPr>
          <p:cNvPr id="3037" name="Google Shape;3037;p115"/>
          <p:cNvSpPr/>
          <p:nvPr/>
        </p:nvSpPr>
        <p:spPr>
          <a:xfrm>
            <a:off x="3497766" y="3723894"/>
            <a:ext cx="891600" cy="246900"/>
          </a:xfrm>
          <a:prstGeom prst="roundRect">
            <a:avLst>
              <a:gd fmla="val 50000" name="adj"/>
            </a:avLst>
          </a:prstGeom>
          <a:solidFill>
            <a:srgbClr val="32495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038" name="Google Shape;3038;p115"/>
          <p:cNvSpPr/>
          <p:nvPr/>
        </p:nvSpPr>
        <p:spPr>
          <a:xfrm>
            <a:off x="3497766" y="3723894"/>
            <a:ext cx="891600" cy="246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2A6BE"/>
              </a:buClr>
              <a:buSzPts val="800"/>
              <a:buFont typeface="Arial"/>
              <a:buNone/>
            </a:pPr>
            <a:r>
              <a:rPr b="1" lang="en-GB" sz="800">
                <a:solidFill>
                  <a:srgbClr val="92A6BE"/>
                </a:solidFill>
                <a:latin typeface="Arial"/>
                <a:ea typeface="Arial"/>
                <a:cs typeface="Arial"/>
                <a:sym typeface="Arial"/>
              </a:rPr>
              <a:t>Epicor</a:t>
            </a:r>
            <a:endParaRPr sz="800">
              <a:solidFill>
                <a:schemeClr val="dk1"/>
              </a:solidFill>
              <a:latin typeface="Calibri"/>
              <a:ea typeface="Calibri"/>
              <a:cs typeface="Calibri"/>
              <a:sym typeface="Calibri"/>
            </a:endParaRPr>
          </a:p>
        </p:txBody>
      </p:sp>
      <p:sp>
        <p:nvSpPr>
          <p:cNvPr id="3039" name="Google Shape;3039;p115"/>
          <p:cNvSpPr/>
          <p:nvPr/>
        </p:nvSpPr>
        <p:spPr>
          <a:xfrm>
            <a:off x="411502" y="4149090"/>
            <a:ext cx="4286400" cy="24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800"/>
              <a:buFont typeface="Arial"/>
              <a:buNone/>
            </a:pPr>
            <a:r>
              <a:rPr i="1" lang="en-GB" sz="800">
                <a:solidFill>
                  <a:srgbClr val="94A3B8"/>
                </a:solidFill>
                <a:latin typeface="Arial"/>
                <a:ea typeface="Arial"/>
                <a:cs typeface="Arial"/>
                <a:sym typeface="Arial"/>
              </a:rPr>
              <a:t>* Email and Microsoft Teams are add-on channels. Other chat platforms can be customised.</a:t>
            </a:r>
            <a:endParaRPr sz="800">
              <a:solidFill>
                <a:schemeClr val="dk1"/>
              </a:solidFill>
              <a:latin typeface="Calibri"/>
              <a:ea typeface="Calibri"/>
              <a:cs typeface="Calibri"/>
              <a:sym typeface="Calibri"/>
            </a:endParaRPr>
          </a:p>
        </p:txBody>
      </p:sp>
      <p:sp>
        <p:nvSpPr>
          <p:cNvPr id="3040" name="Google Shape;3040;p115"/>
          <p:cNvSpPr/>
          <p:nvPr/>
        </p:nvSpPr>
        <p:spPr>
          <a:xfrm>
            <a:off x="4972315" y="1337310"/>
            <a:ext cx="3760500" cy="1337400"/>
          </a:xfrm>
          <a:prstGeom prst="roundRect">
            <a:avLst>
              <a:gd fmla="val 6154" name="adj"/>
            </a:avLst>
          </a:prstGeom>
          <a:solidFill>
            <a:srgbClr val="F5F7FA"/>
          </a:solidFill>
          <a:ln>
            <a:noFill/>
          </a:ln>
          <a:effectLst>
            <a:outerShdw blurRad="101600" rotWithShape="0" algn="bl" dir="5400000" dist="38100">
              <a:srgbClr val="1C2B3E">
                <a:alpha val="1019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041" name="Google Shape;3041;p115"/>
          <p:cNvSpPr/>
          <p:nvPr/>
        </p:nvSpPr>
        <p:spPr>
          <a:xfrm>
            <a:off x="4972315" y="1337310"/>
            <a:ext cx="3760500" cy="342900"/>
          </a:xfrm>
          <a:prstGeom prst="roundRect">
            <a:avLst>
              <a:gd fmla="val 24000" name="adj"/>
            </a:avLst>
          </a:pr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042" name="Google Shape;3042;p115"/>
          <p:cNvSpPr/>
          <p:nvPr/>
        </p:nvSpPr>
        <p:spPr>
          <a:xfrm>
            <a:off x="4972315" y="1508760"/>
            <a:ext cx="3760500" cy="171600"/>
          </a:xfrm>
          <a:prstGeom prst="rect">
            <a:avLst/>
          </a:pr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043" name="Google Shape;3043;p115"/>
          <p:cNvSpPr/>
          <p:nvPr/>
        </p:nvSpPr>
        <p:spPr>
          <a:xfrm>
            <a:off x="5068332" y="1405890"/>
            <a:ext cx="205800" cy="205800"/>
          </a:xfrm>
          <a:prstGeom prst="ellipse">
            <a:avLst/>
          </a:prstGeom>
          <a:solidFill>
            <a:srgbClr val="1A9D5C"/>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MessageCircle_white.png" id="3044" name="Google Shape;3044;p115"/>
          <p:cNvPicPr preferRelativeResize="0"/>
          <p:nvPr/>
        </p:nvPicPr>
        <p:blipFill rotWithShape="1">
          <a:blip r:embed="rId4">
            <a:alphaModFix/>
          </a:blip>
          <a:srcRect b="0" l="0" r="0" t="0"/>
          <a:stretch/>
        </p:blipFill>
        <p:spPr>
          <a:xfrm>
            <a:off x="5114626" y="1452181"/>
            <a:ext cx="113157" cy="113157"/>
          </a:xfrm>
          <a:prstGeom prst="rect">
            <a:avLst/>
          </a:prstGeom>
          <a:noFill/>
          <a:ln>
            <a:noFill/>
          </a:ln>
        </p:spPr>
      </p:pic>
      <p:sp>
        <p:nvSpPr>
          <p:cNvPr id="3045" name="Google Shape;3045;p115"/>
          <p:cNvSpPr/>
          <p:nvPr/>
        </p:nvSpPr>
        <p:spPr>
          <a:xfrm>
            <a:off x="5342667" y="1337310"/>
            <a:ext cx="137160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900"/>
              <a:buFont typeface="Arial"/>
              <a:buNone/>
            </a:pPr>
            <a:r>
              <a:rPr b="1" lang="en-GB" sz="900">
                <a:solidFill>
                  <a:srgbClr val="1C2B3E"/>
                </a:solidFill>
                <a:latin typeface="Arial"/>
                <a:ea typeface="Arial"/>
                <a:cs typeface="Arial"/>
                <a:sym typeface="Arial"/>
              </a:rPr>
              <a:t>MAIA</a:t>
            </a:r>
            <a:endParaRPr sz="900">
              <a:solidFill>
                <a:schemeClr val="dk1"/>
              </a:solidFill>
              <a:latin typeface="Calibri"/>
              <a:ea typeface="Calibri"/>
              <a:cs typeface="Calibri"/>
              <a:sym typeface="Calibri"/>
            </a:endParaRPr>
          </a:p>
        </p:txBody>
      </p:sp>
      <p:sp>
        <p:nvSpPr>
          <p:cNvPr id="3046" name="Google Shape;3046;p115"/>
          <p:cNvSpPr/>
          <p:nvPr/>
        </p:nvSpPr>
        <p:spPr>
          <a:xfrm>
            <a:off x="7841169" y="1337310"/>
            <a:ext cx="788700" cy="3429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A9D5C"/>
              </a:buClr>
              <a:buSzPts val="700"/>
              <a:buFont typeface="Arial"/>
              <a:buNone/>
            </a:pPr>
            <a:r>
              <a:rPr lang="en-GB" sz="700">
                <a:solidFill>
                  <a:srgbClr val="1A9D5C"/>
                </a:solidFill>
                <a:latin typeface="Arial"/>
                <a:ea typeface="Arial"/>
                <a:cs typeface="Arial"/>
                <a:sym typeface="Arial"/>
              </a:rPr>
              <a:t>online</a:t>
            </a:r>
            <a:endParaRPr sz="700">
              <a:solidFill>
                <a:schemeClr val="dk1"/>
              </a:solidFill>
              <a:latin typeface="Calibri"/>
              <a:ea typeface="Calibri"/>
              <a:cs typeface="Calibri"/>
              <a:sym typeface="Calibri"/>
            </a:endParaRPr>
          </a:p>
        </p:txBody>
      </p:sp>
      <p:sp>
        <p:nvSpPr>
          <p:cNvPr id="3047" name="Google Shape;3047;p115"/>
          <p:cNvSpPr/>
          <p:nvPr/>
        </p:nvSpPr>
        <p:spPr>
          <a:xfrm>
            <a:off x="5123199" y="1789938"/>
            <a:ext cx="2939100" cy="726900"/>
          </a:xfrm>
          <a:prstGeom prst="roundRect">
            <a:avLst>
              <a:gd fmla="val 9434" name="adj"/>
            </a:avLst>
          </a:pr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048" name="Google Shape;3048;p115"/>
          <p:cNvSpPr/>
          <p:nvPr/>
        </p:nvSpPr>
        <p:spPr>
          <a:xfrm>
            <a:off x="5219216" y="1789938"/>
            <a:ext cx="2747100" cy="726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900"/>
              <a:buFont typeface="Arial"/>
              <a:buNone/>
            </a:pPr>
            <a:r>
              <a:rPr lang="en-GB" sz="900">
                <a:solidFill>
                  <a:srgbClr val="1C2B3E"/>
                </a:solidFill>
                <a:latin typeface="Arial"/>
                <a:ea typeface="Arial"/>
                <a:cs typeface="Arial"/>
                <a:sym typeface="Arial"/>
              </a:rPr>
              <a:t>Morning — Hotel Permai's order is ready to confirm. Want me to send it?</a:t>
            </a:r>
            <a:endParaRPr sz="900">
              <a:solidFill>
                <a:schemeClr val="dk1"/>
              </a:solidFill>
              <a:latin typeface="Calibri"/>
              <a:ea typeface="Calibri"/>
              <a:cs typeface="Calibri"/>
              <a:sym typeface="Calibri"/>
            </a:endParaRPr>
          </a:p>
        </p:txBody>
      </p:sp>
      <p:sp>
        <p:nvSpPr>
          <p:cNvPr id="3049" name="Google Shape;3049;p115"/>
          <p:cNvSpPr/>
          <p:nvPr/>
        </p:nvSpPr>
        <p:spPr>
          <a:xfrm>
            <a:off x="4972315" y="2763774"/>
            <a:ext cx="3760500" cy="1577400"/>
          </a:xfrm>
          <a:prstGeom prst="roundRect">
            <a:avLst>
              <a:gd fmla="val 4348" name="adj"/>
            </a:avLst>
          </a:prstGeom>
          <a:solidFill>
            <a:srgbClr val="FBEBD9"/>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050" name="Google Shape;3050;p115"/>
          <p:cNvSpPr/>
          <p:nvPr/>
        </p:nvSpPr>
        <p:spPr>
          <a:xfrm>
            <a:off x="5123199" y="2900934"/>
            <a:ext cx="315600" cy="315600"/>
          </a:xfrm>
          <a:prstGeom prst="roundRect">
            <a:avLst>
              <a:gd fmla="val 22000" name="adj"/>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Zap_white.png" id="3051" name="Google Shape;3051;p115"/>
          <p:cNvPicPr preferRelativeResize="0"/>
          <p:nvPr/>
        </p:nvPicPr>
        <p:blipFill rotWithShape="1">
          <a:blip r:embed="rId5">
            <a:alphaModFix/>
          </a:blip>
          <a:srcRect b="0" l="0" r="0" t="0"/>
          <a:stretch/>
        </p:blipFill>
        <p:spPr>
          <a:xfrm>
            <a:off x="5194183" y="2971914"/>
            <a:ext cx="173507" cy="173507"/>
          </a:xfrm>
          <a:prstGeom prst="rect">
            <a:avLst/>
          </a:prstGeom>
          <a:noFill/>
          <a:ln>
            <a:noFill/>
          </a:ln>
        </p:spPr>
      </p:pic>
      <p:sp>
        <p:nvSpPr>
          <p:cNvPr id="3052" name="Google Shape;3052;p115"/>
          <p:cNvSpPr/>
          <p:nvPr/>
        </p:nvSpPr>
        <p:spPr>
          <a:xfrm>
            <a:off x="5548418" y="2900934"/>
            <a:ext cx="3074700" cy="315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1000"/>
              <a:buFont typeface="Arial"/>
              <a:buNone/>
            </a:pPr>
            <a:r>
              <a:rPr b="1" lang="en-GB" sz="1000">
                <a:solidFill>
                  <a:srgbClr val="1C2B3E"/>
                </a:solidFill>
                <a:latin typeface="Arial"/>
                <a:ea typeface="Arial"/>
                <a:cs typeface="Arial"/>
                <a:sym typeface="Arial"/>
              </a:rPr>
              <a:t>Not just a chatbot or an OCR tool</a:t>
            </a:r>
            <a:endParaRPr sz="1000">
              <a:solidFill>
                <a:schemeClr val="dk1"/>
              </a:solidFill>
              <a:latin typeface="Calibri"/>
              <a:ea typeface="Calibri"/>
              <a:cs typeface="Calibri"/>
              <a:sym typeface="Calibri"/>
            </a:endParaRPr>
          </a:p>
        </p:txBody>
      </p:sp>
      <p:sp>
        <p:nvSpPr>
          <p:cNvPr id="3053" name="Google Shape;3053;p115"/>
          <p:cNvSpPr/>
          <p:nvPr/>
        </p:nvSpPr>
        <p:spPr>
          <a:xfrm>
            <a:off x="5123199" y="3298698"/>
            <a:ext cx="3458700" cy="96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B7D"/>
              </a:buClr>
              <a:buSzPts val="900"/>
              <a:buFont typeface="Arial"/>
              <a:buNone/>
            </a:pPr>
            <a:r>
              <a:rPr lang="en-GB" sz="900">
                <a:solidFill>
                  <a:srgbClr val="5B6B7D"/>
                </a:solidFill>
                <a:latin typeface="Arial"/>
                <a:ea typeface="Arial"/>
                <a:cs typeface="Arial"/>
                <a:sym typeface="Arial"/>
              </a:rPr>
              <a:t>MAIA is a validation-first operational layer: it captures messy inputs, standardises them, checks business rules, routes exceptions, and keeps the document trail visible — without replacing your ERP.</a:t>
            </a:r>
            <a:endParaRPr sz="900">
              <a:solidFill>
                <a:schemeClr val="dk1"/>
              </a:solidFill>
              <a:latin typeface="Calibri"/>
              <a:ea typeface="Calibri"/>
              <a:cs typeface="Calibri"/>
              <a:sym typeface="Calibri"/>
            </a:endParaRPr>
          </a:p>
        </p:txBody>
      </p:sp>
      <p:sp>
        <p:nvSpPr>
          <p:cNvPr id="3054" name="Google Shape;3054;p115"/>
          <p:cNvSpPr/>
          <p:nvPr/>
        </p:nvSpPr>
        <p:spPr>
          <a:xfrm>
            <a:off x="411502" y="4869180"/>
            <a:ext cx="54867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700"/>
              <a:buFont typeface="Arial"/>
              <a:buNone/>
            </a:pPr>
            <a:r>
              <a:rPr lang="en-GB" sz="700">
                <a:solidFill>
                  <a:srgbClr val="94A3B8"/>
                </a:solidFill>
                <a:latin typeface="Arial"/>
                <a:ea typeface="Arial"/>
                <a:cs typeface="Arial"/>
                <a:sym typeface="Arial"/>
              </a:rPr>
              <a:t>SECTION 1</a:t>
            </a:r>
            <a:endParaRPr sz="700">
              <a:solidFill>
                <a:schemeClr val="dk1"/>
              </a:solidFill>
              <a:latin typeface="Calibri"/>
              <a:ea typeface="Calibri"/>
              <a:cs typeface="Calibri"/>
              <a:sym typeface="Calibri"/>
            </a:endParaRPr>
          </a:p>
        </p:txBody>
      </p:sp>
      <p:sp>
        <p:nvSpPr>
          <p:cNvPr id="3055" name="Google Shape;3055;p115"/>
          <p:cNvSpPr/>
          <p:nvPr/>
        </p:nvSpPr>
        <p:spPr>
          <a:xfrm>
            <a:off x="7361084" y="4869180"/>
            <a:ext cx="1371600" cy="205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700"/>
              <a:buFont typeface="Arial"/>
              <a:buNone/>
            </a:pPr>
            <a:r>
              <a:rPr lang="en-GB" sz="700">
                <a:solidFill>
                  <a:srgbClr val="94A3B8"/>
                </a:solidFill>
                <a:latin typeface="Arial"/>
                <a:ea typeface="Arial"/>
                <a:cs typeface="Arial"/>
                <a:sym typeface="Arial"/>
              </a:rPr>
              <a:t>6 / 82</a:t>
            </a:r>
            <a:endParaRPr sz="700">
              <a:solidFill>
                <a:schemeClr val="dk1"/>
              </a:solidFill>
              <a:latin typeface="Calibri"/>
              <a:ea typeface="Calibri"/>
              <a:cs typeface="Calibri"/>
              <a:sym typeface="Calibri"/>
            </a:endParaRPr>
          </a:p>
        </p:txBody>
      </p:sp>
      <p:sp>
        <p:nvSpPr>
          <p:cNvPr id="3056" name="Google Shape;3056;p115"/>
          <p:cNvSpPr txBox="1"/>
          <p:nvPr>
            <p:ph idx="12" type="sldNum"/>
          </p:nvPr>
        </p:nvSpPr>
        <p:spPr>
          <a:xfrm>
            <a:off x="8347216" y="4750189"/>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3061" name="Shape 3061"/>
        <p:cNvGrpSpPr/>
        <p:nvPr/>
      </p:nvGrpSpPr>
      <p:grpSpPr>
        <a:xfrm>
          <a:off x="0" y="0"/>
          <a:ext cx="0" cy="0"/>
          <a:chOff x="0" y="0"/>
          <a:chExt cx="0" cy="0"/>
        </a:xfrm>
      </p:grpSpPr>
      <p:sp>
        <p:nvSpPr>
          <p:cNvPr id="3062" name="Google Shape;3062;p116"/>
          <p:cNvSpPr/>
          <p:nvPr/>
        </p:nvSpPr>
        <p:spPr>
          <a:xfrm>
            <a:off x="411502" y="260604"/>
            <a:ext cx="68583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SECTION 1</a:t>
            </a:r>
            <a:endParaRPr sz="800">
              <a:solidFill>
                <a:schemeClr val="dk1"/>
              </a:solidFill>
              <a:latin typeface="Calibri"/>
              <a:ea typeface="Calibri"/>
              <a:cs typeface="Calibri"/>
              <a:sym typeface="Calibri"/>
            </a:endParaRPr>
          </a:p>
        </p:txBody>
      </p:sp>
      <p:sp>
        <p:nvSpPr>
          <p:cNvPr id="3063" name="Google Shape;3063;p116"/>
          <p:cNvSpPr/>
          <p:nvPr/>
        </p:nvSpPr>
        <p:spPr>
          <a:xfrm>
            <a:off x="411502" y="438912"/>
            <a:ext cx="8321400" cy="480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C2B3E"/>
              </a:buClr>
              <a:buSzPts val="2200"/>
              <a:buFont typeface="Arial"/>
              <a:buNone/>
            </a:pPr>
            <a:r>
              <a:rPr b="1" lang="en-GB" sz="2200">
                <a:solidFill>
                  <a:srgbClr val="1C2B3E"/>
                </a:solidFill>
                <a:latin typeface="Arial"/>
                <a:ea typeface="Arial"/>
                <a:cs typeface="Arial"/>
                <a:sym typeface="Arial"/>
              </a:rPr>
              <a:t>Works with existing systems.</a:t>
            </a:r>
            <a:endParaRPr sz="2200">
              <a:solidFill>
                <a:schemeClr val="dk1"/>
              </a:solidFill>
              <a:latin typeface="Calibri"/>
              <a:ea typeface="Calibri"/>
              <a:cs typeface="Calibri"/>
              <a:sym typeface="Calibri"/>
            </a:endParaRPr>
          </a:p>
        </p:txBody>
      </p:sp>
      <p:sp>
        <p:nvSpPr>
          <p:cNvPr id="3064" name="Google Shape;3064;p116"/>
          <p:cNvSpPr/>
          <p:nvPr/>
        </p:nvSpPr>
        <p:spPr>
          <a:xfrm>
            <a:off x="411502" y="1268730"/>
            <a:ext cx="8321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D"/>
              </a:buClr>
              <a:buSzPts val="1100"/>
              <a:buFont typeface="Arial"/>
              <a:buNone/>
            </a:pPr>
            <a:r>
              <a:rPr lang="en-GB" sz="1100">
                <a:solidFill>
                  <a:srgbClr val="5B6B7D"/>
                </a:solidFill>
                <a:latin typeface="Arial"/>
                <a:ea typeface="Arial"/>
                <a:cs typeface="Arial"/>
                <a:sym typeface="Arial"/>
              </a:rPr>
              <a:t>Supported: AutoCount · SQL · SAP B1 · Epicor      In development: SAP HANA · Xeersoft</a:t>
            </a:r>
            <a:endParaRPr sz="1100">
              <a:solidFill>
                <a:schemeClr val="dk1"/>
              </a:solidFill>
              <a:latin typeface="Calibri"/>
              <a:ea typeface="Calibri"/>
              <a:cs typeface="Calibri"/>
              <a:sym typeface="Calibri"/>
            </a:endParaRPr>
          </a:p>
        </p:txBody>
      </p:sp>
      <p:sp>
        <p:nvSpPr>
          <p:cNvPr id="3065" name="Google Shape;3065;p116"/>
          <p:cNvSpPr/>
          <p:nvPr/>
        </p:nvSpPr>
        <p:spPr>
          <a:xfrm>
            <a:off x="4228182" y="1543050"/>
            <a:ext cx="685800" cy="685800"/>
          </a:xfrm>
          <a:prstGeom prst="ellipse">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066" name="Google Shape;3066;p116"/>
          <p:cNvSpPr/>
          <p:nvPr/>
        </p:nvSpPr>
        <p:spPr>
          <a:xfrm>
            <a:off x="4228182" y="1543050"/>
            <a:ext cx="68580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Arial"/>
              <a:buNone/>
            </a:pPr>
            <a:r>
              <a:rPr b="1" lang="en-GB" sz="1200">
                <a:solidFill>
                  <a:srgbClr val="FFFFFF"/>
                </a:solidFill>
                <a:latin typeface="Arial"/>
                <a:ea typeface="Arial"/>
                <a:cs typeface="Arial"/>
                <a:sym typeface="Arial"/>
              </a:rPr>
              <a:t>MAIA</a:t>
            </a:r>
            <a:endParaRPr sz="1400">
              <a:solidFill>
                <a:schemeClr val="dk1"/>
              </a:solidFill>
              <a:latin typeface="Calibri"/>
              <a:ea typeface="Calibri"/>
              <a:cs typeface="Calibri"/>
              <a:sym typeface="Calibri"/>
            </a:endParaRPr>
          </a:p>
        </p:txBody>
      </p:sp>
      <p:sp>
        <p:nvSpPr>
          <p:cNvPr id="3067" name="Google Shape;3067;p116"/>
          <p:cNvSpPr/>
          <p:nvPr/>
        </p:nvSpPr>
        <p:spPr>
          <a:xfrm>
            <a:off x="411502" y="2434590"/>
            <a:ext cx="1318200" cy="582900"/>
          </a:xfrm>
          <a:prstGeom prst="roundRect">
            <a:avLst>
              <a:gd fmla="val 10000" name="adj"/>
            </a:avLst>
          </a:prstGeom>
          <a:solidFill>
            <a:srgbClr val="F5F7FA"/>
          </a:solidFill>
          <a:ln>
            <a:noFill/>
          </a:ln>
          <a:effectLst>
            <a:outerShdw blurRad="101600" rotWithShape="0" algn="bl" dir="5400000" dist="38100">
              <a:srgbClr val="1C2B3E">
                <a:alpha val="1019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068" name="Google Shape;3068;p116"/>
          <p:cNvSpPr/>
          <p:nvPr/>
        </p:nvSpPr>
        <p:spPr>
          <a:xfrm>
            <a:off x="480086" y="2516886"/>
            <a:ext cx="1181100" cy="233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900"/>
              <a:buFont typeface="Arial"/>
              <a:buNone/>
            </a:pPr>
            <a:r>
              <a:rPr b="1" lang="en-GB" sz="900">
                <a:solidFill>
                  <a:srgbClr val="1C2B3E"/>
                </a:solidFill>
                <a:latin typeface="Arial"/>
                <a:ea typeface="Arial"/>
                <a:cs typeface="Arial"/>
                <a:sym typeface="Arial"/>
              </a:rPr>
              <a:t>AutoCount</a:t>
            </a:r>
            <a:endParaRPr sz="1100">
              <a:solidFill>
                <a:schemeClr val="dk1"/>
              </a:solidFill>
              <a:latin typeface="Calibri"/>
              <a:ea typeface="Calibri"/>
              <a:cs typeface="Calibri"/>
              <a:sym typeface="Calibri"/>
            </a:endParaRPr>
          </a:p>
        </p:txBody>
      </p:sp>
      <p:sp>
        <p:nvSpPr>
          <p:cNvPr id="3069" name="Google Shape;3069;p116"/>
          <p:cNvSpPr/>
          <p:nvPr/>
        </p:nvSpPr>
        <p:spPr>
          <a:xfrm>
            <a:off x="480086" y="2763773"/>
            <a:ext cx="425100" cy="185100"/>
          </a:xfrm>
          <a:prstGeom prst="roundRect">
            <a:avLst>
              <a:gd fmla="val 50000" name="adj"/>
            </a:avLst>
          </a:prstGeom>
          <a:solidFill>
            <a:srgbClr val="1A9D5C"/>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070" name="Google Shape;3070;p116"/>
          <p:cNvSpPr/>
          <p:nvPr/>
        </p:nvSpPr>
        <p:spPr>
          <a:xfrm>
            <a:off x="480086" y="2763773"/>
            <a:ext cx="425100" cy="185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600"/>
              <a:buFont typeface="Arial"/>
              <a:buNone/>
            </a:pPr>
            <a:r>
              <a:rPr b="1" lang="en-GB" sz="600">
                <a:solidFill>
                  <a:srgbClr val="FFFFFF"/>
                </a:solidFill>
                <a:latin typeface="Arial"/>
                <a:ea typeface="Arial"/>
                <a:cs typeface="Arial"/>
                <a:sym typeface="Arial"/>
              </a:rPr>
              <a:t>Supported</a:t>
            </a:r>
            <a:endParaRPr sz="700">
              <a:solidFill>
                <a:schemeClr val="dk1"/>
              </a:solidFill>
              <a:latin typeface="Calibri"/>
              <a:ea typeface="Calibri"/>
              <a:cs typeface="Calibri"/>
              <a:sym typeface="Calibri"/>
            </a:endParaRPr>
          </a:p>
        </p:txBody>
      </p:sp>
      <p:sp>
        <p:nvSpPr>
          <p:cNvPr id="3071" name="Google Shape;3071;p116"/>
          <p:cNvSpPr/>
          <p:nvPr/>
        </p:nvSpPr>
        <p:spPr>
          <a:xfrm>
            <a:off x="1811980" y="2434590"/>
            <a:ext cx="1318200" cy="582900"/>
          </a:xfrm>
          <a:prstGeom prst="roundRect">
            <a:avLst>
              <a:gd fmla="val 10000" name="adj"/>
            </a:avLst>
          </a:prstGeom>
          <a:solidFill>
            <a:srgbClr val="F5F7FA"/>
          </a:solidFill>
          <a:ln>
            <a:noFill/>
          </a:ln>
          <a:effectLst>
            <a:outerShdw blurRad="101600" rotWithShape="0" algn="bl" dir="5400000" dist="38100">
              <a:srgbClr val="1C2B3E">
                <a:alpha val="1019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072" name="Google Shape;3072;p116"/>
          <p:cNvSpPr/>
          <p:nvPr/>
        </p:nvSpPr>
        <p:spPr>
          <a:xfrm>
            <a:off x="1880563" y="2516886"/>
            <a:ext cx="1181100" cy="233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900"/>
              <a:buFont typeface="Arial"/>
              <a:buNone/>
            </a:pPr>
            <a:r>
              <a:rPr b="1" lang="en-GB" sz="900">
                <a:solidFill>
                  <a:srgbClr val="1C2B3E"/>
                </a:solidFill>
                <a:latin typeface="Arial"/>
                <a:ea typeface="Arial"/>
                <a:cs typeface="Arial"/>
                <a:sym typeface="Arial"/>
              </a:rPr>
              <a:t>SQL</a:t>
            </a:r>
            <a:endParaRPr sz="1100">
              <a:solidFill>
                <a:schemeClr val="dk1"/>
              </a:solidFill>
              <a:latin typeface="Calibri"/>
              <a:ea typeface="Calibri"/>
              <a:cs typeface="Calibri"/>
              <a:sym typeface="Calibri"/>
            </a:endParaRPr>
          </a:p>
        </p:txBody>
      </p:sp>
      <p:sp>
        <p:nvSpPr>
          <p:cNvPr id="3073" name="Google Shape;3073;p116"/>
          <p:cNvSpPr/>
          <p:nvPr/>
        </p:nvSpPr>
        <p:spPr>
          <a:xfrm>
            <a:off x="1880563" y="2763773"/>
            <a:ext cx="425100" cy="185100"/>
          </a:xfrm>
          <a:prstGeom prst="roundRect">
            <a:avLst>
              <a:gd fmla="val 50000" name="adj"/>
            </a:avLst>
          </a:prstGeom>
          <a:solidFill>
            <a:srgbClr val="1A9D5C"/>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074" name="Google Shape;3074;p116"/>
          <p:cNvSpPr/>
          <p:nvPr/>
        </p:nvSpPr>
        <p:spPr>
          <a:xfrm>
            <a:off x="1880563" y="2763773"/>
            <a:ext cx="425100" cy="185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600"/>
              <a:buFont typeface="Arial"/>
              <a:buNone/>
            </a:pPr>
            <a:r>
              <a:rPr b="1" lang="en-GB" sz="600">
                <a:solidFill>
                  <a:srgbClr val="FFFFFF"/>
                </a:solidFill>
                <a:latin typeface="Arial"/>
                <a:ea typeface="Arial"/>
                <a:cs typeface="Arial"/>
                <a:sym typeface="Arial"/>
              </a:rPr>
              <a:t>Supported</a:t>
            </a:r>
            <a:endParaRPr sz="700">
              <a:solidFill>
                <a:schemeClr val="dk1"/>
              </a:solidFill>
              <a:latin typeface="Calibri"/>
              <a:ea typeface="Calibri"/>
              <a:cs typeface="Calibri"/>
              <a:sym typeface="Calibri"/>
            </a:endParaRPr>
          </a:p>
        </p:txBody>
      </p:sp>
      <p:sp>
        <p:nvSpPr>
          <p:cNvPr id="3075" name="Google Shape;3075;p116"/>
          <p:cNvSpPr/>
          <p:nvPr/>
        </p:nvSpPr>
        <p:spPr>
          <a:xfrm>
            <a:off x="3212458" y="2434590"/>
            <a:ext cx="1318200" cy="582900"/>
          </a:xfrm>
          <a:prstGeom prst="roundRect">
            <a:avLst>
              <a:gd fmla="val 10000" name="adj"/>
            </a:avLst>
          </a:prstGeom>
          <a:solidFill>
            <a:srgbClr val="F5F7FA"/>
          </a:solidFill>
          <a:ln>
            <a:noFill/>
          </a:ln>
          <a:effectLst>
            <a:outerShdw blurRad="101600" rotWithShape="0" algn="bl" dir="5400000" dist="38100">
              <a:srgbClr val="1C2B3E">
                <a:alpha val="1019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076" name="Google Shape;3076;p116"/>
          <p:cNvSpPr/>
          <p:nvPr/>
        </p:nvSpPr>
        <p:spPr>
          <a:xfrm>
            <a:off x="3281042" y="2516886"/>
            <a:ext cx="1181100" cy="233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900"/>
              <a:buFont typeface="Arial"/>
              <a:buNone/>
            </a:pPr>
            <a:r>
              <a:rPr b="1" lang="en-GB" sz="900">
                <a:solidFill>
                  <a:srgbClr val="1C2B3E"/>
                </a:solidFill>
                <a:latin typeface="Arial"/>
                <a:ea typeface="Arial"/>
                <a:cs typeface="Arial"/>
                <a:sym typeface="Arial"/>
              </a:rPr>
              <a:t>SAP B1</a:t>
            </a:r>
            <a:endParaRPr sz="1100">
              <a:solidFill>
                <a:schemeClr val="dk1"/>
              </a:solidFill>
              <a:latin typeface="Calibri"/>
              <a:ea typeface="Calibri"/>
              <a:cs typeface="Calibri"/>
              <a:sym typeface="Calibri"/>
            </a:endParaRPr>
          </a:p>
        </p:txBody>
      </p:sp>
      <p:sp>
        <p:nvSpPr>
          <p:cNvPr id="3077" name="Google Shape;3077;p116"/>
          <p:cNvSpPr/>
          <p:nvPr/>
        </p:nvSpPr>
        <p:spPr>
          <a:xfrm>
            <a:off x="3281042" y="2763773"/>
            <a:ext cx="425100" cy="185100"/>
          </a:xfrm>
          <a:prstGeom prst="roundRect">
            <a:avLst>
              <a:gd fmla="val 50000" name="adj"/>
            </a:avLst>
          </a:prstGeom>
          <a:solidFill>
            <a:srgbClr val="1A9D5C"/>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078" name="Google Shape;3078;p116"/>
          <p:cNvSpPr/>
          <p:nvPr/>
        </p:nvSpPr>
        <p:spPr>
          <a:xfrm>
            <a:off x="3281042" y="2763773"/>
            <a:ext cx="425100" cy="185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600"/>
              <a:buFont typeface="Arial"/>
              <a:buNone/>
            </a:pPr>
            <a:r>
              <a:rPr b="1" lang="en-GB" sz="600">
                <a:solidFill>
                  <a:srgbClr val="FFFFFF"/>
                </a:solidFill>
                <a:latin typeface="Arial"/>
                <a:ea typeface="Arial"/>
                <a:cs typeface="Arial"/>
                <a:sym typeface="Arial"/>
              </a:rPr>
              <a:t>Supported</a:t>
            </a:r>
            <a:endParaRPr sz="700">
              <a:solidFill>
                <a:schemeClr val="dk1"/>
              </a:solidFill>
              <a:latin typeface="Calibri"/>
              <a:ea typeface="Calibri"/>
              <a:cs typeface="Calibri"/>
              <a:sym typeface="Calibri"/>
            </a:endParaRPr>
          </a:p>
        </p:txBody>
      </p:sp>
      <p:sp>
        <p:nvSpPr>
          <p:cNvPr id="3079" name="Google Shape;3079;p116"/>
          <p:cNvSpPr/>
          <p:nvPr/>
        </p:nvSpPr>
        <p:spPr>
          <a:xfrm>
            <a:off x="4612936" y="2434590"/>
            <a:ext cx="1318200" cy="582900"/>
          </a:xfrm>
          <a:prstGeom prst="roundRect">
            <a:avLst>
              <a:gd fmla="val 10000" name="adj"/>
            </a:avLst>
          </a:prstGeom>
          <a:solidFill>
            <a:srgbClr val="F5F7FA"/>
          </a:solidFill>
          <a:ln>
            <a:noFill/>
          </a:ln>
          <a:effectLst>
            <a:outerShdw blurRad="101600" rotWithShape="0" algn="bl" dir="5400000" dist="38100">
              <a:srgbClr val="1C2B3E">
                <a:alpha val="1019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080" name="Google Shape;3080;p116"/>
          <p:cNvSpPr/>
          <p:nvPr/>
        </p:nvSpPr>
        <p:spPr>
          <a:xfrm>
            <a:off x="4681520" y="2516886"/>
            <a:ext cx="1181100" cy="233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900"/>
              <a:buFont typeface="Arial"/>
              <a:buNone/>
            </a:pPr>
            <a:r>
              <a:rPr b="1" lang="en-GB" sz="900">
                <a:solidFill>
                  <a:srgbClr val="1C2B3E"/>
                </a:solidFill>
                <a:latin typeface="Arial"/>
                <a:ea typeface="Arial"/>
                <a:cs typeface="Arial"/>
                <a:sym typeface="Arial"/>
              </a:rPr>
              <a:t>Epicor</a:t>
            </a:r>
            <a:endParaRPr sz="1100">
              <a:solidFill>
                <a:schemeClr val="dk1"/>
              </a:solidFill>
              <a:latin typeface="Calibri"/>
              <a:ea typeface="Calibri"/>
              <a:cs typeface="Calibri"/>
              <a:sym typeface="Calibri"/>
            </a:endParaRPr>
          </a:p>
        </p:txBody>
      </p:sp>
      <p:sp>
        <p:nvSpPr>
          <p:cNvPr id="3081" name="Google Shape;3081;p116"/>
          <p:cNvSpPr/>
          <p:nvPr/>
        </p:nvSpPr>
        <p:spPr>
          <a:xfrm>
            <a:off x="4681520" y="2763773"/>
            <a:ext cx="425100" cy="185100"/>
          </a:xfrm>
          <a:prstGeom prst="roundRect">
            <a:avLst>
              <a:gd fmla="val 50000" name="adj"/>
            </a:avLst>
          </a:prstGeom>
          <a:solidFill>
            <a:srgbClr val="1A9D5C"/>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082" name="Google Shape;3082;p116"/>
          <p:cNvSpPr/>
          <p:nvPr/>
        </p:nvSpPr>
        <p:spPr>
          <a:xfrm>
            <a:off x="4681520" y="2763773"/>
            <a:ext cx="425100" cy="185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600"/>
              <a:buFont typeface="Arial"/>
              <a:buNone/>
            </a:pPr>
            <a:r>
              <a:rPr b="1" lang="en-GB" sz="600">
                <a:solidFill>
                  <a:srgbClr val="FFFFFF"/>
                </a:solidFill>
                <a:latin typeface="Arial"/>
                <a:ea typeface="Arial"/>
                <a:cs typeface="Arial"/>
                <a:sym typeface="Arial"/>
              </a:rPr>
              <a:t>Supported</a:t>
            </a:r>
            <a:endParaRPr sz="700">
              <a:solidFill>
                <a:schemeClr val="dk1"/>
              </a:solidFill>
              <a:latin typeface="Calibri"/>
              <a:ea typeface="Calibri"/>
              <a:cs typeface="Calibri"/>
              <a:sym typeface="Calibri"/>
            </a:endParaRPr>
          </a:p>
        </p:txBody>
      </p:sp>
      <p:sp>
        <p:nvSpPr>
          <p:cNvPr id="3083" name="Google Shape;3083;p116"/>
          <p:cNvSpPr/>
          <p:nvPr/>
        </p:nvSpPr>
        <p:spPr>
          <a:xfrm>
            <a:off x="6013415" y="2434590"/>
            <a:ext cx="1318200" cy="582900"/>
          </a:xfrm>
          <a:prstGeom prst="roundRect">
            <a:avLst>
              <a:gd fmla="val 10000" name="adj"/>
            </a:avLst>
          </a:prstGeom>
          <a:solidFill>
            <a:srgbClr val="FFFFFF"/>
          </a:solidFill>
          <a:ln cap="flat" cmpd="sng" w="15875">
            <a:solidFill>
              <a:srgbClr val="E8821E"/>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084" name="Google Shape;3084;p116"/>
          <p:cNvSpPr/>
          <p:nvPr/>
        </p:nvSpPr>
        <p:spPr>
          <a:xfrm>
            <a:off x="6081999" y="2516886"/>
            <a:ext cx="1181100" cy="233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900"/>
              <a:buFont typeface="Arial"/>
              <a:buNone/>
            </a:pPr>
            <a:r>
              <a:rPr b="1" lang="en-GB" sz="900">
                <a:solidFill>
                  <a:srgbClr val="1C2B3E"/>
                </a:solidFill>
                <a:latin typeface="Arial"/>
                <a:ea typeface="Arial"/>
                <a:cs typeface="Arial"/>
                <a:sym typeface="Arial"/>
              </a:rPr>
              <a:t>SAP HANA</a:t>
            </a:r>
            <a:endParaRPr sz="1100">
              <a:solidFill>
                <a:schemeClr val="dk1"/>
              </a:solidFill>
              <a:latin typeface="Calibri"/>
              <a:ea typeface="Calibri"/>
              <a:cs typeface="Calibri"/>
              <a:sym typeface="Calibri"/>
            </a:endParaRPr>
          </a:p>
        </p:txBody>
      </p:sp>
      <p:sp>
        <p:nvSpPr>
          <p:cNvPr id="3085" name="Google Shape;3085;p116"/>
          <p:cNvSpPr/>
          <p:nvPr/>
        </p:nvSpPr>
        <p:spPr>
          <a:xfrm>
            <a:off x="6081999" y="2763773"/>
            <a:ext cx="720000" cy="185100"/>
          </a:xfrm>
          <a:prstGeom prst="roundRect">
            <a:avLst>
              <a:gd fmla="val 50000" name="adj"/>
            </a:avLst>
          </a:prstGeom>
          <a:solidFill>
            <a:srgbClr val="FFFFFF"/>
          </a:solidFill>
          <a:ln cap="flat" cmpd="sng" w="12700">
            <a:solidFill>
              <a:srgbClr val="E8821E"/>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086" name="Google Shape;3086;p116"/>
          <p:cNvSpPr/>
          <p:nvPr/>
        </p:nvSpPr>
        <p:spPr>
          <a:xfrm>
            <a:off x="6081999" y="2763773"/>
            <a:ext cx="720000" cy="185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821E"/>
              </a:buClr>
              <a:buSzPts val="600"/>
              <a:buFont typeface="Arial"/>
              <a:buNone/>
            </a:pPr>
            <a:r>
              <a:rPr b="1" lang="en-GB" sz="600">
                <a:solidFill>
                  <a:srgbClr val="E8821E"/>
                </a:solidFill>
                <a:latin typeface="Arial"/>
                <a:ea typeface="Arial"/>
                <a:cs typeface="Arial"/>
                <a:sym typeface="Arial"/>
              </a:rPr>
              <a:t>In development</a:t>
            </a:r>
            <a:endParaRPr sz="700">
              <a:solidFill>
                <a:schemeClr val="dk1"/>
              </a:solidFill>
              <a:latin typeface="Calibri"/>
              <a:ea typeface="Calibri"/>
              <a:cs typeface="Calibri"/>
              <a:sym typeface="Calibri"/>
            </a:endParaRPr>
          </a:p>
        </p:txBody>
      </p:sp>
      <p:sp>
        <p:nvSpPr>
          <p:cNvPr id="3087" name="Google Shape;3087;p116"/>
          <p:cNvSpPr/>
          <p:nvPr/>
        </p:nvSpPr>
        <p:spPr>
          <a:xfrm>
            <a:off x="7413893" y="2434590"/>
            <a:ext cx="1318200" cy="582900"/>
          </a:xfrm>
          <a:prstGeom prst="roundRect">
            <a:avLst>
              <a:gd fmla="val 10000" name="adj"/>
            </a:avLst>
          </a:prstGeom>
          <a:solidFill>
            <a:srgbClr val="FFFFFF"/>
          </a:solidFill>
          <a:ln cap="flat" cmpd="sng" w="15875">
            <a:solidFill>
              <a:srgbClr val="E8821E"/>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088" name="Google Shape;3088;p116"/>
          <p:cNvSpPr/>
          <p:nvPr/>
        </p:nvSpPr>
        <p:spPr>
          <a:xfrm>
            <a:off x="7482476" y="2516886"/>
            <a:ext cx="1181100" cy="233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900"/>
              <a:buFont typeface="Arial"/>
              <a:buNone/>
            </a:pPr>
            <a:r>
              <a:rPr b="1" lang="en-GB" sz="900">
                <a:solidFill>
                  <a:srgbClr val="1C2B3E"/>
                </a:solidFill>
                <a:latin typeface="Arial"/>
                <a:ea typeface="Arial"/>
                <a:cs typeface="Arial"/>
                <a:sym typeface="Arial"/>
              </a:rPr>
              <a:t>Xeersoft</a:t>
            </a:r>
            <a:endParaRPr sz="1100">
              <a:solidFill>
                <a:schemeClr val="dk1"/>
              </a:solidFill>
              <a:latin typeface="Calibri"/>
              <a:ea typeface="Calibri"/>
              <a:cs typeface="Calibri"/>
              <a:sym typeface="Calibri"/>
            </a:endParaRPr>
          </a:p>
        </p:txBody>
      </p:sp>
      <p:sp>
        <p:nvSpPr>
          <p:cNvPr id="3089" name="Google Shape;3089;p116"/>
          <p:cNvSpPr/>
          <p:nvPr/>
        </p:nvSpPr>
        <p:spPr>
          <a:xfrm>
            <a:off x="7482476" y="2763773"/>
            <a:ext cx="720000" cy="185100"/>
          </a:xfrm>
          <a:prstGeom prst="roundRect">
            <a:avLst>
              <a:gd fmla="val 50000" name="adj"/>
            </a:avLst>
          </a:prstGeom>
          <a:solidFill>
            <a:srgbClr val="FFFFFF"/>
          </a:solidFill>
          <a:ln cap="flat" cmpd="sng" w="12700">
            <a:solidFill>
              <a:srgbClr val="E8821E"/>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090" name="Google Shape;3090;p116"/>
          <p:cNvSpPr/>
          <p:nvPr/>
        </p:nvSpPr>
        <p:spPr>
          <a:xfrm>
            <a:off x="7482476" y="2763773"/>
            <a:ext cx="720000" cy="185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821E"/>
              </a:buClr>
              <a:buSzPts val="600"/>
              <a:buFont typeface="Arial"/>
              <a:buNone/>
            </a:pPr>
            <a:r>
              <a:rPr b="1" lang="en-GB" sz="600">
                <a:solidFill>
                  <a:srgbClr val="E8821E"/>
                </a:solidFill>
                <a:latin typeface="Arial"/>
                <a:ea typeface="Arial"/>
                <a:cs typeface="Arial"/>
                <a:sym typeface="Arial"/>
              </a:rPr>
              <a:t>In development</a:t>
            </a:r>
            <a:endParaRPr sz="700">
              <a:solidFill>
                <a:schemeClr val="dk1"/>
              </a:solidFill>
              <a:latin typeface="Calibri"/>
              <a:ea typeface="Calibri"/>
              <a:cs typeface="Calibri"/>
              <a:sym typeface="Calibri"/>
            </a:endParaRPr>
          </a:p>
        </p:txBody>
      </p:sp>
      <p:sp>
        <p:nvSpPr>
          <p:cNvPr id="3091" name="Google Shape;3091;p116"/>
          <p:cNvSpPr/>
          <p:nvPr/>
        </p:nvSpPr>
        <p:spPr>
          <a:xfrm>
            <a:off x="411502" y="4725162"/>
            <a:ext cx="8319300" cy="19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700"/>
              <a:buFont typeface="Arial"/>
              <a:buNone/>
            </a:pPr>
            <a:r>
              <a:rPr lang="en-GB" sz="700">
                <a:solidFill>
                  <a:srgbClr val="94A3B8"/>
                </a:solidFill>
                <a:latin typeface="Arial"/>
                <a:ea typeface="Arial"/>
                <a:cs typeface="Arial"/>
                <a:sym typeface="Arial"/>
              </a:rPr>
              <a:t>Pick List is internal · stock is read from ERP (integrated) or updated inside MAIA (no-ERP) · full detail in the facilitator appendix.</a:t>
            </a:r>
            <a:endParaRPr sz="800">
              <a:solidFill>
                <a:schemeClr val="dk1"/>
              </a:solidFill>
              <a:latin typeface="Calibri"/>
              <a:ea typeface="Calibri"/>
              <a:cs typeface="Calibri"/>
              <a:sym typeface="Calibri"/>
            </a:endParaRPr>
          </a:p>
        </p:txBody>
      </p:sp>
      <p:sp>
        <p:nvSpPr>
          <p:cNvPr id="3092" name="Google Shape;3092;p116"/>
          <p:cNvSpPr/>
          <p:nvPr/>
        </p:nvSpPr>
        <p:spPr>
          <a:xfrm>
            <a:off x="411502" y="4869180"/>
            <a:ext cx="54867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700"/>
              <a:buFont typeface="Arial"/>
              <a:buNone/>
            </a:pPr>
            <a:r>
              <a:rPr lang="en-GB" sz="700">
                <a:solidFill>
                  <a:srgbClr val="94A3B8"/>
                </a:solidFill>
                <a:latin typeface="Arial"/>
                <a:ea typeface="Arial"/>
                <a:cs typeface="Arial"/>
                <a:sym typeface="Arial"/>
              </a:rPr>
              <a:t>SECTION 1</a:t>
            </a:r>
            <a:endParaRPr sz="700">
              <a:solidFill>
                <a:schemeClr val="dk1"/>
              </a:solidFill>
              <a:latin typeface="Calibri"/>
              <a:ea typeface="Calibri"/>
              <a:cs typeface="Calibri"/>
              <a:sym typeface="Calibri"/>
            </a:endParaRPr>
          </a:p>
        </p:txBody>
      </p:sp>
      <p:sp>
        <p:nvSpPr>
          <p:cNvPr id="3093" name="Google Shape;3093;p116"/>
          <p:cNvSpPr/>
          <p:nvPr/>
        </p:nvSpPr>
        <p:spPr>
          <a:xfrm>
            <a:off x="7361084" y="4869180"/>
            <a:ext cx="1371600" cy="205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700"/>
              <a:buFont typeface="Arial"/>
              <a:buNone/>
            </a:pPr>
            <a:r>
              <a:rPr lang="en-GB" sz="700">
                <a:solidFill>
                  <a:srgbClr val="94A3B8"/>
                </a:solidFill>
                <a:latin typeface="Arial"/>
                <a:ea typeface="Arial"/>
                <a:cs typeface="Arial"/>
                <a:sym typeface="Arial"/>
              </a:rPr>
              <a:t>7 / 82</a:t>
            </a:r>
            <a:endParaRPr sz="700">
              <a:solidFill>
                <a:schemeClr val="dk1"/>
              </a:solidFill>
              <a:latin typeface="Calibri"/>
              <a:ea typeface="Calibri"/>
              <a:cs typeface="Calibri"/>
              <a:sym typeface="Calibri"/>
            </a:endParaRPr>
          </a:p>
        </p:txBody>
      </p:sp>
      <p:sp>
        <p:nvSpPr>
          <p:cNvPr id="3094" name="Google Shape;3094;p116"/>
          <p:cNvSpPr/>
          <p:nvPr/>
        </p:nvSpPr>
        <p:spPr>
          <a:xfrm>
            <a:off x="411502" y="932688"/>
            <a:ext cx="8319300" cy="24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D"/>
              </a:buClr>
              <a:buSzPts val="1100"/>
              <a:buFont typeface="Arial"/>
              <a:buNone/>
            </a:pPr>
            <a:r>
              <a:rPr lang="en-GB" sz="1100">
                <a:solidFill>
                  <a:srgbClr val="5B6B7D"/>
                </a:solidFill>
                <a:latin typeface="Arial"/>
                <a:ea typeface="Arial"/>
                <a:cs typeface="Arial"/>
                <a:sym typeface="Arial"/>
              </a:rPr>
              <a:t>No ERP? MAIA can be the source of truth.   ·   Sync direction depends on the connector.</a:t>
            </a:r>
            <a:endParaRPr sz="1100">
              <a:solidFill>
                <a:schemeClr val="dk1"/>
              </a:solidFill>
              <a:latin typeface="Calibri"/>
              <a:ea typeface="Calibri"/>
              <a:cs typeface="Calibri"/>
              <a:sym typeface="Calibri"/>
            </a:endParaRPr>
          </a:p>
        </p:txBody>
      </p:sp>
      <p:sp>
        <p:nvSpPr>
          <p:cNvPr id="3095" name="Google Shape;3095;p116"/>
          <p:cNvSpPr/>
          <p:nvPr/>
        </p:nvSpPr>
        <p:spPr>
          <a:xfrm>
            <a:off x="411502" y="3188970"/>
            <a:ext cx="8319300" cy="342900"/>
          </a:xfrm>
          <a:prstGeom prst="roundRect">
            <a:avLst>
              <a:gd fmla="val 10000" name="adj"/>
            </a:avLst>
          </a:prstGeom>
          <a:solidFill>
            <a:srgbClr val="F5F7FA"/>
          </a:solidFill>
          <a:ln>
            <a:noFill/>
          </a:ln>
          <a:effectLst>
            <a:outerShdw blurRad="101600" rotWithShape="0" algn="bl" dir="5400000" dist="38100">
              <a:srgbClr val="1C2B3E">
                <a:alpha val="1019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096" name="Google Shape;3096;p116"/>
          <p:cNvSpPr/>
          <p:nvPr/>
        </p:nvSpPr>
        <p:spPr>
          <a:xfrm>
            <a:off x="548669" y="3257550"/>
            <a:ext cx="17832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9D5C"/>
              </a:buClr>
              <a:buSzPts val="900"/>
              <a:buFont typeface="Arial"/>
              <a:buNone/>
            </a:pPr>
            <a:r>
              <a:rPr b="1" lang="en-GB" sz="900">
                <a:solidFill>
                  <a:srgbClr val="1A9D5C"/>
                </a:solidFill>
                <a:latin typeface="Arial"/>
                <a:ea typeface="Arial"/>
                <a:cs typeface="Arial"/>
                <a:sym typeface="Arial"/>
              </a:rPr>
              <a:t>PULL INTO MAIA</a:t>
            </a:r>
            <a:endParaRPr sz="1100">
              <a:solidFill>
                <a:schemeClr val="dk1"/>
              </a:solidFill>
              <a:latin typeface="Calibri"/>
              <a:ea typeface="Calibri"/>
              <a:cs typeface="Calibri"/>
              <a:sym typeface="Calibri"/>
            </a:endParaRPr>
          </a:p>
        </p:txBody>
      </p:sp>
      <p:sp>
        <p:nvSpPr>
          <p:cNvPr id="3097" name="Google Shape;3097;p116"/>
          <p:cNvSpPr/>
          <p:nvPr/>
        </p:nvSpPr>
        <p:spPr>
          <a:xfrm>
            <a:off x="2434720" y="3260979"/>
            <a:ext cx="61725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D"/>
              </a:buClr>
              <a:buSzPts val="900"/>
              <a:buFont typeface="Arial"/>
              <a:buNone/>
            </a:pPr>
            <a:r>
              <a:rPr lang="en-GB" sz="900">
                <a:solidFill>
                  <a:srgbClr val="5B6B7D"/>
                </a:solidFill>
                <a:latin typeface="Arial"/>
                <a:ea typeface="Arial"/>
                <a:cs typeface="Arial"/>
                <a:sym typeface="Arial"/>
              </a:rPr>
              <a:t>Customers, items, price lists, stock, suppliers — webhook preferred, scheduled sync fallback</a:t>
            </a:r>
            <a:endParaRPr sz="1100">
              <a:solidFill>
                <a:schemeClr val="dk1"/>
              </a:solidFill>
              <a:latin typeface="Calibri"/>
              <a:ea typeface="Calibri"/>
              <a:cs typeface="Calibri"/>
              <a:sym typeface="Calibri"/>
            </a:endParaRPr>
          </a:p>
        </p:txBody>
      </p:sp>
      <p:sp>
        <p:nvSpPr>
          <p:cNvPr id="3098" name="Google Shape;3098;p116"/>
          <p:cNvSpPr/>
          <p:nvPr/>
        </p:nvSpPr>
        <p:spPr>
          <a:xfrm>
            <a:off x="411502" y="3586734"/>
            <a:ext cx="8319300" cy="342900"/>
          </a:xfrm>
          <a:prstGeom prst="roundRect">
            <a:avLst>
              <a:gd fmla="val 10000" name="adj"/>
            </a:avLst>
          </a:prstGeom>
          <a:solidFill>
            <a:srgbClr val="F5F7FA"/>
          </a:solidFill>
          <a:ln>
            <a:noFill/>
          </a:ln>
          <a:effectLst>
            <a:outerShdw blurRad="101600" rotWithShape="0" algn="bl" dir="5400000" dist="38100">
              <a:srgbClr val="1C2B3E">
                <a:alpha val="1019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099" name="Google Shape;3099;p116"/>
          <p:cNvSpPr/>
          <p:nvPr/>
        </p:nvSpPr>
        <p:spPr>
          <a:xfrm>
            <a:off x="548669" y="3655314"/>
            <a:ext cx="17832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21E"/>
              </a:buClr>
              <a:buSzPts val="900"/>
              <a:buFont typeface="Arial"/>
              <a:buNone/>
            </a:pPr>
            <a:r>
              <a:rPr b="1" lang="en-GB" sz="900">
                <a:solidFill>
                  <a:srgbClr val="E8821E"/>
                </a:solidFill>
                <a:latin typeface="Arial"/>
                <a:ea typeface="Arial"/>
                <a:cs typeface="Arial"/>
                <a:sym typeface="Arial"/>
              </a:rPr>
              <a:t>PUSH FROM MAIA</a:t>
            </a:r>
            <a:endParaRPr sz="1100">
              <a:solidFill>
                <a:schemeClr val="dk1"/>
              </a:solidFill>
              <a:latin typeface="Calibri"/>
              <a:ea typeface="Calibri"/>
              <a:cs typeface="Calibri"/>
              <a:sym typeface="Calibri"/>
            </a:endParaRPr>
          </a:p>
        </p:txBody>
      </p:sp>
      <p:sp>
        <p:nvSpPr>
          <p:cNvPr id="3100" name="Google Shape;3100;p116"/>
          <p:cNvSpPr/>
          <p:nvPr/>
        </p:nvSpPr>
        <p:spPr>
          <a:xfrm>
            <a:off x="2434720" y="3658743"/>
            <a:ext cx="61725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D"/>
              </a:buClr>
              <a:buSzPts val="900"/>
              <a:buFont typeface="Arial"/>
              <a:buNone/>
            </a:pPr>
            <a:r>
              <a:rPr lang="en-GB" sz="900">
                <a:solidFill>
                  <a:srgbClr val="5B6B7D"/>
                </a:solidFill>
                <a:latin typeface="Arial"/>
                <a:ea typeface="Arial"/>
                <a:cs typeface="Arial"/>
                <a:sym typeface="Arial"/>
              </a:rPr>
              <a:t>QT, SO, DN, SI, CN/DN adjustments, Payment Entry — on submit / workflow trigger</a:t>
            </a:r>
            <a:endParaRPr sz="1100">
              <a:solidFill>
                <a:schemeClr val="dk1"/>
              </a:solidFill>
              <a:latin typeface="Calibri"/>
              <a:ea typeface="Calibri"/>
              <a:cs typeface="Calibri"/>
              <a:sym typeface="Calibri"/>
            </a:endParaRPr>
          </a:p>
        </p:txBody>
      </p:sp>
      <p:sp>
        <p:nvSpPr>
          <p:cNvPr id="3101" name="Google Shape;3101;p116"/>
          <p:cNvSpPr/>
          <p:nvPr/>
        </p:nvSpPr>
        <p:spPr>
          <a:xfrm>
            <a:off x="411502" y="3984498"/>
            <a:ext cx="8319300" cy="342900"/>
          </a:xfrm>
          <a:prstGeom prst="roundRect">
            <a:avLst>
              <a:gd fmla="val 10000" name="adj"/>
            </a:avLst>
          </a:prstGeom>
          <a:solidFill>
            <a:srgbClr val="F5F7FA"/>
          </a:solidFill>
          <a:ln>
            <a:noFill/>
          </a:ln>
          <a:effectLst>
            <a:outerShdw blurRad="101600" rotWithShape="0" algn="bl" dir="5400000" dist="38100">
              <a:srgbClr val="1C2B3E">
                <a:alpha val="1019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102" name="Google Shape;3102;p116"/>
          <p:cNvSpPr/>
          <p:nvPr/>
        </p:nvSpPr>
        <p:spPr>
          <a:xfrm>
            <a:off x="548669" y="4053078"/>
            <a:ext cx="17832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D"/>
              </a:buClr>
              <a:buSzPts val="900"/>
              <a:buFont typeface="Arial"/>
              <a:buNone/>
            </a:pPr>
            <a:r>
              <a:rPr b="1" lang="en-GB" sz="900">
                <a:solidFill>
                  <a:srgbClr val="5B6B7D"/>
                </a:solidFill>
                <a:latin typeface="Arial"/>
                <a:ea typeface="Arial"/>
                <a:cs typeface="Arial"/>
                <a:sym typeface="Arial"/>
              </a:rPr>
              <a:t>TWO-WAY WHERE SCOPED</a:t>
            </a:r>
            <a:endParaRPr sz="1100">
              <a:solidFill>
                <a:schemeClr val="dk1"/>
              </a:solidFill>
              <a:latin typeface="Calibri"/>
              <a:ea typeface="Calibri"/>
              <a:cs typeface="Calibri"/>
              <a:sym typeface="Calibri"/>
            </a:endParaRPr>
          </a:p>
        </p:txBody>
      </p:sp>
      <p:sp>
        <p:nvSpPr>
          <p:cNvPr id="3103" name="Google Shape;3103;p116"/>
          <p:cNvSpPr/>
          <p:nvPr/>
        </p:nvSpPr>
        <p:spPr>
          <a:xfrm>
            <a:off x="2434720" y="4056507"/>
            <a:ext cx="61725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D"/>
              </a:buClr>
              <a:buSzPts val="900"/>
              <a:buFont typeface="Arial"/>
              <a:buNone/>
            </a:pPr>
            <a:r>
              <a:rPr lang="en-GB" sz="900">
                <a:solidFill>
                  <a:srgbClr val="5B6B7D"/>
                </a:solidFill>
                <a:latin typeface="Arial"/>
                <a:ea typeface="Arial"/>
                <a:cs typeface="Arial"/>
                <a:sym typeface="Arial"/>
              </a:rPr>
              <a:t>Customer &amp; item master only — conflicts need source-of-truth rules</a:t>
            </a:r>
            <a:endParaRPr sz="1100">
              <a:solidFill>
                <a:schemeClr val="dk1"/>
              </a:solidFill>
              <a:latin typeface="Calibri"/>
              <a:ea typeface="Calibri"/>
              <a:cs typeface="Calibri"/>
              <a:sym typeface="Calibri"/>
            </a:endParaRPr>
          </a:p>
        </p:txBody>
      </p:sp>
      <p:sp>
        <p:nvSpPr>
          <p:cNvPr id="3104" name="Google Shape;3104;p116"/>
          <p:cNvSpPr/>
          <p:nvPr/>
        </p:nvSpPr>
        <p:spPr>
          <a:xfrm>
            <a:off x="411502" y="4382262"/>
            <a:ext cx="8319300" cy="288000"/>
          </a:xfrm>
          <a:prstGeom prst="roundRect">
            <a:avLst>
              <a:gd fmla="val 10000" name="adj"/>
            </a:avLst>
          </a:prstGeom>
          <a:solidFill>
            <a:srgbClr val="1C2B3E"/>
          </a:solidFill>
          <a:ln>
            <a:noFill/>
          </a:ln>
          <a:effectLst>
            <a:outerShdw blurRad="101600" rotWithShape="0" algn="bl" dir="5400000" dist="38100">
              <a:srgbClr val="1C2B3E">
                <a:alpha val="1019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105" name="Google Shape;3105;p116"/>
          <p:cNvSpPr/>
          <p:nvPr/>
        </p:nvSpPr>
        <p:spPr>
          <a:xfrm>
            <a:off x="548669" y="4430268"/>
            <a:ext cx="80244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Arial"/>
              <a:buNone/>
            </a:pPr>
            <a:r>
              <a:rPr b="1" lang="en-GB" sz="900">
                <a:solidFill>
                  <a:srgbClr val="FFFFFF"/>
                </a:solidFill>
                <a:latin typeface="Arial"/>
                <a:ea typeface="Arial"/>
                <a:cs typeface="Arial"/>
                <a:sym typeface="Arial"/>
              </a:rPr>
              <a:t>No external ERP / accounting system?  MAIA owns customers, items, stock, orders, invoices, payments — and the audit trail.</a:t>
            </a:r>
            <a:endParaRPr sz="1100">
              <a:solidFill>
                <a:schemeClr val="dk1"/>
              </a:solidFill>
              <a:latin typeface="Calibri"/>
              <a:ea typeface="Calibri"/>
              <a:cs typeface="Calibri"/>
              <a:sym typeface="Calibri"/>
            </a:endParaRPr>
          </a:p>
        </p:txBody>
      </p:sp>
      <p:sp>
        <p:nvSpPr>
          <p:cNvPr id="3106" name="Google Shape;3106;p116"/>
          <p:cNvSpPr txBox="1"/>
          <p:nvPr>
            <p:ph idx="12" type="sldNum"/>
          </p:nvPr>
        </p:nvSpPr>
        <p:spPr>
          <a:xfrm>
            <a:off x="8347216" y="4750189"/>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3111" name="Shape 3111"/>
        <p:cNvGrpSpPr/>
        <p:nvPr/>
      </p:nvGrpSpPr>
      <p:grpSpPr>
        <a:xfrm>
          <a:off x="0" y="0"/>
          <a:ext cx="0" cy="0"/>
          <a:chOff x="0" y="0"/>
          <a:chExt cx="0" cy="0"/>
        </a:xfrm>
      </p:grpSpPr>
      <p:sp>
        <p:nvSpPr>
          <p:cNvPr id="3112" name="Google Shape;3112;p117"/>
          <p:cNvSpPr/>
          <p:nvPr/>
        </p:nvSpPr>
        <p:spPr>
          <a:xfrm>
            <a:off x="411502" y="260604"/>
            <a:ext cx="68583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SECTION 1</a:t>
            </a:r>
            <a:endParaRPr sz="800">
              <a:solidFill>
                <a:schemeClr val="dk1"/>
              </a:solidFill>
              <a:latin typeface="Calibri"/>
              <a:ea typeface="Calibri"/>
              <a:cs typeface="Calibri"/>
              <a:sym typeface="Calibri"/>
            </a:endParaRPr>
          </a:p>
        </p:txBody>
      </p:sp>
      <p:sp>
        <p:nvSpPr>
          <p:cNvPr id="3113" name="Google Shape;3113;p117"/>
          <p:cNvSpPr/>
          <p:nvPr/>
        </p:nvSpPr>
        <p:spPr>
          <a:xfrm>
            <a:off x="411502" y="438912"/>
            <a:ext cx="8321400" cy="480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C2B3E"/>
              </a:buClr>
              <a:buSzPts val="2200"/>
              <a:buFont typeface="Arial"/>
              <a:buNone/>
            </a:pPr>
            <a:r>
              <a:rPr b="1" lang="en-GB" sz="2200">
                <a:solidFill>
                  <a:srgbClr val="1C2B3E"/>
                </a:solidFill>
                <a:latin typeface="Arial"/>
                <a:ea typeface="Arial"/>
                <a:cs typeface="Arial"/>
                <a:sym typeface="Arial"/>
              </a:rPr>
              <a:t>Customer: more than a name.</a:t>
            </a:r>
            <a:endParaRPr sz="2200">
              <a:solidFill>
                <a:schemeClr val="dk1"/>
              </a:solidFill>
              <a:latin typeface="Calibri"/>
              <a:ea typeface="Calibri"/>
              <a:cs typeface="Calibri"/>
              <a:sym typeface="Calibri"/>
            </a:endParaRPr>
          </a:p>
        </p:txBody>
      </p:sp>
      <p:sp>
        <p:nvSpPr>
          <p:cNvPr id="3114" name="Google Shape;3114;p117"/>
          <p:cNvSpPr/>
          <p:nvPr/>
        </p:nvSpPr>
        <p:spPr>
          <a:xfrm>
            <a:off x="411502" y="932688"/>
            <a:ext cx="8321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D"/>
              </a:buClr>
              <a:buSzPts val="1100"/>
              <a:buFont typeface="Arial"/>
              <a:buNone/>
            </a:pPr>
            <a:r>
              <a:rPr lang="en-GB" sz="1100">
                <a:solidFill>
                  <a:srgbClr val="5B6B7D"/>
                </a:solidFill>
                <a:latin typeface="Arial"/>
                <a:ea typeface="Arial"/>
                <a:cs typeface="Arial"/>
                <a:sym typeface="Arial"/>
              </a:rPr>
              <a:t>A richer profile.   ·   Search in plain language.</a:t>
            </a:r>
            <a:endParaRPr sz="1100">
              <a:solidFill>
                <a:schemeClr val="dk1"/>
              </a:solidFill>
              <a:latin typeface="Calibri"/>
              <a:ea typeface="Calibri"/>
              <a:cs typeface="Calibri"/>
              <a:sym typeface="Calibri"/>
            </a:endParaRPr>
          </a:p>
        </p:txBody>
      </p:sp>
      <p:sp>
        <p:nvSpPr>
          <p:cNvPr id="3115" name="Google Shape;3115;p117"/>
          <p:cNvSpPr/>
          <p:nvPr/>
        </p:nvSpPr>
        <p:spPr>
          <a:xfrm>
            <a:off x="411502" y="1337310"/>
            <a:ext cx="4080600" cy="2434500"/>
          </a:xfrm>
          <a:prstGeom prst="roundRect">
            <a:avLst>
              <a:gd fmla="val 3380" name="adj"/>
            </a:avLst>
          </a:prstGeom>
          <a:solidFill>
            <a:srgbClr val="F5F7FA"/>
          </a:solidFill>
          <a:ln>
            <a:noFill/>
          </a:ln>
          <a:effectLst>
            <a:outerShdw blurRad="101600" rotWithShape="0" algn="bl" dir="5400000" dist="38100">
              <a:srgbClr val="1C2B3E">
                <a:alpha val="1019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116" name="Google Shape;3116;p117"/>
          <p:cNvSpPr/>
          <p:nvPr/>
        </p:nvSpPr>
        <p:spPr>
          <a:xfrm>
            <a:off x="562386" y="1433322"/>
            <a:ext cx="37791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900"/>
              <a:buFont typeface="Arial"/>
              <a:buNone/>
            </a:pPr>
            <a:r>
              <a:rPr b="1" lang="en-GB" sz="900">
                <a:solidFill>
                  <a:srgbClr val="1C2B3E"/>
                </a:solidFill>
                <a:latin typeface="Arial"/>
                <a:ea typeface="Arial"/>
                <a:cs typeface="Arial"/>
                <a:sym typeface="Arial"/>
              </a:rPr>
              <a:t>Warung Pak Din Sdn Bhd</a:t>
            </a:r>
            <a:endParaRPr sz="900">
              <a:solidFill>
                <a:schemeClr val="dk1"/>
              </a:solidFill>
              <a:latin typeface="Calibri"/>
              <a:ea typeface="Calibri"/>
              <a:cs typeface="Calibri"/>
              <a:sym typeface="Calibri"/>
            </a:endParaRPr>
          </a:p>
        </p:txBody>
      </p:sp>
      <p:sp>
        <p:nvSpPr>
          <p:cNvPr id="3117" name="Google Shape;3117;p117"/>
          <p:cNvSpPr/>
          <p:nvPr/>
        </p:nvSpPr>
        <p:spPr>
          <a:xfrm>
            <a:off x="4039577" y="1433322"/>
            <a:ext cx="288000" cy="288000"/>
          </a:xfrm>
          <a:prstGeom prst="roundRect">
            <a:avLst>
              <a:gd fmla="val 22000"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User_white.png" id="3118" name="Google Shape;3118;p117"/>
          <p:cNvPicPr preferRelativeResize="0"/>
          <p:nvPr/>
        </p:nvPicPr>
        <p:blipFill rotWithShape="1">
          <a:blip r:embed="rId3">
            <a:alphaModFix/>
          </a:blip>
          <a:srcRect b="0" l="0" r="0" t="0"/>
          <a:stretch/>
        </p:blipFill>
        <p:spPr>
          <a:xfrm>
            <a:off x="4104389" y="1498130"/>
            <a:ext cx="158419" cy="158419"/>
          </a:xfrm>
          <a:prstGeom prst="rect">
            <a:avLst/>
          </a:prstGeom>
          <a:noFill/>
          <a:ln>
            <a:noFill/>
          </a:ln>
        </p:spPr>
      </p:pic>
      <p:sp>
        <p:nvSpPr>
          <p:cNvPr id="3119" name="Google Shape;3119;p117"/>
          <p:cNvSpPr/>
          <p:nvPr/>
        </p:nvSpPr>
        <p:spPr>
          <a:xfrm>
            <a:off x="534953" y="1735074"/>
            <a:ext cx="3833700" cy="274200"/>
          </a:xfrm>
          <a:prstGeom prst="roundRect">
            <a:avLst>
              <a:gd fmla="val 15000" name="adj"/>
            </a:avLst>
          </a:prstGeom>
          <a:solidFill>
            <a:srgbClr val="FBEBD9"/>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120" name="Google Shape;3120;p117"/>
          <p:cNvSpPr/>
          <p:nvPr/>
        </p:nvSpPr>
        <p:spPr>
          <a:xfrm>
            <a:off x="630970" y="1776222"/>
            <a:ext cx="15297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900"/>
              <a:buFont typeface="Arial"/>
              <a:buNone/>
            </a:pPr>
            <a:r>
              <a:rPr lang="en-GB" sz="900">
                <a:solidFill>
                  <a:srgbClr val="94A3B8"/>
                </a:solidFill>
                <a:latin typeface="Arial"/>
                <a:ea typeface="Arial"/>
                <a:cs typeface="Arial"/>
                <a:sym typeface="Arial"/>
              </a:rPr>
              <a:t>Customer Group</a:t>
            </a:r>
            <a:endParaRPr sz="900">
              <a:solidFill>
                <a:schemeClr val="dk1"/>
              </a:solidFill>
              <a:latin typeface="Calibri"/>
              <a:ea typeface="Calibri"/>
              <a:cs typeface="Calibri"/>
              <a:sym typeface="Calibri"/>
            </a:endParaRPr>
          </a:p>
        </p:txBody>
      </p:sp>
      <p:sp>
        <p:nvSpPr>
          <p:cNvPr id="3121" name="Google Shape;3121;p117"/>
          <p:cNvSpPr/>
          <p:nvPr/>
        </p:nvSpPr>
        <p:spPr>
          <a:xfrm>
            <a:off x="2160522" y="1776222"/>
            <a:ext cx="2112300" cy="205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C2B3E"/>
              </a:buClr>
              <a:buSzPts val="900"/>
              <a:buFont typeface="Arial"/>
              <a:buNone/>
            </a:pPr>
            <a:r>
              <a:rPr b="1" lang="en-GB" sz="900">
                <a:solidFill>
                  <a:srgbClr val="1C2B3E"/>
                </a:solidFill>
                <a:latin typeface="Arial"/>
                <a:ea typeface="Arial"/>
                <a:cs typeface="Arial"/>
                <a:sym typeface="Arial"/>
              </a:rPr>
              <a:t>Trade — F&amp;B</a:t>
            </a:r>
            <a:endParaRPr sz="900">
              <a:solidFill>
                <a:schemeClr val="dk1"/>
              </a:solidFill>
              <a:latin typeface="Calibri"/>
              <a:ea typeface="Calibri"/>
              <a:cs typeface="Calibri"/>
              <a:sym typeface="Calibri"/>
            </a:endParaRPr>
          </a:p>
        </p:txBody>
      </p:sp>
      <p:sp>
        <p:nvSpPr>
          <p:cNvPr id="3122" name="Google Shape;3122;p117"/>
          <p:cNvSpPr/>
          <p:nvPr/>
        </p:nvSpPr>
        <p:spPr>
          <a:xfrm>
            <a:off x="534953" y="2043684"/>
            <a:ext cx="3833700" cy="274200"/>
          </a:xfrm>
          <a:prstGeom prst="roundRect">
            <a:avLst>
              <a:gd fmla="val 15000" name="adj"/>
            </a:avLst>
          </a:prstGeom>
          <a:solidFill>
            <a:srgbClr val="FBEBD9"/>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123" name="Google Shape;3123;p117"/>
          <p:cNvSpPr/>
          <p:nvPr/>
        </p:nvSpPr>
        <p:spPr>
          <a:xfrm>
            <a:off x="630970" y="2084832"/>
            <a:ext cx="15297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900"/>
              <a:buFont typeface="Arial"/>
              <a:buNone/>
            </a:pPr>
            <a:r>
              <a:rPr lang="en-GB" sz="900">
                <a:solidFill>
                  <a:srgbClr val="94A3B8"/>
                </a:solidFill>
                <a:latin typeface="Arial"/>
                <a:ea typeface="Arial"/>
                <a:cs typeface="Arial"/>
                <a:sym typeface="Arial"/>
              </a:rPr>
              <a:t>Territory</a:t>
            </a:r>
            <a:endParaRPr sz="900">
              <a:solidFill>
                <a:schemeClr val="dk1"/>
              </a:solidFill>
              <a:latin typeface="Calibri"/>
              <a:ea typeface="Calibri"/>
              <a:cs typeface="Calibri"/>
              <a:sym typeface="Calibri"/>
            </a:endParaRPr>
          </a:p>
        </p:txBody>
      </p:sp>
      <p:sp>
        <p:nvSpPr>
          <p:cNvPr id="3124" name="Google Shape;3124;p117"/>
          <p:cNvSpPr/>
          <p:nvPr/>
        </p:nvSpPr>
        <p:spPr>
          <a:xfrm>
            <a:off x="2160522" y="2084832"/>
            <a:ext cx="2112300" cy="205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C2B3E"/>
              </a:buClr>
              <a:buSzPts val="900"/>
              <a:buFont typeface="Arial"/>
              <a:buNone/>
            </a:pPr>
            <a:r>
              <a:rPr b="1" lang="en-GB" sz="900">
                <a:solidFill>
                  <a:srgbClr val="1C2B3E"/>
                </a:solidFill>
                <a:latin typeface="Arial"/>
                <a:ea typeface="Arial"/>
                <a:cs typeface="Arial"/>
                <a:sym typeface="Arial"/>
              </a:rPr>
              <a:t>Petaling Jaya</a:t>
            </a:r>
            <a:endParaRPr sz="900">
              <a:solidFill>
                <a:schemeClr val="dk1"/>
              </a:solidFill>
              <a:latin typeface="Calibri"/>
              <a:ea typeface="Calibri"/>
              <a:cs typeface="Calibri"/>
              <a:sym typeface="Calibri"/>
            </a:endParaRPr>
          </a:p>
        </p:txBody>
      </p:sp>
      <p:sp>
        <p:nvSpPr>
          <p:cNvPr id="3125" name="Google Shape;3125;p117"/>
          <p:cNvSpPr/>
          <p:nvPr/>
        </p:nvSpPr>
        <p:spPr>
          <a:xfrm>
            <a:off x="630970" y="2393442"/>
            <a:ext cx="15297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900"/>
              <a:buFont typeface="Arial"/>
              <a:buNone/>
            </a:pPr>
            <a:r>
              <a:rPr lang="en-GB" sz="900">
                <a:solidFill>
                  <a:srgbClr val="94A3B8"/>
                </a:solidFill>
                <a:latin typeface="Arial"/>
                <a:ea typeface="Arial"/>
                <a:cs typeface="Arial"/>
                <a:sym typeface="Arial"/>
              </a:rPr>
              <a:t>Payment Terms</a:t>
            </a:r>
            <a:endParaRPr sz="900">
              <a:solidFill>
                <a:schemeClr val="dk1"/>
              </a:solidFill>
              <a:latin typeface="Calibri"/>
              <a:ea typeface="Calibri"/>
              <a:cs typeface="Calibri"/>
              <a:sym typeface="Calibri"/>
            </a:endParaRPr>
          </a:p>
        </p:txBody>
      </p:sp>
      <p:sp>
        <p:nvSpPr>
          <p:cNvPr id="3126" name="Google Shape;3126;p117"/>
          <p:cNvSpPr/>
          <p:nvPr/>
        </p:nvSpPr>
        <p:spPr>
          <a:xfrm>
            <a:off x="2160522" y="2393442"/>
            <a:ext cx="2112300" cy="205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C2B3E"/>
              </a:buClr>
              <a:buSzPts val="900"/>
              <a:buFont typeface="Arial"/>
              <a:buNone/>
            </a:pPr>
            <a:r>
              <a:rPr b="1" lang="en-GB" sz="900">
                <a:solidFill>
                  <a:srgbClr val="1C2B3E"/>
                </a:solidFill>
                <a:latin typeface="Arial"/>
                <a:ea typeface="Arial"/>
                <a:cs typeface="Arial"/>
                <a:sym typeface="Arial"/>
              </a:rPr>
              <a:t>Net 30</a:t>
            </a:r>
            <a:endParaRPr sz="900">
              <a:solidFill>
                <a:schemeClr val="dk1"/>
              </a:solidFill>
              <a:latin typeface="Calibri"/>
              <a:ea typeface="Calibri"/>
              <a:cs typeface="Calibri"/>
              <a:sym typeface="Calibri"/>
            </a:endParaRPr>
          </a:p>
        </p:txBody>
      </p:sp>
      <p:sp>
        <p:nvSpPr>
          <p:cNvPr id="3127" name="Google Shape;3127;p117"/>
          <p:cNvSpPr/>
          <p:nvPr/>
        </p:nvSpPr>
        <p:spPr>
          <a:xfrm>
            <a:off x="630970" y="2702052"/>
            <a:ext cx="15297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900"/>
              <a:buFont typeface="Arial"/>
              <a:buNone/>
            </a:pPr>
            <a:r>
              <a:rPr lang="en-GB" sz="900">
                <a:solidFill>
                  <a:srgbClr val="94A3B8"/>
                </a:solidFill>
                <a:latin typeface="Arial"/>
                <a:ea typeface="Arial"/>
                <a:cs typeface="Arial"/>
                <a:sym typeface="Arial"/>
              </a:rPr>
              <a:t>Sales Person</a:t>
            </a:r>
            <a:endParaRPr sz="900">
              <a:solidFill>
                <a:schemeClr val="dk1"/>
              </a:solidFill>
              <a:latin typeface="Calibri"/>
              <a:ea typeface="Calibri"/>
              <a:cs typeface="Calibri"/>
              <a:sym typeface="Calibri"/>
            </a:endParaRPr>
          </a:p>
        </p:txBody>
      </p:sp>
      <p:sp>
        <p:nvSpPr>
          <p:cNvPr id="3128" name="Google Shape;3128;p117"/>
          <p:cNvSpPr/>
          <p:nvPr/>
        </p:nvSpPr>
        <p:spPr>
          <a:xfrm>
            <a:off x="2160522" y="2702052"/>
            <a:ext cx="2112300" cy="205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C2B3E"/>
              </a:buClr>
              <a:buSzPts val="900"/>
              <a:buFont typeface="Arial"/>
              <a:buNone/>
            </a:pPr>
            <a:r>
              <a:rPr b="1" lang="en-GB" sz="900">
                <a:solidFill>
                  <a:srgbClr val="1C2B3E"/>
                </a:solidFill>
                <a:latin typeface="Arial"/>
                <a:ea typeface="Arial"/>
                <a:cs typeface="Arial"/>
                <a:sym typeface="Arial"/>
              </a:rPr>
              <a:t>Aiman Yusof</a:t>
            </a:r>
            <a:endParaRPr sz="900">
              <a:solidFill>
                <a:schemeClr val="dk1"/>
              </a:solidFill>
              <a:latin typeface="Calibri"/>
              <a:ea typeface="Calibri"/>
              <a:cs typeface="Calibri"/>
              <a:sym typeface="Calibri"/>
            </a:endParaRPr>
          </a:p>
        </p:txBody>
      </p:sp>
      <p:sp>
        <p:nvSpPr>
          <p:cNvPr id="3129" name="Google Shape;3129;p117"/>
          <p:cNvSpPr/>
          <p:nvPr/>
        </p:nvSpPr>
        <p:spPr>
          <a:xfrm>
            <a:off x="534953" y="2969514"/>
            <a:ext cx="3833700" cy="274200"/>
          </a:xfrm>
          <a:prstGeom prst="roundRect">
            <a:avLst>
              <a:gd fmla="val 15000" name="adj"/>
            </a:avLst>
          </a:prstGeom>
          <a:solidFill>
            <a:srgbClr val="FBEBD9"/>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130" name="Google Shape;3130;p117"/>
          <p:cNvSpPr/>
          <p:nvPr/>
        </p:nvSpPr>
        <p:spPr>
          <a:xfrm>
            <a:off x="630970" y="3010662"/>
            <a:ext cx="15297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900"/>
              <a:buFont typeface="Arial"/>
              <a:buNone/>
            </a:pPr>
            <a:r>
              <a:rPr lang="en-GB" sz="900">
                <a:solidFill>
                  <a:srgbClr val="94A3B8"/>
                </a:solidFill>
                <a:latin typeface="Arial"/>
                <a:ea typeface="Arial"/>
                <a:cs typeface="Arial"/>
                <a:sym typeface="Arial"/>
              </a:rPr>
              <a:t>Default Price List</a:t>
            </a:r>
            <a:endParaRPr sz="900">
              <a:solidFill>
                <a:schemeClr val="dk1"/>
              </a:solidFill>
              <a:latin typeface="Calibri"/>
              <a:ea typeface="Calibri"/>
              <a:cs typeface="Calibri"/>
              <a:sym typeface="Calibri"/>
            </a:endParaRPr>
          </a:p>
        </p:txBody>
      </p:sp>
      <p:sp>
        <p:nvSpPr>
          <p:cNvPr id="3131" name="Google Shape;3131;p117"/>
          <p:cNvSpPr/>
          <p:nvPr/>
        </p:nvSpPr>
        <p:spPr>
          <a:xfrm>
            <a:off x="2160522" y="3010662"/>
            <a:ext cx="2112300" cy="205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C2B3E"/>
              </a:buClr>
              <a:buSzPts val="900"/>
              <a:buFont typeface="Arial"/>
              <a:buNone/>
            </a:pPr>
            <a:r>
              <a:rPr b="1" lang="en-GB" sz="900">
                <a:solidFill>
                  <a:srgbClr val="1C2B3E"/>
                </a:solidFill>
                <a:latin typeface="Arial"/>
                <a:ea typeface="Arial"/>
                <a:cs typeface="Arial"/>
                <a:sym typeface="Arial"/>
              </a:rPr>
              <a:t>Wholesale</a:t>
            </a:r>
            <a:endParaRPr sz="900">
              <a:solidFill>
                <a:schemeClr val="dk1"/>
              </a:solidFill>
              <a:latin typeface="Calibri"/>
              <a:ea typeface="Calibri"/>
              <a:cs typeface="Calibri"/>
              <a:sym typeface="Calibri"/>
            </a:endParaRPr>
          </a:p>
        </p:txBody>
      </p:sp>
      <p:sp>
        <p:nvSpPr>
          <p:cNvPr id="3132" name="Google Shape;3132;p117"/>
          <p:cNvSpPr/>
          <p:nvPr/>
        </p:nvSpPr>
        <p:spPr>
          <a:xfrm>
            <a:off x="603536" y="3429000"/>
            <a:ext cx="973800" cy="246900"/>
          </a:xfrm>
          <a:prstGeom prst="roundRect">
            <a:avLst>
              <a:gd fmla="val 50000"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133" name="Google Shape;3133;p117"/>
          <p:cNvSpPr/>
          <p:nvPr/>
        </p:nvSpPr>
        <p:spPr>
          <a:xfrm>
            <a:off x="603536" y="3429000"/>
            <a:ext cx="973800" cy="246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Notes (12)</a:t>
            </a:r>
            <a:endParaRPr sz="800">
              <a:solidFill>
                <a:schemeClr val="dk1"/>
              </a:solidFill>
              <a:latin typeface="Calibri"/>
              <a:ea typeface="Calibri"/>
              <a:cs typeface="Calibri"/>
              <a:sym typeface="Calibri"/>
            </a:endParaRPr>
          </a:p>
        </p:txBody>
      </p:sp>
      <p:sp>
        <p:nvSpPr>
          <p:cNvPr id="3134" name="Google Shape;3134;p117"/>
          <p:cNvSpPr/>
          <p:nvPr/>
        </p:nvSpPr>
        <p:spPr>
          <a:xfrm>
            <a:off x="1666583" y="3429000"/>
            <a:ext cx="973800" cy="246900"/>
          </a:xfrm>
          <a:prstGeom prst="roundRect">
            <a:avLst>
              <a:gd fmla="val 50000"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135" name="Google Shape;3135;p117"/>
          <p:cNvSpPr/>
          <p:nvPr/>
        </p:nvSpPr>
        <p:spPr>
          <a:xfrm>
            <a:off x="1666583" y="3429000"/>
            <a:ext cx="973800" cy="246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Tasks</a:t>
            </a:r>
            <a:endParaRPr sz="800">
              <a:solidFill>
                <a:schemeClr val="dk1"/>
              </a:solidFill>
              <a:latin typeface="Calibri"/>
              <a:ea typeface="Calibri"/>
              <a:cs typeface="Calibri"/>
              <a:sym typeface="Calibri"/>
            </a:endParaRPr>
          </a:p>
        </p:txBody>
      </p:sp>
      <p:sp>
        <p:nvSpPr>
          <p:cNvPr id="3136" name="Google Shape;3136;p117"/>
          <p:cNvSpPr/>
          <p:nvPr/>
        </p:nvSpPr>
        <p:spPr>
          <a:xfrm>
            <a:off x="2729630" y="3429000"/>
            <a:ext cx="973800" cy="246900"/>
          </a:xfrm>
          <a:prstGeom prst="roundRect">
            <a:avLst>
              <a:gd fmla="val 50000"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137" name="Google Shape;3137;p117"/>
          <p:cNvSpPr/>
          <p:nvPr/>
        </p:nvSpPr>
        <p:spPr>
          <a:xfrm>
            <a:off x="2729630" y="3429000"/>
            <a:ext cx="973800" cy="246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Events</a:t>
            </a:r>
            <a:endParaRPr sz="800">
              <a:solidFill>
                <a:schemeClr val="dk1"/>
              </a:solidFill>
              <a:latin typeface="Calibri"/>
              <a:ea typeface="Calibri"/>
              <a:cs typeface="Calibri"/>
              <a:sym typeface="Calibri"/>
            </a:endParaRPr>
          </a:p>
        </p:txBody>
      </p:sp>
      <p:sp>
        <p:nvSpPr>
          <p:cNvPr id="3138" name="Google Shape;3138;p117"/>
          <p:cNvSpPr/>
          <p:nvPr/>
        </p:nvSpPr>
        <p:spPr>
          <a:xfrm>
            <a:off x="4766564" y="1337310"/>
            <a:ext cx="3966300" cy="2434500"/>
          </a:xfrm>
          <a:prstGeom prst="roundRect">
            <a:avLst>
              <a:gd fmla="val 3380" name="adj"/>
            </a:avLst>
          </a:prstGeom>
          <a:solidFill>
            <a:srgbClr val="F5F7FA"/>
          </a:solidFill>
          <a:ln>
            <a:noFill/>
          </a:ln>
          <a:effectLst>
            <a:outerShdw blurRad="101600" rotWithShape="0" algn="bl" dir="5400000" dist="38100">
              <a:srgbClr val="1C2B3E">
                <a:alpha val="1019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139" name="Google Shape;3139;p117"/>
          <p:cNvSpPr/>
          <p:nvPr/>
        </p:nvSpPr>
        <p:spPr>
          <a:xfrm>
            <a:off x="4917448" y="1433322"/>
            <a:ext cx="36645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900"/>
              <a:buFont typeface="Arial"/>
              <a:buNone/>
            </a:pPr>
            <a:r>
              <a:rPr b="1" lang="en-GB" sz="900">
                <a:solidFill>
                  <a:srgbClr val="1C2B3E"/>
                </a:solidFill>
                <a:latin typeface="Arial"/>
                <a:ea typeface="Arial"/>
                <a:cs typeface="Arial"/>
                <a:sym typeface="Arial"/>
              </a:rPr>
              <a:t>Plain-language search</a:t>
            </a:r>
            <a:endParaRPr sz="900">
              <a:solidFill>
                <a:schemeClr val="dk1"/>
              </a:solidFill>
              <a:latin typeface="Calibri"/>
              <a:ea typeface="Calibri"/>
              <a:cs typeface="Calibri"/>
              <a:sym typeface="Calibri"/>
            </a:endParaRPr>
          </a:p>
        </p:txBody>
      </p:sp>
      <p:sp>
        <p:nvSpPr>
          <p:cNvPr id="3140" name="Google Shape;3140;p117"/>
          <p:cNvSpPr/>
          <p:nvPr/>
        </p:nvSpPr>
        <p:spPr>
          <a:xfrm>
            <a:off x="8280105" y="1433322"/>
            <a:ext cx="288000" cy="288000"/>
          </a:xfrm>
          <a:prstGeom prst="roundRect">
            <a:avLst>
              <a:gd fmla="val 22000"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Search_white.png" id="3141" name="Google Shape;3141;p117"/>
          <p:cNvPicPr preferRelativeResize="0"/>
          <p:nvPr/>
        </p:nvPicPr>
        <p:blipFill rotWithShape="1">
          <a:blip r:embed="rId4">
            <a:alphaModFix/>
          </a:blip>
          <a:srcRect b="0" l="0" r="0" t="0"/>
          <a:stretch/>
        </p:blipFill>
        <p:spPr>
          <a:xfrm>
            <a:off x="8344916" y="1498130"/>
            <a:ext cx="158419" cy="158419"/>
          </a:xfrm>
          <a:prstGeom prst="rect">
            <a:avLst/>
          </a:prstGeom>
          <a:noFill/>
          <a:ln>
            <a:noFill/>
          </a:ln>
        </p:spPr>
      </p:pic>
      <p:sp>
        <p:nvSpPr>
          <p:cNvPr id="3142" name="Google Shape;3142;p117"/>
          <p:cNvSpPr/>
          <p:nvPr/>
        </p:nvSpPr>
        <p:spPr>
          <a:xfrm>
            <a:off x="4931165" y="1789938"/>
            <a:ext cx="3636900" cy="411600"/>
          </a:xfrm>
          <a:prstGeom prst="roundRect">
            <a:avLst>
              <a:gd fmla="val 13333"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143" name="Google Shape;3143;p117"/>
          <p:cNvSpPr/>
          <p:nvPr/>
        </p:nvSpPr>
        <p:spPr>
          <a:xfrm>
            <a:off x="5040899" y="1789938"/>
            <a:ext cx="34176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Arial"/>
              <a:buNone/>
            </a:pPr>
            <a:r>
              <a:rPr i="1" lang="en-GB" sz="1000">
                <a:solidFill>
                  <a:srgbClr val="FFFFFF"/>
                </a:solidFill>
                <a:latin typeface="Arial"/>
                <a:ea typeface="Arial"/>
                <a:cs typeface="Arial"/>
                <a:sym typeface="Arial"/>
              </a:rPr>
              <a:t>“the mamak in PJ that buys oil every week”</a:t>
            </a:r>
            <a:endParaRPr sz="1000">
              <a:solidFill>
                <a:schemeClr val="dk1"/>
              </a:solidFill>
              <a:latin typeface="Calibri"/>
              <a:ea typeface="Calibri"/>
              <a:cs typeface="Calibri"/>
              <a:sym typeface="Calibri"/>
            </a:endParaRPr>
          </a:p>
        </p:txBody>
      </p:sp>
      <p:sp>
        <p:nvSpPr>
          <p:cNvPr id="3144" name="Google Shape;3144;p117"/>
          <p:cNvSpPr/>
          <p:nvPr/>
        </p:nvSpPr>
        <p:spPr>
          <a:xfrm>
            <a:off x="4931165" y="2366010"/>
            <a:ext cx="3636900" cy="1028700"/>
          </a:xfrm>
          <a:prstGeom prst="roundRect">
            <a:avLst>
              <a:gd fmla="val 5333" name="adj"/>
            </a:avLst>
          </a:prstGeom>
          <a:solidFill>
            <a:srgbClr val="FFFFFF"/>
          </a:solidFill>
          <a:ln cap="flat" cmpd="sng" w="12700">
            <a:solidFill>
              <a:srgbClr val="E3E8EF"/>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145" name="Google Shape;3145;p117"/>
          <p:cNvSpPr/>
          <p:nvPr/>
        </p:nvSpPr>
        <p:spPr>
          <a:xfrm>
            <a:off x="5040899" y="2475738"/>
            <a:ext cx="3417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1100"/>
              <a:buFont typeface="Arial"/>
              <a:buNone/>
            </a:pPr>
            <a:r>
              <a:rPr b="1" lang="en-GB" sz="1100">
                <a:solidFill>
                  <a:srgbClr val="1C2B3E"/>
                </a:solidFill>
                <a:latin typeface="Arial"/>
                <a:ea typeface="Arial"/>
                <a:cs typeface="Arial"/>
                <a:sym typeface="Arial"/>
              </a:rPr>
              <a:t>Warung Pak Din Sdn Bhd</a:t>
            </a:r>
            <a:endParaRPr sz="1100">
              <a:solidFill>
                <a:schemeClr val="dk1"/>
              </a:solidFill>
              <a:latin typeface="Calibri"/>
              <a:ea typeface="Calibri"/>
              <a:cs typeface="Calibri"/>
              <a:sym typeface="Calibri"/>
            </a:endParaRPr>
          </a:p>
        </p:txBody>
      </p:sp>
      <p:sp>
        <p:nvSpPr>
          <p:cNvPr id="3146" name="Google Shape;3146;p117"/>
          <p:cNvSpPr/>
          <p:nvPr/>
        </p:nvSpPr>
        <p:spPr>
          <a:xfrm>
            <a:off x="5040899" y="2777490"/>
            <a:ext cx="34176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D"/>
              </a:buClr>
              <a:buSzPts val="900"/>
              <a:buFont typeface="Arial"/>
              <a:buNone/>
            </a:pPr>
            <a:r>
              <a:rPr lang="en-GB" sz="900">
                <a:solidFill>
                  <a:srgbClr val="5B6B7D"/>
                </a:solidFill>
                <a:latin typeface="Arial"/>
                <a:ea typeface="Arial"/>
                <a:cs typeface="Arial"/>
                <a:sym typeface="Arial"/>
              </a:rPr>
              <a:t>Petaling Jaya  ·  Cooking Oil (weekly)  ·  Contact: Pak Din</a:t>
            </a:r>
            <a:endParaRPr sz="900">
              <a:solidFill>
                <a:schemeClr val="dk1"/>
              </a:solidFill>
              <a:latin typeface="Calibri"/>
              <a:ea typeface="Calibri"/>
              <a:cs typeface="Calibri"/>
              <a:sym typeface="Calibri"/>
            </a:endParaRPr>
          </a:p>
        </p:txBody>
      </p:sp>
      <p:sp>
        <p:nvSpPr>
          <p:cNvPr id="3147" name="Google Shape;3147;p117"/>
          <p:cNvSpPr/>
          <p:nvPr/>
        </p:nvSpPr>
        <p:spPr>
          <a:xfrm>
            <a:off x="411502" y="4011930"/>
            <a:ext cx="2636700" cy="651600"/>
          </a:xfrm>
          <a:prstGeom prst="roundRect">
            <a:avLst>
              <a:gd fmla="val 10526" name="adj"/>
            </a:avLst>
          </a:prstGeom>
          <a:solidFill>
            <a:srgbClr val="FFFFFF"/>
          </a:solidFill>
          <a:ln cap="flat" cmpd="sng" w="12700">
            <a:solidFill>
              <a:srgbClr val="E3E8EF"/>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148" name="Google Shape;3148;p117"/>
          <p:cNvSpPr/>
          <p:nvPr/>
        </p:nvSpPr>
        <p:spPr>
          <a:xfrm>
            <a:off x="548669" y="4080510"/>
            <a:ext cx="23622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21E"/>
              </a:buClr>
              <a:buSzPts val="900"/>
              <a:buFont typeface="Arial"/>
              <a:buNone/>
            </a:pPr>
            <a:r>
              <a:rPr b="1" lang="en-GB" sz="900">
                <a:solidFill>
                  <a:srgbClr val="E8821E"/>
                </a:solidFill>
                <a:latin typeface="Arial"/>
                <a:ea typeface="Arial"/>
                <a:cs typeface="Arial"/>
                <a:sym typeface="Arial"/>
              </a:rPr>
              <a:t>Richer data</a:t>
            </a:r>
            <a:endParaRPr sz="900">
              <a:solidFill>
                <a:schemeClr val="dk1"/>
              </a:solidFill>
              <a:latin typeface="Calibri"/>
              <a:ea typeface="Calibri"/>
              <a:cs typeface="Calibri"/>
              <a:sym typeface="Calibri"/>
            </a:endParaRPr>
          </a:p>
        </p:txBody>
      </p:sp>
      <p:sp>
        <p:nvSpPr>
          <p:cNvPr id="3149" name="Google Shape;3149;p117"/>
          <p:cNvSpPr/>
          <p:nvPr/>
        </p:nvSpPr>
        <p:spPr>
          <a:xfrm>
            <a:off x="548669" y="4299966"/>
            <a:ext cx="236220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D"/>
              </a:buClr>
              <a:buSzPts val="800"/>
              <a:buFont typeface="Arial"/>
              <a:buNone/>
            </a:pPr>
            <a:r>
              <a:rPr lang="en-GB" sz="800">
                <a:solidFill>
                  <a:srgbClr val="5B6B7D"/>
                </a:solidFill>
                <a:latin typeface="Arial"/>
                <a:ea typeface="Arial"/>
                <a:cs typeface="Arial"/>
                <a:sym typeface="Arial"/>
              </a:rPr>
              <a:t>More fields than a standard accounting system.</a:t>
            </a:r>
            <a:endParaRPr sz="800">
              <a:solidFill>
                <a:schemeClr val="dk1"/>
              </a:solidFill>
              <a:latin typeface="Calibri"/>
              <a:ea typeface="Calibri"/>
              <a:cs typeface="Calibri"/>
              <a:sym typeface="Calibri"/>
            </a:endParaRPr>
          </a:p>
        </p:txBody>
      </p:sp>
      <p:sp>
        <p:nvSpPr>
          <p:cNvPr id="3150" name="Google Shape;3150;p117"/>
          <p:cNvSpPr/>
          <p:nvPr/>
        </p:nvSpPr>
        <p:spPr>
          <a:xfrm>
            <a:off x="3253837" y="4011930"/>
            <a:ext cx="2636700" cy="651600"/>
          </a:xfrm>
          <a:prstGeom prst="roundRect">
            <a:avLst>
              <a:gd fmla="val 10526" name="adj"/>
            </a:avLst>
          </a:prstGeom>
          <a:solidFill>
            <a:srgbClr val="FFFFFF"/>
          </a:solidFill>
          <a:ln cap="flat" cmpd="sng" w="12700">
            <a:solidFill>
              <a:srgbClr val="E3E8EF"/>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151" name="Google Shape;3151;p117"/>
          <p:cNvSpPr/>
          <p:nvPr/>
        </p:nvSpPr>
        <p:spPr>
          <a:xfrm>
            <a:off x="3391004" y="4080510"/>
            <a:ext cx="23622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21E"/>
              </a:buClr>
              <a:buSzPts val="900"/>
              <a:buFont typeface="Arial"/>
              <a:buNone/>
            </a:pPr>
            <a:r>
              <a:rPr b="1" lang="en-GB" sz="900">
                <a:solidFill>
                  <a:srgbClr val="E8821E"/>
                </a:solidFill>
                <a:latin typeface="Arial"/>
                <a:ea typeface="Arial"/>
                <a:cs typeface="Arial"/>
                <a:sym typeface="Arial"/>
              </a:rPr>
              <a:t>Plain-language search</a:t>
            </a:r>
            <a:endParaRPr sz="900">
              <a:solidFill>
                <a:schemeClr val="dk1"/>
              </a:solidFill>
              <a:latin typeface="Calibri"/>
              <a:ea typeface="Calibri"/>
              <a:cs typeface="Calibri"/>
              <a:sym typeface="Calibri"/>
            </a:endParaRPr>
          </a:p>
        </p:txBody>
      </p:sp>
      <p:sp>
        <p:nvSpPr>
          <p:cNvPr id="3152" name="Google Shape;3152;p117"/>
          <p:cNvSpPr/>
          <p:nvPr/>
        </p:nvSpPr>
        <p:spPr>
          <a:xfrm>
            <a:off x="3391004" y="4299966"/>
            <a:ext cx="236220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D"/>
              </a:buClr>
              <a:buSzPts val="800"/>
              <a:buFont typeface="Arial"/>
              <a:buNone/>
            </a:pPr>
            <a:r>
              <a:rPr lang="en-GB" sz="800">
                <a:solidFill>
                  <a:srgbClr val="5B6B7D"/>
                </a:solidFill>
                <a:latin typeface="Arial"/>
                <a:ea typeface="Arial"/>
                <a:cs typeface="Arial"/>
                <a:sym typeface="Arial"/>
              </a:rPr>
              <a:t>Nickname, area, or what they usually buy — all work.</a:t>
            </a:r>
            <a:endParaRPr sz="800">
              <a:solidFill>
                <a:schemeClr val="dk1"/>
              </a:solidFill>
              <a:latin typeface="Calibri"/>
              <a:ea typeface="Calibri"/>
              <a:cs typeface="Calibri"/>
              <a:sym typeface="Calibri"/>
            </a:endParaRPr>
          </a:p>
        </p:txBody>
      </p:sp>
      <p:sp>
        <p:nvSpPr>
          <p:cNvPr id="3153" name="Google Shape;3153;p117"/>
          <p:cNvSpPr/>
          <p:nvPr/>
        </p:nvSpPr>
        <p:spPr>
          <a:xfrm>
            <a:off x="6096173" y="4011930"/>
            <a:ext cx="2636700" cy="651600"/>
          </a:xfrm>
          <a:prstGeom prst="roundRect">
            <a:avLst>
              <a:gd fmla="val 10526" name="adj"/>
            </a:avLst>
          </a:prstGeom>
          <a:solidFill>
            <a:srgbClr val="FFFFFF"/>
          </a:solidFill>
          <a:ln cap="flat" cmpd="sng" w="12700">
            <a:solidFill>
              <a:srgbClr val="E3E8EF"/>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154" name="Google Shape;3154;p117"/>
          <p:cNvSpPr/>
          <p:nvPr/>
        </p:nvSpPr>
        <p:spPr>
          <a:xfrm>
            <a:off x="6233340" y="4080510"/>
            <a:ext cx="23622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21E"/>
              </a:buClr>
              <a:buSzPts val="900"/>
              <a:buFont typeface="Arial"/>
              <a:buNone/>
            </a:pPr>
            <a:r>
              <a:rPr b="1" lang="en-GB" sz="900">
                <a:solidFill>
                  <a:srgbClr val="E8821E"/>
                </a:solidFill>
                <a:latin typeface="Arial"/>
                <a:ea typeface="Arial"/>
                <a:cs typeface="Arial"/>
                <a:sym typeface="Arial"/>
              </a:rPr>
              <a:t>One source of truth</a:t>
            </a:r>
            <a:endParaRPr sz="900">
              <a:solidFill>
                <a:schemeClr val="dk1"/>
              </a:solidFill>
              <a:latin typeface="Calibri"/>
              <a:ea typeface="Calibri"/>
              <a:cs typeface="Calibri"/>
              <a:sym typeface="Calibri"/>
            </a:endParaRPr>
          </a:p>
        </p:txBody>
      </p:sp>
      <p:sp>
        <p:nvSpPr>
          <p:cNvPr id="3155" name="Google Shape;3155;p117"/>
          <p:cNvSpPr/>
          <p:nvPr/>
        </p:nvSpPr>
        <p:spPr>
          <a:xfrm>
            <a:off x="6233340" y="4299966"/>
            <a:ext cx="236220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D"/>
              </a:buClr>
              <a:buSzPts val="800"/>
              <a:buFont typeface="Arial"/>
              <a:buNone/>
            </a:pPr>
            <a:r>
              <a:rPr lang="en-GB" sz="800">
                <a:solidFill>
                  <a:srgbClr val="5B6B7D"/>
                </a:solidFill>
                <a:latin typeface="Arial"/>
                <a:ea typeface="Arial"/>
                <a:cs typeface="Arial"/>
                <a:sym typeface="Arial"/>
              </a:rPr>
              <a:t>Notes, tasks &amp; events — not in someone's WhatsApp.</a:t>
            </a:r>
            <a:endParaRPr sz="800">
              <a:solidFill>
                <a:schemeClr val="dk1"/>
              </a:solidFill>
              <a:latin typeface="Calibri"/>
              <a:ea typeface="Calibri"/>
              <a:cs typeface="Calibri"/>
              <a:sym typeface="Calibri"/>
            </a:endParaRPr>
          </a:p>
        </p:txBody>
      </p:sp>
      <p:sp>
        <p:nvSpPr>
          <p:cNvPr id="3156" name="Google Shape;3156;p117"/>
          <p:cNvSpPr/>
          <p:nvPr/>
        </p:nvSpPr>
        <p:spPr>
          <a:xfrm>
            <a:off x="411502" y="4869180"/>
            <a:ext cx="54867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700"/>
              <a:buFont typeface="Arial"/>
              <a:buNone/>
            </a:pPr>
            <a:r>
              <a:rPr lang="en-GB" sz="700">
                <a:solidFill>
                  <a:srgbClr val="94A3B8"/>
                </a:solidFill>
                <a:latin typeface="Arial"/>
                <a:ea typeface="Arial"/>
                <a:cs typeface="Arial"/>
                <a:sym typeface="Arial"/>
              </a:rPr>
              <a:t>SECTION 1</a:t>
            </a:r>
            <a:endParaRPr sz="700">
              <a:solidFill>
                <a:schemeClr val="dk1"/>
              </a:solidFill>
              <a:latin typeface="Calibri"/>
              <a:ea typeface="Calibri"/>
              <a:cs typeface="Calibri"/>
              <a:sym typeface="Calibri"/>
            </a:endParaRPr>
          </a:p>
        </p:txBody>
      </p:sp>
      <p:sp>
        <p:nvSpPr>
          <p:cNvPr id="3157" name="Google Shape;3157;p117"/>
          <p:cNvSpPr/>
          <p:nvPr/>
        </p:nvSpPr>
        <p:spPr>
          <a:xfrm>
            <a:off x="7361084" y="4869180"/>
            <a:ext cx="1371600" cy="205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700"/>
              <a:buFont typeface="Arial"/>
              <a:buNone/>
            </a:pPr>
            <a:r>
              <a:rPr lang="en-GB" sz="700">
                <a:solidFill>
                  <a:srgbClr val="94A3B8"/>
                </a:solidFill>
                <a:latin typeface="Arial"/>
                <a:ea typeface="Arial"/>
                <a:cs typeface="Arial"/>
                <a:sym typeface="Arial"/>
              </a:rPr>
              <a:t>8 / 82</a:t>
            </a:r>
            <a:endParaRPr sz="700">
              <a:solidFill>
                <a:schemeClr val="dk1"/>
              </a:solidFill>
              <a:latin typeface="Calibri"/>
              <a:ea typeface="Calibri"/>
              <a:cs typeface="Calibri"/>
              <a:sym typeface="Calibri"/>
            </a:endParaRPr>
          </a:p>
        </p:txBody>
      </p:sp>
      <p:sp>
        <p:nvSpPr>
          <p:cNvPr id="3158" name="Google Shape;3158;p117"/>
          <p:cNvSpPr txBox="1"/>
          <p:nvPr>
            <p:ph idx="12" type="sldNum"/>
          </p:nvPr>
        </p:nvSpPr>
        <p:spPr>
          <a:xfrm>
            <a:off x="8347216" y="4750189"/>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3163" name="Shape 3163"/>
        <p:cNvGrpSpPr/>
        <p:nvPr/>
      </p:nvGrpSpPr>
      <p:grpSpPr>
        <a:xfrm>
          <a:off x="0" y="0"/>
          <a:ext cx="0" cy="0"/>
          <a:chOff x="0" y="0"/>
          <a:chExt cx="0" cy="0"/>
        </a:xfrm>
      </p:grpSpPr>
      <p:sp>
        <p:nvSpPr>
          <p:cNvPr id="3164" name="Google Shape;3164;p118"/>
          <p:cNvSpPr/>
          <p:nvPr/>
        </p:nvSpPr>
        <p:spPr>
          <a:xfrm>
            <a:off x="411502" y="260604"/>
            <a:ext cx="68583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SECTION 1</a:t>
            </a:r>
            <a:endParaRPr sz="800">
              <a:solidFill>
                <a:schemeClr val="dk1"/>
              </a:solidFill>
              <a:latin typeface="Calibri"/>
              <a:ea typeface="Calibri"/>
              <a:cs typeface="Calibri"/>
              <a:sym typeface="Calibri"/>
            </a:endParaRPr>
          </a:p>
        </p:txBody>
      </p:sp>
      <p:sp>
        <p:nvSpPr>
          <p:cNvPr id="3165" name="Google Shape;3165;p118"/>
          <p:cNvSpPr/>
          <p:nvPr/>
        </p:nvSpPr>
        <p:spPr>
          <a:xfrm>
            <a:off x="411502" y="438912"/>
            <a:ext cx="8321400" cy="480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C2B3E"/>
              </a:buClr>
              <a:buSzPts val="2200"/>
              <a:buFont typeface="Arial"/>
              <a:buNone/>
            </a:pPr>
            <a:r>
              <a:rPr b="1" lang="en-GB" sz="2200">
                <a:solidFill>
                  <a:srgbClr val="1C2B3E"/>
                </a:solidFill>
                <a:latin typeface="Poppins"/>
                <a:ea typeface="Poppins"/>
                <a:cs typeface="Poppins"/>
                <a:sym typeface="Poppins"/>
              </a:rPr>
              <a:t>Accounts Receivable: match money to invoices.</a:t>
            </a:r>
            <a:endParaRPr b="1" sz="2200">
              <a:solidFill>
                <a:srgbClr val="1C2B3E"/>
              </a:solidFill>
              <a:latin typeface="Poppins"/>
              <a:ea typeface="Poppins"/>
              <a:cs typeface="Poppins"/>
              <a:sym typeface="Poppins"/>
            </a:endParaRPr>
          </a:p>
          <a:p>
            <a:pPr indent="0" lvl="0" marL="0" marR="0" rtl="0" algn="l">
              <a:lnSpc>
                <a:spcPct val="100000"/>
              </a:lnSpc>
              <a:spcBef>
                <a:spcPts val="0"/>
              </a:spcBef>
              <a:spcAft>
                <a:spcPts val="0"/>
              </a:spcAft>
              <a:buClr>
                <a:srgbClr val="1C2B3E"/>
              </a:buClr>
              <a:buSzPts val="2200"/>
              <a:buFont typeface="Arial"/>
              <a:buNone/>
            </a:pPr>
            <a:r>
              <a:rPr lang="en-GB" sz="1800">
                <a:solidFill>
                  <a:srgbClr val="1C2B3E"/>
                </a:solidFill>
                <a:latin typeface="Poppins Light"/>
                <a:ea typeface="Poppins Light"/>
                <a:cs typeface="Poppins Light"/>
                <a:sym typeface="Poppins Light"/>
              </a:rPr>
              <a:t>MAIA suggests, finance reviews and confirms.</a:t>
            </a:r>
            <a:endParaRPr sz="1800">
              <a:solidFill>
                <a:srgbClr val="1C2B3E"/>
              </a:solidFill>
              <a:latin typeface="Poppins Light"/>
              <a:ea typeface="Poppins Light"/>
              <a:cs typeface="Poppins Light"/>
              <a:sym typeface="Poppins Light"/>
            </a:endParaRPr>
          </a:p>
        </p:txBody>
      </p:sp>
      <p:sp>
        <p:nvSpPr>
          <p:cNvPr id="3166" name="Google Shape;3166;p118"/>
          <p:cNvSpPr/>
          <p:nvPr/>
        </p:nvSpPr>
        <p:spPr>
          <a:xfrm>
            <a:off x="411500" y="1680200"/>
            <a:ext cx="1510500" cy="1909200"/>
          </a:xfrm>
          <a:prstGeom prst="roundRect">
            <a:avLst>
              <a:gd fmla="val 5882" name="adj"/>
            </a:avLst>
          </a:prstGeom>
          <a:solidFill>
            <a:srgbClr val="F5F7FA"/>
          </a:solidFill>
          <a:ln>
            <a:noFill/>
          </a:ln>
          <a:effectLst>
            <a:outerShdw blurRad="101600" rotWithShape="0" algn="bl" dir="5400000" dist="38100">
              <a:srgbClr val="1C2B3E">
                <a:alpha val="1019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167" name="Google Shape;3167;p118"/>
          <p:cNvSpPr/>
          <p:nvPr/>
        </p:nvSpPr>
        <p:spPr>
          <a:xfrm>
            <a:off x="995355" y="1803654"/>
            <a:ext cx="342900" cy="342900"/>
          </a:xfrm>
          <a:prstGeom prst="ellipse">
            <a:avLst/>
          </a:pr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FileText_accent.png" id="3168" name="Google Shape;3168;p118"/>
          <p:cNvPicPr preferRelativeResize="0"/>
          <p:nvPr/>
        </p:nvPicPr>
        <p:blipFill rotWithShape="1">
          <a:blip r:embed="rId3">
            <a:alphaModFix/>
          </a:blip>
          <a:srcRect b="0" l="0" r="0" t="0"/>
          <a:stretch/>
        </p:blipFill>
        <p:spPr>
          <a:xfrm>
            <a:off x="1081084" y="1889379"/>
            <a:ext cx="171450" cy="171450"/>
          </a:xfrm>
          <a:prstGeom prst="rect">
            <a:avLst/>
          </a:prstGeom>
          <a:noFill/>
          <a:ln>
            <a:noFill/>
          </a:ln>
        </p:spPr>
      </p:pic>
      <p:sp>
        <p:nvSpPr>
          <p:cNvPr id="3169" name="Google Shape;3169;p118"/>
          <p:cNvSpPr/>
          <p:nvPr/>
        </p:nvSpPr>
        <p:spPr>
          <a:xfrm>
            <a:off x="466369" y="2215134"/>
            <a:ext cx="14010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2B3E"/>
              </a:buClr>
              <a:buSzPts val="900"/>
              <a:buFont typeface="Arial"/>
              <a:buNone/>
            </a:pPr>
            <a:r>
              <a:rPr b="1" lang="en-GB" sz="900">
                <a:solidFill>
                  <a:srgbClr val="1C2B3E"/>
                </a:solidFill>
                <a:latin typeface="Arial"/>
                <a:ea typeface="Arial"/>
                <a:cs typeface="Arial"/>
                <a:sym typeface="Arial"/>
              </a:rPr>
              <a:t>Bank Statement</a:t>
            </a:r>
            <a:endParaRPr sz="900">
              <a:solidFill>
                <a:schemeClr val="dk1"/>
              </a:solidFill>
              <a:latin typeface="Calibri"/>
              <a:ea typeface="Calibri"/>
              <a:cs typeface="Calibri"/>
              <a:sym typeface="Calibri"/>
            </a:endParaRPr>
          </a:p>
        </p:txBody>
      </p:sp>
      <p:sp>
        <p:nvSpPr>
          <p:cNvPr id="3170" name="Google Shape;3170;p118"/>
          <p:cNvSpPr/>
          <p:nvPr/>
        </p:nvSpPr>
        <p:spPr>
          <a:xfrm>
            <a:off x="721020" y="2558034"/>
            <a:ext cx="891600" cy="192000"/>
          </a:xfrm>
          <a:prstGeom prst="roundRect">
            <a:avLst>
              <a:gd fmla="val 50000" name="adj"/>
            </a:avLst>
          </a:pr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171" name="Google Shape;3171;p118"/>
          <p:cNvSpPr/>
          <p:nvPr/>
        </p:nvSpPr>
        <p:spPr>
          <a:xfrm>
            <a:off x="721020" y="2558034"/>
            <a:ext cx="891600" cy="192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600"/>
              <a:buFont typeface="Arial"/>
              <a:buNone/>
            </a:pPr>
            <a:r>
              <a:rPr b="1" lang="en-GB" sz="600">
                <a:solidFill>
                  <a:srgbClr val="94A3B8"/>
                </a:solidFill>
                <a:latin typeface="Arial"/>
                <a:ea typeface="Arial"/>
                <a:cs typeface="Arial"/>
                <a:sym typeface="Arial"/>
              </a:rPr>
              <a:t>UPLOADED</a:t>
            </a:r>
            <a:endParaRPr sz="600">
              <a:solidFill>
                <a:schemeClr val="dk1"/>
              </a:solidFill>
              <a:latin typeface="Calibri"/>
              <a:ea typeface="Calibri"/>
              <a:cs typeface="Calibri"/>
              <a:sym typeface="Calibri"/>
            </a:endParaRPr>
          </a:p>
        </p:txBody>
      </p:sp>
      <p:sp>
        <p:nvSpPr>
          <p:cNvPr id="3172" name="Google Shape;3172;p118"/>
          <p:cNvSpPr/>
          <p:nvPr/>
        </p:nvSpPr>
        <p:spPr>
          <a:xfrm>
            <a:off x="1880975" y="2366010"/>
            <a:ext cx="2742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2100"/>
              <a:buFont typeface="Arial"/>
              <a:buNone/>
            </a:pPr>
            <a:r>
              <a:rPr b="1" lang="en-GB" sz="2100">
                <a:solidFill>
                  <a:srgbClr val="94A3B8"/>
                </a:solidFill>
                <a:latin typeface="Arial"/>
                <a:ea typeface="Arial"/>
                <a:cs typeface="Arial"/>
                <a:sym typeface="Arial"/>
              </a:rPr>
              <a:t>›</a:t>
            </a:r>
            <a:endParaRPr sz="2100">
              <a:solidFill>
                <a:schemeClr val="dk1"/>
              </a:solidFill>
              <a:latin typeface="Calibri"/>
              <a:ea typeface="Calibri"/>
              <a:cs typeface="Calibri"/>
              <a:sym typeface="Calibri"/>
            </a:endParaRPr>
          </a:p>
        </p:txBody>
      </p:sp>
      <p:sp>
        <p:nvSpPr>
          <p:cNvPr id="3173" name="Google Shape;3173;p118"/>
          <p:cNvSpPr/>
          <p:nvPr/>
        </p:nvSpPr>
        <p:spPr>
          <a:xfrm>
            <a:off x="2114156" y="1680200"/>
            <a:ext cx="1510500" cy="1909200"/>
          </a:xfrm>
          <a:prstGeom prst="roundRect">
            <a:avLst>
              <a:gd fmla="val 5882" name="adj"/>
            </a:avLst>
          </a:prstGeom>
          <a:solidFill>
            <a:srgbClr val="F5F7FA"/>
          </a:solidFill>
          <a:ln>
            <a:noFill/>
          </a:ln>
          <a:effectLst>
            <a:outerShdw blurRad="101600" rotWithShape="0" algn="bl" dir="5400000" dist="38100">
              <a:srgbClr val="1C2B3E">
                <a:alpha val="1019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174" name="Google Shape;3174;p118"/>
          <p:cNvSpPr/>
          <p:nvPr/>
        </p:nvSpPr>
        <p:spPr>
          <a:xfrm>
            <a:off x="2698012" y="1803654"/>
            <a:ext cx="342900" cy="342900"/>
          </a:xfrm>
          <a:prstGeom prst="ellipse">
            <a:avLst/>
          </a:pr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ShoppingCart_accent.png" id="3175" name="Google Shape;3175;p118"/>
          <p:cNvPicPr preferRelativeResize="0"/>
          <p:nvPr/>
        </p:nvPicPr>
        <p:blipFill rotWithShape="1">
          <a:blip r:embed="rId4">
            <a:alphaModFix/>
          </a:blip>
          <a:srcRect b="0" l="0" r="0" t="0"/>
          <a:stretch/>
        </p:blipFill>
        <p:spPr>
          <a:xfrm>
            <a:off x="2783742" y="1889379"/>
            <a:ext cx="171450" cy="171450"/>
          </a:xfrm>
          <a:prstGeom prst="rect">
            <a:avLst/>
          </a:prstGeom>
          <a:noFill/>
          <a:ln>
            <a:noFill/>
          </a:ln>
        </p:spPr>
      </p:pic>
      <p:sp>
        <p:nvSpPr>
          <p:cNvPr id="3176" name="Google Shape;3176;p118"/>
          <p:cNvSpPr/>
          <p:nvPr/>
        </p:nvSpPr>
        <p:spPr>
          <a:xfrm>
            <a:off x="2169026" y="2215134"/>
            <a:ext cx="14010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2B3E"/>
              </a:buClr>
              <a:buSzPts val="900"/>
              <a:buFont typeface="Arial"/>
              <a:buNone/>
            </a:pPr>
            <a:r>
              <a:rPr b="1" lang="en-GB" sz="900">
                <a:solidFill>
                  <a:srgbClr val="1C2B3E"/>
                </a:solidFill>
                <a:latin typeface="Arial"/>
                <a:ea typeface="Arial"/>
                <a:cs typeface="Arial"/>
                <a:sym typeface="Arial"/>
              </a:rPr>
              <a:t>Matched Invoice</a:t>
            </a:r>
            <a:endParaRPr sz="900">
              <a:solidFill>
                <a:schemeClr val="dk1"/>
              </a:solidFill>
              <a:latin typeface="Calibri"/>
              <a:ea typeface="Calibri"/>
              <a:cs typeface="Calibri"/>
              <a:sym typeface="Calibri"/>
            </a:endParaRPr>
          </a:p>
        </p:txBody>
      </p:sp>
      <p:sp>
        <p:nvSpPr>
          <p:cNvPr id="3177" name="Google Shape;3177;p118"/>
          <p:cNvSpPr/>
          <p:nvPr/>
        </p:nvSpPr>
        <p:spPr>
          <a:xfrm>
            <a:off x="2423678" y="2558034"/>
            <a:ext cx="891600" cy="192000"/>
          </a:xfrm>
          <a:prstGeom prst="roundRect">
            <a:avLst>
              <a:gd fmla="val 50000" name="adj"/>
            </a:avLst>
          </a:pr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178" name="Google Shape;3178;p118"/>
          <p:cNvSpPr/>
          <p:nvPr/>
        </p:nvSpPr>
        <p:spPr>
          <a:xfrm>
            <a:off x="2423678" y="2558034"/>
            <a:ext cx="891600" cy="192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600"/>
              <a:buFont typeface="Arial"/>
              <a:buNone/>
            </a:pPr>
            <a:r>
              <a:rPr b="1" lang="en-GB" sz="600">
                <a:solidFill>
                  <a:srgbClr val="94A3B8"/>
                </a:solidFill>
                <a:latin typeface="Arial"/>
                <a:ea typeface="Arial"/>
                <a:cs typeface="Arial"/>
                <a:sym typeface="Arial"/>
              </a:rPr>
              <a:t>✓ MATCHED</a:t>
            </a:r>
            <a:endParaRPr sz="600">
              <a:solidFill>
                <a:schemeClr val="dk1"/>
              </a:solidFill>
              <a:latin typeface="Calibri"/>
              <a:ea typeface="Calibri"/>
              <a:cs typeface="Calibri"/>
              <a:sym typeface="Calibri"/>
            </a:endParaRPr>
          </a:p>
        </p:txBody>
      </p:sp>
      <p:sp>
        <p:nvSpPr>
          <p:cNvPr id="3179" name="Google Shape;3179;p118"/>
          <p:cNvSpPr/>
          <p:nvPr/>
        </p:nvSpPr>
        <p:spPr>
          <a:xfrm>
            <a:off x="3583633" y="2366010"/>
            <a:ext cx="2742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2100"/>
              <a:buFont typeface="Arial"/>
              <a:buNone/>
            </a:pPr>
            <a:r>
              <a:rPr b="1" lang="en-GB" sz="2100">
                <a:solidFill>
                  <a:srgbClr val="94A3B8"/>
                </a:solidFill>
                <a:latin typeface="Arial"/>
                <a:ea typeface="Arial"/>
                <a:cs typeface="Arial"/>
                <a:sym typeface="Arial"/>
              </a:rPr>
              <a:t>›</a:t>
            </a:r>
            <a:endParaRPr sz="2100">
              <a:solidFill>
                <a:schemeClr val="dk1"/>
              </a:solidFill>
              <a:latin typeface="Calibri"/>
              <a:ea typeface="Calibri"/>
              <a:cs typeface="Calibri"/>
              <a:sym typeface="Calibri"/>
            </a:endParaRPr>
          </a:p>
        </p:txBody>
      </p:sp>
      <p:sp>
        <p:nvSpPr>
          <p:cNvPr id="3180" name="Google Shape;3180;p118"/>
          <p:cNvSpPr/>
          <p:nvPr/>
        </p:nvSpPr>
        <p:spPr>
          <a:xfrm>
            <a:off x="3816813" y="1680200"/>
            <a:ext cx="1510500" cy="1909200"/>
          </a:xfrm>
          <a:prstGeom prst="roundRect">
            <a:avLst>
              <a:gd fmla="val 5882" name="adj"/>
            </a:avLst>
          </a:prstGeom>
          <a:solidFill>
            <a:srgbClr val="F5F7FA"/>
          </a:solidFill>
          <a:ln>
            <a:noFill/>
          </a:ln>
          <a:effectLst>
            <a:outerShdw blurRad="101600" rotWithShape="0" algn="bl" dir="5400000" dist="38100">
              <a:srgbClr val="1C2B3E">
                <a:alpha val="1019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181" name="Google Shape;3181;p118"/>
          <p:cNvSpPr/>
          <p:nvPr/>
        </p:nvSpPr>
        <p:spPr>
          <a:xfrm>
            <a:off x="4400671" y="1803654"/>
            <a:ext cx="342900" cy="342900"/>
          </a:xfrm>
          <a:prstGeom prst="ellipse">
            <a:avLst/>
          </a:pr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Clipboard_accent.png" id="3182" name="Google Shape;3182;p118"/>
          <p:cNvPicPr preferRelativeResize="0"/>
          <p:nvPr/>
        </p:nvPicPr>
        <p:blipFill rotWithShape="1">
          <a:blip r:embed="rId5">
            <a:alphaModFix/>
          </a:blip>
          <a:srcRect b="0" l="0" r="0" t="0"/>
          <a:stretch/>
        </p:blipFill>
        <p:spPr>
          <a:xfrm>
            <a:off x="4486400" y="1889379"/>
            <a:ext cx="171450" cy="171450"/>
          </a:xfrm>
          <a:prstGeom prst="rect">
            <a:avLst/>
          </a:prstGeom>
          <a:noFill/>
          <a:ln>
            <a:noFill/>
          </a:ln>
        </p:spPr>
      </p:pic>
      <p:sp>
        <p:nvSpPr>
          <p:cNvPr id="3183" name="Google Shape;3183;p118"/>
          <p:cNvSpPr/>
          <p:nvPr/>
        </p:nvSpPr>
        <p:spPr>
          <a:xfrm>
            <a:off x="3871685" y="2215134"/>
            <a:ext cx="14010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2B3E"/>
              </a:buClr>
              <a:buSzPts val="900"/>
              <a:buFont typeface="Arial"/>
              <a:buNone/>
            </a:pPr>
            <a:r>
              <a:rPr b="1" lang="en-GB" sz="900">
                <a:solidFill>
                  <a:srgbClr val="1C2B3E"/>
                </a:solidFill>
                <a:latin typeface="Arial"/>
                <a:ea typeface="Arial"/>
                <a:cs typeface="Arial"/>
                <a:sym typeface="Arial"/>
              </a:rPr>
              <a:t>Payment Entry</a:t>
            </a:r>
            <a:endParaRPr sz="900">
              <a:solidFill>
                <a:schemeClr val="dk1"/>
              </a:solidFill>
              <a:latin typeface="Calibri"/>
              <a:ea typeface="Calibri"/>
              <a:cs typeface="Calibri"/>
              <a:sym typeface="Calibri"/>
            </a:endParaRPr>
          </a:p>
        </p:txBody>
      </p:sp>
      <p:sp>
        <p:nvSpPr>
          <p:cNvPr id="3184" name="Google Shape;3184;p118"/>
          <p:cNvSpPr/>
          <p:nvPr/>
        </p:nvSpPr>
        <p:spPr>
          <a:xfrm>
            <a:off x="4126336" y="2558034"/>
            <a:ext cx="891600" cy="192000"/>
          </a:xfrm>
          <a:prstGeom prst="roundRect">
            <a:avLst>
              <a:gd fmla="val 50000" name="adj"/>
            </a:avLst>
          </a:pr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185" name="Google Shape;3185;p118"/>
          <p:cNvSpPr/>
          <p:nvPr/>
        </p:nvSpPr>
        <p:spPr>
          <a:xfrm>
            <a:off x="4126336" y="2558034"/>
            <a:ext cx="891600" cy="192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600"/>
              <a:buFont typeface="Arial"/>
              <a:buNone/>
            </a:pPr>
            <a:r>
              <a:rPr b="1" lang="en-GB" sz="600">
                <a:solidFill>
                  <a:srgbClr val="94A3B8"/>
                </a:solidFill>
                <a:latin typeface="Arial"/>
                <a:ea typeface="Arial"/>
                <a:cs typeface="Arial"/>
                <a:sym typeface="Arial"/>
              </a:rPr>
              <a:t>ALLOCATED</a:t>
            </a:r>
            <a:endParaRPr sz="600">
              <a:solidFill>
                <a:schemeClr val="dk1"/>
              </a:solidFill>
              <a:latin typeface="Calibri"/>
              <a:ea typeface="Calibri"/>
              <a:cs typeface="Calibri"/>
              <a:sym typeface="Calibri"/>
            </a:endParaRPr>
          </a:p>
        </p:txBody>
      </p:sp>
      <p:sp>
        <p:nvSpPr>
          <p:cNvPr id="3186" name="Google Shape;3186;p118"/>
          <p:cNvSpPr/>
          <p:nvPr/>
        </p:nvSpPr>
        <p:spPr>
          <a:xfrm>
            <a:off x="411502" y="4328160"/>
            <a:ext cx="8319300" cy="30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D"/>
              </a:buClr>
              <a:buSzPts val="1000"/>
              <a:buFont typeface="Arial"/>
              <a:buNone/>
            </a:pPr>
            <a:r>
              <a:rPr i="1" lang="en-GB" sz="1000">
                <a:solidFill>
                  <a:srgbClr val="5B6B7D"/>
                </a:solidFill>
                <a:latin typeface="Arial"/>
                <a:ea typeface="Arial"/>
                <a:cs typeface="Arial"/>
                <a:sym typeface="Arial"/>
              </a:rPr>
              <a:t>MAIA suggests the match and prepares the allocation. Finance verifies money received and confirms ambiguous cases.</a:t>
            </a:r>
            <a:endParaRPr sz="1000">
              <a:solidFill>
                <a:schemeClr val="dk1"/>
              </a:solidFill>
              <a:latin typeface="Calibri"/>
              <a:ea typeface="Calibri"/>
              <a:cs typeface="Calibri"/>
              <a:sym typeface="Calibri"/>
            </a:endParaRPr>
          </a:p>
        </p:txBody>
      </p:sp>
      <p:sp>
        <p:nvSpPr>
          <p:cNvPr id="3187" name="Google Shape;3187;p118"/>
          <p:cNvSpPr/>
          <p:nvPr/>
        </p:nvSpPr>
        <p:spPr>
          <a:xfrm>
            <a:off x="411552" y="1241288"/>
            <a:ext cx="8319300" cy="24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D"/>
              </a:buClr>
              <a:buSzPts val="1100"/>
              <a:buFont typeface="Arial"/>
              <a:buNone/>
            </a:pPr>
            <a:r>
              <a:rPr i="0" lang="en-GB" sz="1100">
                <a:solidFill>
                  <a:srgbClr val="5B6B7D"/>
                </a:solidFill>
                <a:latin typeface="Arial"/>
                <a:ea typeface="Arial"/>
                <a:cs typeface="Arial"/>
                <a:sym typeface="Arial"/>
              </a:rPr>
              <a:t>Bank statement   →   Sales Invoice   →   Payment Entry.</a:t>
            </a:r>
            <a:endParaRPr sz="1000">
              <a:solidFill>
                <a:schemeClr val="dk1"/>
              </a:solidFill>
              <a:latin typeface="Calibri"/>
              <a:ea typeface="Calibri"/>
              <a:cs typeface="Calibri"/>
              <a:sym typeface="Calibri"/>
            </a:endParaRPr>
          </a:p>
        </p:txBody>
      </p:sp>
      <p:sp>
        <p:nvSpPr>
          <p:cNvPr id="3188" name="Google Shape;3188;p118"/>
          <p:cNvSpPr/>
          <p:nvPr/>
        </p:nvSpPr>
        <p:spPr>
          <a:xfrm>
            <a:off x="466369" y="2811779"/>
            <a:ext cx="13992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700"/>
              <a:buFont typeface="Arial"/>
              <a:buNone/>
            </a:pPr>
            <a:r>
              <a:rPr i="0" lang="en-GB" sz="700">
                <a:solidFill>
                  <a:srgbClr val="94A3B8"/>
                </a:solidFill>
                <a:latin typeface="Arial"/>
                <a:ea typeface="Arial"/>
                <a:cs typeface="Arial"/>
                <a:sym typeface="Arial"/>
              </a:rPr>
              <a:t>raw bank lines, standardised</a:t>
            </a:r>
            <a:endParaRPr sz="1000">
              <a:solidFill>
                <a:schemeClr val="dk1"/>
              </a:solidFill>
              <a:latin typeface="Calibri"/>
              <a:ea typeface="Calibri"/>
              <a:cs typeface="Calibri"/>
              <a:sym typeface="Calibri"/>
            </a:endParaRPr>
          </a:p>
        </p:txBody>
      </p:sp>
      <p:sp>
        <p:nvSpPr>
          <p:cNvPr id="3189" name="Google Shape;3189;p118"/>
          <p:cNvSpPr/>
          <p:nvPr/>
        </p:nvSpPr>
        <p:spPr>
          <a:xfrm>
            <a:off x="2167244" y="2798064"/>
            <a:ext cx="1399200" cy="185100"/>
          </a:xfrm>
          <a:prstGeom prst="roundRect">
            <a:avLst>
              <a:gd fmla="val 50000" name="adj"/>
            </a:avLst>
          </a:prstGeom>
          <a:solidFill>
            <a:srgbClr val="F0F2F5"/>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190" name="Google Shape;3190;p118"/>
          <p:cNvSpPr/>
          <p:nvPr/>
        </p:nvSpPr>
        <p:spPr>
          <a:xfrm>
            <a:off x="2167244" y="2798064"/>
            <a:ext cx="1399200" cy="185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2B3E"/>
              </a:buClr>
              <a:buSzPts val="700"/>
              <a:buFont typeface="Arial"/>
              <a:buNone/>
            </a:pPr>
            <a:r>
              <a:rPr b="1" lang="en-GB" sz="700">
                <a:solidFill>
                  <a:srgbClr val="1C2B3E"/>
                </a:solidFill>
                <a:latin typeface="Arial"/>
                <a:ea typeface="Arial"/>
                <a:cs typeface="Arial"/>
                <a:sym typeface="Arial"/>
              </a:rPr>
              <a:t>Invoice # match</a:t>
            </a:r>
            <a:endParaRPr sz="600">
              <a:solidFill>
                <a:schemeClr val="dk1"/>
              </a:solidFill>
              <a:latin typeface="Calibri"/>
              <a:ea typeface="Calibri"/>
              <a:cs typeface="Calibri"/>
              <a:sym typeface="Calibri"/>
            </a:endParaRPr>
          </a:p>
        </p:txBody>
      </p:sp>
      <p:sp>
        <p:nvSpPr>
          <p:cNvPr id="3191" name="Google Shape;3191;p118"/>
          <p:cNvSpPr/>
          <p:nvPr/>
        </p:nvSpPr>
        <p:spPr>
          <a:xfrm>
            <a:off x="2167244" y="3010661"/>
            <a:ext cx="1399200" cy="185100"/>
          </a:xfrm>
          <a:prstGeom prst="roundRect">
            <a:avLst>
              <a:gd fmla="val 50000" name="adj"/>
            </a:avLst>
          </a:prstGeom>
          <a:solidFill>
            <a:srgbClr val="F0F2F5"/>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192" name="Google Shape;3192;p118"/>
          <p:cNvSpPr/>
          <p:nvPr/>
        </p:nvSpPr>
        <p:spPr>
          <a:xfrm>
            <a:off x="2167244" y="3010661"/>
            <a:ext cx="1399200" cy="185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2B3E"/>
              </a:buClr>
              <a:buSzPts val="700"/>
              <a:buFont typeface="Arial"/>
              <a:buNone/>
            </a:pPr>
            <a:r>
              <a:rPr b="1" lang="en-GB" sz="700">
                <a:solidFill>
                  <a:srgbClr val="1C2B3E"/>
                </a:solidFill>
                <a:latin typeface="Arial"/>
                <a:ea typeface="Arial"/>
                <a:cs typeface="Arial"/>
                <a:sym typeface="Arial"/>
              </a:rPr>
              <a:t>Amount match</a:t>
            </a:r>
            <a:endParaRPr sz="600">
              <a:solidFill>
                <a:schemeClr val="dk1"/>
              </a:solidFill>
              <a:latin typeface="Calibri"/>
              <a:ea typeface="Calibri"/>
              <a:cs typeface="Calibri"/>
              <a:sym typeface="Calibri"/>
            </a:endParaRPr>
          </a:p>
        </p:txBody>
      </p:sp>
      <p:sp>
        <p:nvSpPr>
          <p:cNvPr id="3193" name="Google Shape;3193;p118"/>
          <p:cNvSpPr/>
          <p:nvPr/>
        </p:nvSpPr>
        <p:spPr>
          <a:xfrm>
            <a:off x="2167244" y="3223259"/>
            <a:ext cx="1399200" cy="185100"/>
          </a:xfrm>
          <a:prstGeom prst="roundRect">
            <a:avLst>
              <a:gd fmla="val 50000" name="adj"/>
            </a:avLst>
          </a:prstGeom>
          <a:solidFill>
            <a:srgbClr val="F0F2F5"/>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194" name="Google Shape;3194;p118"/>
          <p:cNvSpPr/>
          <p:nvPr/>
        </p:nvSpPr>
        <p:spPr>
          <a:xfrm>
            <a:off x="2167244" y="3223259"/>
            <a:ext cx="1399200" cy="185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2B3E"/>
              </a:buClr>
              <a:buSzPts val="700"/>
              <a:buFont typeface="Arial"/>
              <a:buNone/>
            </a:pPr>
            <a:r>
              <a:rPr b="1" lang="en-GB" sz="700">
                <a:solidFill>
                  <a:srgbClr val="1C2B3E"/>
                </a:solidFill>
                <a:latin typeface="Arial"/>
                <a:ea typeface="Arial"/>
                <a:cs typeface="Arial"/>
                <a:sym typeface="Arial"/>
              </a:rPr>
              <a:t>Customer </a:t>
            </a:r>
            <a:r>
              <a:rPr b="1" lang="en-GB" sz="700">
                <a:solidFill>
                  <a:srgbClr val="1C2B3E"/>
                </a:solidFill>
              </a:rPr>
              <a:t>identified</a:t>
            </a:r>
            <a:endParaRPr sz="600">
              <a:solidFill>
                <a:schemeClr val="dk1"/>
              </a:solidFill>
              <a:latin typeface="Calibri"/>
              <a:ea typeface="Calibri"/>
              <a:cs typeface="Calibri"/>
              <a:sym typeface="Calibri"/>
            </a:endParaRPr>
          </a:p>
        </p:txBody>
      </p:sp>
      <p:sp>
        <p:nvSpPr>
          <p:cNvPr id="3195" name="Google Shape;3195;p118"/>
          <p:cNvSpPr/>
          <p:nvPr/>
        </p:nvSpPr>
        <p:spPr>
          <a:xfrm>
            <a:off x="3874977" y="2811779"/>
            <a:ext cx="13992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700"/>
              <a:buFont typeface="Arial"/>
              <a:buNone/>
            </a:pPr>
            <a:r>
              <a:rPr i="0" lang="en-GB" sz="700">
                <a:solidFill>
                  <a:srgbClr val="94A3B8"/>
                </a:solidFill>
                <a:latin typeface="Arial"/>
                <a:ea typeface="Arial"/>
                <a:cs typeface="Arial"/>
                <a:sym typeface="Arial"/>
              </a:rPr>
              <a:t>ready to post</a:t>
            </a:r>
            <a:endParaRPr sz="1000">
              <a:solidFill>
                <a:schemeClr val="dk1"/>
              </a:solidFill>
              <a:latin typeface="Calibri"/>
              <a:ea typeface="Calibri"/>
              <a:cs typeface="Calibri"/>
              <a:sym typeface="Calibri"/>
            </a:endParaRPr>
          </a:p>
        </p:txBody>
      </p:sp>
      <p:sp>
        <p:nvSpPr>
          <p:cNvPr id="3196" name="Google Shape;3196;p118"/>
          <p:cNvSpPr/>
          <p:nvPr/>
        </p:nvSpPr>
        <p:spPr>
          <a:xfrm>
            <a:off x="5520978" y="1680200"/>
            <a:ext cx="3209700" cy="1909200"/>
          </a:xfrm>
          <a:prstGeom prst="roundRect">
            <a:avLst>
              <a:gd fmla="val 5882" name="adj"/>
            </a:avLst>
          </a:prstGeom>
          <a:solidFill>
            <a:srgbClr val="FBEBD9"/>
          </a:solidFill>
          <a:ln>
            <a:noFill/>
          </a:ln>
          <a:effectLst>
            <a:outerShdw blurRad="101600" rotWithShape="0" algn="bl" dir="5400000" dist="38100">
              <a:srgbClr val="1C2B3E">
                <a:alpha val="1019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197" name="Google Shape;3197;p118"/>
          <p:cNvSpPr/>
          <p:nvPr/>
        </p:nvSpPr>
        <p:spPr>
          <a:xfrm>
            <a:off x="5644435" y="1789938"/>
            <a:ext cx="2962800" cy="24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2640A"/>
              </a:buClr>
              <a:buSzPts val="1000"/>
              <a:buFont typeface="Arial"/>
              <a:buNone/>
            </a:pPr>
            <a:r>
              <a:rPr b="1" lang="en-GB" sz="1000">
                <a:solidFill>
                  <a:srgbClr val="C2640A"/>
                </a:solidFill>
                <a:latin typeface="Arial"/>
                <a:ea typeface="Arial"/>
                <a:cs typeface="Arial"/>
                <a:sym typeface="Arial"/>
              </a:rPr>
              <a:t>⚠  EXCEPTIONS</a:t>
            </a:r>
            <a:endParaRPr sz="900">
              <a:solidFill>
                <a:schemeClr val="dk1"/>
              </a:solidFill>
              <a:latin typeface="Calibri"/>
              <a:ea typeface="Calibri"/>
              <a:cs typeface="Calibri"/>
              <a:sym typeface="Calibri"/>
            </a:endParaRPr>
          </a:p>
        </p:txBody>
      </p:sp>
      <p:sp>
        <p:nvSpPr>
          <p:cNvPr id="3198" name="Google Shape;3198;p118"/>
          <p:cNvSpPr/>
          <p:nvPr/>
        </p:nvSpPr>
        <p:spPr>
          <a:xfrm>
            <a:off x="5644435" y="2057400"/>
            <a:ext cx="2962800" cy="425100"/>
          </a:xfrm>
          <a:prstGeom prst="roundRect">
            <a:avLst>
              <a:gd fmla="val 50000" name="adj"/>
            </a:avLst>
          </a:pr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199" name="Google Shape;3199;p118"/>
          <p:cNvSpPr/>
          <p:nvPr/>
        </p:nvSpPr>
        <p:spPr>
          <a:xfrm>
            <a:off x="5754169" y="2057400"/>
            <a:ext cx="2853000" cy="425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2B3E"/>
              </a:buClr>
              <a:buSzPts val="900"/>
              <a:buFont typeface="Arial"/>
              <a:buNone/>
            </a:pPr>
            <a:r>
              <a:rPr b="1" lang="en-GB" sz="900">
                <a:solidFill>
                  <a:srgbClr val="1C2B3E"/>
                </a:solidFill>
                <a:latin typeface="Arial"/>
                <a:ea typeface="Arial"/>
                <a:cs typeface="Arial"/>
                <a:sym typeface="Arial"/>
              </a:rPr>
              <a:t>Short payment</a:t>
            </a:r>
            <a:endParaRPr sz="600">
              <a:solidFill>
                <a:schemeClr val="dk1"/>
              </a:solidFill>
              <a:latin typeface="Calibri"/>
              <a:ea typeface="Calibri"/>
              <a:cs typeface="Calibri"/>
              <a:sym typeface="Calibri"/>
            </a:endParaRPr>
          </a:p>
        </p:txBody>
      </p:sp>
      <p:sp>
        <p:nvSpPr>
          <p:cNvPr id="3200" name="Google Shape;3200;p118"/>
          <p:cNvSpPr/>
          <p:nvPr/>
        </p:nvSpPr>
        <p:spPr>
          <a:xfrm>
            <a:off x="5644435" y="2537460"/>
            <a:ext cx="2962800" cy="425100"/>
          </a:xfrm>
          <a:prstGeom prst="roundRect">
            <a:avLst>
              <a:gd fmla="val 50000" name="adj"/>
            </a:avLst>
          </a:pr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201" name="Google Shape;3201;p118"/>
          <p:cNvSpPr/>
          <p:nvPr/>
        </p:nvSpPr>
        <p:spPr>
          <a:xfrm>
            <a:off x="5754169" y="2537460"/>
            <a:ext cx="2853000" cy="425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2B3E"/>
              </a:buClr>
              <a:buSzPts val="900"/>
              <a:buFont typeface="Arial"/>
              <a:buNone/>
            </a:pPr>
            <a:r>
              <a:rPr b="1" lang="en-GB" sz="900">
                <a:solidFill>
                  <a:srgbClr val="1C2B3E"/>
                </a:solidFill>
                <a:latin typeface="Arial"/>
                <a:ea typeface="Arial"/>
                <a:cs typeface="Arial"/>
                <a:sym typeface="Arial"/>
              </a:rPr>
              <a:t>Multiple-invoice sum</a:t>
            </a:r>
            <a:endParaRPr sz="600">
              <a:solidFill>
                <a:schemeClr val="dk1"/>
              </a:solidFill>
              <a:latin typeface="Calibri"/>
              <a:ea typeface="Calibri"/>
              <a:cs typeface="Calibri"/>
              <a:sym typeface="Calibri"/>
            </a:endParaRPr>
          </a:p>
        </p:txBody>
      </p:sp>
      <p:sp>
        <p:nvSpPr>
          <p:cNvPr id="3202" name="Google Shape;3202;p118"/>
          <p:cNvSpPr/>
          <p:nvPr/>
        </p:nvSpPr>
        <p:spPr>
          <a:xfrm>
            <a:off x="5644435" y="3017520"/>
            <a:ext cx="2962800" cy="425100"/>
          </a:xfrm>
          <a:prstGeom prst="roundRect">
            <a:avLst>
              <a:gd fmla="val 50000" name="adj"/>
            </a:avLst>
          </a:pr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203" name="Google Shape;3203;p118"/>
          <p:cNvSpPr/>
          <p:nvPr/>
        </p:nvSpPr>
        <p:spPr>
          <a:xfrm>
            <a:off x="5754169" y="3017520"/>
            <a:ext cx="2853000" cy="425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2B3E"/>
              </a:buClr>
              <a:buSzPts val="900"/>
              <a:buFont typeface="Arial"/>
              <a:buNone/>
            </a:pPr>
            <a:r>
              <a:rPr b="1" lang="en-GB" sz="900">
                <a:solidFill>
                  <a:srgbClr val="1C2B3E"/>
                </a:solidFill>
                <a:latin typeface="Arial"/>
                <a:ea typeface="Arial"/>
                <a:cs typeface="Arial"/>
                <a:sym typeface="Arial"/>
              </a:rPr>
              <a:t>Unclear payer</a:t>
            </a:r>
            <a:endParaRPr sz="600">
              <a:solidFill>
                <a:schemeClr val="dk1"/>
              </a:solidFill>
              <a:latin typeface="Calibri"/>
              <a:ea typeface="Calibri"/>
              <a:cs typeface="Calibri"/>
              <a:sym typeface="Calibri"/>
            </a:endParaRPr>
          </a:p>
        </p:txBody>
      </p:sp>
      <p:sp>
        <p:nvSpPr>
          <p:cNvPr id="3204" name="Google Shape;3204;p118"/>
          <p:cNvSpPr txBox="1"/>
          <p:nvPr>
            <p:ph idx="12" type="sldNum"/>
          </p:nvPr>
        </p:nvSpPr>
        <p:spPr>
          <a:xfrm>
            <a:off x="8347216" y="4750189"/>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3205" name="Google Shape;3205;p118"/>
          <p:cNvSpPr/>
          <p:nvPr/>
        </p:nvSpPr>
        <p:spPr>
          <a:xfrm>
            <a:off x="502462" y="3108688"/>
            <a:ext cx="1328700" cy="171600"/>
          </a:xfrm>
          <a:prstGeom prst="roundRect">
            <a:avLst>
              <a:gd fmla="val 24884" name="adj"/>
            </a:avLst>
          </a:prstGeom>
          <a:solidFill>
            <a:srgbClr val="E3E8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000"/>
              <a:t>RM5,200</a:t>
            </a:r>
            <a:endParaRPr sz="1000"/>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3210" name="Shape 3210"/>
        <p:cNvGrpSpPr/>
        <p:nvPr/>
      </p:nvGrpSpPr>
      <p:grpSpPr>
        <a:xfrm>
          <a:off x="0" y="0"/>
          <a:ext cx="0" cy="0"/>
          <a:chOff x="0" y="0"/>
          <a:chExt cx="0" cy="0"/>
        </a:xfrm>
      </p:grpSpPr>
      <p:sp>
        <p:nvSpPr>
          <p:cNvPr id="3211" name="Google Shape;3211;p119"/>
          <p:cNvSpPr/>
          <p:nvPr/>
        </p:nvSpPr>
        <p:spPr>
          <a:xfrm>
            <a:off x="411502" y="260604"/>
            <a:ext cx="68583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SECTION 1</a:t>
            </a:r>
            <a:endParaRPr sz="800">
              <a:solidFill>
                <a:schemeClr val="dk1"/>
              </a:solidFill>
              <a:latin typeface="Calibri"/>
              <a:ea typeface="Calibri"/>
              <a:cs typeface="Calibri"/>
              <a:sym typeface="Calibri"/>
            </a:endParaRPr>
          </a:p>
        </p:txBody>
      </p:sp>
      <p:sp>
        <p:nvSpPr>
          <p:cNvPr id="3212" name="Google Shape;3212;p119"/>
          <p:cNvSpPr/>
          <p:nvPr/>
        </p:nvSpPr>
        <p:spPr>
          <a:xfrm>
            <a:off x="411502" y="438912"/>
            <a:ext cx="8321400" cy="4800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C2B3E"/>
              </a:buClr>
              <a:buSzPts val="2200"/>
              <a:buFont typeface="Arial"/>
              <a:buNone/>
            </a:pPr>
            <a:r>
              <a:rPr b="1" lang="en-GB" sz="2200">
                <a:solidFill>
                  <a:srgbClr val="1C2B3E"/>
                </a:solidFill>
                <a:latin typeface="Poppins"/>
                <a:ea typeface="Poppins"/>
                <a:cs typeface="Poppins"/>
                <a:sym typeface="Poppins"/>
              </a:rPr>
              <a:t>Accounts Payable: pay only what matches.</a:t>
            </a:r>
            <a:endParaRPr b="1" sz="2200">
              <a:solidFill>
                <a:srgbClr val="1C2B3E"/>
              </a:solidFill>
              <a:latin typeface="Poppins"/>
              <a:ea typeface="Poppins"/>
              <a:cs typeface="Poppins"/>
              <a:sym typeface="Poppins"/>
            </a:endParaRPr>
          </a:p>
          <a:p>
            <a:pPr indent="0" lvl="0" marL="0" marR="0" rtl="0" algn="l">
              <a:lnSpc>
                <a:spcPct val="100000"/>
              </a:lnSpc>
              <a:spcBef>
                <a:spcPts val="0"/>
              </a:spcBef>
              <a:spcAft>
                <a:spcPts val="0"/>
              </a:spcAft>
              <a:buClr>
                <a:srgbClr val="1C2B3E"/>
              </a:buClr>
              <a:buSzPts val="2200"/>
              <a:buFont typeface="Arial"/>
              <a:buNone/>
            </a:pPr>
            <a:r>
              <a:rPr lang="en-GB" sz="1800">
                <a:solidFill>
                  <a:srgbClr val="1C2B3E"/>
                </a:solidFill>
                <a:latin typeface="Poppins Light"/>
                <a:ea typeface="Poppins Light"/>
                <a:cs typeface="Poppins Light"/>
                <a:sym typeface="Poppins Light"/>
              </a:rPr>
              <a:t>catch supplier mistakes before you pay.</a:t>
            </a:r>
            <a:endParaRPr sz="1800">
              <a:solidFill>
                <a:srgbClr val="1C2B3E"/>
              </a:solidFill>
              <a:latin typeface="Poppins Light"/>
              <a:ea typeface="Poppins Light"/>
              <a:cs typeface="Poppins Light"/>
              <a:sym typeface="Poppins Light"/>
            </a:endParaRPr>
          </a:p>
        </p:txBody>
      </p:sp>
      <p:sp>
        <p:nvSpPr>
          <p:cNvPr id="3213" name="Google Shape;3213;p119"/>
          <p:cNvSpPr/>
          <p:nvPr/>
        </p:nvSpPr>
        <p:spPr>
          <a:xfrm>
            <a:off x="411502" y="1680210"/>
            <a:ext cx="1577400" cy="720000"/>
          </a:xfrm>
          <a:prstGeom prst="roundRect">
            <a:avLst>
              <a:gd fmla="val 5882" name="adj"/>
            </a:avLst>
          </a:prstGeom>
          <a:solidFill>
            <a:srgbClr val="F5F7FA"/>
          </a:solidFill>
          <a:ln>
            <a:noFill/>
          </a:ln>
          <a:effectLst>
            <a:outerShdw blurRad="101600" rotWithShape="0" algn="bl" dir="5400000" dist="38100">
              <a:srgbClr val="1C2B3E">
                <a:alpha val="1019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214" name="Google Shape;3214;p119"/>
          <p:cNvSpPr/>
          <p:nvPr/>
        </p:nvSpPr>
        <p:spPr>
          <a:xfrm>
            <a:off x="534953" y="1762506"/>
            <a:ext cx="240000" cy="240000"/>
          </a:xfrm>
          <a:prstGeom prst="ellipse">
            <a:avLst/>
          </a:pr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FileText_accent.png" id="3215" name="Google Shape;3215;p119"/>
          <p:cNvPicPr preferRelativeResize="0"/>
          <p:nvPr/>
        </p:nvPicPr>
        <p:blipFill rotWithShape="1">
          <a:blip r:embed="rId3">
            <a:alphaModFix/>
          </a:blip>
          <a:srcRect b="0" l="0" r="0" t="0"/>
          <a:stretch/>
        </p:blipFill>
        <p:spPr>
          <a:xfrm>
            <a:off x="593249" y="1820799"/>
            <a:ext cx="123444" cy="123444"/>
          </a:xfrm>
          <a:prstGeom prst="rect">
            <a:avLst/>
          </a:prstGeom>
          <a:noFill/>
          <a:ln>
            <a:noFill/>
          </a:ln>
        </p:spPr>
      </p:pic>
      <p:sp>
        <p:nvSpPr>
          <p:cNvPr id="3216" name="Google Shape;3216;p119"/>
          <p:cNvSpPr/>
          <p:nvPr/>
        </p:nvSpPr>
        <p:spPr>
          <a:xfrm>
            <a:off x="534953" y="2023110"/>
            <a:ext cx="1371600" cy="20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2B3E"/>
              </a:buClr>
              <a:buSzPts val="1000"/>
              <a:buFont typeface="Arial"/>
              <a:buNone/>
            </a:pPr>
            <a:r>
              <a:rPr b="1" lang="en-GB" sz="1000">
                <a:solidFill>
                  <a:srgbClr val="1C2B3E"/>
                </a:solidFill>
                <a:latin typeface="Arial"/>
                <a:ea typeface="Arial"/>
                <a:cs typeface="Arial"/>
                <a:sym typeface="Arial"/>
              </a:rPr>
              <a:t>Supplier Invoice</a:t>
            </a:r>
            <a:endParaRPr sz="900">
              <a:solidFill>
                <a:schemeClr val="dk1"/>
              </a:solidFill>
              <a:latin typeface="Calibri"/>
              <a:ea typeface="Calibri"/>
              <a:cs typeface="Calibri"/>
              <a:sym typeface="Calibri"/>
            </a:endParaRPr>
          </a:p>
        </p:txBody>
      </p:sp>
      <p:sp>
        <p:nvSpPr>
          <p:cNvPr id="3217" name="Google Shape;3217;p119"/>
          <p:cNvSpPr/>
          <p:nvPr/>
        </p:nvSpPr>
        <p:spPr>
          <a:xfrm>
            <a:off x="534953" y="2242566"/>
            <a:ext cx="720000" cy="137100"/>
          </a:xfrm>
          <a:prstGeom prst="roundRect">
            <a:avLst>
              <a:gd fmla="val 50000" name="adj"/>
            </a:avLst>
          </a:pr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218" name="Google Shape;3218;p119"/>
          <p:cNvSpPr/>
          <p:nvPr/>
        </p:nvSpPr>
        <p:spPr>
          <a:xfrm>
            <a:off x="534953" y="2242566"/>
            <a:ext cx="720000" cy="137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600"/>
              <a:buFont typeface="Arial"/>
              <a:buNone/>
            </a:pPr>
            <a:r>
              <a:rPr b="1" lang="en-GB" sz="600">
                <a:solidFill>
                  <a:srgbClr val="94A3B8"/>
                </a:solidFill>
                <a:latin typeface="Arial"/>
                <a:ea typeface="Arial"/>
                <a:cs typeface="Arial"/>
                <a:sym typeface="Arial"/>
              </a:rPr>
              <a:t>RECEIVED</a:t>
            </a:r>
            <a:endParaRPr sz="600">
              <a:solidFill>
                <a:schemeClr val="dk1"/>
              </a:solidFill>
              <a:latin typeface="Calibri"/>
              <a:ea typeface="Calibri"/>
              <a:cs typeface="Calibri"/>
              <a:sym typeface="Calibri"/>
            </a:endParaRPr>
          </a:p>
        </p:txBody>
      </p:sp>
      <p:sp>
        <p:nvSpPr>
          <p:cNvPr id="3219" name="Google Shape;3219;p119"/>
          <p:cNvSpPr/>
          <p:nvPr/>
        </p:nvSpPr>
        <p:spPr>
          <a:xfrm>
            <a:off x="2057510" y="2280285"/>
            <a:ext cx="2742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2100"/>
              <a:buFont typeface="Arial"/>
              <a:buNone/>
            </a:pPr>
            <a:r>
              <a:rPr b="1" lang="en-GB" sz="2100">
                <a:solidFill>
                  <a:srgbClr val="94A3B8"/>
                </a:solidFill>
                <a:latin typeface="Arial"/>
                <a:ea typeface="Arial"/>
                <a:cs typeface="Arial"/>
                <a:sym typeface="Arial"/>
              </a:rPr>
              <a:t>›</a:t>
            </a:r>
            <a:endParaRPr sz="2100">
              <a:solidFill>
                <a:schemeClr val="dk1"/>
              </a:solidFill>
              <a:latin typeface="Calibri"/>
              <a:ea typeface="Calibri"/>
              <a:cs typeface="Calibri"/>
              <a:sym typeface="Calibri"/>
            </a:endParaRPr>
          </a:p>
        </p:txBody>
      </p:sp>
      <p:sp>
        <p:nvSpPr>
          <p:cNvPr id="3220" name="Google Shape;3220;p119"/>
          <p:cNvSpPr/>
          <p:nvPr/>
        </p:nvSpPr>
        <p:spPr>
          <a:xfrm>
            <a:off x="411502" y="2503170"/>
            <a:ext cx="1577400" cy="720000"/>
          </a:xfrm>
          <a:prstGeom prst="roundRect">
            <a:avLst>
              <a:gd fmla="val 5882" name="adj"/>
            </a:avLst>
          </a:prstGeom>
          <a:solidFill>
            <a:srgbClr val="F5F7FA"/>
          </a:solidFill>
          <a:ln>
            <a:noFill/>
          </a:ln>
          <a:effectLst>
            <a:outerShdw blurRad="101600" rotWithShape="0" algn="bl" dir="5400000" dist="38100">
              <a:srgbClr val="1C2B3E">
                <a:alpha val="1019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221" name="Google Shape;3221;p119"/>
          <p:cNvSpPr/>
          <p:nvPr/>
        </p:nvSpPr>
        <p:spPr>
          <a:xfrm>
            <a:off x="534953" y="2585466"/>
            <a:ext cx="240000" cy="240000"/>
          </a:xfrm>
          <a:prstGeom prst="ellipse">
            <a:avLst/>
          </a:pr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ShoppingCart_accent.png" id="3222" name="Google Shape;3222;p119"/>
          <p:cNvPicPr preferRelativeResize="0"/>
          <p:nvPr/>
        </p:nvPicPr>
        <p:blipFill rotWithShape="1">
          <a:blip r:embed="rId4">
            <a:alphaModFix/>
          </a:blip>
          <a:srcRect b="0" l="0" r="0" t="0"/>
          <a:stretch/>
        </p:blipFill>
        <p:spPr>
          <a:xfrm>
            <a:off x="593249" y="2643759"/>
            <a:ext cx="123444" cy="123444"/>
          </a:xfrm>
          <a:prstGeom prst="rect">
            <a:avLst/>
          </a:prstGeom>
          <a:noFill/>
          <a:ln>
            <a:noFill/>
          </a:ln>
        </p:spPr>
      </p:pic>
      <p:sp>
        <p:nvSpPr>
          <p:cNvPr id="3223" name="Google Shape;3223;p119"/>
          <p:cNvSpPr/>
          <p:nvPr/>
        </p:nvSpPr>
        <p:spPr>
          <a:xfrm>
            <a:off x="534953" y="2846070"/>
            <a:ext cx="1371600" cy="20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2B3E"/>
              </a:buClr>
              <a:buSzPts val="1000"/>
              <a:buFont typeface="Arial"/>
              <a:buNone/>
            </a:pPr>
            <a:r>
              <a:rPr b="1" lang="en-GB" sz="1000">
                <a:solidFill>
                  <a:srgbClr val="1C2B3E"/>
                </a:solidFill>
                <a:latin typeface="Arial"/>
                <a:ea typeface="Arial"/>
                <a:cs typeface="Arial"/>
                <a:sym typeface="Arial"/>
              </a:rPr>
              <a:t>Supplier DO / GRN</a:t>
            </a:r>
            <a:endParaRPr sz="900">
              <a:solidFill>
                <a:schemeClr val="dk1"/>
              </a:solidFill>
              <a:latin typeface="Calibri"/>
              <a:ea typeface="Calibri"/>
              <a:cs typeface="Calibri"/>
              <a:sym typeface="Calibri"/>
            </a:endParaRPr>
          </a:p>
        </p:txBody>
      </p:sp>
      <p:sp>
        <p:nvSpPr>
          <p:cNvPr id="3224" name="Google Shape;3224;p119"/>
          <p:cNvSpPr/>
          <p:nvPr/>
        </p:nvSpPr>
        <p:spPr>
          <a:xfrm>
            <a:off x="534953" y="3065526"/>
            <a:ext cx="720000" cy="137100"/>
          </a:xfrm>
          <a:prstGeom prst="roundRect">
            <a:avLst>
              <a:gd fmla="val 50000" name="adj"/>
            </a:avLst>
          </a:pr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225" name="Google Shape;3225;p119"/>
          <p:cNvSpPr/>
          <p:nvPr/>
        </p:nvSpPr>
        <p:spPr>
          <a:xfrm>
            <a:off x="534953" y="3065526"/>
            <a:ext cx="720000" cy="137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600"/>
              <a:buFont typeface="Arial"/>
              <a:buNone/>
            </a:pPr>
            <a:r>
              <a:rPr b="1" lang="en-GB" sz="600">
                <a:solidFill>
                  <a:srgbClr val="94A3B8"/>
                </a:solidFill>
                <a:latin typeface="Arial"/>
                <a:ea typeface="Arial"/>
                <a:cs typeface="Arial"/>
                <a:sym typeface="Arial"/>
              </a:rPr>
              <a:t>RECEIVED</a:t>
            </a:r>
            <a:endParaRPr sz="600">
              <a:solidFill>
                <a:schemeClr val="dk1"/>
              </a:solidFill>
              <a:latin typeface="Calibri"/>
              <a:ea typeface="Calibri"/>
              <a:cs typeface="Calibri"/>
              <a:sym typeface="Calibri"/>
            </a:endParaRPr>
          </a:p>
        </p:txBody>
      </p:sp>
      <p:sp>
        <p:nvSpPr>
          <p:cNvPr id="3226" name="Google Shape;3226;p119"/>
          <p:cNvSpPr/>
          <p:nvPr/>
        </p:nvSpPr>
        <p:spPr>
          <a:xfrm>
            <a:off x="2434720" y="1680210"/>
            <a:ext cx="3566400" cy="1714500"/>
          </a:xfrm>
          <a:prstGeom prst="roundRect">
            <a:avLst>
              <a:gd fmla="val 5882" name="adj"/>
            </a:avLst>
          </a:prstGeom>
          <a:solidFill>
            <a:srgbClr val="F5F7FA"/>
          </a:solidFill>
          <a:ln>
            <a:noFill/>
          </a:ln>
          <a:effectLst>
            <a:outerShdw blurRad="101600" rotWithShape="0" algn="bl" dir="5400000" dist="38100">
              <a:srgbClr val="1C2B3E">
                <a:alpha val="1019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227" name="Google Shape;3227;p119"/>
          <p:cNvSpPr/>
          <p:nvPr/>
        </p:nvSpPr>
        <p:spPr>
          <a:xfrm>
            <a:off x="2571887" y="1783080"/>
            <a:ext cx="3291900" cy="24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2B3E"/>
              </a:buClr>
              <a:buSzPts val="1100"/>
              <a:buFont typeface="Arial"/>
              <a:buNone/>
            </a:pPr>
            <a:r>
              <a:rPr b="1" lang="en-GB" sz="1100">
                <a:solidFill>
                  <a:srgbClr val="1C2B3E"/>
                </a:solidFill>
                <a:latin typeface="Arial"/>
                <a:ea typeface="Arial"/>
                <a:cs typeface="Arial"/>
                <a:sym typeface="Arial"/>
              </a:rPr>
              <a:t>MATCH CHECK</a:t>
            </a:r>
            <a:endParaRPr sz="900">
              <a:solidFill>
                <a:schemeClr val="dk1"/>
              </a:solidFill>
              <a:latin typeface="Calibri"/>
              <a:ea typeface="Calibri"/>
              <a:cs typeface="Calibri"/>
              <a:sym typeface="Calibri"/>
            </a:endParaRPr>
          </a:p>
        </p:txBody>
      </p:sp>
      <p:sp>
        <p:nvSpPr>
          <p:cNvPr id="3228" name="Google Shape;3228;p119"/>
          <p:cNvSpPr/>
          <p:nvPr/>
        </p:nvSpPr>
        <p:spPr>
          <a:xfrm>
            <a:off x="6103945" y="2280285"/>
            <a:ext cx="2742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2100"/>
              <a:buFont typeface="Arial"/>
              <a:buNone/>
            </a:pPr>
            <a:r>
              <a:rPr b="1" lang="en-GB" sz="2100">
                <a:solidFill>
                  <a:srgbClr val="94A3B8"/>
                </a:solidFill>
                <a:latin typeface="Arial"/>
                <a:ea typeface="Arial"/>
                <a:cs typeface="Arial"/>
                <a:sym typeface="Arial"/>
              </a:rPr>
              <a:t>›</a:t>
            </a:r>
            <a:endParaRPr sz="2100">
              <a:solidFill>
                <a:schemeClr val="dk1"/>
              </a:solidFill>
              <a:latin typeface="Calibri"/>
              <a:ea typeface="Calibri"/>
              <a:cs typeface="Calibri"/>
              <a:sym typeface="Calibri"/>
            </a:endParaRPr>
          </a:p>
        </p:txBody>
      </p:sp>
      <p:sp>
        <p:nvSpPr>
          <p:cNvPr id="3229" name="Google Shape;3229;p119"/>
          <p:cNvSpPr/>
          <p:nvPr/>
        </p:nvSpPr>
        <p:spPr>
          <a:xfrm>
            <a:off x="6481156" y="1680210"/>
            <a:ext cx="2249400" cy="1714500"/>
          </a:xfrm>
          <a:prstGeom prst="roundRect">
            <a:avLst>
              <a:gd fmla="val 5882" name="adj"/>
            </a:avLst>
          </a:prstGeom>
          <a:solidFill>
            <a:srgbClr val="F5F7FA"/>
          </a:solidFill>
          <a:ln>
            <a:noFill/>
          </a:ln>
          <a:effectLst>
            <a:outerShdw blurRad="101600" rotWithShape="0" algn="bl" dir="5400000" dist="38100">
              <a:srgbClr val="1C2B3E">
                <a:alpha val="1019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230" name="Google Shape;3230;p119"/>
          <p:cNvSpPr/>
          <p:nvPr/>
        </p:nvSpPr>
        <p:spPr>
          <a:xfrm>
            <a:off x="6618323" y="1783080"/>
            <a:ext cx="1989000" cy="24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2B3E"/>
              </a:buClr>
              <a:buSzPts val="1100"/>
              <a:buFont typeface="Arial"/>
              <a:buNone/>
            </a:pPr>
            <a:r>
              <a:rPr b="1" lang="en-GB" sz="1100">
                <a:solidFill>
                  <a:srgbClr val="1C2B3E"/>
                </a:solidFill>
                <a:latin typeface="Arial"/>
                <a:ea typeface="Arial"/>
                <a:cs typeface="Arial"/>
                <a:sym typeface="Arial"/>
              </a:rPr>
              <a:t>Payment Voucher</a:t>
            </a:r>
            <a:endParaRPr sz="900">
              <a:solidFill>
                <a:schemeClr val="dk1"/>
              </a:solidFill>
              <a:latin typeface="Calibri"/>
              <a:ea typeface="Calibri"/>
              <a:cs typeface="Calibri"/>
              <a:sym typeface="Calibri"/>
            </a:endParaRPr>
          </a:p>
        </p:txBody>
      </p:sp>
      <p:sp>
        <p:nvSpPr>
          <p:cNvPr id="3231" name="Google Shape;3231;p119"/>
          <p:cNvSpPr/>
          <p:nvPr/>
        </p:nvSpPr>
        <p:spPr>
          <a:xfrm>
            <a:off x="6618323" y="2091690"/>
            <a:ext cx="1062900" cy="246900"/>
          </a:xfrm>
          <a:prstGeom prst="roundRect">
            <a:avLst>
              <a:gd fmla="val 50000" name="adj"/>
            </a:avLst>
          </a:prstGeom>
          <a:solidFill>
            <a:srgbClr val="1A9D5C"/>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232" name="Google Shape;3232;p119"/>
          <p:cNvSpPr/>
          <p:nvPr/>
        </p:nvSpPr>
        <p:spPr>
          <a:xfrm>
            <a:off x="6618323" y="2091690"/>
            <a:ext cx="1062900" cy="246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 Matched</a:t>
            </a:r>
            <a:endParaRPr sz="600">
              <a:solidFill>
                <a:schemeClr val="dk1"/>
              </a:solidFill>
              <a:latin typeface="Calibri"/>
              <a:ea typeface="Calibri"/>
              <a:cs typeface="Calibri"/>
              <a:sym typeface="Calibri"/>
            </a:endParaRPr>
          </a:p>
        </p:txBody>
      </p:sp>
      <p:sp>
        <p:nvSpPr>
          <p:cNvPr id="3233" name="Google Shape;3233;p119"/>
          <p:cNvSpPr/>
          <p:nvPr/>
        </p:nvSpPr>
        <p:spPr>
          <a:xfrm>
            <a:off x="411502" y="3566160"/>
            <a:ext cx="8319300" cy="30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D"/>
              </a:buClr>
              <a:buSzPts val="1000"/>
              <a:buFont typeface="Arial"/>
              <a:buNone/>
            </a:pPr>
            <a:r>
              <a:rPr i="1" lang="en-GB" sz="1000">
                <a:solidFill>
                  <a:srgbClr val="5B6B7D"/>
                </a:solidFill>
                <a:latin typeface="Arial"/>
                <a:ea typeface="Arial"/>
                <a:cs typeface="Arial"/>
                <a:sym typeface="Arial"/>
              </a:rPr>
              <a:t>MAIA does not make supplier documents true or approve payments. Purchasing, warehouse and finance own the final decision.</a:t>
            </a:r>
            <a:endParaRPr sz="1000">
              <a:solidFill>
                <a:schemeClr val="dk1"/>
              </a:solidFill>
              <a:latin typeface="Calibri"/>
              <a:ea typeface="Calibri"/>
              <a:cs typeface="Calibri"/>
              <a:sym typeface="Calibri"/>
            </a:endParaRPr>
          </a:p>
        </p:txBody>
      </p:sp>
      <p:sp>
        <p:nvSpPr>
          <p:cNvPr id="3234" name="Google Shape;3234;p119"/>
          <p:cNvSpPr/>
          <p:nvPr/>
        </p:nvSpPr>
        <p:spPr>
          <a:xfrm>
            <a:off x="411502" y="4869180"/>
            <a:ext cx="54867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700"/>
              <a:buFont typeface="Arial"/>
              <a:buNone/>
            </a:pPr>
            <a:r>
              <a:rPr lang="en-GB" sz="700">
                <a:solidFill>
                  <a:srgbClr val="94A3B8"/>
                </a:solidFill>
                <a:latin typeface="Arial"/>
                <a:ea typeface="Arial"/>
                <a:cs typeface="Arial"/>
                <a:sym typeface="Arial"/>
              </a:rPr>
              <a:t>SECTION 1</a:t>
            </a:r>
            <a:endParaRPr sz="700">
              <a:solidFill>
                <a:schemeClr val="dk1"/>
              </a:solidFill>
              <a:latin typeface="Calibri"/>
              <a:ea typeface="Calibri"/>
              <a:cs typeface="Calibri"/>
              <a:sym typeface="Calibri"/>
            </a:endParaRPr>
          </a:p>
        </p:txBody>
      </p:sp>
      <p:sp>
        <p:nvSpPr>
          <p:cNvPr id="3235" name="Google Shape;3235;p119"/>
          <p:cNvSpPr/>
          <p:nvPr/>
        </p:nvSpPr>
        <p:spPr>
          <a:xfrm>
            <a:off x="7361084" y="4869180"/>
            <a:ext cx="1371600" cy="205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700"/>
              <a:buFont typeface="Arial"/>
              <a:buNone/>
            </a:pPr>
            <a:r>
              <a:rPr lang="en-GB" sz="700">
                <a:solidFill>
                  <a:srgbClr val="94A3B8"/>
                </a:solidFill>
                <a:latin typeface="Arial"/>
                <a:ea typeface="Arial"/>
                <a:cs typeface="Arial"/>
                <a:sym typeface="Arial"/>
              </a:rPr>
              <a:t>15 / 82</a:t>
            </a:r>
            <a:endParaRPr sz="700">
              <a:solidFill>
                <a:schemeClr val="dk1"/>
              </a:solidFill>
              <a:latin typeface="Calibri"/>
              <a:ea typeface="Calibri"/>
              <a:cs typeface="Calibri"/>
              <a:sym typeface="Calibri"/>
            </a:endParaRPr>
          </a:p>
        </p:txBody>
      </p:sp>
      <p:sp>
        <p:nvSpPr>
          <p:cNvPr id="3236" name="Google Shape;3236;p119"/>
          <p:cNvSpPr/>
          <p:nvPr/>
        </p:nvSpPr>
        <p:spPr>
          <a:xfrm>
            <a:off x="411502" y="1179563"/>
            <a:ext cx="8319300" cy="24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D"/>
              </a:buClr>
              <a:buSzPts val="1100"/>
              <a:buFont typeface="Arial"/>
              <a:buNone/>
            </a:pPr>
            <a:r>
              <a:rPr i="0" lang="en-GB" sz="1100">
                <a:solidFill>
                  <a:srgbClr val="5B6B7D"/>
                </a:solidFill>
                <a:latin typeface="Arial"/>
                <a:ea typeface="Arial"/>
                <a:cs typeface="Arial"/>
                <a:sym typeface="Arial"/>
              </a:rPr>
              <a:t>Supplier invoice + GRN   →   match check   →   payment control.</a:t>
            </a:r>
            <a:endParaRPr sz="1000">
              <a:solidFill>
                <a:schemeClr val="dk1"/>
              </a:solidFill>
              <a:latin typeface="Calibri"/>
              <a:ea typeface="Calibri"/>
              <a:cs typeface="Calibri"/>
              <a:sym typeface="Calibri"/>
            </a:endParaRPr>
          </a:p>
        </p:txBody>
      </p:sp>
      <p:sp>
        <p:nvSpPr>
          <p:cNvPr id="3237" name="Google Shape;3237;p119"/>
          <p:cNvSpPr/>
          <p:nvPr/>
        </p:nvSpPr>
        <p:spPr>
          <a:xfrm>
            <a:off x="2571887" y="2091690"/>
            <a:ext cx="1028700" cy="377100"/>
          </a:xfrm>
          <a:prstGeom prst="roundRect">
            <a:avLst>
              <a:gd fmla="val 50000" name="adj"/>
            </a:avLst>
          </a:prstGeom>
          <a:solidFill>
            <a:srgbClr val="F0F2F5"/>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238" name="Google Shape;3238;p119"/>
          <p:cNvSpPr/>
          <p:nvPr/>
        </p:nvSpPr>
        <p:spPr>
          <a:xfrm>
            <a:off x="2571887" y="2091690"/>
            <a:ext cx="1028700" cy="377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2B3E"/>
              </a:buClr>
              <a:buSzPts val="800"/>
              <a:buFont typeface="Arial"/>
              <a:buNone/>
            </a:pPr>
            <a:r>
              <a:rPr b="1" lang="en-GB" sz="800">
                <a:solidFill>
                  <a:srgbClr val="1C2B3E"/>
                </a:solidFill>
                <a:latin typeface="Arial"/>
                <a:ea typeface="Arial"/>
                <a:cs typeface="Arial"/>
                <a:sym typeface="Arial"/>
              </a:rPr>
              <a:t>Supplier</a:t>
            </a:r>
            <a:endParaRPr sz="600">
              <a:solidFill>
                <a:schemeClr val="dk1"/>
              </a:solidFill>
              <a:latin typeface="Calibri"/>
              <a:ea typeface="Calibri"/>
              <a:cs typeface="Calibri"/>
              <a:sym typeface="Calibri"/>
            </a:endParaRPr>
          </a:p>
        </p:txBody>
      </p:sp>
      <p:sp>
        <p:nvSpPr>
          <p:cNvPr id="3239" name="Google Shape;3239;p119"/>
          <p:cNvSpPr/>
          <p:nvPr/>
        </p:nvSpPr>
        <p:spPr>
          <a:xfrm>
            <a:off x="3655509" y="2091690"/>
            <a:ext cx="1028700" cy="377100"/>
          </a:xfrm>
          <a:prstGeom prst="roundRect">
            <a:avLst>
              <a:gd fmla="val 50000" name="adj"/>
            </a:avLst>
          </a:prstGeom>
          <a:solidFill>
            <a:srgbClr val="F0F2F5"/>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240" name="Google Shape;3240;p119"/>
          <p:cNvSpPr/>
          <p:nvPr/>
        </p:nvSpPr>
        <p:spPr>
          <a:xfrm>
            <a:off x="3655509" y="2091690"/>
            <a:ext cx="1028700" cy="377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2B3E"/>
              </a:buClr>
              <a:buSzPts val="800"/>
              <a:buFont typeface="Arial"/>
              <a:buNone/>
            </a:pPr>
            <a:r>
              <a:rPr b="1" lang="en-GB" sz="800">
                <a:solidFill>
                  <a:srgbClr val="1C2B3E"/>
                </a:solidFill>
                <a:latin typeface="Arial"/>
                <a:ea typeface="Arial"/>
                <a:cs typeface="Arial"/>
                <a:sym typeface="Arial"/>
              </a:rPr>
              <a:t>PO ref</a:t>
            </a:r>
            <a:endParaRPr sz="600">
              <a:solidFill>
                <a:schemeClr val="dk1"/>
              </a:solidFill>
              <a:latin typeface="Calibri"/>
              <a:ea typeface="Calibri"/>
              <a:cs typeface="Calibri"/>
              <a:sym typeface="Calibri"/>
            </a:endParaRPr>
          </a:p>
        </p:txBody>
      </p:sp>
      <p:sp>
        <p:nvSpPr>
          <p:cNvPr id="3241" name="Google Shape;3241;p119"/>
          <p:cNvSpPr/>
          <p:nvPr/>
        </p:nvSpPr>
        <p:spPr>
          <a:xfrm>
            <a:off x="4739131" y="2091690"/>
            <a:ext cx="1028700" cy="377100"/>
          </a:xfrm>
          <a:prstGeom prst="roundRect">
            <a:avLst>
              <a:gd fmla="val 50000" name="adj"/>
            </a:avLst>
          </a:prstGeom>
          <a:solidFill>
            <a:srgbClr val="F0F2F5"/>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242" name="Google Shape;3242;p119"/>
          <p:cNvSpPr/>
          <p:nvPr/>
        </p:nvSpPr>
        <p:spPr>
          <a:xfrm>
            <a:off x="4739131" y="2091690"/>
            <a:ext cx="1028700" cy="377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2B3E"/>
              </a:buClr>
              <a:buSzPts val="800"/>
              <a:buFont typeface="Arial"/>
              <a:buNone/>
            </a:pPr>
            <a:r>
              <a:rPr b="1" lang="en-GB" sz="800">
                <a:solidFill>
                  <a:srgbClr val="1C2B3E"/>
                </a:solidFill>
                <a:latin typeface="Arial"/>
                <a:ea typeface="Arial"/>
                <a:cs typeface="Arial"/>
                <a:sym typeface="Arial"/>
              </a:rPr>
              <a:t>Item</a:t>
            </a:r>
            <a:endParaRPr sz="600">
              <a:solidFill>
                <a:schemeClr val="dk1"/>
              </a:solidFill>
              <a:latin typeface="Calibri"/>
              <a:ea typeface="Calibri"/>
              <a:cs typeface="Calibri"/>
              <a:sym typeface="Calibri"/>
            </a:endParaRPr>
          </a:p>
        </p:txBody>
      </p:sp>
      <p:sp>
        <p:nvSpPr>
          <p:cNvPr id="3243" name="Google Shape;3243;p119"/>
          <p:cNvSpPr/>
          <p:nvPr/>
        </p:nvSpPr>
        <p:spPr>
          <a:xfrm>
            <a:off x="2571887" y="2523743"/>
            <a:ext cx="1028700" cy="377100"/>
          </a:xfrm>
          <a:prstGeom prst="roundRect">
            <a:avLst>
              <a:gd fmla="val 50000" name="adj"/>
            </a:avLst>
          </a:prstGeom>
          <a:solidFill>
            <a:srgbClr val="F0F2F5"/>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244" name="Google Shape;3244;p119"/>
          <p:cNvSpPr/>
          <p:nvPr/>
        </p:nvSpPr>
        <p:spPr>
          <a:xfrm>
            <a:off x="2571887" y="2523743"/>
            <a:ext cx="1028700" cy="377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2B3E"/>
              </a:buClr>
              <a:buSzPts val="800"/>
              <a:buFont typeface="Arial"/>
              <a:buNone/>
            </a:pPr>
            <a:r>
              <a:rPr b="1" lang="en-GB" sz="800">
                <a:solidFill>
                  <a:srgbClr val="1C2B3E"/>
                </a:solidFill>
                <a:latin typeface="Arial"/>
                <a:ea typeface="Arial"/>
                <a:cs typeface="Arial"/>
                <a:sym typeface="Arial"/>
              </a:rPr>
              <a:t>UOM</a:t>
            </a:r>
            <a:endParaRPr sz="600">
              <a:solidFill>
                <a:schemeClr val="dk1"/>
              </a:solidFill>
              <a:latin typeface="Calibri"/>
              <a:ea typeface="Calibri"/>
              <a:cs typeface="Calibri"/>
              <a:sym typeface="Calibri"/>
            </a:endParaRPr>
          </a:p>
        </p:txBody>
      </p:sp>
      <p:sp>
        <p:nvSpPr>
          <p:cNvPr id="3245" name="Google Shape;3245;p119"/>
          <p:cNvSpPr/>
          <p:nvPr/>
        </p:nvSpPr>
        <p:spPr>
          <a:xfrm>
            <a:off x="3655509" y="2523743"/>
            <a:ext cx="1028700" cy="377100"/>
          </a:xfrm>
          <a:prstGeom prst="roundRect">
            <a:avLst>
              <a:gd fmla="val 50000" name="adj"/>
            </a:avLst>
          </a:prstGeom>
          <a:solidFill>
            <a:srgbClr val="F0F2F5"/>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246" name="Google Shape;3246;p119"/>
          <p:cNvSpPr/>
          <p:nvPr/>
        </p:nvSpPr>
        <p:spPr>
          <a:xfrm>
            <a:off x="3655509" y="2523743"/>
            <a:ext cx="1028700" cy="377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2B3E"/>
              </a:buClr>
              <a:buSzPts val="800"/>
              <a:buFont typeface="Arial"/>
              <a:buNone/>
            </a:pPr>
            <a:r>
              <a:rPr b="1" lang="en-GB" sz="800">
                <a:solidFill>
                  <a:srgbClr val="1C2B3E"/>
                </a:solidFill>
                <a:latin typeface="Arial"/>
                <a:ea typeface="Arial"/>
                <a:cs typeface="Arial"/>
                <a:sym typeface="Arial"/>
              </a:rPr>
              <a:t>Qty</a:t>
            </a:r>
            <a:endParaRPr sz="600">
              <a:solidFill>
                <a:schemeClr val="dk1"/>
              </a:solidFill>
              <a:latin typeface="Calibri"/>
              <a:ea typeface="Calibri"/>
              <a:cs typeface="Calibri"/>
              <a:sym typeface="Calibri"/>
            </a:endParaRPr>
          </a:p>
        </p:txBody>
      </p:sp>
      <p:sp>
        <p:nvSpPr>
          <p:cNvPr id="3247" name="Google Shape;3247;p119"/>
          <p:cNvSpPr/>
          <p:nvPr/>
        </p:nvSpPr>
        <p:spPr>
          <a:xfrm>
            <a:off x="4739131" y="2523743"/>
            <a:ext cx="1028700" cy="377100"/>
          </a:xfrm>
          <a:prstGeom prst="roundRect">
            <a:avLst>
              <a:gd fmla="val 50000" name="adj"/>
            </a:avLst>
          </a:prstGeom>
          <a:solidFill>
            <a:srgbClr val="F0F2F5"/>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248" name="Google Shape;3248;p119"/>
          <p:cNvSpPr/>
          <p:nvPr/>
        </p:nvSpPr>
        <p:spPr>
          <a:xfrm>
            <a:off x="4739131" y="2523743"/>
            <a:ext cx="1028700" cy="377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2B3E"/>
              </a:buClr>
              <a:buSzPts val="800"/>
              <a:buFont typeface="Arial"/>
              <a:buNone/>
            </a:pPr>
            <a:r>
              <a:rPr b="1" lang="en-GB" sz="800">
                <a:solidFill>
                  <a:srgbClr val="1C2B3E"/>
                </a:solidFill>
                <a:latin typeface="Arial"/>
                <a:ea typeface="Arial"/>
                <a:cs typeface="Arial"/>
                <a:sym typeface="Arial"/>
              </a:rPr>
              <a:t>Unit price</a:t>
            </a:r>
            <a:endParaRPr sz="600">
              <a:solidFill>
                <a:schemeClr val="dk1"/>
              </a:solidFill>
              <a:latin typeface="Calibri"/>
              <a:ea typeface="Calibri"/>
              <a:cs typeface="Calibri"/>
              <a:sym typeface="Calibri"/>
            </a:endParaRPr>
          </a:p>
        </p:txBody>
      </p:sp>
      <p:sp>
        <p:nvSpPr>
          <p:cNvPr id="3249" name="Google Shape;3249;p119"/>
          <p:cNvSpPr/>
          <p:nvPr/>
        </p:nvSpPr>
        <p:spPr>
          <a:xfrm>
            <a:off x="2571887" y="2955797"/>
            <a:ext cx="1028700" cy="377100"/>
          </a:xfrm>
          <a:prstGeom prst="roundRect">
            <a:avLst>
              <a:gd fmla="val 50000" name="adj"/>
            </a:avLst>
          </a:prstGeom>
          <a:solidFill>
            <a:srgbClr val="F0F2F5"/>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250" name="Google Shape;3250;p119"/>
          <p:cNvSpPr/>
          <p:nvPr/>
        </p:nvSpPr>
        <p:spPr>
          <a:xfrm>
            <a:off x="2571887" y="2955797"/>
            <a:ext cx="1028700" cy="377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2B3E"/>
              </a:buClr>
              <a:buSzPts val="800"/>
              <a:buFont typeface="Arial"/>
              <a:buNone/>
            </a:pPr>
            <a:r>
              <a:rPr b="1" lang="en-GB" sz="800">
                <a:solidFill>
                  <a:srgbClr val="1C2B3E"/>
                </a:solidFill>
                <a:latin typeface="Arial"/>
                <a:ea typeface="Arial"/>
                <a:cs typeface="Arial"/>
                <a:sym typeface="Arial"/>
              </a:rPr>
              <a:t>Tax</a:t>
            </a:r>
            <a:endParaRPr sz="600">
              <a:solidFill>
                <a:schemeClr val="dk1"/>
              </a:solidFill>
              <a:latin typeface="Calibri"/>
              <a:ea typeface="Calibri"/>
              <a:cs typeface="Calibri"/>
              <a:sym typeface="Calibri"/>
            </a:endParaRPr>
          </a:p>
        </p:txBody>
      </p:sp>
      <p:sp>
        <p:nvSpPr>
          <p:cNvPr id="3251" name="Google Shape;3251;p119"/>
          <p:cNvSpPr/>
          <p:nvPr/>
        </p:nvSpPr>
        <p:spPr>
          <a:xfrm>
            <a:off x="3655509" y="2955797"/>
            <a:ext cx="1028700" cy="377100"/>
          </a:xfrm>
          <a:prstGeom prst="roundRect">
            <a:avLst>
              <a:gd fmla="val 50000" name="adj"/>
            </a:avLst>
          </a:prstGeom>
          <a:solidFill>
            <a:srgbClr val="F0F2F5"/>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252" name="Google Shape;3252;p119"/>
          <p:cNvSpPr/>
          <p:nvPr/>
        </p:nvSpPr>
        <p:spPr>
          <a:xfrm>
            <a:off x="3655509" y="2955797"/>
            <a:ext cx="1028700" cy="377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2B3E"/>
              </a:buClr>
              <a:buSzPts val="800"/>
              <a:buFont typeface="Arial"/>
              <a:buNone/>
            </a:pPr>
            <a:r>
              <a:rPr b="1" lang="en-GB" sz="800">
                <a:solidFill>
                  <a:srgbClr val="1C2B3E"/>
                </a:solidFill>
                <a:latin typeface="Arial"/>
                <a:ea typeface="Arial"/>
                <a:cs typeface="Arial"/>
                <a:sym typeface="Arial"/>
              </a:rPr>
              <a:t>Total</a:t>
            </a:r>
            <a:endParaRPr sz="600">
              <a:solidFill>
                <a:schemeClr val="dk1"/>
              </a:solidFill>
              <a:latin typeface="Calibri"/>
              <a:ea typeface="Calibri"/>
              <a:cs typeface="Calibri"/>
              <a:sym typeface="Calibri"/>
            </a:endParaRPr>
          </a:p>
        </p:txBody>
      </p:sp>
      <p:sp>
        <p:nvSpPr>
          <p:cNvPr id="3253" name="Google Shape;3253;p119"/>
          <p:cNvSpPr/>
          <p:nvPr/>
        </p:nvSpPr>
        <p:spPr>
          <a:xfrm>
            <a:off x="4739131" y="2955797"/>
            <a:ext cx="1028700" cy="377100"/>
          </a:xfrm>
          <a:prstGeom prst="roundRect">
            <a:avLst>
              <a:gd fmla="val 50000" name="adj"/>
            </a:avLst>
          </a:prstGeom>
          <a:solidFill>
            <a:srgbClr val="F0F2F5"/>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254" name="Google Shape;3254;p119"/>
          <p:cNvSpPr/>
          <p:nvPr/>
        </p:nvSpPr>
        <p:spPr>
          <a:xfrm>
            <a:off x="4739131" y="2955797"/>
            <a:ext cx="1028700" cy="377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2B3E"/>
              </a:buClr>
              <a:buSzPts val="800"/>
              <a:buFont typeface="Arial"/>
              <a:buNone/>
            </a:pPr>
            <a:r>
              <a:rPr b="1" lang="en-GB" sz="800">
                <a:solidFill>
                  <a:srgbClr val="1C2B3E"/>
                </a:solidFill>
                <a:latin typeface="Arial"/>
                <a:ea typeface="Arial"/>
                <a:cs typeface="Arial"/>
                <a:sym typeface="Arial"/>
              </a:rPr>
              <a:t>Duplicate check</a:t>
            </a:r>
            <a:endParaRPr sz="600">
              <a:solidFill>
                <a:schemeClr val="dk1"/>
              </a:solidFill>
              <a:latin typeface="Calibri"/>
              <a:ea typeface="Calibri"/>
              <a:cs typeface="Calibri"/>
              <a:sym typeface="Calibri"/>
            </a:endParaRPr>
          </a:p>
        </p:txBody>
      </p:sp>
      <p:sp>
        <p:nvSpPr>
          <p:cNvPr id="3255" name="Google Shape;3255;p119"/>
          <p:cNvSpPr/>
          <p:nvPr/>
        </p:nvSpPr>
        <p:spPr>
          <a:xfrm>
            <a:off x="6618323" y="2503170"/>
            <a:ext cx="1989000" cy="651600"/>
          </a:xfrm>
          <a:prstGeom prst="roundRect">
            <a:avLst>
              <a:gd fmla="val 50000" name="adj"/>
            </a:avLst>
          </a:prstGeom>
          <a:solidFill>
            <a:srgbClr val="FBEBD9"/>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256" name="Google Shape;3256;p119"/>
          <p:cNvSpPr/>
          <p:nvPr/>
        </p:nvSpPr>
        <p:spPr>
          <a:xfrm>
            <a:off x="6741773" y="2592324"/>
            <a:ext cx="1783200" cy="246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2640A"/>
              </a:buClr>
              <a:buSzPts val="800"/>
              <a:buFont typeface="Arial"/>
              <a:buNone/>
            </a:pPr>
            <a:r>
              <a:rPr b="1" lang="en-GB" sz="800">
                <a:solidFill>
                  <a:srgbClr val="C2640A"/>
                </a:solidFill>
                <a:latin typeface="Arial"/>
                <a:ea typeface="Arial"/>
                <a:cs typeface="Arial"/>
                <a:sym typeface="Arial"/>
              </a:rPr>
              <a:t>⚠ Mismatch → review</a:t>
            </a:r>
            <a:endParaRPr sz="600">
              <a:solidFill>
                <a:schemeClr val="dk1"/>
              </a:solidFill>
              <a:latin typeface="Calibri"/>
              <a:ea typeface="Calibri"/>
              <a:cs typeface="Calibri"/>
              <a:sym typeface="Calibri"/>
            </a:endParaRPr>
          </a:p>
        </p:txBody>
      </p:sp>
      <p:sp>
        <p:nvSpPr>
          <p:cNvPr id="3257" name="Google Shape;3257;p119"/>
          <p:cNvSpPr/>
          <p:nvPr/>
        </p:nvSpPr>
        <p:spPr>
          <a:xfrm>
            <a:off x="6741773" y="2825496"/>
            <a:ext cx="1783200" cy="30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700"/>
              <a:buFont typeface="Arial"/>
              <a:buNone/>
            </a:pPr>
            <a:r>
              <a:rPr i="0" lang="en-GB" sz="700">
                <a:solidFill>
                  <a:srgbClr val="94A3B8"/>
                </a:solidFill>
                <a:latin typeface="Arial"/>
                <a:ea typeface="Arial"/>
                <a:cs typeface="Arial"/>
                <a:sym typeface="Arial"/>
              </a:rPr>
              <a:t>held / routed for approval with a note</a:t>
            </a:r>
            <a:endParaRPr sz="1000">
              <a:solidFill>
                <a:schemeClr val="dk1"/>
              </a:solidFill>
              <a:latin typeface="Calibri"/>
              <a:ea typeface="Calibri"/>
              <a:cs typeface="Calibri"/>
              <a:sym typeface="Calibri"/>
            </a:endParaRPr>
          </a:p>
        </p:txBody>
      </p:sp>
      <p:sp>
        <p:nvSpPr>
          <p:cNvPr id="3258" name="Google Shape;3258;p119"/>
          <p:cNvSpPr txBox="1"/>
          <p:nvPr>
            <p:ph idx="12" type="sldNum"/>
          </p:nvPr>
        </p:nvSpPr>
        <p:spPr>
          <a:xfrm>
            <a:off x="8347216" y="4750189"/>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3263" name="Shape 3263"/>
        <p:cNvGrpSpPr/>
        <p:nvPr/>
      </p:nvGrpSpPr>
      <p:grpSpPr>
        <a:xfrm>
          <a:off x="0" y="0"/>
          <a:ext cx="0" cy="0"/>
          <a:chOff x="0" y="0"/>
          <a:chExt cx="0" cy="0"/>
        </a:xfrm>
      </p:grpSpPr>
      <p:sp>
        <p:nvSpPr>
          <p:cNvPr id="3264" name="Google Shape;3264;p120"/>
          <p:cNvSpPr/>
          <p:nvPr/>
        </p:nvSpPr>
        <p:spPr>
          <a:xfrm>
            <a:off x="411502" y="260604"/>
            <a:ext cx="68583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SECTION 1</a:t>
            </a:r>
            <a:endParaRPr sz="800">
              <a:solidFill>
                <a:schemeClr val="dk1"/>
              </a:solidFill>
              <a:latin typeface="Calibri"/>
              <a:ea typeface="Calibri"/>
              <a:cs typeface="Calibri"/>
              <a:sym typeface="Calibri"/>
            </a:endParaRPr>
          </a:p>
        </p:txBody>
      </p:sp>
      <p:sp>
        <p:nvSpPr>
          <p:cNvPr id="3265" name="Google Shape;3265;p120"/>
          <p:cNvSpPr/>
          <p:nvPr/>
        </p:nvSpPr>
        <p:spPr>
          <a:xfrm>
            <a:off x="411502" y="438912"/>
            <a:ext cx="8321400" cy="480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C2B3E"/>
              </a:buClr>
              <a:buSzPts val="2200"/>
              <a:buFont typeface="Arial"/>
              <a:buNone/>
            </a:pPr>
            <a:r>
              <a:rPr b="1" lang="en-GB" sz="2200">
                <a:solidFill>
                  <a:srgbClr val="1C2B3E"/>
                </a:solidFill>
                <a:latin typeface="Poppins"/>
                <a:ea typeface="Poppins"/>
                <a:cs typeface="Poppins"/>
                <a:sym typeface="Poppins"/>
              </a:rPr>
              <a:t>How work flows through MAIA.</a:t>
            </a:r>
            <a:endParaRPr sz="2200">
              <a:solidFill>
                <a:schemeClr val="dk1"/>
              </a:solidFill>
              <a:latin typeface="Poppins"/>
              <a:ea typeface="Poppins"/>
              <a:cs typeface="Poppins"/>
              <a:sym typeface="Poppins"/>
            </a:endParaRPr>
          </a:p>
        </p:txBody>
      </p:sp>
      <p:sp>
        <p:nvSpPr>
          <p:cNvPr id="3266" name="Google Shape;3266;p120"/>
          <p:cNvSpPr/>
          <p:nvPr/>
        </p:nvSpPr>
        <p:spPr>
          <a:xfrm>
            <a:off x="411502" y="1680210"/>
            <a:ext cx="1510500" cy="1165800"/>
          </a:xfrm>
          <a:prstGeom prst="roundRect">
            <a:avLst>
              <a:gd fmla="val 5882" name="adj"/>
            </a:avLst>
          </a:prstGeom>
          <a:solidFill>
            <a:srgbClr val="F5F7FA"/>
          </a:solidFill>
          <a:ln>
            <a:noFill/>
          </a:ln>
          <a:effectLst>
            <a:outerShdw blurRad="101600" rotWithShape="0" algn="bl" dir="5400000" dist="38100">
              <a:srgbClr val="1C2B3E">
                <a:alpha val="1019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267" name="Google Shape;3267;p120"/>
          <p:cNvSpPr/>
          <p:nvPr/>
        </p:nvSpPr>
        <p:spPr>
          <a:xfrm>
            <a:off x="995355" y="1803654"/>
            <a:ext cx="342900" cy="342900"/>
          </a:xfrm>
          <a:prstGeom prst="ellipse">
            <a:avLst/>
          </a:pr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FileText_accent.png" id="3268" name="Google Shape;3268;p120"/>
          <p:cNvPicPr preferRelativeResize="0"/>
          <p:nvPr/>
        </p:nvPicPr>
        <p:blipFill rotWithShape="1">
          <a:blip r:embed="rId3">
            <a:alphaModFix/>
          </a:blip>
          <a:srcRect b="0" l="0" r="0" t="0"/>
          <a:stretch/>
        </p:blipFill>
        <p:spPr>
          <a:xfrm>
            <a:off x="1081084" y="1889379"/>
            <a:ext cx="171450" cy="171450"/>
          </a:xfrm>
          <a:prstGeom prst="rect">
            <a:avLst/>
          </a:prstGeom>
          <a:noFill/>
          <a:ln>
            <a:noFill/>
          </a:ln>
        </p:spPr>
      </p:pic>
      <p:sp>
        <p:nvSpPr>
          <p:cNvPr id="3269" name="Google Shape;3269;p120"/>
          <p:cNvSpPr/>
          <p:nvPr/>
        </p:nvSpPr>
        <p:spPr>
          <a:xfrm>
            <a:off x="466369" y="2215134"/>
            <a:ext cx="14010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2B3E"/>
              </a:buClr>
              <a:buSzPts val="900"/>
              <a:buFont typeface="Arial"/>
              <a:buNone/>
            </a:pPr>
            <a:r>
              <a:rPr b="1" lang="en-GB" sz="900">
                <a:solidFill>
                  <a:srgbClr val="1C2B3E"/>
                </a:solidFill>
                <a:latin typeface="Arial"/>
                <a:ea typeface="Arial"/>
                <a:cs typeface="Arial"/>
                <a:sym typeface="Arial"/>
              </a:rPr>
              <a:t>Quotation / CPO</a:t>
            </a:r>
            <a:endParaRPr sz="900">
              <a:solidFill>
                <a:schemeClr val="dk1"/>
              </a:solidFill>
              <a:latin typeface="Calibri"/>
              <a:ea typeface="Calibri"/>
              <a:cs typeface="Calibri"/>
              <a:sym typeface="Calibri"/>
            </a:endParaRPr>
          </a:p>
        </p:txBody>
      </p:sp>
      <p:sp>
        <p:nvSpPr>
          <p:cNvPr id="3270" name="Google Shape;3270;p120"/>
          <p:cNvSpPr/>
          <p:nvPr/>
        </p:nvSpPr>
        <p:spPr>
          <a:xfrm>
            <a:off x="721020" y="2558034"/>
            <a:ext cx="891600" cy="192000"/>
          </a:xfrm>
          <a:prstGeom prst="roundRect">
            <a:avLst>
              <a:gd fmla="val 50000" name="adj"/>
            </a:avLst>
          </a:pr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271" name="Google Shape;3271;p120"/>
          <p:cNvSpPr/>
          <p:nvPr/>
        </p:nvSpPr>
        <p:spPr>
          <a:xfrm>
            <a:off x="721020" y="2558034"/>
            <a:ext cx="891600" cy="192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600"/>
              <a:buFont typeface="Arial"/>
              <a:buNone/>
            </a:pPr>
            <a:r>
              <a:rPr b="1" lang="en-GB" sz="600">
                <a:solidFill>
                  <a:srgbClr val="94A3B8"/>
                </a:solidFill>
                <a:latin typeface="Arial"/>
                <a:ea typeface="Arial"/>
                <a:cs typeface="Arial"/>
                <a:sym typeface="Arial"/>
              </a:rPr>
              <a:t>DRAFT → OPEN</a:t>
            </a:r>
            <a:endParaRPr sz="600">
              <a:solidFill>
                <a:schemeClr val="dk1"/>
              </a:solidFill>
              <a:latin typeface="Calibri"/>
              <a:ea typeface="Calibri"/>
              <a:cs typeface="Calibri"/>
              <a:sym typeface="Calibri"/>
            </a:endParaRPr>
          </a:p>
        </p:txBody>
      </p:sp>
      <p:sp>
        <p:nvSpPr>
          <p:cNvPr id="3272" name="Google Shape;3272;p120"/>
          <p:cNvSpPr/>
          <p:nvPr/>
        </p:nvSpPr>
        <p:spPr>
          <a:xfrm>
            <a:off x="1880975" y="2091690"/>
            <a:ext cx="2742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2100"/>
              <a:buFont typeface="Arial"/>
              <a:buNone/>
            </a:pPr>
            <a:r>
              <a:rPr b="1" lang="en-GB" sz="2100">
                <a:solidFill>
                  <a:srgbClr val="94A3B8"/>
                </a:solidFill>
                <a:latin typeface="Arial"/>
                <a:ea typeface="Arial"/>
                <a:cs typeface="Arial"/>
                <a:sym typeface="Arial"/>
              </a:rPr>
              <a:t>›</a:t>
            </a:r>
            <a:endParaRPr sz="2100">
              <a:solidFill>
                <a:schemeClr val="dk1"/>
              </a:solidFill>
              <a:latin typeface="Calibri"/>
              <a:ea typeface="Calibri"/>
              <a:cs typeface="Calibri"/>
              <a:sym typeface="Calibri"/>
            </a:endParaRPr>
          </a:p>
        </p:txBody>
      </p:sp>
      <p:sp>
        <p:nvSpPr>
          <p:cNvPr id="3273" name="Google Shape;3273;p120"/>
          <p:cNvSpPr/>
          <p:nvPr/>
        </p:nvSpPr>
        <p:spPr>
          <a:xfrm>
            <a:off x="2114159" y="1680210"/>
            <a:ext cx="1510500" cy="1165800"/>
          </a:xfrm>
          <a:prstGeom prst="roundRect">
            <a:avLst>
              <a:gd fmla="val 5882" name="adj"/>
            </a:avLst>
          </a:prstGeom>
          <a:solidFill>
            <a:srgbClr val="F5F7FA"/>
          </a:solidFill>
          <a:ln>
            <a:noFill/>
          </a:ln>
          <a:effectLst>
            <a:outerShdw blurRad="101600" rotWithShape="0" algn="bl" dir="5400000" dist="38100">
              <a:srgbClr val="1C2B3E">
                <a:alpha val="1019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274" name="Google Shape;3274;p120"/>
          <p:cNvSpPr/>
          <p:nvPr/>
        </p:nvSpPr>
        <p:spPr>
          <a:xfrm>
            <a:off x="2698012" y="1803654"/>
            <a:ext cx="342900" cy="342900"/>
          </a:xfrm>
          <a:prstGeom prst="ellipse">
            <a:avLst/>
          </a:pr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ShoppingCart_accent.png" id="3275" name="Google Shape;3275;p120"/>
          <p:cNvPicPr preferRelativeResize="0"/>
          <p:nvPr/>
        </p:nvPicPr>
        <p:blipFill rotWithShape="1">
          <a:blip r:embed="rId4">
            <a:alphaModFix/>
          </a:blip>
          <a:srcRect b="0" l="0" r="0" t="0"/>
          <a:stretch/>
        </p:blipFill>
        <p:spPr>
          <a:xfrm>
            <a:off x="2783742" y="1889379"/>
            <a:ext cx="171450" cy="171450"/>
          </a:xfrm>
          <a:prstGeom prst="rect">
            <a:avLst/>
          </a:prstGeom>
          <a:noFill/>
          <a:ln>
            <a:noFill/>
          </a:ln>
        </p:spPr>
      </p:pic>
      <p:sp>
        <p:nvSpPr>
          <p:cNvPr id="3276" name="Google Shape;3276;p120"/>
          <p:cNvSpPr/>
          <p:nvPr/>
        </p:nvSpPr>
        <p:spPr>
          <a:xfrm>
            <a:off x="2169026" y="2215134"/>
            <a:ext cx="14010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2B3E"/>
              </a:buClr>
              <a:buSzPts val="900"/>
              <a:buFont typeface="Arial"/>
              <a:buNone/>
            </a:pPr>
            <a:r>
              <a:rPr b="1" lang="en-GB" sz="900">
                <a:solidFill>
                  <a:srgbClr val="1C2B3E"/>
                </a:solidFill>
                <a:latin typeface="Arial"/>
                <a:ea typeface="Arial"/>
                <a:cs typeface="Arial"/>
                <a:sym typeface="Arial"/>
              </a:rPr>
              <a:t>Sales Order</a:t>
            </a:r>
            <a:endParaRPr sz="900">
              <a:solidFill>
                <a:schemeClr val="dk1"/>
              </a:solidFill>
              <a:latin typeface="Calibri"/>
              <a:ea typeface="Calibri"/>
              <a:cs typeface="Calibri"/>
              <a:sym typeface="Calibri"/>
            </a:endParaRPr>
          </a:p>
        </p:txBody>
      </p:sp>
      <p:sp>
        <p:nvSpPr>
          <p:cNvPr id="3277" name="Google Shape;3277;p120"/>
          <p:cNvSpPr/>
          <p:nvPr/>
        </p:nvSpPr>
        <p:spPr>
          <a:xfrm>
            <a:off x="2423678" y="2558034"/>
            <a:ext cx="891600" cy="192000"/>
          </a:xfrm>
          <a:prstGeom prst="roundRect">
            <a:avLst>
              <a:gd fmla="val 50000" name="adj"/>
            </a:avLst>
          </a:pr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278" name="Google Shape;3278;p120"/>
          <p:cNvSpPr/>
          <p:nvPr/>
        </p:nvSpPr>
        <p:spPr>
          <a:xfrm>
            <a:off x="2423678" y="2558034"/>
            <a:ext cx="891600" cy="192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600"/>
              <a:buFont typeface="Arial"/>
              <a:buNone/>
            </a:pPr>
            <a:r>
              <a:rPr b="1" lang="en-GB" sz="600">
                <a:solidFill>
                  <a:srgbClr val="94A3B8"/>
                </a:solidFill>
                <a:latin typeface="Arial"/>
                <a:ea typeface="Arial"/>
                <a:cs typeface="Arial"/>
                <a:sym typeface="Arial"/>
              </a:rPr>
              <a:t>ORDERED</a:t>
            </a:r>
            <a:endParaRPr sz="600">
              <a:solidFill>
                <a:schemeClr val="dk1"/>
              </a:solidFill>
              <a:latin typeface="Calibri"/>
              <a:ea typeface="Calibri"/>
              <a:cs typeface="Calibri"/>
              <a:sym typeface="Calibri"/>
            </a:endParaRPr>
          </a:p>
        </p:txBody>
      </p:sp>
      <p:sp>
        <p:nvSpPr>
          <p:cNvPr id="3279" name="Google Shape;3279;p120"/>
          <p:cNvSpPr/>
          <p:nvPr/>
        </p:nvSpPr>
        <p:spPr>
          <a:xfrm>
            <a:off x="3583633" y="2091690"/>
            <a:ext cx="2742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2100"/>
              <a:buFont typeface="Arial"/>
              <a:buNone/>
            </a:pPr>
            <a:r>
              <a:rPr b="1" lang="en-GB" sz="2100">
                <a:solidFill>
                  <a:srgbClr val="94A3B8"/>
                </a:solidFill>
                <a:latin typeface="Arial"/>
                <a:ea typeface="Arial"/>
                <a:cs typeface="Arial"/>
                <a:sym typeface="Arial"/>
              </a:rPr>
              <a:t>›</a:t>
            </a:r>
            <a:endParaRPr sz="2100">
              <a:solidFill>
                <a:schemeClr val="dk1"/>
              </a:solidFill>
              <a:latin typeface="Calibri"/>
              <a:ea typeface="Calibri"/>
              <a:cs typeface="Calibri"/>
              <a:sym typeface="Calibri"/>
            </a:endParaRPr>
          </a:p>
        </p:txBody>
      </p:sp>
      <p:sp>
        <p:nvSpPr>
          <p:cNvPr id="3280" name="Google Shape;3280;p120"/>
          <p:cNvSpPr/>
          <p:nvPr/>
        </p:nvSpPr>
        <p:spPr>
          <a:xfrm>
            <a:off x="3816818" y="1680210"/>
            <a:ext cx="1510500" cy="1165800"/>
          </a:xfrm>
          <a:prstGeom prst="roundRect">
            <a:avLst>
              <a:gd fmla="val 5882" name="adj"/>
            </a:avLst>
          </a:prstGeom>
          <a:solidFill>
            <a:srgbClr val="F5F7FA"/>
          </a:solidFill>
          <a:ln>
            <a:noFill/>
          </a:ln>
          <a:effectLst>
            <a:outerShdw blurRad="101600" rotWithShape="0" algn="bl" dir="5400000" dist="38100">
              <a:srgbClr val="1C2B3E">
                <a:alpha val="1019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281" name="Google Shape;3281;p120"/>
          <p:cNvSpPr/>
          <p:nvPr/>
        </p:nvSpPr>
        <p:spPr>
          <a:xfrm>
            <a:off x="4400671" y="1803654"/>
            <a:ext cx="342900" cy="342900"/>
          </a:xfrm>
          <a:prstGeom prst="ellipse">
            <a:avLst/>
          </a:pr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Clipboard_accent.png" id="3282" name="Google Shape;3282;p120"/>
          <p:cNvPicPr preferRelativeResize="0"/>
          <p:nvPr/>
        </p:nvPicPr>
        <p:blipFill rotWithShape="1">
          <a:blip r:embed="rId5">
            <a:alphaModFix/>
          </a:blip>
          <a:srcRect b="0" l="0" r="0" t="0"/>
          <a:stretch/>
        </p:blipFill>
        <p:spPr>
          <a:xfrm>
            <a:off x="4486400" y="1889379"/>
            <a:ext cx="171450" cy="171450"/>
          </a:xfrm>
          <a:prstGeom prst="rect">
            <a:avLst/>
          </a:prstGeom>
          <a:noFill/>
          <a:ln>
            <a:noFill/>
          </a:ln>
        </p:spPr>
      </p:pic>
      <p:sp>
        <p:nvSpPr>
          <p:cNvPr id="3283" name="Google Shape;3283;p120"/>
          <p:cNvSpPr/>
          <p:nvPr/>
        </p:nvSpPr>
        <p:spPr>
          <a:xfrm>
            <a:off x="3871685" y="2215134"/>
            <a:ext cx="14010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2B3E"/>
              </a:buClr>
              <a:buSzPts val="900"/>
              <a:buFont typeface="Arial"/>
              <a:buNone/>
            </a:pPr>
            <a:r>
              <a:rPr b="1" lang="en-GB" sz="900">
                <a:solidFill>
                  <a:srgbClr val="1C2B3E"/>
                </a:solidFill>
                <a:latin typeface="Arial"/>
                <a:ea typeface="Arial"/>
                <a:cs typeface="Arial"/>
                <a:sym typeface="Arial"/>
              </a:rPr>
              <a:t>Delivery Note</a:t>
            </a:r>
            <a:endParaRPr sz="900">
              <a:solidFill>
                <a:schemeClr val="dk1"/>
              </a:solidFill>
              <a:latin typeface="Calibri"/>
              <a:ea typeface="Calibri"/>
              <a:cs typeface="Calibri"/>
              <a:sym typeface="Calibri"/>
            </a:endParaRPr>
          </a:p>
        </p:txBody>
      </p:sp>
      <p:sp>
        <p:nvSpPr>
          <p:cNvPr id="3284" name="Google Shape;3284;p120"/>
          <p:cNvSpPr/>
          <p:nvPr/>
        </p:nvSpPr>
        <p:spPr>
          <a:xfrm>
            <a:off x="4126336" y="2558034"/>
            <a:ext cx="891600" cy="192000"/>
          </a:xfrm>
          <a:prstGeom prst="roundRect">
            <a:avLst>
              <a:gd fmla="val 50000" name="adj"/>
            </a:avLst>
          </a:pr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285" name="Google Shape;3285;p120"/>
          <p:cNvSpPr/>
          <p:nvPr/>
        </p:nvSpPr>
        <p:spPr>
          <a:xfrm>
            <a:off x="4126336" y="2558034"/>
            <a:ext cx="891600" cy="192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600"/>
              <a:buFont typeface="Arial"/>
              <a:buNone/>
            </a:pPr>
            <a:r>
              <a:rPr b="1" lang="en-GB" sz="600">
                <a:solidFill>
                  <a:srgbClr val="94A3B8"/>
                </a:solidFill>
                <a:latin typeface="Arial"/>
                <a:ea typeface="Arial"/>
                <a:cs typeface="Arial"/>
                <a:sym typeface="Arial"/>
              </a:rPr>
              <a:t>TO DELIVER</a:t>
            </a:r>
            <a:endParaRPr sz="600">
              <a:solidFill>
                <a:schemeClr val="dk1"/>
              </a:solidFill>
              <a:latin typeface="Calibri"/>
              <a:ea typeface="Calibri"/>
              <a:cs typeface="Calibri"/>
              <a:sym typeface="Calibri"/>
            </a:endParaRPr>
          </a:p>
        </p:txBody>
      </p:sp>
      <p:sp>
        <p:nvSpPr>
          <p:cNvPr id="3286" name="Google Shape;3286;p120"/>
          <p:cNvSpPr/>
          <p:nvPr/>
        </p:nvSpPr>
        <p:spPr>
          <a:xfrm>
            <a:off x="5286291" y="2091690"/>
            <a:ext cx="2742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2100"/>
              <a:buFont typeface="Arial"/>
              <a:buNone/>
            </a:pPr>
            <a:r>
              <a:rPr b="1" lang="en-GB" sz="2100">
                <a:solidFill>
                  <a:srgbClr val="94A3B8"/>
                </a:solidFill>
                <a:latin typeface="Arial"/>
                <a:ea typeface="Arial"/>
                <a:cs typeface="Arial"/>
                <a:sym typeface="Arial"/>
              </a:rPr>
              <a:t>›</a:t>
            </a:r>
            <a:endParaRPr sz="2100">
              <a:solidFill>
                <a:schemeClr val="dk1"/>
              </a:solidFill>
              <a:latin typeface="Calibri"/>
              <a:ea typeface="Calibri"/>
              <a:cs typeface="Calibri"/>
              <a:sym typeface="Calibri"/>
            </a:endParaRPr>
          </a:p>
        </p:txBody>
      </p:sp>
      <p:sp>
        <p:nvSpPr>
          <p:cNvPr id="3287" name="Google Shape;3287;p120"/>
          <p:cNvSpPr/>
          <p:nvPr/>
        </p:nvSpPr>
        <p:spPr>
          <a:xfrm>
            <a:off x="5519475" y="1680210"/>
            <a:ext cx="1510500" cy="1165800"/>
          </a:xfrm>
          <a:prstGeom prst="roundRect">
            <a:avLst>
              <a:gd fmla="val 5882" name="adj"/>
            </a:avLst>
          </a:prstGeom>
          <a:solidFill>
            <a:srgbClr val="F5F7FA"/>
          </a:solidFill>
          <a:ln>
            <a:noFill/>
          </a:ln>
          <a:effectLst>
            <a:outerShdw blurRad="101600" rotWithShape="0" algn="bl" dir="5400000" dist="38100">
              <a:srgbClr val="1C2B3E">
                <a:alpha val="1019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288" name="Google Shape;3288;p120"/>
          <p:cNvSpPr/>
          <p:nvPr/>
        </p:nvSpPr>
        <p:spPr>
          <a:xfrm>
            <a:off x="6103328" y="1803654"/>
            <a:ext cx="342900" cy="342900"/>
          </a:xfrm>
          <a:prstGeom prst="ellipse">
            <a:avLst/>
          </a:pr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Truck_accent.png" id="3289" name="Google Shape;3289;p120"/>
          <p:cNvPicPr preferRelativeResize="0"/>
          <p:nvPr/>
        </p:nvPicPr>
        <p:blipFill rotWithShape="1">
          <a:blip r:embed="rId6">
            <a:alphaModFix/>
          </a:blip>
          <a:srcRect b="0" l="0" r="0" t="0"/>
          <a:stretch/>
        </p:blipFill>
        <p:spPr>
          <a:xfrm>
            <a:off x="6189058" y="1889379"/>
            <a:ext cx="171450" cy="171450"/>
          </a:xfrm>
          <a:prstGeom prst="rect">
            <a:avLst/>
          </a:prstGeom>
          <a:noFill/>
          <a:ln>
            <a:noFill/>
          </a:ln>
        </p:spPr>
      </p:pic>
      <p:sp>
        <p:nvSpPr>
          <p:cNvPr id="3290" name="Google Shape;3290;p120"/>
          <p:cNvSpPr/>
          <p:nvPr/>
        </p:nvSpPr>
        <p:spPr>
          <a:xfrm>
            <a:off x="5574342" y="2215134"/>
            <a:ext cx="14010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2B3E"/>
              </a:buClr>
              <a:buSzPts val="900"/>
              <a:buFont typeface="Arial"/>
              <a:buNone/>
            </a:pPr>
            <a:r>
              <a:rPr b="1" lang="en-GB" sz="900">
                <a:solidFill>
                  <a:srgbClr val="1C2B3E"/>
                </a:solidFill>
                <a:latin typeface="Arial"/>
                <a:ea typeface="Arial"/>
                <a:cs typeface="Arial"/>
                <a:sym typeface="Arial"/>
              </a:rPr>
              <a:t>Sales Invoice</a:t>
            </a:r>
            <a:endParaRPr sz="900">
              <a:solidFill>
                <a:schemeClr val="dk1"/>
              </a:solidFill>
              <a:latin typeface="Calibri"/>
              <a:ea typeface="Calibri"/>
              <a:cs typeface="Calibri"/>
              <a:sym typeface="Calibri"/>
            </a:endParaRPr>
          </a:p>
        </p:txBody>
      </p:sp>
      <p:sp>
        <p:nvSpPr>
          <p:cNvPr id="3291" name="Google Shape;3291;p120"/>
          <p:cNvSpPr/>
          <p:nvPr/>
        </p:nvSpPr>
        <p:spPr>
          <a:xfrm>
            <a:off x="5828994" y="2558034"/>
            <a:ext cx="891600" cy="192000"/>
          </a:xfrm>
          <a:prstGeom prst="roundRect">
            <a:avLst>
              <a:gd fmla="val 50000" name="adj"/>
            </a:avLst>
          </a:pr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292" name="Google Shape;3292;p120"/>
          <p:cNvSpPr/>
          <p:nvPr/>
        </p:nvSpPr>
        <p:spPr>
          <a:xfrm>
            <a:off x="5828994" y="2558034"/>
            <a:ext cx="891600" cy="192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600"/>
              <a:buFont typeface="Arial"/>
              <a:buNone/>
            </a:pPr>
            <a:r>
              <a:rPr b="1" lang="en-GB" sz="600">
                <a:solidFill>
                  <a:srgbClr val="94A3B8"/>
                </a:solidFill>
                <a:latin typeface="Arial"/>
                <a:ea typeface="Arial"/>
                <a:cs typeface="Arial"/>
                <a:sym typeface="Arial"/>
              </a:rPr>
              <a:t>TO BILL</a:t>
            </a:r>
            <a:endParaRPr sz="600">
              <a:solidFill>
                <a:schemeClr val="dk1"/>
              </a:solidFill>
              <a:latin typeface="Calibri"/>
              <a:ea typeface="Calibri"/>
              <a:cs typeface="Calibri"/>
              <a:sym typeface="Calibri"/>
            </a:endParaRPr>
          </a:p>
        </p:txBody>
      </p:sp>
      <p:sp>
        <p:nvSpPr>
          <p:cNvPr id="3293" name="Google Shape;3293;p120"/>
          <p:cNvSpPr/>
          <p:nvPr/>
        </p:nvSpPr>
        <p:spPr>
          <a:xfrm>
            <a:off x="6988949" y="2091690"/>
            <a:ext cx="2742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2100"/>
              <a:buFont typeface="Arial"/>
              <a:buNone/>
            </a:pPr>
            <a:r>
              <a:rPr b="1" lang="en-GB" sz="2100">
                <a:solidFill>
                  <a:srgbClr val="94A3B8"/>
                </a:solidFill>
                <a:latin typeface="Arial"/>
                <a:ea typeface="Arial"/>
                <a:cs typeface="Arial"/>
                <a:sym typeface="Arial"/>
              </a:rPr>
              <a:t>›</a:t>
            </a:r>
            <a:endParaRPr sz="2100">
              <a:solidFill>
                <a:schemeClr val="dk1"/>
              </a:solidFill>
              <a:latin typeface="Calibri"/>
              <a:ea typeface="Calibri"/>
              <a:cs typeface="Calibri"/>
              <a:sym typeface="Calibri"/>
            </a:endParaRPr>
          </a:p>
        </p:txBody>
      </p:sp>
      <p:sp>
        <p:nvSpPr>
          <p:cNvPr id="3294" name="Google Shape;3294;p120"/>
          <p:cNvSpPr/>
          <p:nvPr/>
        </p:nvSpPr>
        <p:spPr>
          <a:xfrm>
            <a:off x="7222134" y="1680210"/>
            <a:ext cx="1510500" cy="1165800"/>
          </a:xfrm>
          <a:prstGeom prst="roundRect">
            <a:avLst>
              <a:gd fmla="val 5882" name="adj"/>
            </a:avLst>
          </a:prstGeom>
          <a:solidFill>
            <a:srgbClr val="E8821E"/>
          </a:solidFill>
          <a:ln>
            <a:noFill/>
          </a:ln>
          <a:effectLst>
            <a:outerShdw blurRad="101600" rotWithShape="0" algn="bl" dir="5400000" dist="38100">
              <a:srgbClr val="1C2B3E">
                <a:alpha val="1019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295" name="Google Shape;3295;p120"/>
          <p:cNvSpPr/>
          <p:nvPr/>
        </p:nvSpPr>
        <p:spPr>
          <a:xfrm>
            <a:off x="7805986" y="1803654"/>
            <a:ext cx="342900" cy="342900"/>
          </a:xfrm>
          <a:prstGeom prst="ellipse">
            <a:avLst/>
          </a:pr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CheckCircle_accent.png" id="3296" name="Google Shape;3296;p120"/>
          <p:cNvPicPr preferRelativeResize="0"/>
          <p:nvPr/>
        </p:nvPicPr>
        <p:blipFill rotWithShape="1">
          <a:blip r:embed="rId7">
            <a:alphaModFix/>
          </a:blip>
          <a:srcRect b="0" l="0" r="0" t="0"/>
          <a:stretch/>
        </p:blipFill>
        <p:spPr>
          <a:xfrm>
            <a:off x="7891715" y="1889379"/>
            <a:ext cx="171450" cy="171450"/>
          </a:xfrm>
          <a:prstGeom prst="rect">
            <a:avLst/>
          </a:prstGeom>
          <a:noFill/>
          <a:ln>
            <a:noFill/>
          </a:ln>
        </p:spPr>
      </p:pic>
      <p:sp>
        <p:nvSpPr>
          <p:cNvPr id="3297" name="Google Shape;3297;p120"/>
          <p:cNvSpPr/>
          <p:nvPr/>
        </p:nvSpPr>
        <p:spPr>
          <a:xfrm>
            <a:off x="7277000" y="2215134"/>
            <a:ext cx="14010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Arial"/>
              <a:buNone/>
            </a:pPr>
            <a:r>
              <a:rPr b="1" lang="en-GB" sz="900">
                <a:solidFill>
                  <a:srgbClr val="FFFFFF"/>
                </a:solidFill>
                <a:latin typeface="Arial"/>
                <a:ea typeface="Arial"/>
                <a:cs typeface="Arial"/>
                <a:sym typeface="Arial"/>
              </a:rPr>
              <a:t>Billed ✓</a:t>
            </a:r>
            <a:endParaRPr sz="900">
              <a:solidFill>
                <a:schemeClr val="dk1"/>
              </a:solidFill>
              <a:latin typeface="Calibri"/>
              <a:ea typeface="Calibri"/>
              <a:cs typeface="Calibri"/>
              <a:sym typeface="Calibri"/>
            </a:endParaRPr>
          </a:p>
        </p:txBody>
      </p:sp>
      <p:sp>
        <p:nvSpPr>
          <p:cNvPr id="3298" name="Google Shape;3298;p120"/>
          <p:cNvSpPr/>
          <p:nvPr/>
        </p:nvSpPr>
        <p:spPr>
          <a:xfrm>
            <a:off x="7531651" y="2558034"/>
            <a:ext cx="891600" cy="192000"/>
          </a:xfrm>
          <a:prstGeom prst="roundRect">
            <a:avLst>
              <a:gd fmla="val 50000" name="adj"/>
            </a:avLst>
          </a:pr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299" name="Google Shape;3299;p120"/>
          <p:cNvSpPr/>
          <p:nvPr/>
        </p:nvSpPr>
        <p:spPr>
          <a:xfrm>
            <a:off x="7531651" y="2558034"/>
            <a:ext cx="891600" cy="192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821E"/>
              </a:buClr>
              <a:buSzPts val="600"/>
              <a:buFont typeface="Arial"/>
              <a:buNone/>
            </a:pPr>
            <a:r>
              <a:rPr b="1" lang="en-GB" sz="600">
                <a:solidFill>
                  <a:srgbClr val="E8821E"/>
                </a:solidFill>
                <a:latin typeface="Arial"/>
                <a:ea typeface="Arial"/>
                <a:cs typeface="Arial"/>
                <a:sym typeface="Arial"/>
              </a:rPr>
              <a:t>DONE</a:t>
            </a:r>
            <a:endParaRPr sz="600">
              <a:solidFill>
                <a:schemeClr val="dk1"/>
              </a:solidFill>
              <a:latin typeface="Calibri"/>
              <a:ea typeface="Calibri"/>
              <a:cs typeface="Calibri"/>
              <a:sym typeface="Calibri"/>
            </a:endParaRPr>
          </a:p>
        </p:txBody>
      </p:sp>
      <p:cxnSp>
        <p:nvCxnSpPr>
          <p:cNvPr id="3300" name="Google Shape;3300;p120"/>
          <p:cNvCxnSpPr/>
          <p:nvPr/>
        </p:nvCxnSpPr>
        <p:spPr>
          <a:xfrm>
            <a:off x="2869471" y="2846070"/>
            <a:ext cx="0" cy="240000"/>
          </a:xfrm>
          <a:prstGeom prst="straightConnector1">
            <a:avLst/>
          </a:prstGeom>
          <a:noFill/>
          <a:ln cap="flat" cmpd="sng" w="19050">
            <a:solidFill>
              <a:srgbClr val="E3E8EF"/>
            </a:solidFill>
            <a:prstDash val="dash"/>
            <a:round/>
            <a:headEnd len="sm" w="sm" type="none"/>
            <a:tailEnd len="sm" w="sm" type="none"/>
          </a:ln>
        </p:spPr>
      </p:cxnSp>
      <p:sp>
        <p:nvSpPr>
          <p:cNvPr id="3301" name="Google Shape;3301;p120"/>
          <p:cNvSpPr txBox="1"/>
          <p:nvPr>
            <p:ph idx="12" type="sldNum"/>
          </p:nvPr>
        </p:nvSpPr>
        <p:spPr>
          <a:xfrm>
            <a:off x="8347216" y="4750189"/>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3302" name="Google Shape;3302;p120"/>
          <p:cNvSpPr/>
          <p:nvPr/>
        </p:nvSpPr>
        <p:spPr>
          <a:xfrm>
            <a:off x="2114159" y="3086100"/>
            <a:ext cx="3213300" cy="514500"/>
          </a:xfrm>
          <a:prstGeom prst="roundRect">
            <a:avLst>
              <a:gd fmla="val 13333" name="adj"/>
            </a:avLst>
          </a:prstGeom>
          <a:solidFill>
            <a:srgbClr val="F5F7FA"/>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303" name="Google Shape;3303;p120"/>
          <p:cNvSpPr/>
          <p:nvPr/>
        </p:nvSpPr>
        <p:spPr>
          <a:xfrm>
            <a:off x="2251327" y="3086100"/>
            <a:ext cx="2938800" cy="514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000"/>
              <a:buFont typeface="Arial"/>
              <a:buNone/>
            </a:pPr>
            <a:r>
              <a:rPr b="1" lang="en-GB" sz="1000">
                <a:solidFill>
                  <a:srgbClr val="94A3B8"/>
                </a:solidFill>
                <a:latin typeface="Arial"/>
                <a:ea typeface="Arial"/>
                <a:cs typeface="Arial"/>
                <a:sym typeface="Arial"/>
              </a:rPr>
              <a:t>Pick List  ›  Warehouse</a:t>
            </a:r>
            <a:endParaRPr sz="1000">
              <a:solidFill>
                <a:schemeClr val="dk1"/>
              </a:solidFill>
              <a:latin typeface="Calibri"/>
              <a:ea typeface="Calibri"/>
              <a:cs typeface="Calibri"/>
              <a:sym typeface="Calibri"/>
            </a:endParaRPr>
          </a:p>
        </p:txBody>
      </p:sp>
      <p:sp>
        <p:nvSpPr>
          <p:cNvPr id="3304" name="Google Shape;3304;p120"/>
          <p:cNvSpPr/>
          <p:nvPr/>
        </p:nvSpPr>
        <p:spPr>
          <a:xfrm>
            <a:off x="3990060" y="3226689"/>
            <a:ext cx="1406100" cy="233100"/>
          </a:xfrm>
          <a:prstGeom prst="roundRect">
            <a:avLst>
              <a:gd fmla="val 50000" name="adj"/>
            </a:avLst>
          </a:prstGeom>
          <a:solidFill>
            <a:srgbClr val="FFFFFF"/>
          </a:solidFill>
          <a:ln cap="flat" cmpd="sng" w="12700">
            <a:solidFill>
              <a:srgbClr val="E3E8EF"/>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305" name="Google Shape;3305;p120"/>
          <p:cNvSpPr/>
          <p:nvPr/>
        </p:nvSpPr>
        <p:spPr>
          <a:xfrm>
            <a:off x="3990060" y="3226689"/>
            <a:ext cx="1406100" cy="233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800"/>
              <a:buFont typeface="Arial"/>
              <a:buNone/>
            </a:pPr>
            <a:r>
              <a:rPr b="1" lang="en-GB" sz="800">
                <a:solidFill>
                  <a:srgbClr val="94A3B8"/>
                </a:solidFill>
                <a:latin typeface="Arial"/>
                <a:ea typeface="Arial"/>
                <a:cs typeface="Arial"/>
                <a:sym typeface="Arial"/>
              </a:rPr>
              <a:t>shown in its own video</a:t>
            </a:r>
            <a:endParaRPr sz="800">
              <a:solidFill>
                <a:schemeClr val="dk1"/>
              </a:solidFill>
              <a:latin typeface="Calibri"/>
              <a:ea typeface="Calibri"/>
              <a:cs typeface="Calibri"/>
              <a:sym typeface="Calibri"/>
            </a:endParaRPr>
          </a:p>
        </p:txBody>
      </p:sp>
      <p:sp>
        <p:nvSpPr>
          <p:cNvPr id="3306" name="Google Shape;3306;p120"/>
          <p:cNvSpPr/>
          <p:nvPr/>
        </p:nvSpPr>
        <p:spPr>
          <a:xfrm>
            <a:off x="411502" y="3806190"/>
            <a:ext cx="832140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D"/>
              </a:buClr>
              <a:buSzPts val="1000"/>
              <a:buFont typeface="Arial"/>
              <a:buNone/>
            </a:pPr>
            <a:r>
              <a:rPr i="1" lang="en-GB" sz="1000">
                <a:solidFill>
                  <a:srgbClr val="5B6B7D"/>
                </a:solidFill>
                <a:latin typeface="Arial"/>
                <a:ea typeface="Arial"/>
                <a:cs typeface="Arial"/>
                <a:sym typeface="Arial"/>
              </a:rPr>
              <a:t>This is the commercial spine: SO becomes a Delivery Note, then a Sales Invoice. Pick List is the warehouse branch — shown in its own video. In the game, you'll mostly run SO through DN delivered.</a:t>
            </a:r>
            <a:endParaRPr sz="1000">
              <a:solidFill>
                <a:schemeClr val="dk1"/>
              </a:solidFill>
              <a:latin typeface="Calibri"/>
              <a:ea typeface="Calibri"/>
              <a:cs typeface="Calibri"/>
              <a:sym typeface="Calibri"/>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1C2B3E"/>
        </a:solidFill>
      </p:bgPr>
    </p:bg>
    <p:spTree>
      <p:nvGrpSpPr>
        <p:cNvPr id="3311" name="Shape 3311"/>
        <p:cNvGrpSpPr/>
        <p:nvPr/>
      </p:nvGrpSpPr>
      <p:grpSpPr>
        <a:xfrm>
          <a:off x="0" y="0"/>
          <a:ext cx="0" cy="0"/>
          <a:chOff x="0" y="0"/>
          <a:chExt cx="0" cy="0"/>
        </a:xfrm>
      </p:grpSpPr>
      <p:sp>
        <p:nvSpPr>
          <p:cNvPr id="3312" name="Google Shape;3312;p121"/>
          <p:cNvSpPr/>
          <p:nvPr/>
        </p:nvSpPr>
        <p:spPr>
          <a:xfrm>
            <a:off x="411502" y="342900"/>
            <a:ext cx="20574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21E"/>
              </a:buClr>
              <a:buSzPts val="1100"/>
              <a:buFont typeface="Arial"/>
              <a:buNone/>
            </a:pPr>
            <a:r>
              <a:rPr b="1" lang="en-GB" sz="1100">
                <a:solidFill>
                  <a:srgbClr val="E8821E"/>
                </a:solidFill>
                <a:latin typeface="Arial"/>
                <a:ea typeface="Arial"/>
                <a:cs typeface="Arial"/>
                <a:sym typeface="Arial"/>
              </a:rPr>
              <a:t>02 / 07</a:t>
            </a:r>
            <a:endParaRPr sz="1100">
              <a:solidFill>
                <a:schemeClr val="dk1"/>
              </a:solidFill>
              <a:latin typeface="Calibri"/>
              <a:ea typeface="Calibri"/>
              <a:cs typeface="Calibri"/>
              <a:sym typeface="Calibri"/>
            </a:endParaRPr>
          </a:p>
        </p:txBody>
      </p:sp>
      <p:sp>
        <p:nvSpPr>
          <p:cNvPr id="3313" name="Google Shape;3313;p121"/>
          <p:cNvSpPr/>
          <p:nvPr/>
        </p:nvSpPr>
        <p:spPr>
          <a:xfrm>
            <a:off x="685837" y="617220"/>
            <a:ext cx="7772700" cy="617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700"/>
              <a:buFont typeface="Arial"/>
              <a:buNone/>
            </a:pPr>
            <a:r>
              <a:rPr b="1" lang="en-GB" sz="2700">
                <a:solidFill>
                  <a:srgbClr val="FFFFFF"/>
                </a:solidFill>
                <a:latin typeface="Arial"/>
                <a:ea typeface="Arial"/>
                <a:cs typeface="Arial"/>
                <a:sym typeface="Arial"/>
              </a:rPr>
              <a:t>Credit at the Decision Point</a:t>
            </a:r>
            <a:endParaRPr sz="2700">
              <a:solidFill>
                <a:schemeClr val="dk1"/>
              </a:solidFill>
              <a:latin typeface="Calibri"/>
              <a:ea typeface="Calibri"/>
              <a:cs typeface="Calibri"/>
              <a:sym typeface="Calibri"/>
            </a:endParaRPr>
          </a:p>
        </p:txBody>
      </p:sp>
      <p:sp>
        <p:nvSpPr>
          <p:cNvPr id="3314" name="Google Shape;3314;p121"/>
          <p:cNvSpPr/>
          <p:nvPr/>
        </p:nvSpPr>
        <p:spPr>
          <a:xfrm>
            <a:off x="685837" y="1234440"/>
            <a:ext cx="77727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2A6BE"/>
              </a:buClr>
              <a:buSzPts val="1100"/>
              <a:buFont typeface="Arial"/>
              <a:buNone/>
            </a:pPr>
            <a:r>
              <a:rPr lang="en-GB" sz="1100">
                <a:solidFill>
                  <a:srgbClr val="92A6BE"/>
                </a:solidFill>
                <a:latin typeface="Arial"/>
                <a:ea typeface="Arial"/>
                <a:cs typeface="Arial"/>
                <a:sym typeface="Arial"/>
              </a:rPr>
              <a:t>Hotel Permai. Large order. Watch what happens when it hits confirm.</a:t>
            </a:r>
            <a:endParaRPr sz="1100">
              <a:solidFill>
                <a:schemeClr val="dk1"/>
              </a:solidFill>
              <a:latin typeface="Calibri"/>
              <a:ea typeface="Calibri"/>
              <a:cs typeface="Calibri"/>
              <a:sym typeface="Calibri"/>
            </a:endParaRPr>
          </a:p>
        </p:txBody>
      </p:sp>
      <p:sp>
        <p:nvSpPr>
          <p:cNvPr id="3315" name="Google Shape;3315;p121"/>
          <p:cNvSpPr/>
          <p:nvPr/>
        </p:nvSpPr>
        <p:spPr>
          <a:xfrm>
            <a:off x="2377450" y="2057400"/>
            <a:ext cx="4059300" cy="1302900"/>
          </a:xfrm>
          <a:prstGeom prst="roundRect">
            <a:avLst>
              <a:gd fmla="val 50000" name="adj"/>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AlertTriangle_white.png" id="3316" name="Google Shape;3316;p121"/>
          <p:cNvPicPr preferRelativeResize="0"/>
          <p:nvPr/>
        </p:nvPicPr>
        <p:blipFill rotWithShape="1">
          <a:blip r:embed="rId3">
            <a:alphaModFix/>
          </a:blip>
          <a:srcRect b="0" l="0" r="0" t="0"/>
          <a:stretch/>
        </p:blipFill>
        <p:spPr>
          <a:xfrm>
            <a:off x="2877297" y="2434590"/>
            <a:ext cx="548640" cy="548640"/>
          </a:xfrm>
          <a:prstGeom prst="rect">
            <a:avLst/>
          </a:prstGeom>
          <a:noFill/>
          <a:ln>
            <a:noFill/>
          </a:ln>
        </p:spPr>
      </p:pic>
      <p:sp>
        <p:nvSpPr>
          <p:cNvPr id="3317" name="Google Shape;3317;p121"/>
          <p:cNvSpPr/>
          <p:nvPr/>
        </p:nvSpPr>
        <p:spPr>
          <a:xfrm>
            <a:off x="3746244" y="2057400"/>
            <a:ext cx="2586600" cy="130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300"/>
              <a:buFont typeface="Arial"/>
              <a:buNone/>
            </a:pPr>
            <a:r>
              <a:rPr b="1" lang="en-GB" sz="3300">
                <a:solidFill>
                  <a:srgbClr val="FFFFFF"/>
                </a:solidFill>
                <a:latin typeface="Arial"/>
                <a:ea typeface="Arial"/>
                <a:cs typeface="Arial"/>
                <a:sym typeface="Arial"/>
              </a:rPr>
              <a:t>Near limit</a:t>
            </a:r>
            <a:endParaRPr sz="3300">
              <a:solidFill>
                <a:schemeClr val="dk1"/>
              </a:solidFill>
              <a:latin typeface="Calibri"/>
              <a:ea typeface="Calibri"/>
              <a:cs typeface="Calibri"/>
              <a:sym typeface="Calibri"/>
            </a:endParaRPr>
          </a:p>
        </p:txBody>
      </p:sp>
      <p:sp>
        <p:nvSpPr>
          <p:cNvPr id="3318" name="Google Shape;3318;p121"/>
          <p:cNvSpPr/>
          <p:nvPr/>
        </p:nvSpPr>
        <p:spPr>
          <a:xfrm>
            <a:off x="7566835" y="4560570"/>
            <a:ext cx="1165800" cy="288000"/>
          </a:xfrm>
          <a:prstGeom prst="roundRect">
            <a:avLst>
              <a:gd fmla="val 50000" name="adj"/>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Play_white.png" id="3319" name="Google Shape;3319;p121"/>
          <p:cNvPicPr preferRelativeResize="0"/>
          <p:nvPr/>
        </p:nvPicPr>
        <p:blipFill rotWithShape="1">
          <a:blip r:embed="rId4">
            <a:alphaModFix/>
          </a:blip>
          <a:srcRect b="0" l="0" r="0" t="0"/>
          <a:stretch/>
        </p:blipFill>
        <p:spPr>
          <a:xfrm>
            <a:off x="7676569" y="4649724"/>
            <a:ext cx="109728" cy="109728"/>
          </a:xfrm>
          <a:prstGeom prst="rect">
            <a:avLst/>
          </a:prstGeom>
          <a:noFill/>
          <a:ln>
            <a:noFill/>
          </a:ln>
        </p:spPr>
      </p:pic>
      <p:sp>
        <p:nvSpPr>
          <p:cNvPr id="3320" name="Google Shape;3320;p121"/>
          <p:cNvSpPr/>
          <p:nvPr/>
        </p:nvSpPr>
        <p:spPr>
          <a:xfrm>
            <a:off x="7827453" y="4560570"/>
            <a:ext cx="891600" cy="288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Now playing</a:t>
            </a:r>
            <a:endParaRPr sz="800">
              <a:solidFill>
                <a:schemeClr val="dk1"/>
              </a:solidFill>
              <a:latin typeface="Calibri"/>
              <a:ea typeface="Calibri"/>
              <a:cs typeface="Calibri"/>
              <a:sym typeface="Calibri"/>
            </a:endParaRPr>
          </a:p>
        </p:txBody>
      </p:sp>
      <p:sp>
        <p:nvSpPr>
          <p:cNvPr id="3321" name="Google Shape;3321;p121"/>
          <p:cNvSpPr/>
          <p:nvPr/>
        </p:nvSpPr>
        <p:spPr>
          <a:xfrm>
            <a:off x="411502" y="4869180"/>
            <a:ext cx="54867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2A6BE"/>
              </a:buClr>
              <a:buSzPts val="700"/>
              <a:buFont typeface="Arial"/>
              <a:buNone/>
            </a:pPr>
            <a:r>
              <a:rPr lang="en-GB" sz="700">
                <a:solidFill>
                  <a:srgbClr val="92A6BE"/>
                </a:solidFill>
                <a:latin typeface="Arial"/>
                <a:ea typeface="Arial"/>
                <a:cs typeface="Arial"/>
                <a:sym typeface="Arial"/>
              </a:rPr>
              <a:t>SECTION 2</a:t>
            </a:r>
            <a:endParaRPr sz="700">
              <a:solidFill>
                <a:schemeClr val="dk1"/>
              </a:solidFill>
              <a:latin typeface="Calibri"/>
              <a:ea typeface="Calibri"/>
              <a:cs typeface="Calibri"/>
              <a:sym typeface="Calibri"/>
            </a:endParaRPr>
          </a:p>
        </p:txBody>
      </p:sp>
      <p:sp>
        <p:nvSpPr>
          <p:cNvPr id="3322" name="Google Shape;3322;p121"/>
          <p:cNvSpPr/>
          <p:nvPr/>
        </p:nvSpPr>
        <p:spPr>
          <a:xfrm>
            <a:off x="7361084" y="4869180"/>
            <a:ext cx="1371600" cy="205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2A6BE"/>
              </a:buClr>
              <a:buSzPts val="700"/>
              <a:buFont typeface="Arial"/>
              <a:buNone/>
            </a:pPr>
            <a:r>
              <a:rPr lang="en-GB" sz="700">
                <a:solidFill>
                  <a:srgbClr val="92A6BE"/>
                </a:solidFill>
                <a:latin typeface="Arial"/>
                <a:ea typeface="Arial"/>
                <a:cs typeface="Arial"/>
                <a:sym typeface="Arial"/>
              </a:rPr>
              <a:t>24 / 82</a:t>
            </a:r>
            <a:endParaRPr sz="700">
              <a:solidFill>
                <a:schemeClr val="dk1"/>
              </a:solidFill>
              <a:latin typeface="Calibri"/>
              <a:ea typeface="Calibri"/>
              <a:cs typeface="Calibri"/>
              <a:sym typeface="Calibri"/>
            </a:endParaRPr>
          </a:p>
        </p:txBody>
      </p:sp>
      <p:sp>
        <p:nvSpPr>
          <p:cNvPr id="3323" name="Google Shape;3323;p121"/>
          <p:cNvSpPr txBox="1"/>
          <p:nvPr>
            <p:ph idx="12" type="sldNum"/>
          </p:nvPr>
        </p:nvSpPr>
        <p:spPr>
          <a:xfrm>
            <a:off x="8347216" y="4750189"/>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3328" name="Shape 3328"/>
        <p:cNvGrpSpPr/>
        <p:nvPr/>
      </p:nvGrpSpPr>
      <p:grpSpPr>
        <a:xfrm>
          <a:off x="0" y="0"/>
          <a:ext cx="0" cy="0"/>
          <a:chOff x="0" y="0"/>
          <a:chExt cx="0" cy="0"/>
        </a:xfrm>
      </p:grpSpPr>
      <p:sp>
        <p:nvSpPr>
          <p:cNvPr id="3329" name="Google Shape;3329;p122"/>
          <p:cNvSpPr/>
          <p:nvPr/>
        </p:nvSpPr>
        <p:spPr>
          <a:xfrm>
            <a:off x="411502" y="260604"/>
            <a:ext cx="68583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 VIDEO · 01 / 07</a:t>
            </a:r>
            <a:endParaRPr sz="800">
              <a:solidFill>
                <a:schemeClr val="dk1"/>
              </a:solidFill>
              <a:latin typeface="Calibri"/>
              <a:ea typeface="Calibri"/>
              <a:cs typeface="Calibri"/>
              <a:sym typeface="Calibri"/>
            </a:endParaRPr>
          </a:p>
        </p:txBody>
      </p:sp>
      <p:sp>
        <p:nvSpPr>
          <p:cNvPr id="3330" name="Google Shape;3330;p122"/>
          <p:cNvSpPr/>
          <p:nvPr/>
        </p:nvSpPr>
        <p:spPr>
          <a:xfrm>
            <a:off x="411502" y="438912"/>
            <a:ext cx="8321400" cy="480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C2B3E"/>
              </a:buClr>
              <a:buSzPts val="2200"/>
              <a:buFont typeface="Arial"/>
              <a:buNone/>
            </a:pPr>
            <a:r>
              <a:rPr b="1" lang="en-GB" sz="2200">
                <a:solidFill>
                  <a:srgbClr val="1C2B3E"/>
                </a:solidFill>
                <a:latin typeface="Arial"/>
                <a:ea typeface="Arial"/>
                <a:cs typeface="Arial"/>
                <a:sym typeface="Arial"/>
              </a:rPr>
              <a:t>Customer PO → Sales Order</a:t>
            </a:r>
            <a:endParaRPr sz="2200">
              <a:solidFill>
                <a:schemeClr val="dk1"/>
              </a:solidFill>
              <a:latin typeface="Calibri"/>
              <a:ea typeface="Calibri"/>
              <a:cs typeface="Calibri"/>
              <a:sym typeface="Calibri"/>
            </a:endParaRPr>
          </a:p>
        </p:txBody>
      </p:sp>
      <p:sp>
        <p:nvSpPr>
          <p:cNvPr id="3331" name="Google Shape;3331;p122"/>
          <p:cNvSpPr/>
          <p:nvPr/>
        </p:nvSpPr>
        <p:spPr>
          <a:xfrm>
            <a:off x="411502" y="932688"/>
            <a:ext cx="8321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D"/>
              </a:buClr>
              <a:buSzPts val="1100"/>
              <a:buFont typeface="Arial"/>
              <a:buNone/>
            </a:pPr>
            <a:r>
              <a:rPr lang="en-GB" sz="1100">
                <a:solidFill>
                  <a:srgbClr val="5B6B7D"/>
                </a:solidFill>
                <a:latin typeface="Arial"/>
                <a:ea typeface="Arial"/>
                <a:cs typeface="Arial"/>
                <a:sym typeface="Arial"/>
              </a:rPr>
              <a:t>Screen recording — watch how it works.</a:t>
            </a:r>
            <a:endParaRPr sz="1100">
              <a:solidFill>
                <a:schemeClr val="dk1"/>
              </a:solidFill>
              <a:latin typeface="Calibri"/>
              <a:ea typeface="Calibri"/>
              <a:cs typeface="Calibri"/>
              <a:sym typeface="Calibri"/>
            </a:endParaRPr>
          </a:p>
        </p:txBody>
      </p:sp>
      <p:sp>
        <p:nvSpPr>
          <p:cNvPr id="3332" name="Google Shape;3332;p122"/>
          <p:cNvSpPr/>
          <p:nvPr/>
        </p:nvSpPr>
        <p:spPr>
          <a:xfrm>
            <a:off x="411502" y="1337310"/>
            <a:ext cx="5006700" cy="2434500"/>
          </a:xfrm>
          <a:prstGeom prst="roundRect">
            <a:avLst>
              <a:gd fmla="val 3380" name="adj"/>
            </a:avLst>
          </a:prstGeom>
          <a:solidFill>
            <a:srgbClr val="F5F7FA"/>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333" name="Google Shape;3333;p122"/>
          <p:cNvSpPr/>
          <p:nvPr/>
        </p:nvSpPr>
        <p:spPr>
          <a:xfrm>
            <a:off x="617253" y="1537335"/>
            <a:ext cx="411600" cy="411600"/>
          </a:xfrm>
          <a:prstGeom prst="roundRect">
            <a:avLst>
              <a:gd fmla="val 22000"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FileText_white.png" id="3334" name="Google Shape;3334;p122"/>
          <p:cNvPicPr preferRelativeResize="0"/>
          <p:nvPr/>
        </p:nvPicPr>
        <p:blipFill rotWithShape="1">
          <a:blip r:embed="rId3">
            <a:alphaModFix/>
          </a:blip>
          <a:srcRect b="0" l="0" r="0" t="0"/>
          <a:stretch/>
        </p:blipFill>
        <p:spPr>
          <a:xfrm>
            <a:off x="720128" y="1640205"/>
            <a:ext cx="205740" cy="205740"/>
          </a:xfrm>
          <a:prstGeom prst="rect">
            <a:avLst/>
          </a:prstGeom>
          <a:noFill/>
          <a:ln>
            <a:noFill/>
          </a:ln>
        </p:spPr>
      </p:pic>
      <p:sp>
        <p:nvSpPr>
          <p:cNvPr id="3335" name="Google Shape;3335;p122"/>
          <p:cNvSpPr/>
          <p:nvPr/>
        </p:nvSpPr>
        <p:spPr>
          <a:xfrm>
            <a:off x="1165922" y="1337310"/>
            <a:ext cx="3223500" cy="811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1100"/>
              <a:buFont typeface="Arial"/>
              <a:buNone/>
            </a:pPr>
            <a:r>
              <a:rPr b="1" lang="en-GB" sz="1100">
                <a:solidFill>
                  <a:srgbClr val="1C2B3E"/>
                </a:solidFill>
                <a:latin typeface="Arial"/>
                <a:ea typeface="Arial"/>
                <a:cs typeface="Arial"/>
                <a:sym typeface="Arial"/>
              </a:rPr>
              <a:t>Photo PO received from Warung Pak Din</a:t>
            </a:r>
            <a:endParaRPr sz="1100">
              <a:solidFill>
                <a:schemeClr val="dk1"/>
              </a:solidFill>
              <a:latin typeface="Calibri"/>
              <a:ea typeface="Calibri"/>
              <a:cs typeface="Calibri"/>
              <a:sym typeface="Calibri"/>
            </a:endParaRPr>
          </a:p>
        </p:txBody>
      </p:sp>
      <p:sp>
        <p:nvSpPr>
          <p:cNvPr id="3336" name="Google Shape;3336;p122"/>
          <p:cNvSpPr/>
          <p:nvPr/>
        </p:nvSpPr>
        <p:spPr>
          <a:xfrm>
            <a:off x="4389354" y="1605915"/>
            <a:ext cx="857400" cy="274200"/>
          </a:xfrm>
          <a:prstGeom prst="roundRect">
            <a:avLst>
              <a:gd fmla="val 50000"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337" name="Google Shape;3337;p122"/>
          <p:cNvSpPr/>
          <p:nvPr/>
        </p:nvSpPr>
        <p:spPr>
          <a:xfrm>
            <a:off x="4389354" y="1605915"/>
            <a:ext cx="8574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Extracting…</a:t>
            </a:r>
            <a:endParaRPr sz="800">
              <a:solidFill>
                <a:schemeClr val="dk1"/>
              </a:solidFill>
              <a:latin typeface="Calibri"/>
              <a:ea typeface="Calibri"/>
              <a:cs typeface="Calibri"/>
              <a:sym typeface="Calibri"/>
            </a:endParaRPr>
          </a:p>
        </p:txBody>
      </p:sp>
      <p:cxnSp>
        <p:nvCxnSpPr>
          <p:cNvPr id="3338" name="Google Shape;3338;p122"/>
          <p:cNvCxnSpPr/>
          <p:nvPr/>
        </p:nvCxnSpPr>
        <p:spPr>
          <a:xfrm>
            <a:off x="576103" y="2148840"/>
            <a:ext cx="4677300" cy="0"/>
          </a:xfrm>
          <a:prstGeom prst="straightConnector1">
            <a:avLst/>
          </a:prstGeom>
          <a:noFill/>
          <a:ln cap="flat" cmpd="sng" w="12700">
            <a:solidFill>
              <a:srgbClr val="E3E8EF"/>
            </a:solidFill>
            <a:prstDash val="solid"/>
            <a:round/>
            <a:headEnd len="sm" w="sm" type="none"/>
            <a:tailEnd len="sm" w="sm" type="none"/>
          </a:ln>
        </p:spPr>
      </p:cxnSp>
      <p:sp>
        <p:nvSpPr>
          <p:cNvPr id="3339" name="Google Shape;3339;p122"/>
          <p:cNvSpPr/>
          <p:nvPr/>
        </p:nvSpPr>
        <p:spPr>
          <a:xfrm>
            <a:off x="617253" y="2348865"/>
            <a:ext cx="411600" cy="411600"/>
          </a:xfrm>
          <a:prstGeom prst="roundRect">
            <a:avLst>
              <a:gd fmla="val 22000" name="adj"/>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AlertTriangle_white.png" id="3340" name="Google Shape;3340;p122"/>
          <p:cNvPicPr preferRelativeResize="0"/>
          <p:nvPr/>
        </p:nvPicPr>
        <p:blipFill rotWithShape="1">
          <a:blip r:embed="rId4">
            <a:alphaModFix/>
          </a:blip>
          <a:srcRect b="0" l="0" r="0" t="0"/>
          <a:stretch/>
        </p:blipFill>
        <p:spPr>
          <a:xfrm>
            <a:off x="720128" y="2451735"/>
            <a:ext cx="205740" cy="205740"/>
          </a:xfrm>
          <a:prstGeom prst="rect">
            <a:avLst/>
          </a:prstGeom>
          <a:noFill/>
          <a:ln>
            <a:noFill/>
          </a:ln>
        </p:spPr>
      </p:pic>
      <p:sp>
        <p:nvSpPr>
          <p:cNvPr id="3341" name="Google Shape;3341;p122"/>
          <p:cNvSpPr/>
          <p:nvPr/>
        </p:nvSpPr>
        <p:spPr>
          <a:xfrm>
            <a:off x="1165922" y="2148840"/>
            <a:ext cx="3223500" cy="811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1100"/>
              <a:buFont typeface="Arial"/>
              <a:buNone/>
            </a:pPr>
            <a:r>
              <a:rPr b="1" lang="en-GB" sz="1100">
                <a:solidFill>
                  <a:srgbClr val="1C2B3E"/>
                </a:solidFill>
                <a:latin typeface="Arial"/>
                <a:ea typeface="Arial"/>
                <a:cs typeface="Arial"/>
                <a:sym typeface="Arial"/>
              </a:rPr>
              <a:t>“tepung banjir 25kg” — low-confidence match flagged</a:t>
            </a:r>
            <a:endParaRPr sz="1100">
              <a:solidFill>
                <a:schemeClr val="dk1"/>
              </a:solidFill>
              <a:latin typeface="Calibri"/>
              <a:ea typeface="Calibri"/>
              <a:cs typeface="Calibri"/>
              <a:sym typeface="Calibri"/>
            </a:endParaRPr>
          </a:p>
        </p:txBody>
      </p:sp>
      <p:sp>
        <p:nvSpPr>
          <p:cNvPr id="3342" name="Google Shape;3342;p122"/>
          <p:cNvSpPr/>
          <p:nvPr/>
        </p:nvSpPr>
        <p:spPr>
          <a:xfrm>
            <a:off x="4389354" y="2417445"/>
            <a:ext cx="857400" cy="274200"/>
          </a:xfrm>
          <a:prstGeom prst="roundRect">
            <a:avLst>
              <a:gd fmla="val 50000" name="adj"/>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343" name="Google Shape;3343;p122"/>
          <p:cNvSpPr/>
          <p:nvPr/>
        </p:nvSpPr>
        <p:spPr>
          <a:xfrm>
            <a:off x="4389354" y="2417445"/>
            <a:ext cx="8574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Review</a:t>
            </a:r>
            <a:endParaRPr sz="800">
              <a:solidFill>
                <a:schemeClr val="dk1"/>
              </a:solidFill>
              <a:latin typeface="Calibri"/>
              <a:ea typeface="Calibri"/>
              <a:cs typeface="Calibri"/>
              <a:sym typeface="Calibri"/>
            </a:endParaRPr>
          </a:p>
        </p:txBody>
      </p:sp>
      <p:cxnSp>
        <p:nvCxnSpPr>
          <p:cNvPr id="3344" name="Google Shape;3344;p122"/>
          <p:cNvCxnSpPr/>
          <p:nvPr/>
        </p:nvCxnSpPr>
        <p:spPr>
          <a:xfrm>
            <a:off x="576103" y="2960370"/>
            <a:ext cx="4677300" cy="0"/>
          </a:xfrm>
          <a:prstGeom prst="straightConnector1">
            <a:avLst/>
          </a:prstGeom>
          <a:noFill/>
          <a:ln cap="flat" cmpd="sng" w="12700">
            <a:solidFill>
              <a:srgbClr val="E3E8EF"/>
            </a:solidFill>
            <a:prstDash val="solid"/>
            <a:round/>
            <a:headEnd len="sm" w="sm" type="none"/>
            <a:tailEnd len="sm" w="sm" type="none"/>
          </a:ln>
        </p:spPr>
      </p:cxnSp>
      <p:sp>
        <p:nvSpPr>
          <p:cNvPr id="3345" name="Google Shape;3345;p122"/>
          <p:cNvSpPr/>
          <p:nvPr/>
        </p:nvSpPr>
        <p:spPr>
          <a:xfrm>
            <a:off x="617253" y="3160395"/>
            <a:ext cx="411600" cy="411600"/>
          </a:xfrm>
          <a:prstGeom prst="roundRect">
            <a:avLst>
              <a:gd fmla="val 22000" name="adj"/>
            </a:avLst>
          </a:prstGeom>
          <a:solidFill>
            <a:srgbClr val="1A9D5C"/>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CheckCircle_white.png" id="3346" name="Google Shape;3346;p122"/>
          <p:cNvPicPr preferRelativeResize="0"/>
          <p:nvPr/>
        </p:nvPicPr>
        <p:blipFill rotWithShape="1">
          <a:blip r:embed="rId5">
            <a:alphaModFix/>
          </a:blip>
          <a:srcRect b="0" l="0" r="0" t="0"/>
          <a:stretch/>
        </p:blipFill>
        <p:spPr>
          <a:xfrm>
            <a:off x="720128" y="3263265"/>
            <a:ext cx="205740" cy="205740"/>
          </a:xfrm>
          <a:prstGeom prst="rect">
            <a:avLst/>
          </a:prstGeom>
          <a:noFill/>
          <a:ln>
            <a:noFill/>
          </a:ln>
        </p:spPr>
      </p:pic>
      <p:sp>
        <p:nvSpPr>
          <p:cNvPr id="3347" name="Google Shape;3347;p122"/>
          <p:cNvSpPr/>
          <p:nvPr/>
        </p:nvSpPr>
        <p:spPr>
          <a:xfrm>
            <a:off x="1165922" y="2960370"/>
            <a:ext cx="3223500" cy="811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1100"/>
              <a:buFont typeface="Arial"/>
              <a:buNone/>
            </a:pPr>
            <a:r>
              <a:rPr b="1" lang="en-GB" sz="1100">
                <a:solidFill>
                  <a:srgbClr val="1C2B3E"/>
                </a:solidFill>
                <a:latin typeface="Arial"/>
                <a:ea typeface="Arial"/>
                <a:cs typeface="Arial"/>
                <a:sym typeface="Arial"/>
              </a:rPr>
              <a:t>Sales Order SO-2026-00042 draft ready</a:t>
            </a:r>
            <a:endParaRPr sz="1100">
              <a:solidFill>
                <a:schemeClr val="dk1"/>
              </a:solidFill>
              <a:latin typeface="Calibri"/>
              <a:ea typeface="Calibri"/>
              <a:cs typeface="Calibri"/>
              <a:sym typeface="Calibri"/>
            </a:endParaRPr>
          </a:p>
        </p:txBody>
      </p:sp>
      <p:sp>
        <p:nvSpPr>
          <p:cNvPr id="3348" name="Google Shape;3348;p122"/>
          <p:cNvSpPr/>
          <p:nvPr/>
        </p:nvSpPr>
        <p:spPr>
          <a:xfrm>
            <a:off x="4389354" y="3228975"/>
            <a:ext cx="857400" cy="274200"/>
          </a:xfrm>
          <a:prstGeom prst="roundRect">
            <a:avLst>
              <a:gd fmla="val 50000" name="adj"/>
            </a:avLst>
          </a:prstGeom>
          <a:solidFill>
            <a:srgbClr val="1A9D5C"/>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349" name="Google Shape;3349;p122"/>
          <p:cNvSpPr/>
          <p:nvPr/>
        </p:nvSpPr>
        <p:spPr>
          <a:xfrm>
            <a:off x="4389354" y="3228975"/>
            <a:ext cx="8574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Ready</a:t>
            </a:r>
            <a:endParaRPr sz="800">
              <a:solidFill>
                <a:schemeClr val="dk1"/>
              </a:solidFill>
              <a:latin typeface="Calibri"/>
              <a:ea typeface="Calibri"/>
              <a:cs typeface="Calibri"/>
              <a:sym typeface="Calibri"/>
            </a:endParaRPr>
          </a:p>
        </p:txBody>
      </p:sp>
      <p:sp>
        <p:nvSpPr>
          <p:cNvPr id="3350" name="Google Shape;3350;p122"/>
          <p:cNvSpPr/>
          <p:nvPr/>
        </p:nvSpPr>
        <p:spPr>
          <a:xfrm>
            <a:off x="5692443" y="1337310"/>
            <a:ext cx="3040200" cy="2434500"/>
          </a:xfrm>
          <a:prstGeom prst="roundRect">
            <a:avLst>
              <a:gd fmla="val 3380" name="adj"/>
            </a:avLst>
          </a:prstGeom>
          <a:solidFill>
            <a:srgbClr val="F5F7FA"/>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351" name="Google Shape;3351;p122"/>
          <p:cNvSpPr/>
          <p:nvPr/>
        </p:nvSpPr>
        <p:spPr>
          <a:xfrm>
            <a:off x="5843328" y="1460754"/>
            <a:ext cx="27384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800"/>
              <a:buFont typeface="Arial"/>
              <a:buNone/>
            </a:pPr>
            <a:r>
              <a:rPr b="1" lang="en-GB" sz="800">
                <a:solidFill>
                  <a:srgbClr val="94A3B8"/>
                </a:solidFill>
                <a:latin typeface="Arial"/>
                <a:ea typeface="Arial"/>
                <a:cs typeface="Arial"/>
                <a:sym typeface="Arial"/>
              </a:rPr>
              <a:t>WHAT YOU'LL SEE</a:t>
            </a:r>
            <a:endParaRPr sz="800">
              <a:solidFill>
                <a:schemeClr val="dk1"/>
              </a:solidFill>
              <a:latin typeface="Calibri"/>
              <a:ea typeface="Calibri"/>
              <a:cs typeface="Calibri"/>
              <a:sym typeface="Calibri"/>
            </a:endParaRPr>
          </a:p>
        </p:txBody>
      </p:sp>
      <p:sp>
        <p:nvSpPr>
          <p:cNvPr id="3352" name="Google Shape;3352;p122"/>
          <p:cNvSpPr/>
          <p:nvPr/>
        </p:nvSpPr>
        <p:spPr>
          <a:xfrm>
            <a:off x="5843328" y="1762506"/>
            <a:ext cx="219600" cy="219600"/>
          </a:xfrm>
          <a:prstGeom prst="ellipse">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353" name="Google Shape;3353;p122"/>
          <p:cNvSpPr/>
          <p:nvPr/>
        </p:nvSpPr>
        <p:spPr>
          <a:xfrm>
            <a:off x="5843328" y="1762506"/>
            <a:ext cx="219600" cy="2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1</a:t>
            </a:r>
            <a:endParaRPr sz="800">
              <a:solidFill>
                <a:schemeClr val="dk1"/>
              </a:solidFill>
              <a:latin typeface="Calibri"/>
              <a:ea typeface="Calibri"/>
              <a:cs typeface="Calibri"/>
              <a:sym typeface="Calibri"/>
            </a:endParaRPr>
          </a:p>
        </p:txBody>
      </p:sp>
      <p:sp>
        <p:nvSpPr>
          <p:cNvPr id="3354" name="Google Shape;3354;p122"/>
          <p:cNvSpPr/>
          <p:nvPr/>
        </p:nvSpPr>
        <p:spPr>
          <a:xfrm>
            <a:off x="6145096" y="1735074"/>
            <a:ext cx="2423100" cy="41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B3E"/>
              </a:buClr>
              <a:buSzPts val="900"/>
              <a:buFont typeface="Arial"/>
              <a:buNone/>
            </a:pPr>
            <a:r>
              <a:rPr lang="en-GB" sz="900">
                <a:solidFill>
                  <a:srgbClr val="1C2B3E"/>
                </a:solidFill>
                <a:latin typeface="Arial"/>
                <a:ea typeface="Arial"/>
                <a:cs typeface="Arial"/>
                <a:sym typeface="Arial"/>
              </a:rPr>
              <a:t>Photo PO dropped into chat — extraction begins (bulk-upload variant shown briefly)</a:t>
            </a:r>
            <a:endParaRPr sz="900">
              <a:solidFill>
                <a:schemeClr val="dk1"/>
              </a:solidFill>
              <a:latin typeface="Calibri"/>
              <a:ea typeface="Calibri"/>
              <a:cs typeface="Calibri"/>
              <a:sym typeface="Calibri"/>
            </a:endParaRPr>
          </a:p>
        </p:txBody>
      </p:sp>
      <p:sp>
        <p:nvSpPr>
          <p:cNvPr id="3355" name="Google Shape;3355;p122"/>
          <p:cNvSpPr/>
          <p:nvPr/>
        </p:nvSpPr>
        <p:spPr>
          <a:xfrm>
            <a:off x="5843328" y="2173986"/>
            <a:ext cx="219600" cy="219600"/>
          </a:xfrm>
          <a:prstGeom prst="ellipse">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356" name="Google Shape;3356;p122"/>
          <p:cNvSpPr/>
          <p:nvPr/>
        </p:nvSpPr>
        <p:spPr>
          <a:xfrm>
            <a:off x="5843328" y="2173986"/>
            <a:ext cx="219600" cy="2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2</a:t>
            </a:r>
            <a:endParaRPr sz="800">
              <a:solidFill>
                <a:schemeClr val="dk1"/>
              </a:solidFill>
              <a:latin typeface="Calibri"/>
              <a:ea typeface="Calibri"/>
              <a:cs typeface="Calibri"/>
              <a:sym typeface="Calibri"/>
            </a:endParaRPr>
          </a:p>
        </p:txBody>
      </p:sp>
      <p:sp>
        <p:nvSpPr>
          <p:cNvPr id="3357" name="Google Shape;3357;p122"/>
          <p:cNvSpPr/>
          <p:nvPr/>
        </p:nvSpPr>
        <p:spPr>
          <a:xfrm>
            <a:off x="6145096" y="2146554"/>
            <a:ext cx="2423100" cy="41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B3E"/>
              </a:buClr>
              <a:buSzPts val="900"/>
              <a:buFont typeface="Arial"/>
              <a:buNone/>
            </a:pPr>
            <a:r>
              <a:rPr lang="en-GB" sz="900">
                <a:solidFill>
                  <a:srgbClr val="1C2B3E"/>
                </a:solidFill>
                <a:latin typeface="Arial"/>
                <a:ea typeface="Arial"/>
                <a:cs typeface="Arial"/>
                <a:sym typeface="Arial"/>
              </a:rPr>
              <a:t>Customer identified automatically — no typing</a:t>
            </a:r>
            <a:endParaRPr sz="900">
              <a:solidFill>
                <a:schemeClr val="dk1"/>
              </a:solidFill>
              <a:latin typeface="Calibri"/>
              <a:ea typeface="Calibri"/>
              <a:cs typeface="Calibri"/>
              <a:sym typeface="Calibri"/>
            </a:endParaRPr>
          </a:p>
        </p:txBody>
      </p:sp>
      <p:sp>
        <p:nvSpPr>
          <p:cNvPr id="3358" name="Google Shape;3358;p122"/>
          <p:cNvSpPr/>
          <p:nvPr/>
        </p:nvSpPr>
        <p:spPr>
          <a:xfrm>
            <a:off x="5843328" y="2585466"/>
            <a:ext cx="219600" cy="219600"/>
          </a:xfrm>
          <a:prstGeom prst="ellipse">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359" name="Google Shape;3359;p122"/>
          <p:cNvSpPr/>
          <p:nvPr/>
        </p:nvSpPr>
        <p:spPr>
          <a:xfrm>
            <a:off x="5843328" y="2585466"/>
            <a:ext cx="219600" cy="2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3</a:t>
            </a:r>
            <a:endParaRPr sz="800">
              <a:solidFill>
                <a:schemeClr val="dk1"/>
              </a:solidFill>
              <a:latin typeface="Calibri"/>
              <a:ea typeface="Calibri"/>
              <a:cs typeface="Calibri"/>
              <a:sym typeface="Calibri"/>
            </a:endParaRPr>
          </a:p>
        </p:txBody>
      </p:sp>
      <p:sp>
        <p:nvSpPr>
          <p:cNvPr id="3360" name="Google Shape;3360;p122"/>
          <p:cNvSpPr/>
          <p:nvPr/>
        </p:nvSpPr>
        <p:spPr>
          <a:xfrm>
            <a:off x="6145096" y="2558034"/>
            <a:ext cx="2423100" cy="41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B3E"/>
              </a:buClr>
              <a:buSzPts val="900"/>
              <a:buFont typeface="Arial"/>
              <a:buNone/>
            </a:pPr>
            <a:r>
              <a:rPr lang="en-GB" sz="900">
                <a:solidFill>
                  <a:srgbClr val="1C2B3E"/>
                </a:solidFill>
                <a:latin typeface="Arial"/>
                <a:ea typeface="Arial"/>
                <a:cs typeface="Arial"/>
                <a:sym typeface="Arial"/>
              </a:rPr>
              <a:t>Items mapped — one low-confidence line stays flagged</a:t>
            </a:r>
            <a:endParaRPr sz="900">
              <a:solidFill>
                <a:schemeClr val="dk1"/>
              </a:solidFill>
              <a:latin typeface="Calibri"/>
              <a:ea typeface="Calibri"/>
              <a:cs typeface="Calibri"/>
              <a:sym typeface="Calibri"/>
            </a:endParaRPr>
          </a:p>
        </p:txBody>
      </p:sp>
      <p:sp>
        <p:nvSpPr>
          <p:cNvPr id="3361" name="Google Shape;3361;p122"/>
          <p:cNvSpPr/>
          <p:nvPr/>
        </p:nvSpPr>
        <p:spPr>
          <a:xfrm>
            <a:off x="5843328" y="2996946"/>
            <a:ext cx="219600" cy="219600"/>
          </a:xfrm>
          <a:prstGeom prst="ellipse">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362" name="Google Shape;3362;p122"/>
          <p:cNvSpPr/>
          <p:nvPr/>
        </p:nvSpPr>
        <p:spPr>
          <a:xfrm>
            <a:off x="5843328" y="2996946"/>
            <a:ext cx="219600" cy="2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4</a:t>
            </a:r>
            <a:endParaRPr sz="800">
              <a:solidFill>
                <a:schemeClr val="dk1"/>
              </a:solidFill>
              <a:latin typeface="Calibri"/>
              <a:ea typeface="Calibri"/>
              <a:cs typeface="Calibri"/>
              <a:sym typeface="Calibri"/>
            </a:endParaRPr>
          </a:p>
        </p:txBody>
      </p:sp>
      <p:sp>
        <p:nvSpPr>
          <p:cNvPr id="3363" name="Google Shape;3363;p122"/>
          <p:cNvSpPr/>
          <p:nvPr/>
        </p:nvSpPr>
        <p:spPr>
          <a:xfrm>
            <a:off x="6145096" y="2969514"/>
            <a:ext cx="2423100" cy="41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B3E"/>
              </a:buClr>
              <a:buSzPts val="900"/>
              <a:buFont typeface="Arial"/>
              <a:buNone/>
            </a:pPr>
            <a:r>
              <a:rPr lang="en-GB" sz="900">
                <a:solidFill>
                  <a:srgbClr val="1C2B3E"/>
                </a:solidFill>
                <a:latin typeface="Arial"/>
                <a:ea typeface="Arial"/>
                <a:cs typeface="Arial"/>
                <a:sym typeface="Arial"/>
              </a:rPr>
              <a:t>User overrides — “MAIA learns this mapping for next time”</a:t>
            </a:r>
            <a:endParaRPr sz="900">
              <a:solidFill>
                <a:schemeClr val="dk1"/>
              </a:solidFill>
              <a:latin typeface="Calibri"/>
              <a:ea typeface="Calibri"/>
              <a:cs typeface="Calibri"/>
              <a:sym typeface="Calibri"/>
            </a:endParaRPr>
          </a:p>
        </p:txBody>
      </p:sp>
      <p:sp>
        <p:nvSpPr>
          <p:cNvPr id="3364" name="Google Shape;3364;p122"/>
          <p:cNvSpPr/>
          <p:nvPr/>
        </p:nvSpPr>
        <p:spPr>
          <a:xfrm>
            <a:off x="5843328" y="3408426"/>
            <a:ext cx="219600" cy="219600"/>
          </a:xfrm>
          <a:prstGeom prst="ellipse">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365" name="Google Shape;3365;p122"/>
          <p:cNvSpPr/>
          <p:nvPr/>
        </p:nvSpPr>
        <p:spPr>
          <a:xfrm>
            <a:off x="5843328" y="3408426"/>
            <a:ext cx="219600" cy="2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5</a:t>
            </a:r>
            <a:endParaRPr sz="800">
              <a:solidFill>
                <a:schemeClr val="dk1"/>
              </a:solidFill>
              <a:latin typeface="Calibri"/>
              <a:ea typeface="Calibri"/>
              <a:cs typeface="Calibri"/>
              <a:sym typeface="Calibri"/>
            </a:endParaRPr>
          </a:p>
        </p:txBody>
      </p:sp>
      <p:sp>
        <p:nvSpPr>
          <p:cNvPr id="3366" name="Google Shape;3366;p122"/>
          <p:cNvSpPr/>
          <p:nvPr/>
        </p:nvSpPr>
        <p:spPr>
          <a:xfrm>
            <a:off x="6145096" y="3380994"/>
            <a:ext cx="2423100" cy="41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B3E"/>
              </a:buClr>
              <a:buSzPts val="900"/>
              <a:buFont typeface="Arial"/>
              <a:buNone/>
            </a:pPr>
            <a:r>
              <a:rPr lang="en-GB" sz="900">
                <a:solidFill>
                  <a:srgbClr val="1C2B3E"/>
                </a:solidFill>
                <a:latin typeface="Arial"/>
                <a:ea typeface="Arial"/>
                <a:cs typeface="Arial"/>
                <a:sym typeface="Arial"/>
              </a:rPr>
              <a:t>UOM, remarks, terms &amp; due date mapped → clean Sales Order</a:t>
            </a:r>
            <a:endParaRPr sz="900">
              <a:solidFill>
                <a:schemeClr val="dk1"/>
              </a:solidFill>
              <a:latin typeface="Calibri"/>
              <a:ea typeface="Calibri"/>
              <a:cs typeface="Calibri"/>
              <a:sym typeface="Calibri"/>
            </a:endParaRPr>
          </a:p>
        </p:txBody>
      </p:sp>
      <p:sp>
        <p:nvSpPr>
          <p:cNvPr id="3367" name="Google Shape;3367;p122"/>
          <p:cNvSpPr/>
          <p:nvPr/>
        </p:nvSpPr>
        <p:spPr>
          <a:xfrm>
            <a:off x="411502" y="3943350"/>
            <a:ext cx="8321400" cy="720000"/>
          </a:xfrm>
          <a:prstGeom prst="roundRect">
            <a:avLst>
              <a:gd fmla="val 11429" name="adj"/>
            </a:avLst>
          </a:prstGeom>
          <a:solidFill>
            <a:srgbClr val="FBEBD9"/>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368" name="Google Shape;3368;p122"/>
          <p:cNvSpPr/>
          <p:nvPr/>
        </p:nvSpPr>
        <p:spPr>
          <a:xfrm>
            <a:off x="562386" y="4094226"/>
            <a:ext cx="342900" cy="342900"/>
          </a:xfrm>
          <a:prstGeom prst="roundRect">
            <a:avLst>
              <a:gd fmla="val 22000" name="adj"/>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MessageCircle_white.png" id="3369" name="Google Shape;3369;p122"/>
          <p:cNvPicPr preferRelativeResize="0"/>
          <p:nvPr/>
        </p:nvPicPr>
        <p:blipFill rotWithShape="1">
          <a:blip r:embed="rId6">
            <a:alphaModFix/>
          </a:blip>
          <a:srcRect b="0" l="0" r="0" t="0"/>
          <a:stretch/>
        </p:blipFill>
        <p:spPr>
          <a:xfrm>
            <a:off x="639543" y="4171379"/>
            <a:ext cx="188595" cy="188595"/>
          </a:xfrm>
          <a:prstGeom prst="rect">
            <a:avLst/>
          </a:prstGeom>
          <a:noFill/>
          <a:ln>
            <a:noFill/>
          </a:ln>
        </p:spPr>
      </p:pic>
      <p:sp>
        <p:nvSpPr>
          <p:cNvPr id="3370" name="Google Shape;3370;p122"/>
          <p:cNvSpPr/>
          <p:nvPr/>
        </p:nvSpPr>
        <p:spPr>
          <a:xfrm>
            <a:off x="1028755" y="4039362"/>
            <a:ext cx="7532400" cy="5280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1C2B3E"/>
              </a:buClr>
              <a:buSzPts val="1000"/>
              <a:buFont typeface="Arial"/>
              <a:buNone/>
            </a:pPr>
            <a:r>
              <a:rPr i="1" lang="en-GB" sz="1000">
                <a:solidFill>
                  <a:srgbClr val="1C2B3E"/>
                </a:solidFill>
                <a:latin typeface="Arial"/>
                <a:ea typeface="Arial"/>
                <a:cs typeface="Arial"/>
                <a:sym typeface="Arial"/>
              </a:rPr>
              <a:t>MAIA turns a messy photo PO into a clean, validated Sales Order — with the customer, items, UOM and price all checked.</a:t>
            </a:r>
            <a:endParaRPr sz="1000">
              <a:solidFill>
                <a:schemeClr val="dk1"/>
              </a:solidFill>
              <a:latin typeface="Calibri"/>
              <a:ea typeface="Calibri"/>
              <a:cs typeface="Calibri"/>
              <a:sym typeface="Calibri"/>
            </a:endParaRPr>
          </a:p>
        </p:txBody>
      </p:sp>
      <p:sp>
        <p:nvSpPr>
          <p:cNvPr id="3371" name="Google Shape;3371;p122"/>
          <p:cNvSpPr txBox="1"/>
          <p:nvPr>
            <p:ph idx="12" type="sldNum"/>
          </p:nvPr>
        </p:nvSpPr>
        <p:spPr>
          <a:xfrm>
            <a:off x="8347216" y="4750189"/>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3376" name="Shape 3376"/>
        <p:cNvGrpSpPr/>
        <p:nvPr/>
      </p:nvGrpSpPr>
      <p:grpSpPr>
        <a:xfrm>
          <a:off x="0" y="0"/>
          <a:ext cx="0" cy="0"/>
          <a:chOff x="0" y="0"/>
          <a:chExt cx="0" cy="0"/>
        </a:xfrm>
      </p:grpSpPr>
      <p:sp>
        <p:nvSpPr>
          <p:cNvPr id="3377" name="Google Shape;3377;p123"/>
          <p:cNvSpPr/>
          <p:nvPr/>
        </p:nvSpPr>
        <p:spPr>
          <a:xfrm>
            <a:off x="411502" y="260604"/>
            <a:ext cx="68583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 VIDEO · 02 / 07</a:t>
            </a:r>
            <a:endParaRPr sz="800">
              <a:solidFill>
                <a:schemeClr val="dk1"/>
              </a:solidFill>
              <a:latin typeface="Calibri"/>
              <a:ea typeface="Calibri"/>
              <a:cs typeface="Calibri"/>
              <a:sym typeface="Calibri"/>
            </a:endParaRPr>
          </a:p>
        </p:txBody>
      </p:sp>
      <p:sp>
        <p:nvSpPr>
          <p:cNvPr id="3378" name="Google Shape;3378;p123"/>
          <p:cNvSpPr/>
          <p:nvPr/>
        </p:nvSpPr>
        <p:spPr>
          <a:xfrm>
            <a:off x="411502" y="438912"/>
            <a:ext cx="8321400" cy="480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C2B3E"/>
              </a:buClr>
              <a:buSzPts val="2200"/>
              <a:buFont typeface="Arial"/>
              <a:buNone/>
            </a:pPr>
            <a:r>
              <a:rPr b="1" lang="en-GB" sz="2200">
                <a:solidFill>
                  <a:srgbClr val="1C2B3E"/>
                </a:solidFill>
                <a:latin typeface="Arial"/>
                <a:ea typeface="Arial"/>
                <a:cs typeface="Arial"/>
                <a:sym typeface="Arial"/>
              </a:rPr>
              <a:t>Credit Check at the Decision Point</a:t>
            </a:r>
            <a:endParaRPr sz="2200">
              <a:solidFill>
                <a:schemeClr val="dk1"/>
              </a:solidFill>
              <a:latin typeface="Calibri"/>
              <a:ea typeface="Calibri"/>
              <a:cs typeface="Calibri"/>
              <a:sym typeface="Calibri"/>
            </a:endParaRPr>
          </a:p>
        </p:txBody>
      </p:sp>
      <p:sp>
        <p:nvSpPr>
          <p:cNvPr id="3379" name="Google Shape;3379;p123"/>
          <p:cNvSpPr/>
          <p:nvPr/>
        </p:nvSpPr>
        <p:spPr>
          <a:xfrm>
            <a:off x="411502" y="932688"/>
            <a:ext cx="8321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D"/>
              </a:buClr>
              <a:buSzPts val="1100"/>
              <a:buFont typeface="Arial"/>
              <a:buNone/>
            </a:pPr>
            <a:r>
              <a:rPr lang="en-GB" sz="1100">
                <a:solidFill>
                  <a:srgbClr val="5B6B7D"/>
                </a:solidFill>
                <a:latin typeface="Arial"/>
                <a:ea typeface="Arial"/>
                <a:cs typeface="Arial"/>
                <a:sym typeface="Arial"/>
              </a:rPr>
              <a:t>Screen recording — watch how it works.</a:t>
            </a:r>
            <a:endParaRPr sz="1100">
              <a:solidFill>
                <a:schemeClr val="dk1"/>
              </a:solidFill>
              <a:latin typeface="Calibri"/>
              <a:ea typeface="Calibri"/>
              <a:cs typeface="Calibri"/>
              <a:sym typeface="Calibri"/>
            </a:endParaRPr>
          </a:p>
        </p:txBody>
      </p:sp>
      <p:sp>
        <p:nvSpPr>
          <p:cNvPr id="3380" name="Google Shape;3380;p123"/>
          <p:cNvSpPr/>
          <p:nvPr/>
        </p:nvSpPr>
        <p:spPr>
          <a:xfrm>
            <a:off x="411502" y="1337310"/>
            <a:ext cx="5006700" cy="2434500"/>
          </a:xfrm>
          <a:prstGeom prst="roundRect">
            <a:avLst>
              <a:gd fmla="val 3380" name="adj"/>
            </a:avLst>
          </a:prstGeom>
          <a:solidFill>
            <a:srgbClr val="F5F7FA"/>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381" name="Google Shape;3381;p123"/>
          <p:cNvSpPr/>
          <p:nvPr/>
        </p:nvSpPr>
        <p:spPr>
          <a:xfrm>
            <a:off x="589819" y="1501902"/>
            <a:ext cx="1371600" cy="342900"/>
          </a:xfrm>
          <a:prstGeom prst="roundRect">
            <a:avLst>
              <a:gd fmla="val 50000" name="adj"/>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382" name="Google Shape;3382;p123"/>
          <p:cNvSpPr/>
          <p:nvPr/>
        </p:nvSpPr>
        <p:spPr>
          <a:xfrm>
            <a:off x="589819" y="1501902"/>
            <a:ext cx="13716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Arial"/>
              <a:buNone/>
            </a:pPr>
            <a:r>
              <a:rPr b="1" lang="en-GB" sz="1000">
                <a:solidFill>
                  <a:srgbClr val="FFFFFF"/>
                </a:solidFill>
                <a:latin typeface="Arial"/>
                <a:ea typeface="Arial"/>
                <a:cs typeface="Arial"/>
                <a:sym typeface="Arial"/>
              </a:rPr>
              <a:t>⚠  Near limit</a:t>
            </a:r>
            <a:endParaRPr sz="1000">
              <a:solidFill>
                <a:schemeClr val="dk1"/>
              </a:solidFill>
              <a:latin typeface="Calibri"/>
              <a:ea typeface="Calibri"/>
              <a:cs typeface="Calibri"/>
              <a:sym typeface="Calibri"/>
            </a:endParaRPr>
          </a:p>
        </p:txBody>
      </p:sp>
      <p:sp>
        <p:nvSpPr>
          <p:cNvPr id="3383" name="Google Shape;3383;p123"/>
          <p:cNvSpPr/>
          <p:nvPr/>
        </p:nvSpPr>
        <p:spPr>
          <a:xfrm>
            <a:off x="2126093" y="1501902"/>
            <a:ext cx="308640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D"/>
              </a:buClr>
              <a:buSzPts val="1000"/>
              <a:buFont typeface="Arial"/>
              <a:buNone/>
            </a:pPr>
            <a:r>
              <a:rPr lang="en-GB" sz="1000">
                <a:solidFill>
                  <a:srgbClr val="5B6B7D"/>
                </a:solidFill>
                <a:latin typeface="Arial"/>
                <a:ea typeface="Arial"/>
                <a:cs typeface="Arial"/>
                <a:sym typeface="Arial"/>
              </a:rPr>
              <a:t>Hotel Permai Group · New order RM20,000</a:t>
            </a:r>
            <a:endParaRPr sz="1000">
              <a:solidFill>
                <a:schemeClr val="dk1"/>
              </a:solidFill>
              <a:latin typeface="Calibri"/>
              <a:ea typeface="Calibri"/>
              <a:cs typeface="Calibri"/>
              <a:sym typeface="Calibri"/>
            </a:endParaRPr>
          </a:p>
        </p:txBody>
      </p:sp>
      <p:sp>
        <p:nvSpPr>
          <p:cNvPr id="3384" name="Google Shape;3384;p123"/>
          <p:cNvSpPr/>
          <p:nvPr/>
        </p:nvSpPr>
        <p:spPr>
          <a:xfrm>
            <a:off x="589819" y="2023110"/>
            <a:ext cx="20574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D"/>
              </a:buClr>
              <a:buSzPts val="900"/>
              <a:buFont typeface="Arial"/>
              <a:buNone/>
            </a:pPr>
            <a:r>
              <a:rPr lang="en-GB" sz="900">
                <a:solidFill>
                  <a:srgbClr val="5B6B7D"/>
                </a:solidFill>
                <a:latin typeface="Arial"/>
                <a:ea typeface="Arial"/>
                <a:cs typeface="Arial"/>
                <a:sym typeface="Arial"/>
              </a:rPr>
              <a:t>Billed — unpaid</a:t>
            </a:r>
            <a:endParaRPr sz="900">
              <a:solidFill>
                <a:schemeClr val="dk1"/>
              </a:solidFill>
              <a:latin typeface="Calibri"/>
              <a:ea typeface="Calibri"/>
              <a:cs typeface="Calibri"/>
              <a:sym typeface="Calibri"/>
            </a:endParaRPr>
          </a:p>
        </p:txBody>
      </p:sp>
      <p:sp>
        <p:nvSpPr>
          <p:cNvPr id="3385" name="Google Shape;3385;p123"/>
          <p:cNvSpPr/>
          <p:nvPr/>
        </p:nvSpPr>
        <p:spPr>
          <a:xfrm>
            <a:off x="4142453" y="2023110"/>
            <a:ext cx="1097400" cy="205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C2B3E"/>
              </a:buClr>
              <a:buSzPts val="900"/>
              <a:buFont typeface="Arial"/>
              <a:buNone/>
            </a:pPr>
            <a:r>
              <a:rPr b="1" lang="en-GB" sz="900">
                <a:solidFill>
                  <a:srgbClr val="1C2B3E"/>
                </a:solidFill>
                <a:latin typeface="Arial"/>
                <a:ea typeface="Arial"/>
                <a:cs typeface="Arial"/>
                <a:sym typeface="Arial"/>
              </a:rPr>
              <a:t>RM62,000</a:t>
            </a:r>
            <a:endParaRPr sz="900">
              <a:solidFill>
                <a:schemeClr val="dk1"/>
              </a:solidFill>
              <a:latin typeface="Calibri"/>
              <a:ea typeface="Calibri"/>
              <a:cs typeface="Calibri"/>
              <a:sym typeface="Calibri"/>
            </a:endParaRPr>
          </a:p>
        </p:txBody>
      </p:sp>
      <p:sp>
        <p:nvSpPr>
          <p:cNvPr id="3386" name="Google Shape;3386;p123"/>
          <p:cNvSpPr/>
          <p:nvPr/>
        </p:nvSpPr>
        <p:spPr>
          <a:xfrm>
            <a:off x="589819" y="2242566"/>
            <a:ext cx="4650000" cy="178200"/>
          </a:xfrm>
          <a:prstGeom prst="roundRect">
            <a:avLst>
              <a:gd fmla="val 15385" name="adj"/>
            </a:avLst>
          </a:pr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387" name="Google Shape;3387;p123"/>
          <p:cNvSpPr/>
          <p:nvPr/>
        </p:nvSpPr>
        <p:spPr>
          <a:xfrm>
            <a:off x="589819" y="2242566"/>
            <a:ext cx="2883000" cy="178200"/>
          </a:xfrm>
          <a:prstGeom prst="roundRect">
            <a:avLst>
              <a:gd fmla="val 15385"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388" name="Google Shape;3388;p123"/>
          <p:cNvSpPr/>
          <p:nvPr/>
        </p:nvSpPr>
        <p:spPr>
          <a:xfrm>
            <a:off x="589819" y="2475738"/>
            <a:ext cx="20574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D"/>
              </a:buClr>
              <a:buSzPts val="900"/>
              <a:buFont typeface="Arial"/>
              <a:buNone/>
            </a:pPr>
            <a:r>
              <a:rPr lang="en-GB" sz="900">
                <a:solidFill>
                  <a:srgbClr val="5B6B7D"/>
                </a:solidFill>
                <a:latin typeface="Arial"/>
                <a:ea typeface="Arial"/>
                <a:cs typeface="Arial"/>
                <a:sym typeface="Arial"/>
              </a:rPr>
              <a:t>Unbilled SO (confirmed)</a:t>
            </a:r>
            <a:endParaRPr sz="900">
              <a:solidFill>
                <a:schemeClr val="dk1"/>
              </a:solidFill>
              <a:latin typeface="Calibri"/>
              <a:ea typeface="Calibri"/>
              <a:cs typeface="Calibri"/>
              <a:sym typeface="Calibri"/>
            </a:endParaRPr>
          </a:p>
        </p:txBody>
      </p:sp>
      <p:sp>
        <p:nvSpPr>
          <p:cNvPr id="3389" name="Google Shape;3389;p123"/>
          <p:cNvSpPr/>
          <p:nvPr/>
        </p:nvSpPr>
        <p:spPr>
          <a:xfrm>
            <a:off x="4142453" y="2475738"/>
            <a:ext cx="1097400" cy="205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C2B3E"/>
              </a:buClr>
              <a:buSzPts val="900"/>
              <a:buFont typeface="Arial"/>
              <a:buNone/>
            </a:pPr>
            <a:r>
              <a:rPr b="1" lang="en-GB" sz="900">
                <a:solidFill>
                  <a:srgbClr val="1C2B3E"/>
                </a:solidFill>
                <a:latin typeface="Arial"/>
                <a:ea typeface="Arial"/>
                <a:cs typeface="Arial"/>
                <a:sym typeface="Arial"/>
              </a:rPr>
              <a:t>RM15,000</a:t>
            </a:r>
            <a:endParaRPr sz="900">
              <a:solidFill>
                <a:schemeClr val="dk1"/>
              </a:solidFill>
              <a:latin typeface="Calibri"/>
              <a:ea typeface="Calibri"/>
              <a:cs typeface="Calibri"/>
              <a:sym typeface="Calibri"/>
            </a:endParaRPr>
          </a:p>
        </p:txBody>
      </p:sp>
      <p:sp>
        <p:nvSpPr>
          <p:cNvPr id="3390" name="Google Shape;3390;p123"/>
          <p:cNvSpPr/>
          <p:nvPr/>
        </p:nvSpPr>
        <p:spPr>
          <a:xfrm>
            <a:off x="589819" y="2695194"/>
            <a:ext cx="4650000" cy="178200"/>
          </a:xfrm>
          <a:prstGeom prst="roundRect">
            <a:avLst>
              <a:gd fmla="val 15385" name="adj"/>
            </a:avLst>
          </a:pr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391" name="Google Shape;3391;p123"/>
          <p:cNvSpPr/>
          <p:nvPr/>
        </p:nvSpPr>
        <p:spPr>
          <a:xfrm>
            <a:off x="589819" y="2695194"/>
            <a:ext cx="697500" cy="178200"/>
          </a:xfrm>
          <a:prstGeom prst="roundRect">
            <a:avLst>
              <a:gd fmla="val 15385" name="adj"/>
            </a:avLst>
          </a:prstGeom>
          <a:solidFill>
            <a:srgbClr val="32495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392" name="Google Shape;3392;p123"/>
          <p:cNvSpPr/>
          <p:nvPr/>
        </p:nvSpPr>
        <p:spPr>
          <a:xfrm>
            <a:off x="589819" y="2928366"/>
            <a:ext cx="20574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D"/>
              </a:buClr>
              <a:buSzPts val="900"/>
              <a:buFont typeface="Arial"/>
              <a:buNone/>
            </a:pPr>
            <a:r>
              <a:rPr lang="en-GB" sz="900">
                <a:solidFill>
                  <a:srgbClr val="5B6B7D"/>
                </a:solidFill>
                <a:latin typeface="Arial"/>
                <a:ea typeface="Arial"/>
                <a:cs typeface="Arial"/>
                <a:sym typeface="Arial"/>
              </a:rPr>
              <a:t>This order</a:t>
            </a:r>
            <a:endParaRPr sz="900">
              <a:solidFill>
                <a:schemeClr val="dk1"/>
              </a:solidFill>
              <a:latin typeface="Calibri"/>
              <a:ea typeface="Calibri"/>
              <a:cs typeface="Calibri"/>
              <a:sym typeface="Calibri"/>
            </a:endParaRPr>
          </a:p>
        </p:txBody>
      </p:sp>
      <p:sp>
        <p:nvSpPr>
          <p:cNvPr id="3393" name="Google Shape;3393;p123"/>
          <p:cNvSpPr/>
          <p:nvPr/>
        </p:nvSpPr>
        <p:spPr>
          <a:xfrm>
            <a:off x="4142453" y="2928366"/>
            <a:ext cx="1097400" cy="205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C2B3E"/>
              </a:buClr>
              <a:buSzPts val="900"/>
              <a:buFont typeface="Arial"/>
              <a:buNone/>
            </a:pPr>
            <a:r>
              <a:rPr b="1" lang="en-GB" sz="900">
                <a:solidFill>
                  <a:srgbClr val="1C2B3E"/>
                </a:solidFill>
                <a:latin typeface="Arial"/>
                <a:ea typeface="Arial"/>
                <a:cs typeface="Arial"/>
                <a:sym typeface="Arial"/>
              </a:rPr>
              <a:t>RM20,000</a:t>
            </a:r>
            <a:endParaRPr sz="900">
              <a:solidFill>
                <a:schemeClr val="dk1"/>
              </a:solidFill>
              <a:latin typeface="Calibri"/>
              <a:ea typeface="Calibri"/>
              <a:cs typeface="Calibri"/>
              <a:sym typeface="Calibri"/>
            </a:endParaRPr>
          </a:p>
        </p:txBody>
      </p:sp>
      <p:sp>
        <p:nvSpPr>
          <p:cNvPr id="3394" name="Google Shape;3394;p123"/>
          <p:cNvSpPr/>
          <p:nvPr/>
        </p:nvSpPr>
        <p:spPr>
          <a:xfrm>
            <a:off x="589819" y="3147822"/>
            <a:ext cx="4650000" cy="178200"/>
          </a:xfrm>
          <a:prstGeom prst="roundRect">
            <a:avLst>
              <a:gd fmla="val 15385" name="adj"/>
            </a:avLst>
          </a:pr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395" name="Google Shape;3395;p123"/>
          <p:cNvSpPr/>
          <p:nvPr/>
        </p:nvSpPr>
        <p:spPr>
          <a:xfrm>
            <a:off x="589819" y="3147822"/>
            <a:ext cx="930000" cy="178200"/>
          </a:xfrm>
          <a:prstGeom prst="roundRect">
            <a:avLst>
              <a:gd fmla="val 15385" name="adj"/>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cxnSp>
        <p:nvCxnSpPr>
          <p:cNvPr id="3396" name="Google Shape;3396;p123"/>
          <p:cNvCxnSpPr/>
          <p:nvPr/>
        </p:nvCxnSpPr>
        <p:spPr>
          <a:xfrm>
            <a:off x="4309797" y="1988820"/>
            <a:ext cx="0" cy="1158900"/>
          </a:xfrm>
          <a:prstGeom prst="straightConnector1">
            <a:avLst/>
          </a:prstGeom>
          <a:noFill/>
          <a:ln cap="flat" cmpd="sng" w="22225">
            <a:solidFill>
              <a:srgbClr val="DC4C3E"/>
            </a:solidFill>
            <a:prstDash val="dash"/>
            <a:round/>
            <a:headEnd len="sm" w="sm" type="none"/>
            <a:tailEnd len="sm" w="sm" type="none"/>
          </a:ln>
        </p:spPr>
      </p:cxnSp>
      <p:sp>
        <p:nvSpPr>
          <p:cNvPr id="3397" name="Google Shape;3397;p123"/>
          <p:cNvSpPr/>
          <p:nvPr/>
        </p:nvSpPr>
        <p:spPr>
          <a:xfrm>
            <a:off x="3692544" y="1789938"/>
            <a:ext cx="1234500" cy="20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C4C3E"/>
              </a:buClr>
              <a:buSzPts val="700"/>
              <a:buFont typeface="Arial"/>
              <a:buNone/>
            </a:pPr>
            <a:r>
              <a:rPr b="1" lang="en-GB" sz="700">
                <a:solidFill>
                  <a:srgbClr val="DC4C3E"/>
                </a:solidFill>
                <a:latin typeface="Arial"/>
                <a:ea typeface="Arial"/>
                <a:cs typeface="Arial"/>
                <a:sym typeface="Arial"/>
              </a:rPr>
              <a:t>LIMIT RM80,000</a:t>
            </a:r>
            <a:endParaRPr sz="700">
              <a:solidFill>
                <a:schemeClr val="dk1"/>
              </a:solidFill>
              <a:latin typeface="Calibri"/>
              <a:ea typeface="Calibri"/>
              <a:cs typeface="Calibri"/>
              <a:sym typeface="Calibri"/>
            </a:endParaRPr>
          </a:p>
        </p:txBody>
      </p:sp>
      <p:sp>
        <p:nvSpPr>
          <p:cNvPr id="3398" name="Google Shape;3398;p123"/>
          <p:cNvSpPr/>
          <p:nvPr/>
        </p:nvSpPr>
        <p:spPr>
          <a:xfrm>
            <a:off x="589819" y="3374136"/>
            <a:ext cx="4650000" cy="288000"/>
          </a:xfrm>
          <a:prstGeom prst="roundRect">
            <a:avLst>
              <a:gd fmla="val 50000"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399" name="Google Shape;3399;p123"/>
          <p:cNvSpPr/>
          <p:nvPr/>
        </p:nvSpPr>
        <p:spPr>
          <a:xfrm>
            <a:off x="589819" y="3374136"/>
            <a:ext cx="4650000" cy="288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Arial"/>
              <a:buNone/>
            </a:pPr>
            <a:r>
              <a:rPr b="1" lang="en-GB" sz="900">
                <a:solidFill>
                  <a:srgbClr val="FFFFFF"/>
                </a:solidFill>
                <a:latin typeface="Arial"/>
                <a:ea typeface="Arial"/>
                <a:cs typeface="Arial"/>
                <a:sym typeface="Arial"/>
              </a:rPr>
              <a:t>Routed to Credit Controller → Override logged</a:t>
            </a:r>
            <a:endParaRPr sz="900">
              <a:solidFill>
                <a:schemeClr val="dk1"/>
              </a:solidFill>
              <a:latin typeface="Calibri"/>
              <a:ea typeface="Calibri"/>
              <a:cs typeface="Calibri"/>
              <a:sym typeface="Calibri"/>
            </a:endParaRPr>
          </a:p>
        </p:txBody>
      </p:sp>
      <p:sp>
        <p:nvSpPr>
          <p:cNvPr id="3400" name="Google Shape;3400;p123"/>
          <p:cNvSpPr/>
          <p:nvPr/>
        </p:nvSpPr>
        <p:spPr>
          <a:xfrm>
            <a:off x="5692443" y="1337310"/>
            <a:ext cx="3040200" cy="2434500"/>
          </a:xfrm>
          <a:prstGeom prst="roundRect">
            <a:avLst>
              <a:gd fmla="val 3380" name="adj"/>
            </a:avLst>
          </a:prstGeom>
          <a:solidFill>
            <a:srgbClr val="F5F7FA"/>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401" name="Google Shape;3401;p123"/>
          <p:cNvSpPr/>
          <p:nvPr/>
        </p:nvSpPr>
        <p:spPr>
          <a:xfrm>
            <a:off x="5843328" y="1460754"/>
            <a:ext cx="27384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800"/>
              <a:buFont typeface="Arial"/>
              <a:buNone/>
            </a:pPr>
            <a:r>
              <a:rPr b="1" lang="en-GB" sz="800">
                <a:solidFill>
                  <a:srgbClr val="94A3B8"/>
                </a:solidFill>
                <a:latin typeface="Arial"/>
                <a:ea typeface="Arial"/>
                <a:cs typeface="Arial"/>
                <a:sym typeface="Arial"/>
              </a:rPr>
              <a:t>WHAT YOU'LL SEE</a:t>
            </a:r>
            <a:endParaRPr sz="800">
              <a:solidFill>
                <a:schemeClr val="dk1"/>
              </a:solidFill>
              <a:latin typeface="Calibri"/>
              <a:ea typeface="Calibri"/>
              <a:cs typeface="Calibri"/>
              <a:sym typeface="Calibri"/>
            </a:endParaRPr>
          </a:p>
        </p:txBody>
      </p:sp>
      <p:sp>
        <p:nvSpPr>
          <p:cNvPr id="3402" name="Google Shape;3402;p123"/>
          <p:cNvSpPr/>
          <p:nvPr/>
        </p:nvSpPr>
        <p:spPr>
          <a:xfrm>
            <a:off x="5843328" y="1762506"/>
            <a:ext cx="219600" cy="219600"/>
          </a:xfrm>
          <a:prstGeom prst="ellipse">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403" name="Google Shape;3403;p123"/>
          <p:cNvSpPr/>
          <p:nvPr/>
        </p:nvSpPr>
        <p:spPr>
          <a:xfrm>
            <a:off x="5843328" y="1762506"/>
            <a:ext cx="219600" cy="2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1</a:t>
            </a:r>
            <a:endParaRPr sz="800">
              <a:solidFill>
                <a:schemeClr val="dk1"/>
              </a:solidFill>
              <a:latin typeface="Calibri"/>
              <a:ea typeface="Calibri"/>
              <a:cs typeface="Calibri"/>
              <a:sym typeface="Calibri"/>
            </a:endParaRPr>
          </a:p>
        </p:txBody>
      </p:sp>
      <p:sp>
        <p:nvSpPr>
          <p:cNvPr id="3404" name="Google Shape;3404;p123"/>
          <p:cNvSpPr/>
          <p:nvPr/>
        </p:nvSpPr>
        <p:spPr>
          <a:xfrm>
            <a:off x="6145096" y="1735074"/>
            <a:ext cx="2423100" cy="41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B3E"/>
              </a:buClr>
              <a:buSzPts val="900"/>
              <a:buFont typeface="Arial"/>
              <a:buNone/>
            </a:pPr>
            <a:r>
              <a:rPr lang="en-GB" sz="900">
                <a:solidFill>
                  <a:srgbClr val="1C2B3E"/>
                </a:solidFill>
                <a:latin typeface="Arial"/>
                <a:ea typeface="Arial"/>
                <a:cs typeface="Arial"/>
                <a:sym typeface="Arial"/>
              </a:rPr>
              <a:t>Amber credit pill animates in at confirmation — unmissable</a:t>
            </a:r>
            <a:endParaRPr sz="900">
              <a:solidFill>
                <a:schemeClr val="dk1"/>
              </a:solidFill>
              <a:latin typeface="Calibri"/>
              <a:ea typeface="Calibri"/>
              <a:cs typeface="Calibri"/>
              <a:sym typeface="Calibri"/>
            </a:endParaRPr>
          </a:p>
        </p:txBody>
      </p:sp>
      <p:sp>
        <p:nvSpPr>
          <p:cNvPr id="3405" name="Google Shape;3405;p123"/>
          <p:cNvSpPr/>
          <p:nvPr/>
        </p:nvSpPr>
        <p:spPr>
          <a:xfrm>
            <a:off x="5843328" y="2173986"/>
            <a:ext cx="219600" cy="219600"/>
          </a:xfrm>
          <a:prstGeom prst="ellipse">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406" name="Google Shape;3406;p123"/>
          <p:cNvSpPr/>
          <p:nvPr/>
        </p:nvSpPr>
        <p:spPr>
          <a:xfrm>
            <a:off x="5843328" y="2173986"/>
            <a:ext cx="219600" cy="2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2</a:t>
            </a:r>
            <a:endParaRPr sz="800">
              <a:solidFill>
                <a:schemeClr val="dk1"/>
              </a:solidFill>
              <a:latin typeface="Calibri"/>
              <a:ea typeface="Calibri"/>
              <a:cs typeface="Calibri"/>
              <a:sym typeface="Calibri"/>
            </a:endParaRPr>
          </a:p>
        </p:txBody>
      </p:sp>
      <p:sp>
        <p:nvSpPr>
          <p:cNvPr id="3407" name="Google Shape;3407;p123"/>
          <p:cNvSpPr/>
          <p:nvPr/>
        </p:nvSpPr>
        <p:spPr>
          <a:xfrm>
            <a:off x="6145096" y="2146554"/>
            <a:ext cx="2423100" cy="41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B3E"/>
              </a:buClr>
              <a:buSzPts val="900"/>
              <a:buFont typeface="Arial"/>
              <a:buNone/>
            </a:pPr>
            <a:r>
              <a:rPr lang="en-GB" sz="900">
                <a:solidFill>
                  <a:srgbClr val="1C2B3E"/>
                </a:solidFill>
                <a:latin typeface="Arial"/>
                <a:ea typeface="Arial"/>
                <a:cs typeface="Arial"/>
                <a:sym typeface="Arial"/>
              </a:rPr>
              <a:t>Order blocked — breakdown expands (RM62k + RM15k vs RM80k limit)</a:t>
            </a:r>
            <a:endParaRPr sz="900">
              <a:solidFill>
                <a:schemeClr val="dk1"/>
              </a:solidFill>
              <a:latin typeface="Calibri"/>
              <a:ea typeface="Calibri"/>
              <a:cs typeface="Calibri"/>
              <a:sym typeface="Calibri"/>
            </a:endParaRPr>
          </a:p>
        </p:txBody>
      </p:sp>
      <p:sp>
        <p:nvSpPr>
          <p:cNvPr id="3408" name="Google Shape;3408;p123"/>
          <p:cNvSpPr/>
          <p:nvPr/>
        </p:nvSpPr>
        <p:spPr>
          <a:xfrm>
            <a:off x="5843328" y="2585466"/>
            <a:ext cx="219600" cy="219600"/>
          </a:xfrm>
          <a:prstGeom prst="ellipse">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409" name="Google Shape;3409;p123"/>
          <p:cNvSpPr/>
          <p:nvPr/>
        </p:nvSpPr>
        <p:spPr>
          <a:xfrm>
            <a:off x="5843328" y="2585466"/>
            <a:ext cx="219600" cy="2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3</a:t>
            </a:r>
            <a:endParaRPr sz="800">
              <a:solidFill>
                <a:schemeClr val="dk1"/>
              </a:solidFill>
              <a:latin typeface="Calibri"/>
              <a:ea typeface="Calibri"/>
              <a:cs typeface="Calibri"/>
              <a:sym typeface="Calibri"/>
            </a:endParaRPr>
          </a:p>
        </p:txBody>
      </p:sp>
      <p:sp>
        <p:nvSpPr>
          <p:cNvPr id="3410" name="Google Shape;3410;p123"/>
          <p:cNvSpPr/>
          <p:nvPr/>
        </p:nvSpPr>
        <p:spPr>
          <a:xfrm>
            <a:off x="6145096" y="2558034"/>
            <a:ext cx="2423100" cy="41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B3E"/>
              </a:buClr>
              <a:buSzPts val="900"/>
              <a:buFont typeface="Arial"/>
              <a:buNone/>
            </a:pPr>
            <a:r>
              <a:rPr lang="en-GB" sz="900">
                <a:solidFill>
                  <a:srgbClr val="1C2B3E"/>
                </a:solidFill>
                <a:latin typeface="Arial"/>
                <a:ea typeface="Arial"/>
                <a:cs typeface="Arial"/>
                <a:sym typeface="Arial"/>
              </a:rPr>
              <a:t>New RM20k order tips exposure to RM97k</a:t>
            </a:r>
            <a:endParaRPr sz="900">
              <a:solidFill>
                <a:schemeClr val="dk1"/>
              </a:solidFill>
              <a:latin typeface="Calibri"/>
              <a:ea typeface="Calibri"/>
              <a:cs typeface="Calibri"/>
              <a:sym typeface="Calibri"/>
            </a:endParaRPr>
          </a:p>
        </p:txBody>
      </p:sp>
      <p:sp>
        <p:nvSpPr>
          <p:cNvPr id="3411" name="Google Shape;3411;p123"/>
          <p:cNvSpPr/>
          <p:nvPr/>
        </p:nvSpPr>
        <p:spPr>
          <a:xfrm>
            <a:off x="5843328" y="2996946"/>
            <a:ext cx="219600" cy="219600"/>
          </a:xfrm>
          <a:prstGeom prst="ellipse">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412" name="Google Shape;3412;p123"/>
          <p:cNvSpPr/>
          <p:nvPr/>
        </p:nvSpPr>
        <p:spPr>
          <a:xfrm>
            <a:off x="5843328" y="2996946"/>
            <a:ext cx="219600" cy="2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4</a:t>
            </a:r>
            <a:endParaRPr sz="800">
              <a:solidFill>
                <a:schemeClr val="dk1"/>
              </a:solidFill>
              <a:latin typeface="Calibri"/>
              <a:ea typeface="Calibri"/>
              <a:cs typeface="Calibri"/>
              <a:sym typeface="Calibri"/>
            </a:endParaRPr>
          </a:p>
        </p:txBody>
      </p:sp>
      <p:sp>
        <p:nvSpPr>
          <p:cNvPr id="3413" name="Google Shape;3413;p123"/>
          <p:cNvSpPr/>
          <p:nvPr/>
        </p:nvSpPr>
        <p:spPr>
          <a:xfrm>
            <a:off x="6145096" y="2969514"/>
            <a:ext cx="2423100" cy="41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B3E"/>
              </a:buClr>
              <a:buSzPts val="900"/>
              <a:buFont typeface="Arial"/>
              <a:buNone/>
            </a:pPr>
            <a:r>
              <a:rPr lang="en-GB" sz="900">
                <a:solidFill>
                  <a:srgbClr val="1C2B3E"/>
                </a:solidFill>
                <a:latin typeface="Arial"/>
                <a:ea typeface="Arial"/>
                <a:cs typeface="Arial"/>
                <a:sym typeface="Arial"/>
              </a:rPr>
              <a:t>Sales user routes to Credit Controller</a:t>
            </a:r>
            <a:endParaRPr sz="900">
              <a:solidFill>
                <a:schemeClr val="dk1"/>
              </a:solidFill>
              <a:latin typeface="Calibri"/>
              <a:ea typeface="Calibri"/>
              <a:cs typeface="Calibri"/>
              <a:sym typeface="Calibri"/>
            </a:endParaRPr>
          </a:p>
        </p:txBody>
      </p:sp>
      <p:sp>
        <p:nvSpPr>
          <p:cNvPr id="3414" name="Google Shape;3414;p123"/>
          <p:cNvSpPr/>
          <p:nvPr/>
        </p:nvSpPr>
        <p:spPr>
          <a:xfrm>
            <a:off x="5843328" y="3408426"/>
            <a:ext cx="219600" cy="219600"/>
          </a:xfrm>
          <a:prstGeom prst="ellipse">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415" name="Google Shape;3415;p123"/>
          <p:cNvSpPr/>
          <p:nvPr/>
        </p:nvSpPr>
        <p:spPr>
          <a:xfrm>
            <a:off x="5843328" y="3408426"/>
            <a:ext cx="219600" cy="2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5</a:t>
            </a:r>
            <a:endParaRPr sz="800">
              <a:solidFill>
                <a:schemeClr val="dk1"/>
              </a:solidFill>
              <a:latin typeface="Calibri"/>
              <a:ea typeface="Calibri"/>
              <a:cs typeface="Calibri"/>
              <a:sym typeface="Calibri"/>
            </a:endParaRPr>
          </a:p>
        </p:txBody>
      </p:sp>
      <p:sp>
        <p:nvSpPr>
          <p:cNvPr id="3416" name="Google Shape;3416;p123"/>
          <p:cNvSpPr/>
          <p:nvPr/>
        </p:nvSpPr>
        <p:spPr>
          <a:xfrm>
            <a:off x="6145096" y="3380994"/>
            <a:ext cx="2423100" cy="41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B3E"/>
              </a:buClr>
              <a:buSzPts val="900"/>
              <a:buFont typeface="Arial"/>
              <a:buNone/>
            </a:pPr>
            <a:r>
              <a:rPr lang="en-GB" sz="900">
                <a:solidFill>
                  <a:srgbClr val="1C2B3E"/>
                </a:solidFill>
                <a:latin typeface="Arial"/>
                <a:ea typeface="Arial"/>
                <a:cs typeface="Arial"/>
                <a:sym typeface="Arial"/>
              </a:rPr>
              <a:t>Controller overrides with a note — order proceeds</a:t>
            </a:r>
            <a:endParaRPr sz="900">
              <a:solidFill>
                <a:schemeClr val="dk1"/>
              </a:solidFill>
              <a:latin typeface="Calibri"/>
              <a:ea typeface="Calibri"/>
              <a:cs typeface="Calibri"/>
              <a:sym typeface="Calibri"/>
            </a:endParaRPr>
          </a:p>
        </p:txBody>
      </p:sp>
      <p:sp>
        <p:nvSpPr>
          <p:cNvPr id="3417" name="Google Shape;3417;p123"/>
          <p:cNvSpPr/>
          <p:nvPr/>
        </p:nvSpPr>
        <p:spPr>
          <a:xfrm>
            <a:off x="411502" y="3943350"/>
            <a:ext cx="8321400" cy="720000"/>
          </a:xfrm>
          <a:prstGeom prst="roundRect">
            <a:avLst>
              <a:gd fmla="val 11429" name="adj"/>
            </a:avLst>
          </a:prstGeom>
          <a:solidFill>
            <a:srgbClr val="FBEBD9"/>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418" name="Google Shape;3418;p123"/>
          <p:cNvSpPr/>
          <p:nvPr/>
        </p:nvSpPr>
        <p:spPr>
          <a:xfrm>
            <a:off x="562386" y="4094226"/>
            <a:ext cx="342900" cy="342900"/>
          </a:xfrm>
          <a:prstGeom prst="roundRect">
            <a:avLst>
              <a:gd fmla="val 22000" name="adj"/>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MessageCircle_white.png" id="3419" name="Google Shape;3419;p123"/>
          <p:cNvPicPr preferRelativeResize="0"/>
          <p:nvPr/>
        </p:nvPicPr>
        <p:blipFill rotWithShape="1">
          <a:blip r:embed="rId3">
            <a:alphaModFix/>
          </a:blip>
          <a:srcRect b="0" l="0" r="0" t="0"/>
          <a:stretch/>
        </p:blipFill>
        <p:spPr>
          <a:xfrm>
            <a:off x="639543" y="4171379"/>
            <a:ext cx="188595" cy="188595"/>
          </a:xfrm>
          <a:prstGeom prst="rect">
            <a:avLst/>
          </a:prstGeom>
          <a:noFill/>
          <a:ln>
            <a:noFill/>
          </a:ln>
        </p:spPr>
      </p:pic>
      <p:sp>
        <p:nvSpPr>
          <p:cNvPr id="3420" name="Google Shape;3420;p123"/>
          <p:cNvSpPr/>
          <p:nvPr/>
        </p:nvSpPr>
        <p:spPr>
          <a:xfrm>
            <a:off x="1028755" y="4039362"/>
            <a:ext cx="7532400" cy="5280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1C2B3E"/>
              </a:buClr>
              <a:buSzPts val="1000"/>
              <a:buFont typeface="Arial"/>
              <a:buNone/>
            </a:pPr>
            <a:r>
              <a:rPr i="1" lang="en-GB" sz="1000">
                <a:solidFill>
                  <a:srgbClr val="1C2B3E"/>
                </a:solidFill>
                <a:latin typeface="Arial"/>
                <a:ea typeface="Arial"/>
                <a:cs typeface="Arial"/>
                <a:sym typeface="Arial"/>
              </a:rPr>
              <a:t>The credit signal appears at the moment of decision — the order is blocked, the breakdown is shown, and the controller makes the call.</a:t>
            </a:r>
            <a:endParaRPr sz="1000">
              <a:solidFill>
                <a:schemeClr val="dk1"/>
              </a:solidFill>
              <a:latin typeface="Calibri"/>
              <a:ea typeface="Calibri"/>
              <a:cs typeface="Calibri"/>
              <a:sym typeface="Calibri"/>
            </a:endParaRPr>
          </a:p>
        </p:txBody>
      </p:sp>
      <p:sp>
        <p:nvSpPr>
          <p:cNvPr id="3421" name="Google Shape;3421;p123"/>
          <p:cNvSpPr txBox="1"/>
          <p:nvPr>
            <p:ph idx="12" type="sldNum"/>
          </p:nvPr>
        </p:nvSpPr>
        <p:spPr>
          <a:xfrm>
            <a:off x="8347216" y="4750189"/>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3426" name="Shape 3426"/>
        <p:cNvGrpSpPr/>
        <p:nvPr/>
      </p:nvGrpSpPr>
      <p:grpSpPr>
        <a:xfrm>
          <a:off x="0" y="0"/>
          <a:ext cx="0" cy="0"/>
          <a:chOff x="0" y="0"/>
          <a:chExt cx="0" cy="0"/>
        </a:xfrm>
      </p:grpSpPr>
      <p:sp>
        <p:nvSpPr>
          <p:cNvPr id="3427" name="Google Shape;3427;p124"/>
          <p:cNvSpPr/>
          <p:nvPr/>
        </p:nvSpPr>
        <p:spPr>
          <a:xfrm>
            <a:off x="411502" y="260604"/>
            <a:ext cx="68583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 VIDEO · 03 / 07</a:t>
            </a:r>
            <a:endParaRPr sz="800">
              <a:solidFill>
                <a:schemeClr val="dk1"/>
              </a:solidFill>
              <a:latin typeface="Calibri"/>
              <a:ea typeface="Calibri"/>
              <a:cs typeface="Calibri"/>
              <a:sym typeface="Calibri"/>
            </a:endParaRPr>
          </a:p>
        </p:txBody>
      </p:sp>
      <p:sp>
        <p:nvSpPr>
          <p:cNvPr id="3428" name="Google Shape;3428;p124"/>
          <p:cNvSpPr/>
          <p:nvPr/>
        </p:nvSpPr>
        <p:spPr>
          <a:xfrm>
            <a:off x="411502" y="438912"/>
            <a:ext cx="8321400" cy="480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C2B3E"/>
              </a:buClr>
              <a:buSzPts val="2200"/>
              <a:buFont typeface="Arial"/>
              <a:buNone/>
            </a:pPr>
            <a:r>
              <a:rPr b="1" lang="en-GB" sz="2200">
                <a:solidFill>
                  <a:srgbClr val="1C2B3E"/>
                </a:solidFill>
                <a:latin typeface="Arial"/>
                <a:ea typeface="Arial"/>
                <a:cs typeface="Arial"/>
                <a:sym typeface="Arial"/>
              </a:rPr>
              <a:t>Sales Order → Delivery Note → Sales Invoice</a:t>
            </a:r>
            <a:endParaRPr sz="2200">
              <a:solidFill>
                <a:schemeClr val="dk1"/>
              </a:solidFill>
              <a:latin typeface="Calibri"/>
              <a:ea typeface="Calibri"/>
              <a:cs typeface="Calibri"/>
              <a:sym typeface="Calibri"/>
            </a:endParaRPr>
          </a:p>
        </p:txBody>
      </p:sp>
      <p:sp>
        <p:nvSpPr>
          <p:cNvPr id="3429" name="Google Shape;3429;p124"/>
          <p:cNvSpPr/>
          <p:nvPr/>
        </p:nvSpPr>
        <p:spPr>
          <a:xfrm>
            <a:off x="411502" y="932688"/>
            <a:ext cx="8321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D"/>
              </a:buClr>
              <a:buSzPts val="1100"/>
              <a:buFont typeface="Arial"/>
              <a:buNone/>
            </a:pPr>
            <a:r>
              <a:rPr lang="en-GB" sz="1100">
                <a:solidFill>
                  <a:srgbClr val="5B6B7D"/>
                </a:solidFill>
                <a:latin typeface="Arial"/>
                <a:ea typeface="Arial"/>
                <a:cs typeface="Arial"/>
                <a:sym typeface="Arial"/>
              </a:rPr>
              <a:t>Screen recording — watch how it works.</a:t>
            </a:r>
            <a:endParaRPr sz="1100">
              <a:solidFill>
                <a:schemeClr val="dk1"/>
              </a:solidFill>
              <a:latin typeface="Calibri"/>
              <a:ea typeface="Calibri"/>
              <a:cs typeface="Calibri"/>
              <a:sym typeface="Calibri"/>
            </a:endParaRPr>
          </a:p>
        </p:txBody>
      </p:sp>
      <p:sp>
        <p:nvSpPr>
          <p:cNvPr id="3430" name="Google Shape;3430;p124"/>
          <p:cNvSpPr/>
          <p:nvPr/>
        </p:nvSpPr>
        <p:spPr>
          <a:xfrm>
            <a:off x="411502" y="1337310"/>
            <a:ext cx="5006700" cy="2434500"/>
          </a:xfrm>
          <a:prstGeom prst="roundRect">
            <a:avLst>
              <a:gd fmla="val 3380" name="adj"/>
            </a:avLst>
          </a:prstGeom>
          <a:solidFill>
            <a:srgbClr val="F5F7FA"/>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431" name="Google Shape;3431;p124"/>
          <p:cNvSpPr/>
          <p:nvPr/>
        </p:nvSpPr>
        <p:spPr>
          <a:xfrm>
            <a:off x="2160385" y="1529334"/>
            <a:ext cx="1508700" cy="315600"/>
          </a:xfrm>
          <a:prstGeom prst="roundRect">
            <a:avLst>
              <a:gd fmla="val 50000" name="adj"/>
            </a:avLst>
          </a:prstGeom>
          <a:solidFill>
            <a:srgbClr val="1A9D5C"/>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432" name="Google Shape;3432;p124"/>
          <p:cNvSpPr/>
          <p:nvPr/>
        </p:nvSpPr>
        <p:spPr>
          <a:xfrm>
            <a:off x="2160385" y="1529334"/>
            <a:ext cx="1508700" cy="31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Arial"/>
              <a:buNone/>
            </a:pPr>
            <a:r>
              <a:rPr b="1" lang="en-GB" sz="1000">
                <a:solidFill>
                  <a:srgbClr val="FFFFFF"/>
                </a:solidFill>
                <a:latin typeface="Arial"/>
                <a:ea typeface="Arial"/>
                <a:cs typeface="Arial"/>
                <a:sym typeface="Arial"/>
              </a:rPr>
              <a:t>Stock reserved ✓</a:t>
            </a:r>
            <a:endParaRPr sz="1000">
              <a:solidFill>
                <a:schemeClr val="dk1"/>
              </a:solidFill>
              <a:latin typeface="Calibri"/>
              <a:ea typeface="Calibri"/>
              <a:cs typeface="Calibri"/>
              <a:sym typeface="Calibri"/>
            </a:endParaRPr>
          </a:p>
        </p:txBody>
      </p:sp>
      <p:sp>
        <p:nvSpPr>
          <p:cNvPr id="3433" name="Google Shape;3433;p124"/>
          <p:cNvSpPr/>
          <p:nvPr/>
        </p:nvSpPr>
        <p:spPr>
          <a:xfrm>
            <a:off x="617253" y="2091690"/>
            <a:ext cx="1004700" cy="1371600"/>
          </a:xfrm>
          <a:prstGeom prst="roundRect">
            <a:avLst>
              <a:gd fmla="val 6826" name="adj"/>
            </a:avLst>
          </a:prstGeom>
          <a:solidFill>
            <a:srgbClr val="F5F7FA"/>
          </a:solidFill>
          <a:ln>
            <a:noFill/>
          </a:ln>
          <a:effectLst>
            <a:outerShdw blurRad="101600" rotWithShape="0" algn="bl" dir="5400000" dist="38100">
              <a:srgbClr val="1C2B3E">
                <a:alpha val="1019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434" name="Google Shape;3434;p124"/>
          <p:cNvSpPr/>
          <p:nvPr/>
        </p:nvSpPr>
        <p:spPr>
          <a:xfrm>
            <a:off x="948169" y="2215134"/>
            <a:ext cx="342900" cy="342900"/>
          </a:xfrm>
          <a:prstGeom prst="ellipse">
            <a:avLst/>
          </a:pr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ShoppingCart_accent.png" id="3435" name="Google Shape;3435;p124"/>
          <p:cNvPicPr preferRelativeResize="0"/>
          <p:nvPr/>
        </p:nvPicPr>
        <p:blipFill rotWithShape="1">
          <a:blip r:embed="rId3">
            <a:alphaModFix/>
          </a:blip>
          <a:srcRect b="0" l="0" r="0" t="0"/>
          <a:stretch/>
        </p:blipFill>
        <p:spPr>
          <a:xfrm>
            <a:off x="1033899" y="2300859"/>
            <a:ext cx="171450" cy="171450"/>
          </a:xfrm>
          <a:prstGeom prst="rect">
            <a:avLst/>
          </a:prstGeom>
          <a:noFill/>
          <a:ln>
            <a:noFill/>
          </a:ln>
        </p:spPr>
      </p:pic>
      <p:sp>
        <p:nvSpPr>
          <p:cNvPr id="3436" name="Google Shape;3436;p124"/>
          <p:cNvSpPr/>
          <p:nvPr/>
        </p:nvSpPr>
        <p:spPr>
          <a:xfrm>
            <a:off x="672120" y="2626614"/>
            <a:ext cx="8949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2B3E"/>
              </a:buClr>
              <a:buSzPts val="900"/>
              <a:buFont typeface="Arial"/>
              <a:buNone/>
            </a:pPr>
            <a:r>
              <a:rPr b="1" lang="en-GB" sz="900">
                <a:solidFill>
                  <a:srgbClr val="1C2B3E"/>
                </a:solidFill>
                <a:latin typeface="Arial"/>
                <a:ea typeface="Arial"/>
                <a:cs typeface="Arial"/>
                <a:sym typeface="Arial"/>
              </a:rPr>
              <a:t>Sales Order</a:t>
            </a:r>
            <a:endParaRPr sz="900">
              <a:solidFill>
                <a:schemeClr val="dk1"/>
              </a:solidFill>
              <a:latin typeface="Calibri"/>
              <a:ea typeface="Calibri"/>
              <a:cs typeface="Calibri"/>
              <a:sym typeface="Calibri"/>
            </a:endParaRPr>
          </a:p>
        </p:txBody>
      </p:sp>
      <p:sp>
        <p:nvSpPr>
          <p:cNvPr id="3437" name="Google Shape;3437;p124"/>
          <p:cNvSpPr/>
          <p:nvPr/>
        </p:nvSpPr>
        <p:spPr>
          <a:xfrm>
            <a:off x="673834" y="3175254"/>
            <a:ext cx="891600" cy="192000"/>
          </a:xfrm>
          <a:prstGeom prst="roundRect">
            <a:avLst>
              <a:gd fmla="val 50000" name="adj"/>
            </a:avLst>
          </a:pr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438" name="Google Shape;3438;p124"/>
          <p:cNvSpPr/>
          <p:nvPr/>
        </p:nvSpPr>
        <p:spPr>
          <a:xfrm>
            <a:off x="673834" y="3175254"/>
            <a:ext cx="891600" cy="192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600"/>
              <a:buFont typeface="Arial"/>
              <a:buNone/>
            </a:pPr>
            <a:r>
              <a:rPr b="1" lang="en-GB" sz="600">
                <a:solidFill>
                  <a:srgbClr val="94A3B8"/>
                </a:solidFill>
                <a:latin typeface="Arial"/>
                <a:ea typeface="Arial"/>
                <a:cs typeface="Arial"/>
                <a:sym typeface="Arial"/>
              </a:rPr>
              <a:t>CONFIRMED</a:t>
            </a:r>
            <a:endParaRPr sz="600">
              <a:solidFill>
                <a:schemeClr val="dk1"/>
              </a:solidFill>
              <a:latin typeface="Calibri"/>
              <a:ea typeface="Calibri"/>
              <a:cs typeface="Calibri"/>
              <a:sym typeface="Calibri"/>
            </a:endParaRPr>
          </a:p>
        </p:txBody>
      </p:sp>
      <p:sp>
        <p:nvSpPr>
          <p:cNvPr id="3439" name="Google Shape;3439;p124"/>
          <p:cNvSpPr/>
          <p:nvPr/>
        </p:nvSpPr>
        <p:spPr>
          <a:xfrm>
            <a:off x="1580853" y="2606040"/>
            <a:ext cx="2742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2100"/>
              <a:buFont typeface="Arial"/>
              <a:buNone/>
            </a:pPr>
            <a:r>
              <a:rPr b="1" lang="en-GB" sz="2100">
                <a:solidFill>
                  <a:srgbClr val="94A3B8"/>
                </a:solidFill>
                <a:latin typeface="Arial"/>
                <a:ea typeface="Arial"/>
                <a:cs typeface="Arial"/>
                <a:sym typeface="Arial"/>
              </a:rPr>
              <a:t>›</a:t>
            </a:r>
            <a:endParaRPr sz="2100">
              <a:solidFill>
                <a:schemeClr val="dk1"/>
              </a:solidFill>
              <a:latin typeface="Calibri"/>
              <a:ea typeface="Calibri"/>
              <a:cs typeface="Calibri"/>
              <a:sym typeface="Calibri"/>
            </a:endParaRPr>
          </a:p>
        </p:txBody>
      </p:sp>
      <p:sp>
        <p:nvSpPr>
          <p:cNvPr id="3440" name="Google Shape;3440;p124"/>
          <p:cNvSpPr/>
          <p:nvPr/>
        </p:nvSpPr>
        <p:spPr>
          <a:xfrm>
            <a:off x="1814038" y="2091690"/>
            <a:ext cx="1004700" cy="1371600"/>
          </a:xfrm>
          <a:prstGeom prst="roundRect">
            <a:avLst>
              <a:gd fmla="val 6826" name="adj"/>
            </a:avLst>
          </a:prstGeom>
          <a:solidFill>
            <a:srgbClr val="F5F7FA"/>
          </a:solidFill>
          <a:ln>
            <a:noFill/>
          </a:ln>
          <a:effectLst>
            <a:outerShdw blurRad="101600" rotWithShape="0" algn="bl" dir="5400000" dist="38100">
              <a:srgbClr val="1C2B3E">
                <a:alpha val="1019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441" name="Google Shape;3441;p124"/>
          <p:cNvSpPr/>
          <p:nvPr/>
        </p:nvSpPr>
        <p:spPr>
          <a:xfrm>
            <a:off x="2144954" y="2215134"/>
            <a:ext cx="342900" cy="342900"/>
          </a:xfrm>
          <a:prstGeom prst="ellipse">
            <a:avLst/>
          </a:pr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Clipboard_accent.png" id="3442" name="Google Shape;3442;p124"/>
          <p:cNvPicPr preferRelativeResize="0"/>
          <p:nvPr/>
        </p:nvPicPr>
        <p:blipFill rotWithShape="1">
          <a:blip r:embed="rId4">
            <a:alphaModFix/>
          </a:blip>
          <a:srcRect b="0" l="0" r="0" t="0"/>
          <a:stretch/>
        </p:blipFill>
        <p:spPr>
          <a:xfrm>
            <a:off x="2230683" y="2300859"/>
            <a:ext cx="171450" cy="171450"/>
          </a:xfrm>
          <a:prstGeom prst="rect">
            <a:avLst/>
          </a:prstGeom>
          <a:noFill/>
          <a:ln>
            <a:noFill/>
          </a:ln>
        </p:spPr>
      </p:pic>
      <p:sp>
        <p:nvSpPr>
          <p:cNvPr id="3443" name="Google Shape;3443;p124"/>
          <p:cNvSpPr/>
          <p:nvPr/>
        </p:nvSpPr>
        <p:spPr>
          <a:xfrm>
            <a:off x="1868905" y="2626614"/>
            <a:ext cx="8949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2B3E"/>
              </a:buClr>
              <a:buSzPts val="900"/>
              <a:buFont typeface="Arial"/>
              <a:buNone/>
            </a:pPr>
            <a:r>
              <a:rPr b="1" lang="en-GB" sz="900">
                <a:solidFill>
                  <a:srgbClr val="1C2B3E"/>
                </a:solidFill>
                <a:latin typeface="Arial"/>
                <a:ea typeface="Arial"/>
                <a:cs typeface="Arial"/>
                <a:sym typeface="Arial"/>
              </a:rPr>
              <a:t>Delivery Note</a:t>
            </a:r>
            <a:endParaRPr sz="900">
              <a:solidFill>
                <a:schemeClr val="dk1"/>
              </a:solidFill>
              <a:latin typeface="Calibri"/>
              <a:ea typeface="Calibri"/>
              <a:cs typeface="Calibri"/>
              <a:sym typeface="Calibri"/>
            </a:endParaRPr>
          </a:p>
        </p:txBody>
      </p:sp>
      <p:sp>
        <p:nvSpPr>
          <p:cNvPr id="3444" name="Google Shape;3444;p124"/>
          <p:cNvSpPr/>
          <p:nvPr/>
        </p:nvSpPr>
        <p:spPr>
          <a:xfrm>
            <a:off x="1870619" y="3175254"/>
            <a:ext cx="891600" cy="192000"/>
          </a:xfrm>
          <a:prstGeom prst="roundRect">
            <a:avLst>
              <a:gd fmla="val 50000" name="adj"/>
            </a:avLst>
          </a:pr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445" name="Google Shape;3445;p124"/>
          <p:cNvSpPr/>
          <p:nvPr/>
        </p:nvSpPr>
        <p:spPr>
          <a:xfrm>
            <a:off x="1870619" y="3175254"/>
            <a:ext cx="891600" cy="192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600"/>
              <a:buFont typeface="Arial"/>
              <a:buNone/>
            </a:pPr>
            <a:r>
              <a:rPr b="1" lang="en-GB" sz="600">
                <a:solidFill>
                  <a:srgbClr val="94A3B8"/>
                </a:solidFill>
                <a:latin typeface="Arial"/>
                <a:ea typeface="Arial"/>
                <a:cs typeface="Arial"/>
                <a:sym typeface="Arial"/>
              </a:rPr>
              <a:t>CREATED</a:t>
            </a:r>
            <a:endParaRPr sz="600">
              <a:solidFill>
                <a:schemeClr val="dk1"/>
              </a:solidFill>
              <a:latin typeface="Calibri"/>
              <a:ea typeface="Calibri"/>
              <a:cs typeface="Calibri"/>
              <a:sym typeface="Calibri"/>
            </a:endParaRPr>
          </a:p>
        </p:txBody>
      </p:sp>
      <p:sp>
        <p:nvSpPr>
          <p:cNvPr id="3446" name="Google Shape;3446;p124"/>
          <p:cNvSpPr/>
          <p:nvPr/>
        </p:nvSpPr>
        <p:spPr>
          <a:xfrm>
            <a:off x="2777638" y="2606040"/>
            <a:ext cx="2742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2100"/>
              <a:buFont typeface="Arial"/>
              <a:buNone/>
            </a:pPr>
            <a:r>
              <a:rPr b="1" lang="en-GB" sz="2100">
                <a:solidFill>
                  <a:srgbClr val="94A3B8"/>
                </a:solidFill>
                <a:latin typeface="Arial"/>
                <a:ea typeface="Arial"/>
                <a:cs typeface="Arial"/>
                <a:sym typeface="Arial"/>
              </a:rPr>
              <a:t>›</a:t>
            </a:r>
            <a:endParaRPr sz="2100">
              <a:solidFill>
                <a:schemeClr val="dk1"/>
              </a:solidFill>
              <a:latin typeface="Calibri"/>
              <a:ea typeface="Calibri"/>
              <a:cs typeface="Calibri"/>
              <a:sym typeface="Calibri"/>
            </a:endParaRPr>
          </a:p>
        </p:txBody>
      </p:sp>
      <p:sp>
        <p:nvSpPr>
          <p:cNvPr id="3447" name="Google Shape;3447;p124"/>
          <p:cNvSpPr/>
          <p:nvPr/>
        </p:nvSpPr>
        <p:spPr>
          <a:xfrm>
            <a:off x="3010823" y="2091690"/>
            <a:ext cx="1004700" cy="1371600"/>
          </a:xfrm>
          <a:prstGeom prst="roundRect">
            <a:avLst>
              <a:gd fmla="val 6826" name="adj"/>
            </a:avLst>
          </a:prstGeom>
          <a:solidFill>
            <a:srgbClr val="F5F7FA"/>
          </a:solidFill>
          <a:ln>
            <a:noFill/>
          </a:ln>
          <a:effectLst>
            <a:outerShdw blurRad="101600" rotWithShape="0" algn="bl" dir="5400000" dist="38100">
              <a:srgbClr val="1C2B3E">
                <a:alpha val="1019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448" name="Google Shape;3448;p124"/>
          <p:cNvSpPr/>
          <p:nvPr/>
        </p:nvSpPr>
        <p:spPr>
          <a:xfrm>
            <a:off x="3341739" y="2215134"/>
            <a:ext cx="342900" cy="342900"/>
          </a:xfrm>
          <a:prstGeom prst="ellipse">
            <a:avLst/>
          </a:pr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Truck_accent.png" id="3449" name="Google Shape;3449;p124"/>
          <p:cNvPicPr preferRelativeResize="0"/>
          <p:nvPr/>
        </p:nvPicPr>
        <p:blipFill rotWithShape="1">
          <a:blip r:embed="rId5">
            <a:alphaModFix/>
          </a:blip>
          <a:srcRect b="0" l="0" r="0" t="0"/>
          <a:stretch/>
        </p:blipFill>
        <p:spPr>
          <a:xfrm>
            <a:off x="3427468" y="2300859"/>
            <a:ext cx="171450" cy="171450"/>
          </a:xfrm>
          <a:prstGeom prst="rect">
            <a:avLst/>
          </a:prstGeom>
          <a:noFill/>
          <a:ln>
            <a:noFill/>
          </a:ln>
        </p:spPr>
      </p:pic>
      <p:sp>
        <p:nvSpPr>
          <p:cNvPr id="3450" name="Google Shape;3450;p124"/>
          <p:cNvSpPr/>
          <p:nvPr/>
        </p:nvSpPr>
        <p:spPr>
          <a:xfrm>
            <a:off x="3065689" y="2626614"/>
            <a:ext cx="8949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2B3E"/>
              </a:buClr>
              <a:buSzPts val="900"/>
              <a:buFont typeface="Arial"/>
              <a:buNone/>
            </a:pPr>
            <a:r>
              <a:rPr b="1" lang="en-GB" sz="900">
                <a:solidFill>
                  <a:srgbClr val="1C2B3E"/>
                </a:solidFill>
                <a:latin typeface="Arial"/>
                <a:ea typeface="Arial"/>
                <a:cs typeface="Arial"/>
                <a:sym typeface="Arial"/>
              </a:rPr>
              <a:t>Sales Invoice</a:t>
            </a:r>
            <a:endParaRPr sz="900">
              <a:solidFill>
                <a:schemeClr val="dk1"/>
              </a:solidFill>
              <a:latin typeface="Calibri"/>
              <a:ea typeface="Calibri"/>
              <a:cs typeface="Calibri"/>
              <a:sym typeface="Calibri"/>
            </a:endParaRPr>
          </a:p>
        </p:txBody>
      </p:sp>
      <p:sp>
        <p:nvSpPr>
          <p:cNvPr id="3451" name="Google Shape;3451;p124"/>
          <p:cNvSpPr/>
          <p:nvPr/>
        </p:nvSpPr>
        <p:spPr>
          <a:xfrm>
            <a:off x="3067404" y="3175254"/>
            <a:ext cx="891600" cy="192000"/>
          </a:xfrm>
          <a:prstGeom prst="roundRect">
            <a:avLst>
              <a:gd fmla="val 50000" name="adj"/>
            </a:avLst>
          </a:pr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452" name="Google Shape;3452;p124"/>
          <p:cNvSpPr/>
          <p:nvPr/>
        </p:nvSpPr>
        <p:spPr>
          <a:xfrm>
            <a:off x="3067404" y="3175254"/>
            <a:ext cx="891600" cy="192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600"/>
              <a:buFont typeface="Arial"/>
              <a:buNone/>
            </a:pPr>
            <a:r>
              <a:rPr b="1" lang="en-GB" sz="600">
                <a:solidFill>
                  <a:srgbClr val="94A3B8"/>
                </a:solidFill>
                <a:latin typeface="Arial"/>
                <a:ea typeface="Arial"/>
                <a:cs typeface="Arial"/>
                <a:sym typeface="Arial"/>
              </a:rPr>
              <a:t>RAISED</a:t>
            </a:r>
            <a:endParaRPr sz="600">
              <a:solidFill>
                <a:schemeClr val="dk1"/>
              </a:solidFill>
              <a:latin typeface="Calibri"/>
              <a:ea typeface="Calibri"/>
              <a:cs typeface="Calibri"/>
              <a:sym typeface="Calibri"/>
            </a:endParaRPr>
          </a:p>
        </p:txBody>
      </p:sp>
      <p:sp>
        <p:nvSpPr>
          <p:cNvPr id="3453" name="Google Shape;3453;p124"/>
          <p:cNvSpPr/>
          <p:nvPr/>
        </p:nvSpPr>
        <p:spPr>
          <a:xfrm>
            <a:off x="3974423" y="2606040"/>
            <a:ext cx="2742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2100"/>
              <a:buFont typeface="Arial"/>
              <a:buNone/>
            </a:pPr>
            <a:r>
              <a:rPr b="1" lang="en-GB" sz="2100">
                <a:solidFill>
                  <a:srgbClr val="94A3B8"/>
                </a:solidFill>
                <a:latin typeface="Arial"/>
                <a:ea typeface="Arial"/>
                <a:cs typeface="Arial"/>
                <a:sym typeface="Arial"/>
              </a:rPr>
              <a:t>›</a:t>
            </a:r>
            <a:endParaRPr sz="2100">
              <a:solidFill>
                <a:schemeClr val="dk1"/>
              </a:solidFill>
              <a:latin typeface="Calibri"/>
              <a:ea typeface="Calibri"/>
              <a:cs typeface="Calibri"/>
              <a:sym typeface="Calibri"/>
            </a:endParaRPr>
          </a:p>
        </p:txBody>
      </p:sp>
      <p:sp>
        <p:nvSpPr>
          <p:cNvPr id="3454" name="Google Shape;3454;p124"/>
          <p:cNvSpPr/>
          <p:nvPr/>
        </p:nvSpPr>
        <p:spPr>
          <a:xfrm>
            <a:off x="4207607" y="2091690"/>
            <a:ext cx="1004700" cy="1371600"/>
          </a:xfrm>
          <a:prstGeom prst="roundRect">
            <a:avLst>
              <a:gd fmla="val 6826" name="adj"/>
            </a:avLst>
          </a:prstGeom>
          <a:solidFill>
            <a:srgbClr val="E8821E"/>
          </a:solidFill>
          <a:ln>
            <a:noFill/>
          </a:ln>
          <a:effectLst>
            <a:outerShdw blurRad="101600" rotWithShape="0" algn="bl" dir="5400000" dist="38100">
              <a:srgbClr val="1C2B3E">
                <a:alpha val="1019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455" name="Google Shape;3455;p124"/>
          <p:cNvSpPr/>
          <p:nvPr/>
        </p:nvSpPr>
        <p:spPr>
          <a:xfrm>
            <a:off x="4538523" y="2215134"/>
            <a:ext cx="342900" cy="342900"/>
          </a:xfrm>
          <a:prstGeom prst="ellipse">
            <a:avLst/>
          </a:pr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CheckCircle_accent.png" id="3456" name="Google Shape;3456;p124"/>
          <p:cNvPicPr preferRelativeResize="0"/>
          <p:nvPr/>
        </p:nvPicPr>
        <p:blipFill rotWithShape="1">
          <a:blip r:embed="rId6">
            <a:alphaModFix/>
          </a:blip>
          <a:srcRect b="0" l="0" r="0" t="0"/>
          <a:stretch/>
        </p:blipFill>
        <p:spPr>
          <a:xfrm>
            <a:off x="4624253" y="2300859"/>
            <a:ext cx="171450" cy="171450"/>
          </a:xfrm>
          <a:prstGeom prst="rect">
            <a:avLst/>
          </a:prstGeom>
          <a:noFill/>
          <a:ln>
            <a:noFill/>
          </a:ln>
        </p:spPr>
      </p:pic>
      <p:sp>
        <p:nvSpPr>
          <p:cNvPr id="3457" name="Google Shape;3457;p124"/>
          <p:cNvSpPr/>
          <p:nvPr/>
        </p:nvSpPr>
        <p:spPr>
          <a:xfrm>
            <a:off x="4262474" y="2626614"/>
            <a:ext cx="8949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Arial"/>
              <a:buNone/>
            </a:pPr>
            <a:r>
              <a:rPr b="1" lang="en-GB" sz="900">
                <a:solidFill>
                  <a:srgbClr val="FFFFFF"/>
                </a:solidFill>
                <a:latin typeface="Arial"/>
                <a:ea typeface="Arial"/>
                <a:cs typeface="Arial"/>
                <a:sym typeface="Arial"/>
              </a:rPr>
              <a:t>Billed ✓</a:t>
            </a:r>
            <a:endParaRPr sz="900">
              <a:solidFill>
                <a:schemeClr val="dk1"/>
              </a:solidFill>
              <a:latin typeface="Calibri"/>
              <a:ea typeface="Calibri"/>
              <a:cs typeface="Calibri"/>
              <a:sym typeface="Calibri"/>
            </a:endParaRPr>
          </a:p>
        </p:txBody>
      </p:sp>
      <p:sp>
        <p:nvSpPr>
          <p:cNvPr id="3458" name="Google Shape;3458;p124"/>
          <p:cNvSpPr/>
          <p:nvPr/>
        </p:nvSpPr>
        <p:spPr>
          <a:xfrm>
            <a:off x="4264189" y="3175254"/>
            <a:ext cx="891600" cy="192000"/>
          </a:xfrm>
          <a:prstGeom prst="roundRect">
            <a:avLst>
              <a:gd fmla="val 50000" name="adj"/>
            </a:avLst>
          </a:pr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459" name="Google Shape;3459;p124"/>
          <p:cNvSpPr/>
          <p:nvPr/>
        </p:nvSpPr>
        <p:spPr>
          <a:xfrm>
            <a:off x="4264189" y="3175254"/>
            <a:ext cx="891600" cy="192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821E"/>
              </a:buClr>
              <a:buSzPts val="600"/>
              <a:buFont typeface="Arial"/>
              <a:buNone/>
            </a:pPr>
            <a:r>
              <a:rPr b="1" lang="en-GB" sz="600">
                <a:solidFill>
                  <a:srgbClr val="E8821E"/>
                </a:solidFill>
                <a:latin typeface="Arial"/>
                <a:ea typeface="Arial"/>
                <a:cs typeface="Arial"/>
                <a:sym typeface="Arial"/>
              </a:rPr>
              <a:t>DONE</a:t>
            </a:r>
            <a:endParaRPr sz="600">
              <a:solidFill>
                <a:schemeClr val="dk1"/>
              </a:solidFill>
              <a:latin typeface="Calibri"/>
              <a:ea typeface="Calibri"/>
              <a:cs typeface="Calibri"/>
              <a:sym typeface="Calibri"/>
            </a:endParaRPr>
          </a:p>
        </p:txBody>
      </p:sp>
      <p:sp>
        <p:nvSpPr>
          <p:cNvPr id="3460" name="Google Shape;3460;p124"/>
          <p:cNvSpPr/>
          <p:nvPr/>
        </p:nvSpPr>
        <p:spPr>
          <a:xfrm>
            <a:off x="5692443" y="1337310"/>
            <a:ext cx="3040200" cy="2434500"/>
          </a:xfrm>
          <a:prstGeom prst="roundRect">
            <a:avLst>
              <a:gd fmla="val 3380" name="adj"/>
            </a:avLst>
          </a:prstGeom>
          <a:solidFill>
            <a:srgbClr val="F5F7FA"/>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461" name="Google Shape;3461;p124"/>
          <p:cNvSpPr/>
          <p:nvPr/>
        </p:nvSpPr>
        <p:spPr>
          <a:xfrm>
            <a:off x="5843328" y="1460754"/>
            <a:ext cx="27384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800"/>
              <a:buFont typeface="Arial"/>
              <a:buNone/>
            </a:pPr>
            <a:r>
              <a:rPr b="1" lang="en-GB" sz="800">
                <a:solidFill>
                  <a:srgbClr val="94A3B8"/>
                </a:solidFill>
                <a:latin typeface="Arial"/>
                <a:ea typeface="Arial"/>
                <a:cs typeface="Arial"/>
                <a:sym typeface="Arial"/>
              </a:rPr>
              <a:t>WHAT YOU'LL SEE</a:t>
            </a:r>
            <a:endParaRPr sz="800">
              <a:solidFill>
                <a:schemeClr val="dk1"/>
              </a:solidFill>
              <a:latin typeface="Calibri"/>
              <a:ea typeface="Calibri"/>
              <a:cs typeface="Calibri"/>
              <a:sym typeface="Calibri"/>
            </a:endParaRPr>
          </a:p>
        </p:txBody>
      </p:sp>
      <p:sp>
        <p:nvSpPr>
          <p:cNvPr id="3462" name="Google Shape;3462;p124"/>
          <p:cNvSpPr/>
          <p:nvPr/>
        </p:nvSpPr>
        <p:spPr>
          <a:xfrm>
            <a:off x="5843328" y="1762506"/>
            <a:ext cx="219600" cy="219600"/>
          </a:xfrm>
          <a:prstGeom prst="ellipse">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463" name="Google Shape;3463;p124"/>
          <p:cNvSpPr/>
          <p:nvPr/>
        </p:nvSpPr>
        <p:spPr>
          <a:xfrm>
            <a:off x="5843328" y="1762506"/>
            <a:ext cx="219600" cy="2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1</a:t>
            </a:r>
            <a:endParaRPr sz="800">
              <a:solidFill>
                <a:schemeClr val="dk1"/>
              </a:solidFill>
              <a:latin typeface="Calibri"/>
              <a:ea typeface="Calibri"/>
              <a:cs typeface="Calibri"/>
              <a:sym typeface="Calibri"/>
            </a:endParaRPr>
          </a:p>
        </p:txBody>
      </p:sp>
      <p:sp>
        <p:nvSpPr>
          <p:cNvPr id="3464" name="Google Shape;3464;p124"/>
          <p:cNvSpPr/>
          <p:nvPr/>
        </p:nvSpPr>
        <p:spPr>
          <a:xfrm>
            <a:off x="6145096" y="1735074"/>
            <a:ext cx="2423100" cy="41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B3E"/>
              </a:buClr>
              <a:buSzPts val="900"/>
              <a:buFont typeface="Arial"/>
              <a:buNone/>
            </a:pPr>
            <a:r>
              <a:rPr lang="en-GB" sz="900">
                <a:solidFill>
                  <a:srgbClr val="1C2B3E"/>
                </a:solidFill>
                <a:latin typeface="Arial"/>
                <a:ea typeface="Arial"/>
                <a:cs typeface="Arial"/>
                <a:sym typeface="Arial"/>
              </a:rPr>
              <a:t>SO confirmed — “Stock reserved ✓” toast appears immediately</a:t>
            </a:r>
            <a:endParaRPr sz="900">
              <a:solidFill>
                <a:schemeClr val="dk1"/>
              </a:solidFill>
              <a:latin typeface="Calibri"/>
              <a:ea typeface="Calibri"/>
              <a:cs typeface="Calibri"/>
              <a:sym typeface="Calibri"/>
            </a:endParaRPr>
          </a:p>
        </p:txBody>
      </p:sp>
      <p:sp>
        <p:nvSpPr>
          <p:cNvPr id="3465" name="Google Shape;3465;p124"/>
          <p:cNvSpPr/>
          <p:nvPr/>
        </p:nvSpPr>
        <p:spPr>
          <a:xfrm>
            <a:off x="5843328" y="2173986"/>
            <a:ext cx="219600" cy="219600"/>
          </a:xfrm>
          <a:prstGeom prst="ellipse">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466" name="Google Shape;3466;p124"/>
          <p:cNvSpPr/>
          <p:nvPr/>
        </p:nvSpPr>
        <p:spPr>
          <a:xfrm>
            <a:off x="5843328" y="2173986"/>
            <a:ext cx="219600" cy="2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2</a:t>
            </a:r>
            <a:endParaRPr sz="800">
              <a:solidFill>
                <a:schemeClr val="dk1"/>
              </a:solidFill>
              <a:latin typeface="Calibri"/>
              <a:ea typeface="Calibri"/>
              <a:cs typeface="Calibri"/>
              <a:sym typeface="Calibri"/>
            </a:endParaRPr>
          </a:p>
        </p:txBody>
      </p:sp>
      <p:sp>
        <p:nvSpPr>
          <p:cNvPr id="3467" name="Google Shape;3467;p124"/>
          <p:cNvSpPr/>
          <p:nvPr/>
        </p:nvSpPr>
        <p:spPr>
          <a:xfrm>
            <a:off x="6145096" y="2146554"/>
            <a:ext cx="2423100" cy="41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B3E"/>
              </a:buClr>
              <a:buSzPts val="900"/>
              <a:buFont typeface="Arial"/>
              <a:buNone/>
            </a:pPr>
            <a:r>
              <a:rPr lang="en-GB" sz="900">
                <a:solidFill>
                  <a:srgbClr val="1C2B3E"/>
                </a:solidFill>
                <a:latin typeface="Arial"/>
                <a:ea typeface="Arial"/>
                <a:cs typeface="Arial"/>
                <a:sym typeface="Arial"/>
              </a:rPr>
              <a:t>Delivery Note created — goods leave, status trail updates on the SO</a:t>
            </a:r>
            <a:endParaRPr sz="900">
              <a:solidFill>
                <a:schemeClr val="dk1"/>
              </a:solidFill>
              <a:latin typeface="Calibri"/>
              <a:ea typeface="Calibri"/>
              <a:cs typeface="Calibri"/>
              <a:sym typeface="Calibri"/>
            </a:endParaRPr>
          </a:p>
        </p:txBody>
      </p:sp>
      <p:sp>
        <p:nvSpPr>
          <p:cNvPr id="3468" name="Google Shape;3468;p124"/>
          <p:cNvSpPr/>
          <p:nvPr/>
        </p:nvSpPr>
        <p:spPr>
          <a:xfrm>
            <a:off x="5843328" y="2585466"/>
            <a:ext cx="219600" cy="219600"/>
          </a:xfrm>
          <a:prstGeom prst="ellipse">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469" name="Google Shape;3469;p124"/>
          <p:cNvSpPr/>
          <p:nvPr/>
        </p:nvSpPr>
        <p:spPr>
          <a:xfrm>
            <a:off x="5843328" y="2585466"/>
            <a:ext cx="219600" cy="2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3</a:t>
            </a:r>
            <a:endParaRPr sz="800">
              <a:solidFill>
                <a:schemeClr val="dk1"/>
              </a:solidFill>
              <a:latin typeface="Calibri"/>
              <a:ea typeface="Calibri"/>
              <a:cs typeface="Calibri"/>
              <a:sym typeface="Calibri"/>
            </a:endParaRPr>
          </a:p>
        </p:txBody>
      </p:sp>
      <p:sp>
        <p:nvSpPr>
          <p:cNvPr id="3470" name="Google Shape;3470;p124"/>
          <p:cNvSpPr/>
          <p:nvPr/>
        </p:nvSpPr>
        <p:spPr>
          <a:xfrm>
            <a:off x="6145096" y="2558034"/>
            <a:ext cx="2423100" cy="41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B3E"/>
              </a:buClr>
              <a:buSzPts val="900"/>
              <a:buFont typeface="Arial"/>
              <a:buNone/>
            </a:pPr>
            <a:r>
              <a:rPr lang="en-GB" sz="900">
                <a:solidFill>
                  <a:srgbClr val="1C2B3E"/>
                </a:solidFill>
                <a:latin typeface="Arial"/>
                <a:ea typeface="Arial"/>
                <a:cs typeface="Arial"/>
                <a:sym typeface="Arial"/>
              </a:rPr>
              <a:t>Sales Invoice raised — amount due flows to the customer’s account</a:t>
            </a:r>
            <a:endParaRPr sz="900">
              <a:solidFill>
                <a:schemeClr val="dk1"/>
              </a:solidFill>
              <a:latin typeface="Calibri"/>
              <a:ea typeface="Calibri"/>
              <a:cs typeface="Calibri"/>
              <a:sym typeface="Calibri"/>
            </a:endParaRPr>
          </a:p>
        </p:txBody>
      </p:sp>
      <p:sp>
        <p:nvSpPr>
          <p:cNvPr id="3471" name="Google Shape;3471;p124"/>
          <p:cNvSpPr/>
          <p:nvPr/>
        </p:nvSpPr>
        <p:spPr>
          <a:xfrm>
            <a:off x="411502" y="3943350"/>
            <a:ext cx="8321400" cy="720000"/>
          </a:xfrm>
          <a:prstGeom prst="roundRect">
            <a:avLst>
              <a:gd fmla="val 11429" name="adj"/>
            </a:avLst>
          </a:prstGeom>
          <a:solidFill>
            <a:srgbClr val="FBEBD9"/>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472" name="Google Shape;3472;p124"/>
          <p:cNvSpPr/>
          <p:nvPr/>
        </p:nvSpPr>
        <p:spPr>
          <a:xfrm>
            <a:off x="562386" y="4094226"/>
            <a:ext cx="342900" cy="342900"/>
          </a:xfrm>
          <a:prstGeom prst="roundRect">
            <a:avLst>
              <a:gd fmla="val 22000" name="adj"/>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MessageCircle_white.png" id="3473" name="Google Shape;3473;p124"/>
          <p:cNvPicPr preferRelativeResize="0"/>
          <p:nvPr/>
        </p:nvPicPr>
        <p:blipFill rotWithShape="1">
          <a:blip r:embed="rId7">
            <a:alphaModFix/>
          </a:blip>
          <a:srcRect b="0" l="0" r="0" t="0"/>
          <a:stretch/>
        </p:blipFill>
        <p:spPr>
          <a:xfrm>
            <a:off x="639543" y="4171379"/>
            <a:ext cx="188595" cy="188595"/>
          </a:xfrm>
          <a:prstGeom prst="rect">
            <a:avLst/>
          </a:prstGeom>
          <a:noFill/>
          <a:ln>
            <a:noFill/>
          </a:ln>
        </p:spPr>
      </p:pic>
      <p:sp>
        <p:nvSpPr>
          <p:cNvPr id="3474" name="Google Shape;3474;p124"/>
          <p:cNvSpPr/>
          <p:nvPr/>
        </p:nvSpPr>
        <p:spPr>
          <a:xfrm>
            <a:off x="1028755" y="4039362"/>
            <a:ext cx="7532400" cy="5280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1C2B3E"/>
              </a:buClr>
              <a:buSzPts val="1000"/>
              <a:buFont typeface="Arial"/>
              <a:buNone/>
            </a:pPr>
            <a:r>
              <a:rPr i="1" lang="en-GB" sz="1000">
                <a:solidFill>
                  <a:srgbClr val="1C2B3E"/>
                </a:solidFill>
                <a:latin typeface="Arial"/>
                <a:ea typeface="Arial"/>
                <a:cs typeface="Arial"/>
                <a:sym typeface="Arial"/>
              </a:rPr>
              <a:t>The Sales Order becomes a Delivery Note, then a Sales Invoice — one linked document trail from order to billing.</a:t>
            </a:r>
            <a:endParaRPr sz="1000">
              <a:solidFill>
                <a:schemeClr val="dk1"/>
              </a:solidFill>
              <a:latin typeface="Calibri"/>
              <a:ea typeface="Calibri"/>
              <a:cs typeface="Calibri"/>
              <a:sym typeface="Calibri"/>
            </a:endParaRPr>
          </a:p>
        </p:txBody>
      </p:sp>
      <p:sp>
        <p:nvSpPr>
          <p:cNvPr id="3475" name="Google Shape;3475;p124"/>
          <p:cNvSpPr txBox="1"/>
          <p:nvPr>
            <p:ph idx="12" type="sldNum"/>
          </p:nvPr>
        </p:nvSpPr>
        <p:spPr>
          <a:xfrm>
            <a:off x="8347216" y="4750189"/>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1C2B3E"/>
        </a:solidFill>
      </p:bgPr>
    </p:bg>
    <p:spTree>
      <p:nvGrpSpPr>
        <p:cNvPr id="3480" name="Shape 3480"/>
        <p:cNvGrpSpPr/>
        <p:nvPr/>
      </p:nvGrpSpPr>
      <p:grpSpPr>
        <a:xfrm>
          <a:off x="0" y="0"/>
          <a:ext cx="0" cy="0"/>
          <a:chOff x="0" y="0"/>
          <a:chExt cx="0" cy="0"/>
        </a:xfrm>
      </p:grpSpPr>
      <p:sp>
        <p:nvSpPr>
          <p:cNvPr id="3481" name="Google Shape;3481;p125"/>
          <p:cNvSpPr/>
          <p:nvPr/>
        </p:nvSpPr>
        <p:spPr>
          <a:xfrm>
            <a:off x="561967" y="706400"/>
            <a:ext cx="2919600" cy="106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300"/>
              <a:buFont typeface="Arial"/>
              <a:buNone/>
            </a:pPr>
            <a:r>
              <a:rPr b="1" lang="en-GB" sz="3300">
                <a:solidFill>
                  <a:srgbClr val="FFFFFF"/>
                </a:solidFill>
                <a:latin typeface="Poppins"/>
                <a:ea typeface="Poppins"/>
                <a:cs typeface="Poppins"/>
                <a:sym typeface="Poppins"/>
              </a:rPr>
              <a:t>Where’s your team?</a:t>
            </a:r>
            <a:endParaRPr sz="3300">
              <a:solidFill>
                <a:schemeClr val="dk1"/>
              </a:solidFill>
              <a:latin typeface="Poppins"/>
              <a:ea typeface="Poppins"/>
              <a:cs typeface="Poppins"/>
              <a:sym typeface="Poppins"/>
            </a:endParaRPr>
          </a:p>
        </p:txBody>
      </p:sp>
      <p:sp>
        <p:nvSpPr>
          <p:cNvPr id="3482" name="Google Shape;3482;p125"/>
          <p:cNvSpPr/>
          <p:nvPr/>
        </p:nvSpPr>
        <p:spPr>
          <a:xfrm>
            <a:off x="993806" y="2232263"/>
            <a:ext cx="1371600" cy="1371600"/>
          </a:xfrm>
          <a:prstGeom prst="ellipse">
            <a:avLst/>
          </a:prstGeom>
          <a:noFill/>
          <a:ln cap="flat" cmpd="sng" w="38100">
            <a:solidFill>
              <a:srgbClr val="32495F"/>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483" name="Google Shape;3483;p125"/>
          <p:cNvSpPr/>
          <p:nvPr/>
        </p:nvSpPr>
        <p:spPr>
          <a:xfrm>
            <a:off x="993806" y="2232263"/>
            <a:ext cx="1371600" cy="1371600"/>
          </a:xfrm>
          <a:prstGeom prst="pie">
            <a:avLst>
              <a:gd fmla="val 16200000" name="adj1"/>
              <a:gd fmla="val 5400000" name="adj2"/>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484" name="Google Shape;3484;p125"/>
          <p:cNvSpPr/>
          <p:nvPr/>
        </p:nvSpPr>
        <p:spPr>
          <a:xfrm>
            <a:off x="719471" y="3706732"/>
            <a:ext cx="19203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Arial"/>
              <a:buNone/>
            </a:pPr>
            <a:r>
              <a:rPr b="1" lang="en-GB" sz="1200">
                <a:solidFill>
                  <a:srgbClr val="FFFFFF"/>
                </a:solidFill>
                <a:latin typeface="Arial"/>
                <a:ea typeface="Arial"/>
                <a:cs typeface="Arial"/>
                <a:sym typeface="Arial"/>
              </a:rPr>
              <a:t>23:00</a:t>
            </a:r>
            <a:endParaRPr sz="1200">
              <a:solidFill>
                <a:schemeClr val="dk1"/>
              </a:solidFill>
              <a:latin typeface="Calibri"/>
              <a:ea typeface="Calibri"/>
              <a:cs typeface="Calibri"/>
              <a:sym typeface="Calibri"/>
            </a:endParaRPr>
          </a:p>
        </p:txBody>
      </p:sp>
      <p:sp>
        <p:nvSpPr>
          <p:cNvPr id="3485" name="Google Shape;3485;p125"/>
          <p:cNvSpPr/>
          <p:nvPr/>
        </p:nvSpPr>
        <p:spPr>
          <a:xfrm>
            <a:off x="4252187" y="1225835"/>
            <a:ext cx="4480500" cy="2469000"/>
          </a:xfrm>
          <a:prstGeom prst="roundRect">
            <a:avLst>
              <a:gd fmla="val 3333" name="adj"/>
            </a:avLst>
          </a:prstGeom>
          <a:solidFill>
            <a:srgbClr val="27394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486" name="Google Shape;3486;p125"/>
          <p:cNvSpPr/>
          <p:nvPr/>
        </p:nvSpPr>
        <p:spPr>
          <a:xfrm>
            <a:off x="4416787" y="1362995"/>
            <a:ext cx="41514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2A6BE"/>
              </a:buClr>
              <a:buSzPts val="800"/>
              <a:buFont typeface="Arial"/>
              <a:buNone/>
            </a:pPr>
            <a:r>
              <a:rPr b="1" lang="en-GB" sz="800">
                <a:solidFill>
                  <a:srgbClr val="92A6BE"/>
                </a:solidFill>
                <a:latin typeface="Arial"/>
                <a:ea typeface="Arial"/>
                <a:cs typeface="Arial"/>
                <a:sym typeface="Arial"/>
              </a:rPr>
              <a:t>LIVE LEADERBOARD</a:t>
            </a:r>
            <a:endParaRPr sz="800">
              <a:solidFill>
                <a:schemeClr val="dk1"/>
              </a:solidFill>
              <a:latin typeface="Calibri"/>
              <a:ea typeface="Calibri"/>
              <a:cs typeface="Calibri"/>
              <a:sym typeface="Calibri"/>
            </a:endParaRPr>
          </a:p>
        </p:txBody>
      </p:sp>
      <p:sp>
        <p:nvSpPr>
          <p:cNvPr id="3487" name="Google Shape;3487;p125"/>
          <p:cNvSpPr/>
          <p:nvPr/>
        </p:nvSpPr>
        <p:spPr>
          <a:xfrm>
            <a:off x="4389354" y="1671605"/>
            <a:ext cx="4206300" cy="384000"/>
          </a:xfrm>
          <a:prstGeom prst="roundRect">
            <a:avLst>
              <a:gd fmla="val 14286" name="adj"/>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488" name="Google Shape;3488;p125"/>
          <p:cNvSpPr/>
          <p:nvPr/>
        </p:nvSpPr>
        <p:spPr>
          <a:xfrm>
            <a:off x="4526521" y="1671605"/>
            <a:ext cx="20574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Arial"/>
              <a:buNone/>
            </a:pPr>
            <a:r>
              <a:rPr b="1" lang="en-GB" sz="1100">
                <a:solidFill>
                  <a:srgbClr val="FFFFFF"/>
                </a:solidFill>
                <a:latin typeface="Arial"/>
                <a:ea typeface="Arial"/>
                <a:cs typeface="Arial"/>
                <a:sym typeface="Arial"/>
              </a:rPr>
              <a:t>Team A</a:t>
            </a:r>
            <a:endParaRPr sz="1100">
              <a:solidFill>
                <a:schemeClr val="dk1"/>
              </a:solidFill>
              <a:latin typeface="Calibri"/>
              <a:ea typeface="Calibri"/>
              <a:cs typeface="Calibri"/>
              <a:sym typeface="Calibri"/>
            </a:endParaRPr>
          </a:p>
        </p:txBody>
      </p:sp>
      <p:sp>
        <p:nvSpPr>
          <p:cNvPr id="3489" name="Google Shape;3489;p125"/>
          <p:cNvSpPr/>
          <p:nvPr/>
        </p:nvSpPr>
        <p:spPr>
          <a:xfrm>
            <a:off x="4252187" y="1671605"/>
            <a:ext cx="4069200" cy="384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1100"/>
              <a:buFont typeface="Arial"/>
              <a:buNone/>
            </a:pPr>
            <a:r>
              <a:rPr b="1" lang="en-GB" sz="1100">
                <a:solidFill>
                  <a:srgbClr val="FFFFFF"/>
                </a:solidFill>
                <a:latin typeface="Arial"/>
                <a:ea typeface="Arial"/>
                <a:cs typeface="Arial"/>
                <a:sym typeface="Arial"/>
              </a:rPr>
              <a:t>6 pts</a:t>
            </a:r>
            <a:endParaRPr sz="1100">
              <a:solidFill>
                <a:schemeClr val="dk1"/>
              </a:solidFill>
              <a:latin typeface="Calibri"/>
              <a:ea typeface="Calibri"/>
              <a:cs typeface="Calibri"/>
              <a:sym typeface="Calibri"/>
            </a:endParaRPr>
          </a:p>
        </p:txBody>
      </p:sp>
      <p:sp>
        <p:nvSpPr>
          <p:cNvPr id="3490" name="Google Shape;3490;p125"/>
          <p:cNvSpPr/>
          <p:nvPr/>
        </p:nvSpPr>
        <p:spPr>
          <a:xfrm>
            <a:off x="4389354" y="2151665"/>
            <a:ext cx="4206300" cy="384000"/>
          </a:xfrm>
          <a:prstGeom prst="roundRect">
            <a:avLst>
              <a:gd fmla="val 14286" name="adj"/>
            </a:avLst>
          </a:prstGeom>
          <a:solidFill>
            <a:srgbClr val="32495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491" name="Google Shape;3491;p125"/>
          <p:cNvSpPr/>
          <p:nvPr/>
        </p:nvSpPr>
        <p:spPr>
          <a:xfrm>
            <a:off x="4526521" y="2151665"/>
            <a:ext cx="20574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Arial"/>
              <a:buNone/>
            </a:pPr>
            <a:r>
              <a:rPr b="1" lang="en-GB" sz="1100">
                <a:solidFill>
                  <a:srgbClr val="FFFFFF"/>
                </a:solidFill>
                <a:latin typeface="Arial"/>
                <a:ea typeface="Arial"/>
                <a:cs typeface="Arial"/>
                <a:sym typeface="Arial"/>
              </a:rPr>
              <a:t>Team B</a:t>
            </a:r>
            <a:endParaRPr sz="1100">
              <a:solidFill>
                <a:schemeClr val="dk1"/>
              </a:solidFill>
              <a:latin typeface="Calibri"/>
              <a:ea typeface="Calibri"/>
              <a:cs typeface="Calibri"/>
              <a:sym typeface="Calibri"/>
            </a:endParaRPr>
          </a:p>
        </p:txBody>
      </p:sp>
      <p:sp>
        <p:nvSpPr>
          <p:cNvPr id="3492" name="Google Shape;3492;p125"/>
          <p:cNvSpPr/>
          <p:nvPr/>
        </p:nvSpPr>
        <p:spPr>
          <a:xfrm>
            <a:off x="4252187" y="2151665"/>
            <a:ext cx="4069200" cy="384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1100"/>
              <a:buFont typeface="Arial"/>
              <a:buNone/>
            </a:pPr>
            <a:r>
              <a:rPr b="1" lang="en-GB" sz="1100">
                <a:solidFill>
                  <a:srgbClr val="FFFFFF"/>
                </a:solidFill>
                <a:latin typeface="Arial"/>
                <a:ea typeface="Arial"/>
                <a:cs typeface="Arial"/>
                <a:sym typeface="Arial"/>
              </a:rPr>
              <a:t>5 pts</a:t>
            </a:r>
            <a:endParaRPr sz="1100">
              <a:solidFill>
                <a:schemeClr val="dk1"/>
              </a:solidFill>
              <a:latin typeface="Calibri"/>
              <a:ea typeface="Calibri"/>
              <a:cs typeface="Calibri"/>
              <a:sym typeface="Calibri"/>
            </a:endParaRPr>
          </a:p>
        </p:txBody>
      </p:sp>
      <p:sp>
        <p:nvSpPr>
          <p:cNvPr id="3493" name="Google Shape;3493;p125"/>
          <p:cNvSpPr/>
          <p:nvPr/>
        </p:nvSpPr>
        <p:spPr>
          <a:xfrm>
            <a:off x="4389354" y="2631725"/>
            <a:ext cx="4206300" cy="384000"/>
          </a:xfrm>
          <a:prstGeom prst="roundRect">
            <a:avLst>
              <a:gd fmla="val 14286" name="adj"/>
            </a:avLst>
          </a:prstGeom>
          <a:solidFill>
            <a:srgbClr val="32495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494" name="Google Shape;3494;p125"/>
          <p:cNvSpPr/>
          <p:nvPr/>
        </p:nvSpPr>
        <p:spPr>
          <a:xfrm>
            <a:off x="4526521" y="2631725"/>
            <a:ext cx="20574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Arial"/>
              <a:buNone/>
            </a:pPr>
            <a:r>
              <a:rPr b="1" lang="en-GB" sz="1100">
                <a:solidFill>
                  <a:srgbClr val="FFFFFF"/>
                </a:solidFill>
                <a:latin typeface="Arial"/>
                <a:ea typeface="Arial"/>
                <a:cs typeface="Arial"/>
                <a:sym typeface="Arial"/>
              </a:rPr>
              <a:t>Team C</a:t>
            </a:r>
            <a:endParaRPr sz="1100">
              <a:solidFill>
                <a:schemeClr val="dk1"/>
              </a:solidFill>
              <a:latin typeface="Calibri"/>
              <a:ea typeface="Calibri"/>
              <a:cs typeface="Calibri"/>
              <a:sym typeface="Calibri"/>
            </a:endParaRPr>
          </a:p>
        </p:txBody>
      </p:sp>
      <p:sp>
        <p:nvSpPr>
          <p:cNvPr id="3495" name="Google Shape;3495;p125"/>
          <p:cNvSpPr/>
          <p:nvPr/>
        </p:nvSpPr>
        <p:spPr>
          <a:xfrm>
            <a:off x="4252187" y="2631725"/>
            <a:ext cx="4069200" cy="384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1100"/>
              <a:buFont typeface="Arial"/>
              <a:buNone/>
            </a:pPr>
            <a:r>
              <a:rPr b="1" lang="en-GB" sz="1100">
                <a:solidFill>
                  <a:srgbClr val="FFFFFF"/>
                </a:solidFill>
                <a:latin typeface="Arial"/>
                <a:ea typeface="Arial"/>
                <a:cs typeface="Arial"/>
                <a:sym typeface="Arial"/>
              </a:rPr>
              <a:t>4 pts</a:t>
            </a:r>
            <a:endParaRPr sz="1100">
              <a:solidFill>
                <a:schemeClr val="dk1"/>
              </a:solidFill>
              <a:latin typeface="Calibri"/>
              <a:ea typeface="Calibri"/>
              <a:cs typeface="Calibri"/>
              <a:sym typeface="Calibri"/>
            </a:endParaRPr>
          </a:p>
        </p:txBody>
      </p:sp>
      <p:sp>
        <p:nvSpPr>
          <p:cNvPr id="3496" name="Google Shape;3496;p125"/>
          <p:cNvSpPr/>
          <p:nvPr/>
        </p:nvSpPr>
        <p:spPr>
          <a:xfrm>
            <a:off x="4389354" y="3111785"/>
            <a:ext cx="4206300" cy="384000"/>
          </a:xfrm>
          <a:prstGeom prst="roundRect">
            <a:avLst>
              <a:gd fmla="val 14286" name="adj"/>
            </a:avLst>
          </a:prstGeom>
          <a:solidFill>
            <a:srgbClr val="32495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497" name="Google Shape;3497;p125"/>
          <p:cNvSpPr/>
          <p:nvPr/>
        </p:nvSpPr>
        <p:spPr>
          <a:xfrm>
            <a:off x="4526521" y="3111785"/>
            <a:ext cx="20574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Arial"/>
              <a:buNone/>
            </a:pPr>
            <a:r>
              <a:rPr b="1" lang="en-GB" sz="1100">
                <a:solidFill>
                  <a:srgbClr val="FFFFFF"/>
                </a:solidFill>
                <a:latin typeface="Arial"/>
                <a:ea typeface="Arial"/>
                <a:cs typeface="Arial"/>
                <a:sym typeface="Arial"/>
              </a:rPr>
              <a:t>Team D</a:t>
            </a:r>
            <a:endParaRPr sz="1100">
              <a:solidFill>
                <a:schemeClr val="dk1"/>
              </a:solidFill>
              <a:latin typeface="Calibri"/>
              <a:ea typeface="Calibri"/>
              <a:cs typeface="Calibri"/>
              <a:sym typeface="Calibri"/>
            </a:endParaRPr>
          </a:p>
        </p:txBody>
      </p:sp>
      <p:sp>
        <p:nvSpPr>
          <p:cNvPr id="3498" name="Google Shape;3498;p125"/>
          <p:cNvSpPr/>
          <p:nvPr/>
        </p:nvSpPr>
        <p:spPr>
          <a:xfrm>
            <a:off x="4252187" y="3111785"/>
            <a:ext cx="4069200" cy="384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1100"/>
              <a:buFont typeface="Arial"/>
              <a:buNone/>
            </a:pPr>
            <a:r>
              <a:rPr b="1" lang="en-GB" sz="1100">
                <a:solidFill>
                  <a:srgbClr val="FFFFFF"/>
                </a:solidFill>
                <a:latin typeface="Arial"/>
                <a:ea typeface="Arial"/>
                <a:cs typeface="Arial"/>
                <a:sym typeface="Arial"/>
              </a:rPr>
              <a:t>3 pts</a:t>
            </a:r>
            <a:endParaRPr sz="1100">
              <a:solidFill>
                <a:schemeClr val="dk1"/>
              </a:solidFill>
              <a:latin typeface="Calibri"/>
              <a:ea typeface="Calibri"/>
              <a:cs typeface="Calibri"/>
              <a:sym typeface="Calibri"/>
            </a:endParaRPr>
          </a:p>
        </p:txBody>
      </p:sp>
      <p:sp>
        <p:nvSpPr>
          <p:cNvPr id="3499" name="Google Shape;3499;p125"/>
          <p:cNvSpPr/>
          <p:nvPr/>
        </p:nvSpPr>
        <p:spPr>
          <a:xfrm>
            <a:off x="411502" y="4491990"/>
            <a:ext cx="83214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2A6BE"/>
              </a:buClr>
              <a:buSzPts val="1000"/>
              <a:buFont typeface="Arial"/>
              <a:buNone/>
            </a:pPr>
            <a:r>
              <a:rPr i="1" lang="en-GB" sz="1000">
                <a:solidFill>
                  <a:srgbClr val="92A6BE"/>
                </a:solidFill>
                <a:latin typeface="Arial"/>
                <a:ea typeface="Arial"/>
                <a:cs typeface="Arial"/>
                <a:sym typeface="Arial"/>
              </a:rPr>
              <a:t>M5 and M6 have the credit handoff — that's where the points separate. Go.</a:t>
            </a:r>
            <a:endParaRPr sz="1000">
              <a:solidFill>
                <a:schemeClr val="dk1"/>
              </a:solidFill>
              <a:latin typeface="Calibri"/>
              <a:ea typeface="Calibri"/>
              <a:cs typeface="Calibri"/>
              <a:sym typeface="Calibri"/>
            </a:endParaRPr>
          </a:p>
        </p:txBody>
      </p:sp>
      <p:sp>
        <p:nvSpPr>
          <p:cNvPr id="3500" name="Google Shape;3500;p125"/>
          <p:cNvSpPr txBox="1"/>
          <p:nvPr>
            <p:ph idx="12" type="sldNum"/>
          </p:nvPr>
        </p:nvSpPr>
        <p:spPr>
          <a:xfrm>
            <a:off x="8347216" y="4750189"/>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3505" name="Shape 3505"/>
        <p:cNvGrpSpPr/>
        <p:nvPr/>
      </p:nvGrpSpPr>
      <p:grpSpPr>
        <a:xfrm>
          <a:off x="0" y="0"/>
          <a:ext cx="0" cy="0"/>
          <a:chOff x="0" y="0"/>
          <a:chExt cx="0" cy="0"/>
        </a:xfrm>
      </p:grpSpPr>
      <p:sp>
        <p:nvSpPr>
          <p:cNvPr id="3506" name="Google Shape;3506;p126"/>
          <p:cNvSpPr/>
          <p:nvPr/>
        </p:nvSpPr>
        <p:spPr>
          <a:xfrm>
            <a:off x="411502" y="260604"/>
            <a:ext cx="68583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GAME</a:t>
            </a:r>
            <a:endParaRPr sz="800">
              <a:solidFill>
                <a:schemeClr val="dk1"/>
              </a:solidFill>
              <a:latin typeface="Calibri"/>
              <a:ea typeface="Calibri"/>
              <a:cs typeface="Calibri"/>
              <a:sym typeface="Calibri"/>
            </a:endParaRPr>
          </a:p>
        </p:txBody>
      </p:sp>
      <p:sp>
        <p:nvSpPr>
          <p:cNvPr id="3507" name="Google Shape;3507;p126"/>
          <p:cNvSpPr/>
          <p:nvPr/>
        </p:nvSpPr>
        <p:spPr>
          <a:xfrm>
            <a:off x="411502" y="438912"/>
            <a:ext cx="8321400" cy="480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C2B3E"/>
              </a:buClr>
              <a:buSzPts val="2200"/>
              <a:buFont typeface="Arial"/>
              <a:buNone/>
            </a:pPr>
            <a:r>
              <a:rPr b="1" lang="en-GB" sz="2200">
                <a:solidFill>
                  <a:srgbClr val="1C2B3E"/>
                </a:solidFill>
                <a:latin typeface="Poppins"/>
                <a:ea typeface="Poppins"/>
                <a:cs typeface="Poppins"/>
                <a:sym typeface="Poppins"/>
              </a:rPr>
              <a:t>One we nailed. One we missed.</a:t>
            </a:r>
            <a:endParaRPr sz="2200">
              <a:solidFill>
                <a:schemeClr val="dk1"/>
              </a:solidFill>
              <a:latin typeface="Poppins"/>
              <a:ea typeface="Poppins"/>
              <a:cs typeface="Poppins"/>
              <a:sym typeface="Poppins"/>
            </a:endParaRPr>
          </a:p>
        </p:txBody>
      </p:sp>
      <p:sp>
        <p:nvSpPr>
          <p:cNvPr id="3508" name="Google Shape;3508;p126"/>
          <p:cNvSpPr/>
          <p:nvPr/>
        </p:nvSpPr>
        <p:spPr>
          <a:xfrm>
            <a:off x="411502" y="1337310"/>
            <a:ext cx="4023600" cy="3086100"/>
          </a:xfrm>
          <a:prstGeom prst="roundRect">
            <a:avLst>
              <a:gd fmla="val 2667" name="adj"/>
            </a:avLst>
          </a:prstGeom>
          <a:solidFill>
            <a:srgbClr val="FFFFFF"/>
          </a:solidFill>
          <a:ln cap="flat" cmpd="sng" w="25400">
            <a:solidFill>
              <a:srgbClr val="1A9D5C"/>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509" name="Google Shape;3509;p126"/>
          <p:cNvSpPr/>
          <p:nvPr/>
        </p:nvSpPr>
        <p:spPr>
          <a:xfrm>
            <a:off x="3982310" y="1474470"/>
            <a:ext cx="315600" cy="315600"/>
          </a:xfrm>
          <a:prstGeom prst="roundRect">
            <a:avLst>
              <a:gd fmla="val 22000" name="adj"/>
            </a:avLst>
          </a:prstGeom>
          <a:solidFill>
            <a:srgbClr val="1A9D5C"/>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Check_white.png" id="3510" name="Google Shape;3510;p126"/>
          <p:cNvPicPr preferRelativeResize="0"/>
          <p:nvPr/>
        </p:nvPicPr>
        <p:blipFill rotWithShape="1">
          <a:blip r:embed="rId3">
            <a:alphaModFix/>
          </a:blip>
          <a:srcRect b="0" l="0" r="0" t="0"/>
          <a:stretch/>
        </p:blipFill>
        <p:spPr>
          <a:xfrm>
            <a:off x="4053294" y="1545450"/>
            <a:ext cx="173507" cy="173507"/>
          </a:xfrm>
          <a:prstGeom prst="rect">
            <a:avLst/>
          </a:prstGeom>
          <a:noFill/>
          <a:ln>
            <a:noFill/>
          </a:ln>
        </p:spPr>
      </p:pic>
      <p:sp>
        <p:nvSpPr>
          <p:cNvPr id="3511" name="Google Shape;3511;p126"/>
          <p:cNvSpPr/>
          <p:nvPr/>
        </p:nvSpPr>
        <p:spPr>
          <a:xfrm>
            <a:off x="576103" y="1488186"/>
            <a:ext cx="33375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1100"/>
              <a:buFont typeface="Arial"/>
              <a:buNone/>
            </a:pPr>
            <a:r>
              <a:rPr b="1" lang="en-GB" sz="1100">
                <a:solidFill>
                  <a:srgbClr val="1C2B3E"/>
                </a:solidFill>
                <a:latin typeface="Arial"/>
                <a:ea typeface="Arial"/>
                <a:cs typeface="Arial"/>
                <a:sym typeface="Arial"/>
              </a:rPr>
              <a:t>SO-2026-00041 · Team A</a:t>
            </a:r>
            <a:endParaRPr sz="1100">
              <a:solidFill>
                <a:schemeClr val="dk1"/>
              </a:solidFill>
              <a:latin typeface="Calibri"/>
              <a:ea typeface="Calibri"/>
              <a:cs typeface="Calibri"/>
              <a:sym typeface="Calibri"/>
            </a:endParaRPr>
          </a:p>
        </p:txBody>
      </p:sp>
      <p:sp>
        <p:nvSpPr>
          <p:cNvPr id="3512" name="Google Shape;3512;p126"/>
          <p:cNvSpPr/>
          <p:nvPr/>
        </p:nvSpPr>
        <p:spPr>
          <a:xfrm>
            <a:off x="576103" y="1954530"/>
            <a:ext cx="15516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900"/>
              <a:buFont typeface="Arial"/>
              <a:buNone/>
            </a:pPr>
            <a:r>
              <a:rPr lang="en-GB" sz="900">
                <a:solidFill>
                  <a:srgbClr val="94A3B8"/>
                </a:solidFill>
                <a:latin typeface="Arial"/>
                <a:ea typeface="Arial"/>
                <a:cs typeface="Arial"/>
                <a:sym typeface="Arial"/>
              </a:rPr>
              <a:t>Customer</a:t>
            </a:r>
            <a:endParaRPr sz="900">
              <a:solidFill>
                <a:schemeClr val="dk1"/>
              </a:solidFill>
              <a:latin typeface="Calibri"/>
              <a:ea typeface="Calibri"/>
              <a:cs typeface="Calibri"/>
              <a:sym typeface="Calibri"/>
            </a:endParaRPr>
          </a:p>
        </p:txBody>
      </p:sp>
      <p:sp>
        <p:nvSpPr>
          <p:cNvPr id="3513" name="Google Shape;3513;p126"/>
          <p:cNvSpPr/>
          <p:nvPr/>
        </p:nvSpPr>
        <p:spPr>
          <a:xfrm>
            <a:off x="2127692" y="1954530"/>
            <a:ext cx="2142600" cy="205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A9D5C"/>
              </a:buClr>
              <a:buSzPts val="900"/>
              <a:buFont typeface="Arial"/>
              <a:buNone/>
            </a:pPr>
            <a:r>
              <a:rPr b="1" lang="en-GB" sz="900">
                <a:solidFill>
                  <a:srgbClr val="1A9D5C"/>
                </a:solidFill>
                <a:latin typeface="Arial"/>
                <a:ea typeface="Arial"/>
                <a:cs typeface="Arial"/>
                <a:sym typeface="Arial"/>
              </a:rPr>
              <a:t>Restoran Maju Jaya</a:t>
            </a:r>
            <a:endParaRPr sz="900">
              <a:solidFill>
                <a:schemeClr val="dk1"/>
              </a:solidFill>
              <a:latin typeface="Calibri"/>
              <a:ea typeface="Calibri"/>
              <a:cs typeface="Calibri"/>
              <a:sym typeface="Calibri"/>
            </a:endParaRPr>
          </a:p>
        </p:txBody>
      </p:sp>
      <p:sp>
        <p:nvSpPr>
          <p:cNvPr id="3514" name="Google Shape;3514;p126"/>
          <p:cNvSpPr/>
          <p:nvPr/>
        </p:nvSpPr>
        <p:spPr>
          <a:xfrm>
            <a:off x="576103" y="2269998"/>
            <a:ext cx="15516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900"/>
              <a:buFont typeface="Arial"/>
              <a:buNone/>
            </a:pPr>
            <a:r>
              <a:rPr lang="en-GB" sz="900">
                <a:solidFill>
                  <a:srgbClr val="94A3B8"/>
                </a:solidFill>
                <a:latin typeface="Arial"/>
                <a:ea typeface="Arial"/>
                <a:cs typeface="Arial"/>
                <a:sym typeface="Arial"/>
              </a:rPr>
              <a:t>Item 1</a:t>
            </a:r>
            <a:endParaRPr sz="900">
              <a:solidFill>
                <a:schemeClr val="dk1"/>
              </a:solidFill>
              <a:latin typeface="Calibri"/>
              <a:ea typeface="Calibri"/>
              <a:cs typeface="Calibri"/>
              <a:sym typeface="Calibri"/>
            </a:endParaRPr>
          </a:p>
        </p:txBody>
      </p:sp>
      <p:sp>
        <p:nvSpPr>
          <p:cNvPr id="3515" name="Google Shape;3515;p126"/>
          <p:cNvSpPr/>
          <p:nvPr/>
        </p:nvSpPr>
        <p:spPr>
          <a:xfrm>
            <a:off x="2127692" y="2269998"/>
            <a:ext cx="2142600" cy="205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A9D5C"/>
              </a:buClr>
              <a:buSzPts val="900"/>
              <a:buFont typeface="Arial"/>
              <a:buNone/>
            </a:pPr>
            <a:r>
              <a:rPr b="1" lang="en-GB" sz="900">
                <a:solidFill>
                  <a:srgbClr val="1A9D5C"/>
                </a:solidFill>
                <a:latin typeface="Arial"/>
                <a:ea typeface="Arial"/>
                <a:cs typeface="Arial"/>
                <a:sym typeface="Arial"/>
              </a:rPr>
              <a:t>Cooking Oil 17kg × 10</a:t>
            </a:r>
            <a:endParaRPr sz="900">
              <a:solidFill>
                <a:schemeClr val="dk1"/>
              </a:solidFill>
              <a:latin typeface="Calibri"/>
              <a:ea typeface="Calibri"/>
              <a:cs typeface="Calibri"/>
              <a:sym typeface="Calibri"/>
            </a:endParaRPr>
          </a:p>
        </p:txBody>
      </p:sp>
      <p:sp>
        <p:nvSpPr>
          <p:cNvPr id="3516" name="Google Shape;3516;p126"/>
          <p:cNvSpPr/>
          <p:nvPr/>
        </p:nvSpPr>
        <p:spPr>
          <a:xfrm>
            <a:off x="576103" y="2585466"/>
            <a:ext cx="15516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900"/>
              <a:buFont typeface="Arial"/>
              <a:buNone/>
            </a:pPr>
            <a:r>
              <a:rPr lang="en-GB" sz="900">
                <a:solidFill>
                  <a:srgbClr val="94A3B8"/>
                </a:solidFill>
                <a:latin typeface="Arial"/>
                <a:ea typeface="Arial"/>
                <a:cs typeface="Arial"/>
                <a:sym typeface="Arial"/>
              </a:rPr>
              <a:t>Item 2</a:t>
            </a:r>
            <a:endParaRPr sz="900">
              <a:solidFill>
                <a:schemeClr val="dk1"/>
              </a:solidFill>
              <a:latin typeface="Calibri"/>
              <a:ea typeface="Calibri"/>
              <a:cs typeface="Calibri"/>
              <a:sym typeface="Calibri"/>
            </a:endParaRPr>
          </a:p>
        </p:txBody>
      </p:sp>
      <p:sp>
        <p:nvSpPr>
          <p:cNvPr id="3517" name="Google Shape;3517;p126"/>
          <p:cNvSpPr/>
          <p:nvPr/>
        </p:nvSpPr>
        <p:spPr>
          <a:xfrm>
            <a:off x="2127692" y="2585466"/>
            <a:ext cx="2142600" cy="205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A9D5C"/>
              </a:buClr>
              <a:buSzPts val="900"/>
              <a:buFont typeface="Arial"/>
              <a:buNone/>
            </a:pPr>
            <a:r>
              <a:rPr b="1" lang="en-GB" sz="900">
                <a:solidFill>
                  <a:srgbClr val="1A9D5C"/>
                </a:solidFill>
                <a:latin typeface="Arial"/>
                <a:ea typeface="Arial"/>
                <a:cs typeface="Arial"/>
                <a:sym typeface="Arial"/>
              </a:rPr>
              <a:t>Jasmine Rice 10kg × 5</a:t>
            </a:r>
            <a:endParaRPr sz="900">
              <a:solidFill>
                <a:schemeClr val="dk1"/>
              </a:solidFill>
              <a:latin typeface="Calibri"/>
              <a:ea typeface="Calibri"/>
              <a:cs typeface="Calibri"/>
              <a:sym typeface="Calibri"/>
            </a:endParaRPr>
          </a:p>
        </p:txBody>
      </p:sp>
      <p:sp>
        <p:nvSpPr>
          <p:cNvPr id="3518" name="Google Shape;3518;p126"/>
          <p:cNvSpPr/>
          <p:nvPr/>
        </p:nvSpPr>
        <p:spPr>
          <a:xfrm>
            <a:off x="576103" y="2900934"/>
            <a:ext cx="15516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900"/>
              <a:buFont typeface="Arial"/>
              <a:buNone/>
            </a:pPr>
            <a:r>
              <a:rPr lang="en-GB" sz="900">
                <a:solidFill>
                  <a:srgbClr val="94A3B8"/>
                </a:solidFill>
                <a:latin typeface="Arial"/>
                <a:ea typeface="Arial"/>
                <a:cs typeface="Arial"/>
                <a:sym typeface="Arial"/>
              </a:rPr>
              <a:t>UOM</a:t>
            </a:r>
            <a:endParaRPr sz="900">
              <a:solidFill>
                <a:schemeClr val="dk1"/>
              </a:solidFill>
              <a:latin typeface="Calibri"/>
              <a:ea typeface="Calibri"/>
              <a:cs typeface="Calibri"/>
              <a:sym typeface="Calibri"/>
            </a:endParaRPr>
          </a:p>
        </p:txBody>
      </p:sp>
      <p:sp>
        <p:nvSpPr>
          <p:cNvPr id="3519" name="Google Shape;3519;p126"/>
          <p:cNvSpPr/>
          <p:nvPr/>
        </p:nvSpPr>
        <p:spPr>
          <a:xfrm>
            <a:off x="2127692" y="2900934"/>
            <a:ext cx="2142600" cy="205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A9D5C"/>
              </a:buClr>
              <a:buSzPts val="900"/>
              <a:buFont typeface="Arial"/>
              <a:buNone/>
            </a:pPr>
            <a:r>
              <a:rPr b="1" lang="en-GB" sz="900">
                <a:solidFill>
                  <a:srgbClr val="1A9D5C"/>
                </a:solidFill>
                <a:latin typeface="Arial"/>
                <a:ea typeface="Arial"/>
                <a:cs typeface="Arial"/>
                <a:sym typeface="Arial"/>
              </a:rPr>
              <a:t>Matches PO ✓</a:t>
            </a:r>
            <a:endParaRPr sz="900">
              <a:solidFill>
                <a:schemeClr val="dk1"/>
              </a:solidFill>
              <a:latin typeface="Calibri"/>
              <a:ea typeface="Calibri"/>
              <a:cs typeface="Calibri"/>
              <a:sym typeface="Calibri"/>
            </a:endParaRPr>
          </a:p>
        </p:txBody>
      </p:sp>
      <p:sp>
        <p:nvSpPr>
          <p:cNvPr id="3520" name="Google Shape;3520;p126"/>
          <p:cNvSpPr/>
          <p:nvPr/>
        </p:nvSpPr>
        <p:spPr>
          <a:xfrm>
            <a:off x="576103" y="3216402"/>
            <a:ext cx="15516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900"/>
              <a:buFont typeface="Arial"/>
              <a:buNone/>
            </a:pPr>
            <a:r>
              <a:rPr lang="en-GB" sz="900">
                <a:solidFill>
                  <a:srgbClr val="94A3B8"/>
                </a:solidFill>
                <a:latin typeface="Arial"/>
                <a:ea typeface="Arial"/>
                <a:cs typeface="Arial"/>
                <a:sym typeface="Arial"/>
              </a:rPr>
              <a:t>Credit</a:t>
            </a:r>
            <a:endParaRPr sz="900">
              <a:solidFill>
                <a:schemeClr val="dk1"/>
              </a:solidFill>
              <a:latin typeface="Calibri"/>
              <a:ea typeface="Calibri"/>
              <a:cs typeface="Calibri"/>
              <a:sym typeface="Calibri"/>
            </a:endParaRPr>
          </a:p>
        </p:txBody>
      </p:sp>
      <p:sp>
        <p:nvSpPr>
          <p:cNvPr id="3521" name="Google Shape;3521;p126"/>
          <p:cNvSpPr/>
          <p:nvPr/>
        </p:nvSpPr>
        <p:spPr>
          <a:xfrm>
            <a:off x="2127692" y="3216402"/>
            <a:ext cx="2142600" cy="205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A9D5C"/>
              </a:buClr>
              <a:buSzPts val="900"/>
              <a:buFont typeface="Arial"/>
              <a:buNone/>
            </a:pPr>
            <a:r>
              <a:rPr b="1" lang="en-GB" sz="900">
                <a:solidFill>
                  <a:srgbClr val="1A9D5C"/>
                </a:solidFill>
                <a:latin typeface="Arial"/>
                <a:ea typeface="Arial"/>
                <a:cs typeface="Arial"/>
                <a:sym typeface="Arial"/>
              </a:rPr>
              <a:t>Within limit ✓</a:t>
            </a:r>
            <a:endParaRPr sz="900">
              <a:solidFill>
                <a:schemeClr val="dk1"/>
              </a:solidFill>
              <a:latin typeface="Calibri"/>
              <a:ea typeface="Calibri"/>
              <a:cs typeface="Calibri"/>
              <a:sym typeface="Calibri"/>
            </a:endParaRPr>
          </a:p>
        </p:txBody>
      </p:sp>
      <p:sp>
        <p:nvSpPr>
          <p:cNvPr id="3522" name="Google Shape;3522;p126"/>
          <p:cNvSpPr/>
          <p:nvPr/>
        </p:nvSpPr>
        <p:spPr>
          <a:xfrm>
            <a:off x="576103" y="3531870"/>
            <a:ext cx="15516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900"/>
              <a:buFont typeface="Arial"/>
              <a:buNone/>
            </a:pPr>
            <a:r>
              <a:rPr lang="en-GB" sz="900">
                <a:solidFill>
                  <a:srgbClr val="94A3B8"/>
                </a:solidFill>
                <a:latin typeface="Arial"/>
                <a:ea typeface="Arial"/>
                <a:cs typeface="Arial"/>
                <a:sym typeface="Arial"/>
              </a:rPr>
              <a:t>DN Status</a:t>
            </a:r>
            <a:endParaRPr sz="900">
              <a:solidFill>
                <a:schemeClr val="dk1"/>
              </a:solidFill>
              <a:latin typeface="Calibri"/>
              <a:ea typeface="Calibri"/>
              <a:cs typeface="Calibri"/>
              <a:sym typeface="Calibri"/>
            </a:endParaRPr>
          </a:p>
        </p:txBody>
      </p:sp>
      <p:sp>
        <p:nvSpPr>
          <p:cNvPr id="3523" name="Google Shape;3523;p126"/>
          <p:cNvSpPr/>
          <p:nvPr/>
        </p:nvSpPr>
        <p:spPr>
          <a:xfrm>
            <a:off x="2127692" y="3531870"/>
            <a:ext cx="2142600" cy="205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A9D5C"/>
              </a:buClr>
              <a:buSzPts val="900"/>
              <a:buFont typeface="Arial"/>
              <a:buNone/>
            </a:pPr>
            <a:r>
              <a:rPr b="1" lang="en-GB" sz="900">
                <a:solidFill>
                  <a:srgbClr val="1A9D5C"/>
                </a:solidFill>
                <a:latin typeface="Arial"/>
                <a:ea typeface="Arial"/>
                <a:cs typeface="Arial"/>
                <a:sym typeface="Arial"/>
              </a:rPr>
              <a:t>Delivered ✓</a:t>
            </a:r>
            <a:endParaRPr sz="900">
              <a:solidFill>
                <a:schemeClr val="dk1"/>
              </a:solidFill>
              <a:latin typeface="Calibri"/>
              <a:ea typeface="Calibri"/>
              <a:cs typeface="Calibri"/>
              <a:sym typeface="Calibri"/>
            </a:endParaRPr>
          </a:p>
        </p:txBody>
      </p:sp>
      <p:sp>
        <p:nvSpPr>
          <p:cNvPr id="3524" name="Google Shape;3524;p126"/>
          <p:cNvSpPr/>
          <p:nvPr/>
        </p:nvSpPr>
        <p:spPr>
          <a:xfrm>
            <a:off x="4709297" y="1337310"/>
            <a:ext cx="4023600" cy="3086100"/>
          </a:xfrm>
          <a:prstGeom prst="roundRect">
            <a:avLst>
              <a:gd fmla="val 2667" name="adj"/>
            </a:avLst>
          </a:prstGeom>
          <a:solidFill>
            <a:srgbClr val="FFFFFF"/>
          </a:solidFill>
          <a:ln cap="flat" cmpd="sng" w="25400">
            <a:solidFill>
              <a:srgbClr val="DC4C3E"/>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525" name="Google Shape;3525;p126"/>
          <p:cNvSpPr/>
          <p:nvPr/>
        </p:nvSpPr>
        <p:spPr>
          <a:xfrm>
            <a:off x="8280105" y="1474470"/>
            <a:ext cx="315600" cy="315600"/>
          </a:xfrm>
          <a:prstGeom prst="roundRect">
            <a:avLst>
              <a:gd fmla="val 22000" name="adj"/>
            </a:avLst>
          </a:prstGeom>
          <a:solidFill>
            <a:srgbClr val="DC4C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X_white.png" id="3526" name="Google Shape;3526;p126"/>
          <p:cNvPicPr preferRelativeResize="0"/>
          <p:nvPr/>
        </p:nvPicPr>
        <p:blipFill rotWithShape="1">
          <a:blip r:embed="rId4">
            <a:alphaModFix/>
          </a:blip>
          <a:srcRect b="0" l="0" r="0" t="0"/>
          <a:stretch/>
        </p:blipFill>
        <p:spPr>
          <a:xfrm>
            <a:off x="8351089" y="1545450"/>
            <a:ext cx="173507" cy="173507"/>
          </a:xfrm>
          <a:prstGeom prst="rect">
            <a:avLst/>
          </a:prstGeom>
          <a:noFill/>
          <a:ln>
            <a:noFill/>
          </a:ln>
        </p:spPr>
      </p:pic>
      <p:sp>
        <p:nvSpPr>
          <p:cNvPr id="3527" name="Google Shape;3527;p126"/>
          <p:cNvSpPr/>
          <p:nvPr/>
        </p:nvSpPr>
        <p:spPr>
          <a:xfrm>
            <a:off x="4873898" y="1488186"/>
            <a:ext cx="33375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1100"/>
              <a:buFont typeface="Arial"/>
              <a:buNone/>
            </a:pPr>
            <a:r>
              <a:rPr b="1" lang="en-GB" sz="1100">
                <a:solidFill>
                  <a:srgbClr val="1C2B3E"/>
                </a:solidFill>
                <a:latin typeface="Arial"/>
                <a:ea typeface="Arial"/>
                <a:cs typeface="Arial"/>
                <a:sym typeface="Arial"/>
              </a:rPr>
              <a:t>SO-2026-00039 · Team C</a:t>
            </a:r>
            <a:endParaRPr sz="1100">
              <a:solidFill>
                <a:schemeClr val="dk1"/>
              </a:solidFill>
              <a:latin typeface="Calibri"/>
              <a:ea typeface="Calibri"/>
              <a:cs typeface="Calibri"/>
              <a:sym typeface="Calibri"/>
            </a:endParaRPr>
          </a:p>
        </p:txBody>
      </p:sp>
      <p:sp>
        <p:nvSpPr>
          <p:cNvPr id="3528" name="Google Shape;3528;p126"/>
          <p:cNvSpPr/>
          <p:nvPr/>
        </p:nvSpPr>
        <p:spPr>
          <a:xfrm>
            <a:off x="4873898" y="1954530"/>
            <a:ext cx="15516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900"/>
              <a:buFont typeface="Arial"/>
              <a:buNone/>
            </a:pPr>
            <a:r>
              <a:rPr lang="en-GB" sz="900">
                <a:solidFill>
                  <a:srgbClr val="94A3B8"/>
                </a:solidFill>
                <a:latin typeface="Arial"/>
                <a:ea typeface="Arial"/>
                <a:cs typeface="Arial"/>
                <a:sym typeface="Arial"/>
              </a:rPr>
              <a:t>Customer</a:t>
            </a:r>
            <a:endParaRPr sz="900">
              <a:solidFill>
                <a:schemeClr val="dk1"/>
              </a:solidFill>
              <a:latin typeface="Calibri"/>
              <a:ea typeface="Calibri"/>
              <a:cs typeface="Calibri"/>
              <a:sym typeface="Calibri"/>
            </a:endParaRPr>
          </a:p>
        </p:txBody>
      </p:sp>
      <p:sp>
        <p:nvSpPr>
          <p:cNvPr id="3529" name="Google Shape;3529;p126"/>
          <p:cNvSpPr/>
          <p:nvPr/>
        </p:nvSpPr>
        <p:spPr>
          <a:xfrm>
            <a:off x="6425486" y="1954530"/>
            <a:ext cx="2142600" cy="205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C2B3E"/>
              </a:buClr>
              <a:buSzPts val="900"/>
              <a:buFont typeface="Arial"/>
              <a:buNone/>
            </a:pPr>
            <a:r>
              <a:rPr b="1" lang="en-GB" sz="900">
                <a:solidFill>
                  <a:srgbClr val="1C2B3E"/>
                </a:solidFill>
                <a:latin typeface="Arial"/>
                <a:ea typeface="Arial"/>
                <a:cs typeface="Arial"/>
                <a:sym typeface="Arial"/>
              </a:rPr>
              <a:t>Lim Heng Trading</a:t>
            </a:r>
            <a:endParaRPr sz="900">
              <a:solidFill>
                <a:schemeClr val="dk1"/>
              </a:solidFill>
              <a:latin typeface="Calibri"/>
              <a:ea typeface="Calibri"/>
              <a:cs typeface="Calibri"/>
              <a:sym typeface="Calibri"/>
            </a:endParaRPr>
          </a:p>
        </p:txBody>
      </p:sp>
      <p:sp>
        <p:nvSpPr>
          <p:cNvPr id="3530" name="Google Shape;3530;p126"/>
          <p:cNvSpPr/>
          <p:nvPr/>
        </p:nvSpPr>
        <p:spPr>
          <a:xfrm>
            <a:off x="4873898" y="2269998"/>
            <a:ext cx="15516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900"/>
              <a:buFont typeface="Arial"/>
              <a:buNone/>
            </a:pPr>
            <a:r>
              <a:rPr lang="en-GB" sz="900">
                <a:solidFill>
                  <a:srgbClr val="94A3B8"/>
                </a:solidFill>
                <a:latin typeface="Arial"/>
                <a:ea typeface="Arial"/>
                <a:cs typeface="Arial"/>
                <a:sym typeface="Arial"/>
              </a:rPr>
              <a:t>Item</a:t>
            </a:r>
            <a:endParaRPr sz="900">
              <a:solidFill>
                <a:schemeClr val="dk1"/>
              </a:solidFill>
              <a:latin typeface="Calibri"/>
              <a:ea typeface="Calibri"/>
              <a:cs typeface="Calibri"/>
              <a:sym typeface="Calibri"/>
            </a:endParaRPr>
          </a:p>
        </p:txBody>
      </p:sp>
      <p:sp>
        <p:nvSpPr>
          <p:cNvPr id="3531" name="Google Shape;3531;p126"/>
          <p:cNvSpPr/>
          <p:nvPr/>
        </p:nvSpPr>
        <p:spPr>
          <a:xfrm>
            <a:off x="6425486" y="2269998"/>
            <a:ext cx="2142600" cy="205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C2B3E"/>
              </a:buClr>
              <a:buSzPts val="900"/>
              <a:buFont typeface="Arial"/>
              <a:buNone/>
            </a:pPr>
            <a:r>
              <a:rPr b="1" lang="en-GB" sz="900">
                <a:solidFill>
                  <a:srgbClr val="1C2B3E"/>
                </a:solidFill>
                <a:latin typeface="Arial"/>
                <a:ea typeface="Arial"/>
                <a:cs typeface="Arial"/>
                <a:sym typeface="Arial"/>
              </a:rPr>
              <a:t>Light Soy Sauce 750ml</a:t>
            </a:r>
            <a:endParaRPr sz="900">
              <a:solidFill>
                <a:schemeClr val="dk1"/>
              </a:solidFill>
              <a:latin typeface="Calibri"/>
              <a:ea typeface="Calibri"/>
              <a:cs typeface="Calibri"/>
              <a:sym typeface="Calibri"/>
            </a:endParaRPr>
          </a:p>
        </p:txBody>
      </p:sp>
      <p:sp>
        <p:nvSpPr>
          <p:cNvPr id="3532" name="Google Shape;3532;p126"/>
          <p:cNvSpPr/>
          <p:nvPr/>
        </p:nvSpPr>
        <p:spPr>
          <a:xfrm>
            <a:off x="4832748" y="2558034"/>
            <a:ext cx="3776700" cy="288000"/>
          </a:xfrm>
          <a:prstGeom prst="roundRect">
            <a:avLst>
              <a:gd fmla="val 14286" name="adj"/>
            </a:avLst>
          </a:prstGeom>
          <a:solidFill>
            <a:srgbClr val="FBEAE8"/>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533" name="Google Shape;3533;p126"/>
          <p:cNvSpPr/>
          <p:nvPr/>
        </p:nvSpPr>
        <p:spPr>
          <a:xfrm>
            <a:off x="4873898" y="2585466"/>
            <a:ext cx="15516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900"/>
              <a:buFont typeface="Arial"/>
              <a:buNone/>
            </a:pPr>
            <a:r>
              <a:rPr lang="en-GB" sz="900">
                <a:solidFill>
                  <a:srgbClr val="94A3B8"/>
                </a:solidFill>
                <a:latin typeface="Arial"/>
                <a:ea typeface="Arial"/>
                <a:cs typeface="Arial"/>
                <a:sym typeface="Arial"/>
              </a:rPr>
              <a:t>UOM</a:t>
            </a:r>
            <a:endParaRPr sz="900">
              <a:solidFill>
                <a:schemeClr val="dk1"/>
              </a:solidFill>
              <a:latin typeface="Calibri"/>
              <a:ea typeface="Calibri"/>
              <a:cs typeface="Calibri"/>
              <a:sym typeface="Calibri"/>
            </a:endParaRPr>
          </a:p>
        </p:txBody>
      </p:sp>
      <p:sp>
        <p:nvSpPr>
          <p:cNvPr id="3534" name="Google Shape;3534;p126"/>
          <p:cNvSpPr/>
          <p:nvPr/>
        </p:nvSpPr>
        <p:spPr>
          <a:xfrm>
            <a:off x="6425486" y="2585466"/>
            <a:ext cx="2142600" cy="205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DC4C3E"/>
              </a:buClr>
              <a:buSzPts val="900"/>
              <a:buFont typeface="Arial"/>
              <a:buNone/>
            </a:pPr>
            <a:r>
              <a:rPr b="1" lang="en-GB" sz="900">
                <a:solidFill>
                  <a:srgbClr val="DC4C3E"/>
                </a:solidFill>
                <a:latin typeface="Arial"/>
                <a:ea typeface="Arial"/>
                <a:cs typeface="Arial"/>
                <a:sym typeface="Arial"/>
              </a:rPr>
              <a:t>10 cartons</a:t>
            </a:r>
            <a:endParaRPr sz="900">
              <a:solidFill>
                <a:schemeClr val="dk1"/>
              </a:solidFill>
              <a:latin typeface="Calibri"/>
              <a:ea typeface="Calibri"/>
              <a:cs typeface="Calibri"/>
              <a:sym typeface="Calibri"/>
            </a:endParaRPr>
          </a:p>
        </p:txBody>
      </p:sp>
      <p:sp>
        <p:nvSpPr>
          <p:cNvPr id="3535" name="Google Shape;3535;p126"/>
          <p:cNvSpPr/>
          <p:nvPr/>
        </p:nvSpPr>
        <p:spPr>
          <a:xfrm>
            <a:off x="4873898" y="2900934"/>
            <a:ext cx="15516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900"/>
              <a:buFont typeface="Arial"/>
              <a:buNone/>
            </a:pPr>
            <a:r>
              <a:rPr lang="en-GB" sz="900">
                <a:solidFill>
                  <a:srgbClr val="94A3B8"/>
                </a:solidFill>
                <a:latin typeface="Arial"/>
                <a:ea typeface="Arial"/>
                <a:cs typeface="Arial"/>
                <a:sym typeface="Arial"/>
              </a:rPr>
              <a:t>Credit</a:t>
            </a:r>
            <a:endParaRPr sz="900">
              <a:solidFill>
                <a:schemeClr val="dk1"/>
              </a:solidFill>
              <a:latin typeface="Calibri"/>
              <a:ea typeface="Calibri"/>
              <a:cs typeface="Calibri"/>
              <a:sym typeface="Calibri"/>
            </a:endParaRPr>
          </a:p>
        </p:txBody>
      </p:sp>
      <p:sp>
        <p:nvSpPr>
          <p:cNvPr id="3536" name="Google Shape;3536;p126"/>
          <p:cNvSpPr/>
          <p:nvPr/>
        </p:nvSpPr>
        <p:spPr>
          <a:xfrm>
            <a:off x="6425486" y="2900934"/>
            <a:ext cx="2142600" cy="205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C2B3E"/>
              </a:buClr>
              <a:buSzPts val="900"/>
              <a:buFont typeface="Arial"/>
              <a:buNone/>
            </a:pPr>
            <a:r>
              <a:rPr b="1" lang="en-GB" sz="900">
                <a:solidFill>
                  <a:srgbClr val="1C2B3E"/>
                </a:solidFill>
                <a:latin typeface="Arial"/>
                <a:ea typeface="Arial"/>
                <a:cs typeface="Arial"/>
                <a:sym typeface="Arial"/>
              </a:rPr>
              <a:t>Within limit ✓</a:t>
            </a:r>
            <a:endParaRPr sz="900">
              <a:solidFill>
                <a:schemeClr val="dk1"/>
              </a:solidFill>
              <a:latin typeface="Calibri"/>
              <a:ea typeface="Calibri"/>
              <a:cs typeface="Calibri"/>
              <a:sym typeface="Calibri"/>
            </a:endParaRPr>
          </a:p>
        </p:txBody>
      </p:sp>
      <p:sp>
        <p:nvSpPr>
          <p:cNvPr id="3537" name="Google Shape;3537;p126"/>
          <p:cNvSpPr/>
          <p:nvPr/>
        </p:nvSpPr>
        <p:spPr>
          <a:xfrm>
            <a:off x="4873898" y="3216402"/>
            <a:ext cx="15516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900"/>
              <a:buFont typeface="Arial"/>
              <a:buNone/>
            </a:pPr>
            <a:r>
              <a:rPr lang="en-GB" sz="900">
                <a:solidFill>
                  <a:srgbClr val="94A3B8"/>
                </a:solidFill>
                <a:latin typeface="Arial"/>
                <a:ea typeface="Arial"/>
                <a:cs typeface="Arial"/>
                <a:sym typeface="Arial"/>
              </a:rPr>
              <a:t>DN Status</a:t>
            </a:r>
            <a:endParaRPr sz="900">
              <a:solidFill>
                <a:schemeClr val="dk1"/>
              </a:solidFill>
              <a:latin typeface="Calibri"/>
              <a:ea typeface="Calibri"/>
              <a:cs typeface="Calibri"/>
              <a:sym typeface="Calibri"/>
            </a:endParaRPr>
          </a:p>
        </p:txBody>
      </p:sp>
      <p:sp>
        <p:nvSpPr>
          <p:cNvPr id="3538" name="Google Shape;3538;p126"/>
          <p:cNvSpPr/>
          <p:nvPr/>
        </p:nvSpPr>
        <p:spPr>
          <a:xfrm>
            <a:off x="6425486" y="3216402"/>
            <a:ext cx="2142600" cy="205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C2B3E"/>
              </a:buClr>
              <a:buSzPts val="900"/>
              <a:buFont typeface="Arial"/>
              <a:buNone/>
            </a:pPr>
            <a:r>
              <a:rPr b="1" lang="en-GB" sz="900">
                <a:solidFill>
                  <a:srgbClr val="1C2B3E"/>
                </a:solidFill>
                <a:latin typeface="Arial"/>
                <a:ea typeface="Arial"/>
                <a:cs typeface="Arial"/>
                <a:sym typeface="Arial"/>
              </a:rPr>
              <a:t>Delivered</a:t>
            </a:r>
            <a:endParaRPr sz="900">
              <a:solidFill>
                <a:schemeClr val="dk1"/>
              </a:solidFill>
              <a:latin typeface="Calibri"/>
              <a:ea typeface="Calibri"/>
              <a:cs typeface="Calibri"/>
              <a:sym typeface="Calibri"/>
            </a:endParaRPr>
          </a:p>
        </p:txBody>
      </p:sp>
      <p:sp>
        <p:nvSpPr>
          <p:cNvPr id="3539" name="Google Shape;3539;p126"/>
          <p:cNvSpPr/>
          <p:nvPr/>
        </p:nvSpPr>
        <p:spPr>
          <a:xfrm>
            <a:off x="4873898" y="3566160"/>
            <a:ext cx="3694200" cy="582900"/>
          </a:xfrm>
          <a:prstGeom prst="roundRect">
            <a:avLst>
              <a:gd fmla="val 9412" name="adj"/>
            </a:avLst>
          </a:prstGeom>
          <a:solidFill>
            <a:srgbClr val="FBEAE8"/>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ArrowRight_red.png" id="3540" name="Google Shape;3540;p126"/>
          <p:cNvPicPr preferRelativeResize="0"/>
          <p:nvPr/>
        </p:nvPicPr>
        <p:blipFill rotWithShape="1">
          <a:blip r:embed="rId5">
            <a:alphaModFix/>
          </a:blip>
          <a:srcRect b="0" l="0" r="0" t="0"/>
          <a:stretch/>
        </p:blipFill>
        <p:spPr>
          <a:xfrm>
            <a:off x="4956198" y="3723894"/>
            <a:ext cx="205740" cy="205740"/>
          </a:xfrm>
          <a:prstGeom prst="rect">
            <a:avLst/>
          </a:prstGeom>
          <a:noFill/>
          <a:ln>
            <a:noFill/>
          </a:ln>
        </p:spPr>
      </p:pic>
      <p:sp>
        <p:nvSpPr>
          <p:cNvPr id="3541" name="Google Shape;3541;p126"/>
          <p:cNvSpPr/>
          <p:nvPr/>
        </p:nvSpPr>
        <p:spPr>
          <a:xfrm>
            <a:off x="5244250" y="3586734"/>
            <a:ext cx="3303300" cy="534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C4C3E"/>
              </a:buClr>
              <a:buSzPts val="900"/>
              <a:buFont typeface="Arial"/>
              <a:buNone/>
            </a:pPr>
            <a:r>
              <a:rPr b="1" lang="en-GB" sz="900">
                <a:solidFill>
                  <a:srgbClr val="DC4C3E"/>
                </a:solidFill>
                <a:latin typeface="Arial"/>
                <a:ea typeface="Arial"/>
                <a:cs typeface="Arial"/>
                <a:sym typeface="Arial"/>
              </a:rPr>
              <a:t>Qty: 24 bottles shipped · should be 12/carton — UOM not converted (240 ordered)</a:t>
            </a:r>
            <a:endParaRPr sz="900">
              <a:solidFill>
                <a:schemeClr val="dk1"/>
              </a:solidFill>
              <a:latin typeface="Calibri"/>
              <a:ea typeface="Calibri"/>
              <a:cs typeface="Calibri"/>
              <a:sym typeface="Calibri"/>
            </a:endParaRPr>
          </a:p>
        </p:txBody>
      </p:sp>
      <p:sp>
        <p:nvSpPr>
          <p:cNvPr id="3542" name="Google Shape;3542;p126"/>
          <p:cNvSpPr txBox="1"/>
          <p:nvPr>
            <p:ph idx="12" type="sldNum"/>
          </p:nvPr>
        </p:nvSpPr>
        <p:spPr>
          <a:xfrm>
            <a:off x="8347216" y="4750189"/>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546" name="Shape 3546"/>
        <p:cNvGrpSpPr/>
        <p:nvPr/>
      </p:nvGrpSpPr>
      <p:grpSpPr>
        <a:xfrm>
          <a:off x="0" y="0"/>
          <a:ext cx="0" cy="0"/>
          <a:chOff x="0" y="0"/>
          <a:chExt cx="0" cy="0"/>
        </a:xfrm>
      </p:grpSpPr>
      <p:sp>
        <p:nvSpPr>
          <p:cNvPr id="3547" name="Google Shape;3547;p127"/>
          <p:cNvSpPr/>
          <p:nvPr/>
        </p:nvSpPr>
        <p:spPr>
          <a:xfrm>
            <a:off x="411502" y="260604"/>
            <a:ext cx="6858366"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SECTION 1</a:t>
            </a:r>
            <a:endParaRPr sz="800">
              <a:solidFill>
                <a:schemeClr val="dk1"/>
              </a:solidFill>
              <a:latin typeface="Calibri"/>
              <a:ea typeface="Calibri"/>
              <a:cs typeface="Calibri"/>
              <a:sym typeface="Calibri"/>
            </a:endParaRPr>
          </a:p>
        </p:txBody>
      </p:sp>
      <p:sp>
        <p:nvSpPr>
          <p:cNvPr id="3548" name="Google Shape;3548;p127"/>
          <p:cNvSpPr/>
          <p:nvPr/>
        </p:nvSpPr>
        <p:spPr>
          <a:xfrm>
            <a:off x="411502" y="438912"/>
            <a:ext cx="8321255" cy="4800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C2B3E"/>
              </a:buClr>
              <a:buSzPts val="2200"/>
              <a:buFont typeface="Arial"/>
              <a:buNone/>
            </a:pPr>
            <a:r>
              <a:rPr b="1" lang="en-GB" sz="2200">
                <a:solidFill>
                  <a:srgbClr val="1C2B3E"/>
                </a:solidFill>
                <a:latin typeface="Poppins"/>
                <a:ea typeface="Poppins"/>
                <a:cs typeface="Poppins"/>
                <a:sym typeface="Poppins"/>
              </a:rPr>
              <a:t>Add-ons &amp; customisations.</a:t>
            </a:r>
            <a:endParaRPr sz="2200">
              <a:solidFill>
                <a:schemeClr val="dk1"/>
              </a:solidFill>
              <a:latin typeface="Poppins"/>
              <a:ea typeface="Poppins"/>
              <a:cs typeface="Poppins"/>
              <a:sym typeface="Poppins"/>
            </a:endParaRPr>
          </a:p>
        </p:txBody>
      </p:sp>
      <p:sp>
        <p:nvSpPr>
          <p:cNvPr id="3549" name="Google Shape;3549;p127"/>
          <p:cNvSpPr/>
          <p:nvPr/>
        </p:nvSpPr>
        <p:spPr>
          <a:xfrm>
            <a:off x="411502" y="1405889"/>
            <a:ext cx="8319198" cy="809244"/>
          </a:xfrm>
          <a:prstGeom prst="roundRect">
            <a:avLst>
              <a:gd fmla="val 16667" name="adj"/>
            </a:avLst>
          </a:prstGeom>
          <a:solidFill>
            <a:srgbClr val="F3F4F6"/>
          </a:solidFill>
          <a:ln cap="flat" cmpd="sng" w="9525">
            <a:solidFill>
              <a:srgbClr val="CBD5E1"/>
            </a:solidFill>
            <a:prstDash val="solid"/>
            <a:miter lim="8000"/>
            <a:headEnd len="sm" w="sm" type="none"/>
            <a:tailEnd len="sm" w="sm" type="none"/>
          </a:ln>
        </p:spPr>
        <p:txBody>
          <a:bodyPr anchorCtr="0" anchor="ctr" bIns="34275" lIns="171450" spcFirstLastPara="1" rIns="171450" wrap="square" tIns="109725">
            <a:noAutofit/>
          </a:bodyPr>
          <a:lstStyle/>
          <a:p>
            <a:pPr indent="0" lvl="0" marL="0" marR="0" rtl="0" algn="l">
              <a:lnSpc>
                <a:spcPct val="115000"/>
              </a:lnSpc>
              <a:spcBef>
                <a:spcPts val="0"/>
              </a:spcBef>
              <a:spcAft>
                <a:spcPts val="0"/>
              </a:spcAft>
              <a:buNone/>
            </a:pPr>
            <a:r>
              <a:rPr b="1" lang="en-GB" sz="1100">
                <a:solidFill>
                  <a:srgbClr val="E8821E"/>
                </a:solidFill>
              </a:rPr>
              <a:t>Operations &amp; finance</a:t>
            </a:r>
            <a:endParaRPr b="1" sz="1100">
              <a:solidFill>
                <a:srgbClr val="E8821E"/>
              </a:solidFill>
            </a:endParaRPr>
          </a:p>
          <a:p>
            <a:pPr indent="0" lvl="0" marL="0" marR="0" rtl="0" algn="l">
              <a:lnSpc>
                <a:spcPct val="115000"/>
              </a:lnSpc>
              <a:spcBef>
                <a:spcPts val="0"/>
              </a:spcBef>
              <a:spcAft>
                <a:spcPts val="0"/>
              </a:spcAft>
              <a:buNone/>
            </a:pPr>
            <a:r>
              <a:rPr lang="en-GB" sz="900">
                <a:solidFill>
                  <a:srgbClr val="1C2B3E"/>
                </a:solidFill>
              </a:rPr>
              <a:t>Delivery Trip Management   ·   Accounts Payable   ·   Accounts Receivable   ·   Statement of Account self-service</a:t>
            </a:r>
            <a:endParaRPr sz="900">
              <a:solidFill>
                <a:srgbClr val="1C2B3E"/>
              </a:solidFill>
            </a:endParaRPr>
          </a:p>
        </p:txBody>
      </p:sp>
      <p:sp>
        <p:nvSpPr>
          <p:cNvPr id="3550" name="Google Shape;3550;p127"/>
          <p:cNvSpPr/>
          <p:nvPr/>
        </p:nvSpPr>
        <p:spPr>
          <a:xfrm>
            <a:off x="411502" y="2366009"/>
            <a:ext cx="8319198" cy="809244"/>
          </a:xfrm>
          <a:prstGeom prst="roundRect">
            <a:avLst>
              <a:gd fmla="val 16667" name="adj"/>
            </a:avLst>
          </a:prstGeom>
          <a:solidFill>
            <a:srgbClr val="F3F4F6"/>
          </a:solidFill>
          <a:ln cap="flat" cmpd="sng" w="9525">
            <a:solidFill>
              <a:srgbClr val="CBD5E1"/>
            </a:solidFill>
            <a:prstDash val="solid"/>
            <a:miter lim="8000"/>
            <a:headEnd len="sm" w="sm" type="none"/>
            <a:tailEnd len="sm" w="sm" type="none"/>
          </a:ln>
        </p:spPr>
        <p:txBody>
          <a:bodyPr anchorCtr="0" anchor="ctr" bIns="34275" lIns="171450" spcFirstLastPara="1" rIns="171450" wrap="square" tIns="109725">
            <a:noAutofit/>
          </a:bodyPr>
          <a:lstStyle/>
          <a:p>
            <a:pPr indent="0" lvl="0" marL="0" marR="0" rtl="0" algn="l">
              <a:spcBef>
                <a:spcPts val="0"/>
              </a:spcBef>
              <a:spcAft>
                <a:spcPts val="0"/>
              </a:spcAft>
              <a:buNone/>
            </a:pPr>
            <a:r>
              <a:rPr b="1" lang="en-GB" sz="1100">
                <a:solidFill>
                  <a:srgbClr val="E8821E"/>
                </a:solidFill>
              </a:rPr>
              <a:t>Compliance &amp; order logic</a:t>
            </a:r>
            <a:endParaRPr b="1" sz="1100">
              <a:solidFill>
                <a:srgbClr val="E8821E"/>
              </a:solidFill>
            </a:endParaRPr>
          </a:p>
          <a:p>
            <a:pPr indent="0" lvl="0" marL="0" marR="0" rtl="0" algn="l">
              <a:spcBef>
                <a:spcPts val="600"/>
              </a:spcBef>
              <a:spcAft>
                <a:spcPts val="0"/>
              </a:spcAft>
              <a:buNone/>
            </a:pPr>
            <a:r>
              <a:rPr lang="en-GB" sz="900">
                <a:solidFill>
                  <a:srgbClr val="1C2B3E"/>
                </a:solidFill>
              </a:rPr>
              <a:t>Tax Exemption Enforcement (C1 / C3 / A57)   ·   Custom Order Calculators   ·   Customer-Facing Chatbot</a:t>
            </a:r>
            <a:endParaRPr sz="900">
              <a:solidFill>
                <a:srgbClr val="1C2B3E"/>
              </a:solidFill>
            </a:endParaRPr>
          </a:p>
        </p:txBody>
      </p:sp>
      <p:sp>
        <p:nvSpPr>
          <p:cNvPr id="3551" name="Google Shape;3551;p127"/>
          <p:cNvSpPr/>
          <p:nvPr/>
        </p:nvSpPr>
        <p:spPr>
          <a:xfrm>
            <a:off x="411502" y="3326130"/>
            <a:ext cx="8319198" cy="809244"/>
          </a:xfrm>
          <a:prstGeom prst="roundRect">
            <a:avLst>
              <a:gd fmla="val 16667" name="adj"/>
            </a:avLst>
          </a:prstGeom>
          <a:solidFill>
            <a:srgbClr val="F3F4F6"/>
          </a:solidFill>
          <a:ln cap="flat" cmpd="sng" w="9525">
            <a:solidFill>
              <a:srgbClr val="CBD5E1"/>
            </a:solidFill>
            <a:prstDash val="solid"/>
            <a:miter lim="8000"/>
            <a:headEnd len="sm" w="sm" type="none"/>
            <a:tailEnd len="sm" w="sm" type="none"/>
          </a:ln>
        </p:spPr>
        <p:txBody>
          <a:bodyPr anchorCtr="0" anchor="ctr" bIns="34275" lIns="171450" spcFirstLastPara="1" rIns="171450" wrap="square" tIns="109725">
            <a:noAutofit/>
          </a:bodyPr>
          <a:lstStyle/>
          <a:p>
            <a:pPr indent="0" lvl="0" marL="0" marR="0" rtl="0" algn="l">
              <a:spcBef>
                <a:spcPts val="0"/>
              </a:spcBef>
              <a:spcAft>
                <a:spcPts val="0"/>
              </a:spcAft>
              <a:buNone/>
            </a:pPr>
            <a:r>
              <a:rPr b="1" lang="en-GB" sz="1100">
                <a:solidFill>
                  <a:srgbClr val="E8821E"/>
                </a:solidFill>
              </a:rPr>
              <a:t>Analytics &amp; stock risk</a:t>
            </a:r>
            <a:endParaRPr b="1" sz="1100">
              <a:solidFill>
                <a:srgbClr val="E8821E"/>
              </a:solidFill>
            </a:endParaRPr>
          </a:p>
          <a:p>
            <a:pPr indent="0" lvl="0" marL="0" marR="0" rtl="0" algn="l">
              <a:spcBef>
                <a:spcPts val="600"/>
              </a:spcBef>
              <a:spcAft>
                <a:spcPts val="0"/>
              </a:spcAft>
              <a:buNone/>
            </a:pPr>
            <a:r>
              <a:rPr lang="en-GB" sz="900">
                <a:solidFill>
                  <a:srgbClr val="1C2B3E"/>
                </a:solidFill>
              </a:rPr>
              <a:t>Order Data Analytics   ·   Customer Churn Analytics   ·   Slow-Moving / Near-Expiry Stock Reports</a:t>
            </a:r>
            <a:endParaRPr sz="900">
              <a:solidFill>
                <a:srgbClr val="1C2B3E"/>
              </a:solidFill>
            </a:endParaRPr>
          </a:p>
        </p:txBody>
      </p:sp>
      <p:sp>
        <p:nvSpPr>
          <p:cNvPr id="3552" name="Google Shape;3552;p127"/>
          <p:cNvSpPr txBox="1"/>
          <p:nvPr>
            <p:ph idx="12" type="sldNum"/>
          </p:nvPr>
        </p:nvSpPr>
        <p:spPr>
          <a:xfrm>
            <a:off x="8347216" y="4750189"/>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3557" name="Shape 3557"/>
        <p:cNvGrpSpPr/>
        <p:nvPr/>
      </p:nvGrpSpPr>
      <p:grpSpPr>
        <a:xfrm>
          <a:off x="0" y="0"/>
          <a:ext cx="0" cy="0"/>
          <a:chOff x="0" y="0"/>
          <a:chExt cx="0" cy="0"/>
        </a:xfrm>
      </p:grpSpPr>
      <p:sp>
        <p:nvSpPr>
          <p:cNvPr id="3558" name="Google Shape;3558;p128"/>
          <p:cNvSpPr/>
          <p:nvPr/>
        </p:nvSpPr>
        <p:spPr>
          <a:xfrm>
            <a:off x="411502" y="260604"/>
            <a:ext cx="68583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GAME</a:t>
            </a:r>
            <a:endParaRPr sz="800">
              <a:solidFill>
                <a:schemeClr val="dk1"/>
              </a:solidFill>
              <a:latin typeface="Calibri"/>
              <a:ea typeface="Calibri"/>
              <a:cs typeface="Calibri"/>
              <a:sym typeface="Calibri"/>
            </a:endParaRPr>
          </a:p>
        </p:txBody>
      </p:sp>
      <p:sp>
        <p:nvSpPr>
          <p:cNvPr id="3559" name="Google Shape;3559;p128"/>
          <p:cNvSpPr/>
          <p:nvPr/>
        </p:nvSpPr>
        <p:spPr>
          <a:xfrm>
            <a:off x="411502" y="438912"/>
            <a:ext cx="8321400" cy="480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C2B3E"/>
              </a:buClr>
              <a:buSzPts val="2200"/>
              <a:buFont typeface="Arial"/>
              <a:buNone/>
            </a:pPr>
            <a:r>
              <a:rPr b="1" lang="en-GB" sz="2200">
                <a:solidFill>
                  <a:srgbClr val="1C2B3E"/>
                </a:solidFill>
                <a:latin typeface="Poppins"/>
                <a:ea typeface="Poppins"/>
                <a:cs typeface="Poppins"/>
                <a:sym typeface="Poppins"/>
              </a:rPr>
              <a:t>Your team, your role.</a:t>
            </a:r>
            <a:endParaRPr sz="2200">
              <a:solidFill>
                <a:schemeClr val="dk1"/>
              </a:solidFill>
              <a:latin typeface="Poppins"/>
              <a:ea typeface="Poppins"/>
              <a:cs typeface="Poppins"/>
              <a:sym typeface="Poppins"/>
            </a:endParaRPr>
          </a:p>
        </p:txBody>
      </p:sp>
      <p:sp>
        <p:nvSpPr>
          <p:cNvPr id="3560" name="Google Shape;3560;p128"/>
          <p:cNvSpPr/>
          <p:nvPr/>
        </p:nvSpPr>
        <p:spPr>
          <a:xfrm>
            <a:off x="411502" y="932688"/>
            <a:ext cx="8321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D"/>
              </a:buClr>
              <a:buSzPts val="1100"/>
              <a:buFont typeface="Arial"/>
              <a:buNone/>
            </a:pPr>
            <a:r>
              <a:rPr lang="en-GB" sz="1100">
                <a:solidFill>
                  <a:srgbClr val="5B6B7D"/>
                </a:solidFill>
                <a:latin typeface="Arial"/>
                <a:ea typeface="Arial"/>
                <a:cs typeface="Arial"/>
                <a:sym typeface="Arial"/>
              </a:rPr>
              <a:t>Find your table. Read the roster below.</a:t>
            </a:r>
            <a:endParaRPr sz="1100">
              <a:solidFill>
                <a:schemeClr val="dk1"/>
              </a:solidFill>
              <a:latin typeface="Calibri"/>
              <a:ea typeface="Calibri"/>
              <a:cs typeface="Calibri"/>
              <a:sym typeface="Calibri"/>
            </a:endParaRPr>
          </a:p>
        </p:txBody>
      </p:sp>
      <p:sp>
        <p:nvSpPr>
          <p:cNvPr id="3561" name="Google Shape;3561;p128"/>
          <p:cNvSpPr/>
          <p:nvPr/>
        </p:nvSpPr>
        <p:spPr>
          <a:xfrm>
            <a:off x="411502" y="1337310"/>
            <a:ext cx="3703500" cy="2331600"/>
          </a:xfrm>
          <a:prstGeom prst="roundRect">
            <a:avLst>
              <a:gd fmla="val 3529" name="adj"/>
            </a:avLst>
          </a:prstGeom>
          <a:solidFill>
            <a:srgbClr val="F5F7FA"/>
          </a:solidFill>
          <a:ln>
            <a:noFill/>
          </a:ln>
          <a:effectLst>
            <a:outerShdw blurRad="101600" rotWithShape="0" algn="bl" dir="5400000" dist="38100">
              <a:srgbClr val="1C2B3E">
                <a:alpha val="1019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562" name="Google Shape;3562;p128"/>
          <p:cNvSpPr/>
          <p:nvPr/>
        </p:nvSpPr>
        <p:spPr>
          <a:xfrm>
            <a:off x="576103" y="1460754"/>
            <a:ext cx="33744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800"/>
              <a:buFont typeface="Arial"/>
              <a:buNone/>
            </a:pPr>
            <a:r>
              <a:rPr b="1" lang="en-GB" sz="800">
                <a:solidFill>
                  <a:srgbClr val="94A3B8"/>
                </a:solidFill>
                <a:latin typeface="Arial"/>
                <a:ea typeface="Arial"/>
                <a:cs typeface="Arial"/>
                <a:sym typeface="Arial"/>
              </a:rPr>
              <a:t>TEAM TABLE TEMPLATE</a:t>
            </a:r>
            <a:endParaRPr sz="800">
              <a:solidFill>
                <a:schemeClr val="dk1"/>
              </a:solidFill>
              <a:latin typeface="Calibri"/>
              <a:ea typeface="Calibri"/>
              <a:cs typeface="Calibri"/>
              <a:sym typeface="Calibri"/>
            </a:endParaRPr>
          </a:p>
        </p:txBody>
      </p:sp>
      <p:sp>
        <p:nvSpPr>
          <p:cNvPr id="3563" name="Google Shape;3563;p128"/>
          <p:cNvSpPr/>
          <p:nvPr/>
        </p:nvSpPr>
        <p:spPr>
          <a:xfrm>
            <a:off x="576103" y="1762506"/>
            <a:ext cx="1605000" cy="720000"/>
          </a:xfrm>
          <a:prstGeom prst="roundRect">
            <a:avLst>
              <a:gd fmla="val 9524" name="adj"/>
            </a:avLst>
          </a:prstGeom>
          <a:solidFill>
            <a:srgbClr val="FFFFFF"/>
          </a:solidFill>
          <a:ln cap="flat" cmpd="sng" w="12700">
            <a:solidFill>
              <a:srgbClr val="E3E8EF"/>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564" name="Google Shape;3564;p128"/>
          <p:cNvSpPr/>
          <p:nvPr/>
        </p:nvSpPr>
        <p:spPr>
          <a:xfrm>
            <a:off x="685837" y="1872234"/>
            <a:ext cx="1385400" cy="274200"/>
          </a:xfrm>
          <a:prstGeom prst="roundRect">
            <a:avLst>
              <a:gd fmla="val 50000"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User_white.png" id="3565" name="Google Shape;3565;p128"/>
          <p:cNvPicPr preferRelativeResize="0"/>
          <p:nvPr/>
        </p:nvPicPr>
        <p:blipFill rotWithShape="1">
          <a:blip r:embed="rId3">
            <a:alphaModFix/>
          </a:blip>
          <a:srcRect b="0" l="0" r="0" t="0"/>
          <a:stretch/>
        </p:blipFill>
        <p:spPr>
          <a:xfrm>
            <a:off x="768137" y="1940814"/>
            <a:ext cx="137160" cy="137160"/>
          </a:xfrm>
          <a:prstGeom prst="rect">
            <a:avLst/>
          </a:prstGeom>
          <a:noFill/>
          <a:ln>
            <a:noFill/>
          </a:ln>
        </p:spPr>
      </p:pic>
      <p:sp>
        <p:nvSpPr>
          <p:cNvPr id="3566" name="Google Shape;3566;p128"/>
          <p:cNvSpPr/>
          <p:nvPr/>
        </p:nvSpPr>
        <p:spPr>
          <a:xfrm>
            <a:off x="946454" y="1872234"/>
            <a:ext cx="1083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SALES</a:t>
            </a:r>
            <a:endParaRPr sz="800">
              <a:solidFill>
                <a:schemeClr val="dk1"/>
              </a:solidFill>
              <a:latin typeface="Calibri"/>
              <a:ea typeface="Calibri"/>
              <a:cs typeface="Calibri"/>
              <a:sym typeface="Calibri"/>
            </a:endParaRPr>
          </a:p>
        </p:txBody>
      </p:sp>
      <p:sp>
        <p:nvSpPr>
          <p:cNvPr id="3567" name="Google Shape;3567;p128"/>
          <p:cNvSpPr/>
          <p:nvPr/>
        </p:nvSpPr>
        <p:spPr>
          <a:xfrm>
            <a:off x="685837" y="2187702"/>
            <a:ext cx="1385400" cy="233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900"/>
              <a:buFont typeface="Arial"/>
              <a:buNone/>
            </a:pPr>
            <a:r>
              <a:rPr i="1" lang="en-GB" sz="900">
                <a:solidFill>
                  <a:srgbClr val="94A3B8"/>
                </a:solidFill>
                <a:latin typeface="Arial"/>
                <a:ea typeface="Arial"/>
                <a:cs typeface="Arial"/>
                <a:sym typeface="Arial"/>
              </a:rPr>
              <a:t>[ Name ]</a:t>
            </a:r>
            <a:endParaRPr sz="900">
              <a:solidFill>
                <a:schemeClr val="dk1"/>
              </a:solidFill>
              <a:latin typeface="Calibri"/>
              <a:ea typeface="Calibri"/>
              <a:cs typeface="Calibri"/>
              <a:sym typeface="Calibri"/>
            </a:endParaRPr>
          </a:p>
        </p:txBody>
      </p:sp>
      <p:sp>
        <p:nvSpPr>
          <p:cNvPr id="3568" name="Google Shape;3568;p128"/>
          <p:cNvSpPr/>
          <p:nvPr/>
        </p:nvSpPr>
        <p:spPr>
          <a:xfrm>
            <a:off x="2345561" y="1762506"/>
            <a:ext cx="1605000" cy="720000"/>
          </a:xfrm>
          <a:prstGeom prst="roundRect">
            <a:avLst>
              <a:gd fmla="val 9524" name="adj"/>
            </a:avLst>
          </a:prstGeom>
          <a:solidFill>
            <a:srgbClr val="FFFFFF"/>
          </a:solidFill>
          <a:ln cap="flat" cmpd="sng" w="12700">
            <a:solidFill>
              <a:srgbClr val="E3E8EF"/>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569" name="Google Shape;3569;p128"/>
          <p:cNvSpPr/>
          <p:nvPr/>
        </p:nvSpPr>
        <p:spPr>
          <a:xfrm>
            <a:off x="2455295" y="1872234"/>
            <a:ext cx="1385400" cy="274200"/>
          </a:xfrm>
          <a:prstGeom prst="roundRect">
            <a:avLst>
              <a:gd fmla="val 50000"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Shield_white.png" id="3570" name="Google Shape;3570;p128"/>
          <p:cNvPicPr preferRelativeResize="0"/>
          <p:nvPr/>
        </p:nvPicPr>
        <p:blipFill rotWithShape="1">
          <a:blip r:embed="rId4">
            <a:alphaModFix/>
          </a:blip>
          <a:srcRect b="0" l="0" r="0" t="0"/>
          <a:stretch/>
        </p:blipFill>
        <p:spPr>
          <a:xfrm>
            <a:off x="2537595" y="1940814"/>
            <a:ext cx="137160" cy="137160"/>
          </a:xfrm>
          <a:prstGeom prst="rect">
            <a:avLst/>
          </a:prstGeom>
          <a:noFill/>
          <a:ln>
            <a:noFill/>
          </a:ln>
        </p:spPr>
      </p:pic>
      <p:sp>
        <p:nvSpPr>
          <p:cNvPr id="3571" name="Google Shape;3571;p128"/>
          <p:cNvSpPr/>
          <p:nvPr/>
        </p:nvSpPr>
        <p:spPr>
          <a:xfrm>
            <a:off x="2715913" y="1872234"/>
            <a:ext cx="1083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CREDIT CTRL</a:t>
            </a:r>
            <a:endParaRPr sz="800">
              <a:solidFill>
                <a:schemeClr val="dk1"/>
              </a:solidFill>
              <a:latin typeface="Calibri"/>
              <a:ea typeface="Calibri"/>
              <a:cs typeface="Calibri"/>
              <a:sym typeface="Calibri"/>
            </a:endParaRPr>
          </a:p>
        </p:txBody>
      </p:sp>
      <p:sp>
        <p:nvSpPr>
          <p:cNvPr id="3572" name="Google Shape;3572;p128"/>
          <p:cNvSpPr/>
          <p:nvPr/>
        </p:nvSpPr>
        <p:spPr>
          <a:xfrm>
            <a:off x="2455295" y="2187702"/>
            <a:ext cx="1385400" cy="233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900"/>
              <a:buFont typeface="Arial"/>
              <a:buNone/>
            </a:pPr>
            <a:r>
              <a:rPr i="1" lang="en-GB" sz="900">
                <a:solidFill>
                  <a:srgbClr val="94A3B8"/>
                </a:solidFill>
                <a:latin typeface="Arial"/>
                <a:ea typeface="Arial"/>
                <a:cs typeface="Arial"/>
                <a:sym typeface="Arial"/>
              </a:rPr>
              <a:t>[ Name ]</a:t>
            </a:r>
            <a:endParaRPr sz="900">
              <a:solidFill>
                <a:schemeClr val="dk1"/>
              </a:solidFill>
              <a:latin typeface="Calibri"/>
              <a:ea typeface="Calibri"/>
              <a:cs typeface="Calibri"/>
              <a:sym typeface="Calibri"/>
            </a:endParaRPr>
          </a:p>
        </p:txBody>
      </p:sp>
      <p:sp>
        <p:nvSpPr>
          <p:cNvPr id="3573" name="Google Shape;3573;p128"/>
          <p:cNvSpPr/>
          <p:nvPr/>
        </p:nvSpPr>
        <p:spPr>
          <a:xfrm>
            <a:off x="576103" y="2606040"/>
            <a:ext cx="1605000" cy="720000"/>
          </a:xfrm>
          <a:prstGeom prst="roundRect">
            <a:avLst>
              <a:gd fmla="val 9524" name="adj"/>
            </a:avLst>
          </a:prstGeom>
          <a:solidFill>
            <a:srgbClr val="FFFFFF"/>
          </a:solidFill>
          <a:ln cap="flat" cmpd="sng" w="12700">
            <a:solidFill>
              <a:srgbClr val="E3E8EF"/>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574" name="Google Shape;3574;p128"/>
          <p:cNvSpPr/>
          <p:nvPr/>
        </p:nvSpPr>
        <p:spPr>
          <a:xfrm>
            <a:off x="685837" y="2715768"/>
            <a:ext cx="1385400" cy="274200"/>
          </a:xfrm>
          <a:prstGeom prst="roundRect">
            <a:avLst>
              <a:gd fmla="val 50000"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Package_white.png" id="3575" name="Google Shape;3575;p128"/>
          <p:cNvPicPr preferRelativeResize="0"/>
          <p:nvPr/>
        </p:nvPicPr>
        <p:blipFill rotWithShape="1">
          <a:blip r:embed="rId5">
            <a:alphaModFix/>
          </a:blip>
          <a:srcRect b="0" l="0" r="0" t="0"/>
          <a:stretch/>
        </p:blipFill>
        <p:spPr>
          <a:xfrm>
            <a:off x="768137" y="2784348"/>
            <a:ext cx="137160" cy="137160"/>
          </a:xfrm>
          <a:prstGeom prst="rect">
            <a:avLst/>
          </a:prstGeom>
          <a:noFill/>
          <a:ln>
            <a:noFill/>
          </a:ln>
        </p:spPr>
      </p:pic>
      <p:sp>
        <p:nvSpPr>
          <p:cNvPr id="3576" name="Google Shape;3576;p128"/>
          <p:cNvSpPr/>
          <p:nvPr/>
        </p:nvSpPr>
        <p:spPr>
          <a:xfrm>
            <a:off x="946454" y="2715768"/>
            <a:ext cx="1083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LOGISTICS</a:t>
            </a:r>
            <a:endParaRPr sz="800">
              <a:solidFill>
                <a:schemeClr val="dk1"/>
              </a:solidFill>
              <a:latin typeface="Calibri"/>
              <a:ea typeface="Calibri"/>
              <a:cs typeface="Calibri"/>
              <a:sym typeface="Calibri"/>
            </a:endParaRPr>
          </a:p>
        </p:txBody>
      </p:sp>
      <p:sp>
        <p:nvSpPr>
          <p:cNvPr id="3577" name="Google Shape;3577;p128"/>
          <p:cNvSpPr/>
          <p:nvPr/>
        </p:nvSpPr>
        <p:spPr>
          <a:xfrm>
            <a:off x="685837" y="3031236"/>
            <a:ext cx="1385400" cy="233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900"/>
              <a:buFont typeface="Arial"/>
              <a:buNone/>
            </a:pPr>
            <a:r>
              <a:rPr i="1" lang="en-GB" sz="900">
                <a:solidFill>
                  <a:srgbClr val="94A3B8"/>
                </a:solidFill>
                <a:latin typeface="Arial"/>
                <a:ea typeface="Arial"/>
                <a:cs typeface="Arial"/>
                <a:sym typeface="Arial"/>
              </a:rPr>
              <a:t>[ Name ]</a:t>
            </a:r>
            <a:endParaRPr sz="900">
              <a:solidFill>
                <a:schemeClr val="dk1"/>
              </a:solidFill>
              <a:latin typeface="Calibri"/>
              <a:ea typeface="Calibri"/>
              <a:cs typeface="Calibri"/>
              <a:sym typeface="Calibri"/>
            </a:endParaRPr>
          </a:p>
        </p:txBody>
      </p:sp>
      <p:sp>
        <p:nvSpPr>
          <p:cNvPr id="3578" name="Google Shape;3578;p128"/>
          <p:cNvSpPr/>
          <p:nvPr/>
        </p:nvSpPr>
        <p:spPr>
          <a:xfrm>
            <a:off x="2345561" y="2606040"/>
            <a:ext cx="1605000" cy="720000"/>
          </a:xfrm>
          <a:prstGeom prst="roundRect">
            <a:avLst>
              <a:gd fmla="val 9524" name="adj"/>
            </a:avLst>
          </a:prstGeom>
          <a:solidFill>
            <a:srgbClr val="FFFFFF"/>
          </a:solidFill>
          <a:ln cap="flat" cmpd="sng" w="12700">
            <a:solidFill>
              <a:srgbClr val="E3E8EF"/>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579" name="Google Shape;3579;p128"/>
          <p:cNvSpPr/>
          <p:nvPr/>
        </p:nvSpPr>
        <p:spPr>
          <a:xfrm>
            <a:off x="2455295" y="2715768"/>
            <a:ext cx="1385400" cy="274200"/>
          </a:xfrm>
          <a:prstGeom prst="roundRect">
            <a:avLst>
              <a:gd fmla="val 50000"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Truck_white.png" id="3580" name="Google Shape;3580;p128"/>
          <p:cNvPicPr preferRelativeResize="0"/>
          <p:nvPr/>
        </p:nvPicPr>
        <p:blipFill rotWithShape="1">
          <a:blip r:embed="rId6">
            <a:alphaModFix/>
          </a:blip>
          <a:srcRect b="0" l="0" r="0" t="0"/>
          <a:stretch/>
        </p:blipFill>
        <p:spPr>
          <a:xfrm>
            <a:off x="2537595" y="2784348"/>
            <a:ext cx="137160" cy="137160"/>
          </a:xfrm>
          <a:prstGeom prst="rect">
            <a:avLst/>
          </a:prstGeom>
          <a:noFill/>
          <a:ln>
            <a:noFill/>
          </a:ln>
        </p:spPr>
      </p:pic>
      <p:sp>
        <p:nvSpPr>
          <p:cNvPr id="3581" name="Google Shape;3581;p128"/>
          <p:cNvSpPr/>
          <p:nvPr/>
        </p:nvSpPr>
        <p:spPr>
          <a:xfrm>
            <a:off x="2715913" y="2715768"/>
            <a:ext cx="1083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800"/>
              <a:buFont typeface="Arial"/>
              <a:buNone/>
            </a:pPr>
            <a:r>
              <a:rPr b="1" lang="en-GB" sz="800">
                <a:solidFill>
                  <a:srgbClr val="FFFFFF"/>
                </a:solidFill>
                <a:latin typeface="Arial"/>
                <a:ea typeface="Arial"/>
                <a:cs typeface="Arial"/>
                <a:sym typeface="Arial"/>
              </a:rPr>
              <a:t>DRIVER</a:t>
            </a:r>
            <a:endParaRPr sz="800">
              <a:solidFill>
                <a:schemeClr val="dk1"/>
              </a:solidFill>
              <a:latin typeface="Calibri"/>
              <a:ea typeface="Calibri"/>
              <a:cs typeface="Calibri"/>
              <a:sym typeface="Calibri"/>
            </a:endParaRPr>
          </a:p>
        </p:txBody>
      </p:sp>
      <p:sp>
        <p:nvSpPr>
          <p:cNvPr id="3582" name="Google Shape;3582;p128"/>
          <p:cNvSpPr/>
          <p:nvPr/>
        </p:nvSpPr>
        <p:spPr>
          <a:xfrm>
            <a:off x="2455295" y="3031236"/>
            <a:ext cx="1385400" cy="233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900"/>
              <a:buFont typeface="Arial"/>
              <a:buNone/>
            </a:pPr>
            <a:r>
              <a:rPr i="1" lang="en-GB" sz="900">
                <a:solidFill>
                  <a:srgbClr val="94A3B8"/>
                </a:solidFill>
                <a:latin typeface="Arial"/>
                <a:ea typeface="Arial"/>
                <a:cs typeface="Arial"/>
                <a:sym typeface="Arial"/>
              </a:rPr>
              <a:t>[ Name ]</a:t>
            </a:r>
            <a:endParaRPr sz="900">
              <a:solidFill>
                <a:schemeClr val="dk1"/>
              </a:solidFill>
              <a:latin typeface="Calibri"/>
              <a:ea typeface="Calibri"/>
              <a:cs typeface="Calibri"/>
              <a:sym typeface="Calibri"/>
            </a:endParaRPr>
          </a:p>
        </p:txBody>
      </p:sp>
      <p:sp>
        <p:nvSpPr>
          <p:cNvPr id="3583" name="Google Shape;3583;p128"/>
          <p:cNvSpPr/>
          <p:nvPr/>
        </p:nvSpPr>
        <p:spPr>
          <a:xfrm>
            <a:off x="4389354" y="1337310"/>
            <a:ext cx="4343400" cy="2331600"/>
          </a:xfrm>
          <a:prstGeom prst="roundRect">
            <a:avLst>
              <a:gd fmla="val 3529" name="adj"/>
            </a:avLst>
          </a:prstGeom>
          <a:solidFill>
            <a:srgbClr val="F5F7FA"/>
          </a:solidFill>
          <a:ln>
            <a:noFill/>
          </a:ln>
          <a:effectLst>
            <a:outerShdw blurRad="101600" rotWithShape="0" algn="bl" dir="5400000" dist="38100">
              <a:srgbClr val="1C2B3E">
                <a:alpha val="1019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584" name="Google Shape;3584;p128"/>
          <p:cNvSpPr/>
          <p:nvPr/>
        </p:nvSpPr>
        <p:spPr>
          <a:xfrm>
            <a:off x="4553955" y="1460754"/>
            <a:ext cx="40143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800"/>
              <a:buFont typeface="Arial"/>
              <a:buNone/>
            </a:pPr>
            <a:r>
              <a:rPr b="1" lang="en-GB" sz="800">
                <a:solidFill>
                  <a:srgbClr val="94A3B8"/>
                </a:solidFill>
                <a:latin typeface="Arial"/>
                <a:ea typeface="Arial"/>
                <a:cs typeface="Arial"/>
                <a:sym typeface="Arial"/>
              </a:rPr>
              <a:t>ROSTER</a:t>
            </a:r>
            <a:endParaRPr sz="800">
              <a:solidFill>
                <a:schemeClr val="dk1"/>
              </a:solidFill>
              <a:latin typeface="Calibri"/>
              <a:ea typeface="Calibri"/>
              <a:cs typeface="Calibri"/>
              <a:sym typeface="Calibri"/>
            </a:endParaRPr>
          </a:p>
        </p:txBody>
      </p:sp>
      <p:sp>
        <p:nvSpPr>
          <p:cNvPr id="3585" name="Google Shape;3585;p128"/>
          <p:cNvSpPr/>
          <p:nvPr/>
        </p:nvSpPr>
        <p:spPr>
          <a:xfrm>
            <a:off x="5006607" y="1721358"/>
            <a:ext cx="849300" cy="20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B7D"/>
              </a:buClr>
              <a:buSzPts val="800"/>
              <a:buFont typeface="Arial"/>
              <a:buNone/>
            </a:pPr>
            <a:r>
              <a:rPr b="1" lang="en-GB" sz="800">
                <a:solidFill>
                  <a:srgbClr val="5B6B7D"/>
                </a:solidFill>
                <a:latin typeface="Arial"/>
                <a:ea typeface="Arial"/>
                <a:cs typeface="Arial"/>
                <a:sym typeface="Arial"/>
              </a:rPr>
              <a:t>Sales</a:t>
            </a:r>
            <a:endParaRPr sz="800">
              <a:solidFill>
                <a:schemeClr val="dk1"/>
              </a:solidFill>
              <a:latin typeface="Calibri"/>
              <a:ea typeface="Calibri"/>
              <a:cs typeface="Calibri"/>
              <a:sym typeface="Calibri"/>
            </a:endParaRPr>
          </a:p>
        </p:txBody>
      </p:sp>
      <p:sp>
        <p:nvSpPr>
          <p:cNvPr id="3586" name="Google Shape;3586;p128"/>
          <p:cNvSpPr/>
          <p:nvPr/>
        </p:nvSpPr>
        <p:spPr>
          <a:xfrm>
            <a:off x="5855844" y="1721358"/>
            <a:ext cx="849300" cy="20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B7D"/>
              </a:buClr>
              <a:buSzPts val="800"/>
              <a:buFont typeface="Arial"/>
              <a:buNone/>
            </a:pPr>
            <a:r>
              <a:rPr b="1" lang="en-GB" sz="800">
                <a:solidFill>
                  <a:srgbClr val="5B6B7D"/>
                </a:solidFill>
                <a:latin typeface="Arial"/>
                <a:ea typeface="Arial"/>
                <a:cs typeface="Arial"/>
                <a:sym typeface="Arial"/>
              </a:rPr>
              <a:t>Credit</a:t>
            </a:r>
            <a:endParaRPr sz="800">
              <a:solidFill>
                <a:schemeClr val="dk1"/>
              </a:solidFill>
              <a:latin typeface="Calibri"/>
              <a:ea typeface="Calibri"/>
              <a:cs typeface="Calibri"/>
              <a:sym typeface="Calibri"/>
            </a:endParaRPr>
          </a:p>
        </p:txBody>
      </p:sp>
      <p:sp>
        <p:nvSpPr>
          <p:cNvPr id="3587" name="Google Shape;3587;p128"/>
          <p:cNvSpPr/>
          <p:nvPr/>
        </p:nvSpPr>
        <p:spPr>
          <a:xfrm>
            <a:off x="6705081" y="1721358"/>
            <a:ext cx="849300" cy="20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B7D"/>
              </a:buClr>
              <a:buSzPts val="800"/>
              <a:buFont typeface="Arial"/>
              <a:buNone/>
            </a:pPr>
            <a:r>
              <a:rPr b="1" lang="en-GB" sz="800">
                <a:solidFill>
                  <a:srgbClr val="5B6B7D"/>
                </a:solidFill>
                <a:latin typeface="Arial"/>
                <a:ea typeface="Arial"/>
                <a:cs typeface="Arial"/>
                <a:sym typeface="Arial"/>
              </a:rPr>
              <a:t>Logistics</a:t>
            </a:r>
            <a:endParaRPr sz="800">
              <a:solidFill>
                <a:schemeClr val="dk1"/>
              </a:solidFill>
              <a:latin typeface="Calibri"/>
              <a:ea typeface="Calibri"/>
              <a:cs typeface="Calibri"/>
              <a:sym typeface="Calibri"/>
            </a:endParaRPr>
          </a:p>
        </p:txBody>
      </p:sp>
      <p:sp>
        <p:nvSpPr>
          <p:cNvPr id="3588" name="Google Shape;3588;p128"/>
          <p:cNvSpPr/>
          <p:nvPr/>
        </p:nvSpPr>
        <p:spPr>
          <a:xfrm>
            <a:off x="7554318" y="1721358"/>
            <a:ext cx="849300" cy="20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B7D"/>
              </a:buClr>
              <a:buSzPts val="800"/>
              <a:buFont typeface="Arial"/>
              <a:buNone/>
            </a:pPr>
            <a:r>
              <a:rPr b="1" lang="en-GB" sz="800">
                <a:solidFill>
                  <a:srgbClr val="5B6B7D"/>
                </a:solidFill>
                <a:latin typeface="Arial"/>
                <a:ea typeface="Arial"/>
                <a:cs typeface="Arial"/>
                <a:sym typeface="Arial"/>
              </a:rPr>
              <a:t>Driver</a:t>
            </a:r>
            <a:endParaRPr sz="800">
              <a:solidFill>
                <a:schemeClr val="dk1"/>
              </a:solidFill>
              <a:latin typeface="Calibri"/>
              <a:ea typeface="Calibri"/>
              <a:cs typeface="Calibri"/>
              <a:sym typeface="Calibri"/>
            </a:endParaRPr>
          </a:p>
        </p:txBody>
      </p:sp>
      <p:sp>
        <p:nvSpPr>
          <p:cNvPr id="3589" name="Google Shape;3589;p128"/>
          <p:cNvSpPr/>
          <p:nvPr/>
        </p:nvSpPr>
        <p:spPr>
          <a:xfrm>
            <a:off x="4512805" y="1968246"/>
            <a:ext cx="4096500" cy="342900"/>
          </a:xfrm>
          <a:prstGeom prst="roundRect">
            <a:avLst>
              <a:gd fmla="val 12000" name="adj"/>
            </a:avLst>
          </a:pr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590" name="Google Shape;3590;p128"/>
          <p:cNvSpPr/>
          <p:nvPr/>
        </p:nvSpPr>
        <p:spPr>
          <a:xfrm>
            <a:off x="4595105" y="1968246"/>
            <a:ext cx="48000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800"/>
              <a:buFont typeface="Arial"/>
              <a:buNone/>
            </a:pPr>
            <a:r>
              <a:rPr b="1" lang="en-GB" sz="800">
                <a:solidFill>
                  <a:srgbClr val="1C2B3E"/>
                </a:solidFill>
                <a:latin typeface="Arial"/>
                <a:ea typeface="Arial"/>
                <a:cs typeface="Arial"/>
                <a:sym typeface="Arial"/>
              </a:rPr>
              <a:t>Team A</a:t>
            </a:r>
            <a:endParaRPr sz="800">
              <a:solidFill>
                <a:schemeClr val="dk1"/>
              </a:solidFill>
              <a:latin typeface="Calibri"/>
              <a:ea typeface="Calibri"/>
              <a:cs typeface="Calibri"/>
              <a:sym typeface="Calibri"/>
            </a:endParaRPr>
          </a:p>
        </p:txBody>
      </p:sp>
      <p:sp>
        <p:nvSpPr>
          <p:cNvPr id="3591" name="Google Shape;3591;p128"/>
          <p:cNvSpPr/>
          <p:nvPr/>
        </p:nvSpPr>
        <p:spPr>
          <a:xfrm>
            <a:off x="5006607" y="1968246"/>
            <a:ext cx="8493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800"/>
              <a:buFont typeface="Arial"/>
              <a:buNone/>
            </a:pPr>
            <a:r>
              <a:rPr i="1" lang="en-GB" sz="800">
                <a:solidFill>
                  <a:srgbClr val="94A3B8"/>
                </a:solidFill>
                <a:latin typeface="Arial"/>
                <a:ea typeface="Arial"/>
                <a:cs typeface="Arial"/>
                <a:sym typeface="Arial"/>
              </a:rPr>
              <a:t>[ Name ]</a:t>
            </a:r>
            <a:endParaRPr sz="800">
              <a:solidFill>
                <a:schemeClr val="dk1"/>
              </a:solidFill>
              <a:latin typeface="Calibri"/>
              <a:ea typeface="Calibri"/>
              <a:cs typeface="Calibri"/>
              <a:sym typeface="Calibri"/>
            </a:endParaRPr>
          </a:p>
        </p:txBody>
      </p:sp>
      <p:sp>
        <p:nvSpPr>
          <p:cNvPr id="3592" name="Google Shape;3592;p128"/>
          <p:cNvSpPr/>
          <p:nvPr/>
        </p:nvSpPr>
        <p:spPr>
          <a:xfrm>
            <a:off x="5855844" y="1968246"/>
            <a:ext cx="8493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800"/>
              <a:buFont typeface="Arial"/>
              <a:buNone/>
            </a:pPr>
            <a:r>
              <a:rPr i="1" lang="en-GB" sz="800">
                <a:solidFill>
                  <a:srgbClr val="94A3B8"/>
                </a:solidFill>
                <a:latin typeface="Arial"/>
                <a:ea typeface="Arial"/>
                <a:cs typeface="Arial"/>
                <a:sym typeface="Arial"/>
              </a:rPr>
              <a:t>[ Name ]</a:t>
            </a:r>
            <a:endParaRPr sz="800">
              <a:solidFill>
                <a:schemeClr val="dk1"/>
              </a:solidFill>
              <a:latin typeface="Calibri"/>
              <a:ea typeface="Calibri"/>
              <a:cs typeface="Calibri"/>
              <a:sym typeface="Calibri"/>
            </a:endParaRPr>
          </a:p>
        </p:txBody>
      </p:sp>
      <p:sp>
        <p:nvSpPr>
          <p:cNvPr id="3593" name="Google Shape;3593;p128"/>
          <p:cNvSpPr/>
          <p:nvPr/>
        </p:nvSpPr>
        <p:spPr>
          <a:xfrm>
            <a:off x="6705081" y="1968246"/>
            <a:ext cx="8493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800"/>
              <a:buFont typeface="Arial"/>
              <a:buNone/>
            </a:pPr>
            <a:r>
              <a:rPr i="1" lang="en-GB" sz="800">
                <a:solidFill>
                  <a:srgbClr val="94A3B8"/>
                </a:solidFill>
                <a:latin typeface="Arial"/>
                <a:ea typeface="Arial"/>
                <a:cs typeface="Arial"/>
                <a:sym typeface="Arial"/>
              </a:rPr>
              <a:t>[ Name ]</a:t>
            </a:r>
            <a:endParaRPr sz="800">
              <a:solidFill>
                <a:schemeClr val="dk1"/>
              </a:solidFill>
              <a:latin typeface="Calibri"/>
              <a:ea typeface="Calibri"/>
              <a:cs typeface="Calibri"/>
              <a:sym typeface="Calibri"/>
            </a:endParaRPr>
          </a:p>
        </p:txBody>
      </p:sp>
      <p:sp>
        <p:nvSpPr>
          <p:cNvPr id="3594" name="Google Shape;3594;p128"/>
          <p:cNvSpPr/>
          <p:nvPr/>
        </p:nvSpPr>
        <p:spPr>
          <a:xfrm>
            <a:off x="7554318" y="1968246"/>
            <a:ext cx="8493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800"/>
              <a:buFont typeface="Arial"/>
              <a:buNone/>
            </a:pPr>
            <a:r>
              <a:rPr i="1" lang="en-GB" sz="800">
                <a:solidFill>
                  <a:srgbClr val="94A3B8"/>
                </a:solidFill>
                <a:latin typeface="Arial"/>
                <a:ea typeface="Arial"/>
                <a:cs typeface="Arial"/>
                <a:sym typeface="Arial"/>
              </a:rPr>
              <a:t>[ Name ]</a:t>
            </a:r>
            <a:endParaRPr sz="800">
              <a:solidFill>
                <a:schemeClr val="dk1"/>
              </a:solidFill>
              <a:latin typeface="Calibri"/>
              <a:ea typeface="Calibri"/>
              <a:cs typeface="Calibri"/>
              <a:sym typeface="Calibri"/>
            </a:endParaRPr>
          </a:p>
        </p:txBody>
      </p:sp>
      <p:sp>
        <p:nvSpPr>
          <p:cNvPr id="3595" name="Google Shape;3595;p128"/>
          <p:cNvSpPr/>
          <p:nvPr/>
        </p:nvSpPr>
        <p:spPr>
          <a:xfrm>
            <a:off x="4595105" y="2352294"/>
            <a:ext cx="48000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800"/>
              <a:buFont typeface="Arial"/>
              <a:buNone/>
            </a:pPr>
            <a:r>
              <a:rPr b="1" lang="en-GB" sz="800">
                <a:solidFill>
                  <a:srgbClr val="1C2B3E"/>
                </a:solidFill>
                <a:latin typeface="Arial"/>
                <a:ea typeface="Arial"/>
                <a:cs typeface="Arial"/>
                <a:sym typeface="Arial"/>
              </a:rPr>
              <a:t>Team B</a:t>
            </a:r>
            <a:endParaRPr sz="800">
              <a:solidFill>
                <a:schemeClr val="dk1"/>
              </a:solidFill>
              <a:latin typeface="Calibri"/>
              <a:ea typeface="Calibri"/>
              <a:cs typeface="Calibri"/>
              <a:sym typeface="Calibri"/>
            </a:endParaRPr>
          </a:p>
        </p:txBody>
      </p:sp>
      <p:sp>
        <p:nvSpPr>
          <p:cNvPr id="3596" name="Google Shape;3596;p128"/>
          <p:cNvSpPr/>
          <p:nvPr/>
        </p:nvSpPr>
        <p:spPr>
          <a:xfrm>
            <a:off x="5006607" y="2352294"/>
            <a:ext cx="8493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800"/>
              <a:buFont typeface="Arial"/>
              <a:buNone/>
            </a:pPr>
            <a:r>
              <a:rPr i="1" lang="en-GB" sz="800">
                <a:solidFill>
                  <a:srgbClr val="94A3B8"/>
                </a:solidFill>
                <a:latin typeface="Arial"/>
                <a:ea typeface="Arial"/>
                <a:cs typeface="Arial"/>
                <a:sym typeface="Arial"/>
              </a:rPr>
              <a:t>[ Name ]</a:t>
            </a:r>
            <a:endParaRPr sz="800">
              <a:solidFill>
                <a:schemeClr val="dk1"/>
              </a:solidFill>
              <a:latin typeface="Calibri"/>
              <a:ea typeface="Calibri"/>
              <a:cs typeface="Calibri"/>
              <a:sym typeface="Calibri"/>
            </a:endParaRPr>
          </a:p>
        </p:txBody>
      </p:sp>
      <p:sp>
        <p:nvSpPr>
          <p:cNvPr id="3597" name="Google Shape;3597;p128"/>
          <p:cNvSpPr/>
          <p:nvPr/>
        </p:nvSpPr>
        <p:spPr>
          <a:xfrm>
            <a:off x="5855844" y="2352294"/>
            <a:ext cx="8493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800"/>
              <a:buFont typeface="Arial"/>
              <a:buNone/>
            </a:pPr>
            <a:r>
              <a:rPr i="1" lang="en-GB" sz="800">
                <a:solidFill>
                  <a:srgbClr val="94A3B8"/>
                </a:solidFill>
                <a:latin typeface="Arial"/>
                <a:ea typeface="Arial"/>
                <a:cs typeface="Arial"/>
                <a:sym typeface="Arial"/>
              </a:rPr>
              <a:t>[ Name ]</a:t>
            </a:r>
            <a:endParaRPr sz="800">
              <a:solidFill>
                <a:schemeClr val="dk1"/>
              </a:solidFill>
              <a:latin typeface="Calibri"/>
              <a:ea typeface="Calibri"/>
              <a:cs typeface="Calibri"/>
              <a:sym typeface="Calibri"/>
            </a:endParaRPr>
          </a:p>
        </p:txBody>
      </p:sp>
      <p:sp>
        <p:nvSpPr>
          <p:cNvPr id="3598" name="Google Shape;3598;p128"/>
          <p:cNvSpPr/>
          <p:nvPr/>
        </p:nvSpPr>
        <p:spPr>
          <a:xfrm>
            <a:off x="6705081" y="2352294"/>
            <a:ext cx="8493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800"/>
              <a:buFont typeface="Arial"/>
              <a:buNone/>
            </a:pPr>
            <a:r>
              <a:rPr i="1" lang="en-GB" sz="800">
                <a:solidFill>
                  <a:srgbClr val="94A3B8"/>
                </a:solidFill>
                <a:latin typeface="Arial"/>
                <a:ea typeface="Arial"/>
                <a:cs typeface="Arial"/>
                <a:sym typeface="Arial"/>
              </a:rPr>
              <a:t>[ Name ]</a:t>
            </a:r>
            <a:endParaRPr sz="800">
              <a:solidFill>
                <a:schemeClr val="dk1"/>
              </a:solidFill>
              <a:latin typeface="Calibri"/>
              <a:ea typeface="Calibri"/>
              <a:cs typeface="Calibri"/>
              <a:sym typeface="Calibri"/>
            </a:endParaRPr>
          </a:p>
        </p:txBody>
      </p:sp>
      <p:sp>
        <p:nvSpPr>
          <p:cNvPr id="3599" name="Google Shape;3599;p128"/>
          <p:cNvSpPr/>
          <p:nvPr/>
        </p:nvSpPr>
        <p:spPr>
          <a:xfrm>
            <a:off x="7554318" y="2352294"/>
            <a:ext cx="8493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800"/>
              <a:buFont typeface="Arial"/>
              <a:buNone/>
            </a:pPr>
            <a:r>
              <a:rPr i="1" lang="en-GB" sz="800">
                <a:solidFill>
                  <a:srgbClr val="94A3B8"/>
                </a:solidFill>
                <a:latin typeface="Arial"/>
                <a:ea typeface="Arial"/>
                <a:cs typeface="Arial"/>
                <a:sym typeface="Arial"/>
              </a:rPr>
              <a:t>[ Name ]</a:t>
            </a:r>
            <a:endParaRPr sz="800">
              <a:solidFill>
                <a:schemeClr val="dk1"/>
              </a:solidFill>
              <a:latin typeface="Calibri"/>
              <a:ea typeface="Calibri"/>
              <a:cs typeface="Calibri"/>
              <a:sym typeface="Calibri"/>
            </a:endParaRPr>
          </a:p>
        </p:txBody>
      </p:sp>
      <p:sp>
        <p:nvSpPr>
          <p:cNvPr id="3600" name="Google Shape;3600;p128"/>
          <p:cNvSpPr/>
          <p:nvPr/>
        </p:nvSpPr>
        <p:spPr>
          <a:xfrm>
            <a:off x="4512805" y="2736342"/>
            <a:ext cx="4096500" cy="342900"/>
          </a:xfrm>
          <a:prstGeom prst="roundRect">
            <a:avLst>
              <a:gd fmla="val 12000" name="adj"/>
            </a:avLst>
          </a:pr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601" name="Google Shape;3601;p128"/>
          <p:cNvSpPr/>
          <p:nvPr/>
        </p:nvSpPr>
        <p:spPr>
          <a:xfrm>
            <a:off x="4595105" y="2736342"/>
            <a:ext cx="48000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800"/>
              <a:buFont typeface="Arial"/>
              <a:buNone/>
            </a:pPr>
            <a:r>
              <a:rPr b="1" lang="en-GB" sz="800">
                <a:solidFill>
                  <a:srgbClr val="1C2B3E"/>
                </a:solidFill>
                <a:latin typeface="Arial"/>
                <a:ea typeface="Arial"/>
                <a:cs typeface="Arial"/>
                <a:sym typeface="Arial"/>
              </a:rPr>
              <a:t>Team C</a:t>
            </a:r>
            <a:endParaRPr sz="800">
              <a:solidFill>
                <a:schemeClr val="dk1"/>
              </a:solidFill>
              <a:latin typeface="Calibri"/>
              <a:ea typeface="Calibri"/>
              <a:cs typeface="Calibri"/>
              <a:sym typeface="Calibri"/>
            </a:endParaRPr>
          </a:p>
        </p:txBody>
      </p:sp>
      <p:sp>
        <p:nvSpPr>
          <p:cNvPr id="3602" name="Google Shape;3602;p128"/>
          <p:cNvSpPr/>
          <p:nvPr/>
        </p:nvSpPr>
        <p:spPr>
          <a:xfrm>
            <a:off x="5006607" y="2736342"/>
            <a:ext cx="8493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800"/>
              <a:buFont typeface="Arial"/>
              <a:buNone/>
            </a:pPr>
            <a:r>
              <a:rPr i="1" lang="en-GB" sz="800">
                <a:solidFill>
                  <a:srgbClr val="94A3B8"/>
                </a:solidFill>
                <a:latin typeface="Arial"/>
                <a:ea typeface="Arial"/>
                <a:cs typeface="Arial"/>
                <a:sym typeface="Arial"/>
              </a:rPr>
              <a:t>[ Name ]</a:t>
            </a:r>
            <a:endParaRPr sz="800">
              <a:solidFill>
                <a:schemeClr val="dk1"/>
              </a:solidFill>
              <a:latin typeface="Calibri"/>
              <a:ea typeface="Calibri"/>
              <a:cs typeface="Calibri"/>
              <a:sym typeface="Calibri"/>
            </a:endParaRPr>
          </a:p>
        </p:txBody>
      </p:sp>
      <p:sp>
        <p:nvSpPr>
          <p:cNvPr id="3603" name="Google Shape;3603;p128"/>
          <p:cNvSpPr/>
          <p:nvPr/>
        </p:nvSpPr>
        <p:spPr>
          <a:xfrm>
            <a:off x="5855844" y="2736342"/>
            <a:ext cx="8493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800"/>
              <a:buFont typeface="Arial"/>
              <a:buNone/>
            </a:pPr>
            <a:r>
              <a:rPr i="1" lang="en-GB" sz="800">
                <a:solidFill>
                  <a:srgbClr val="94A3B8"/>
                </a:solidFill>
                <a:latin typeface="Arial"/>
                <a:ea typeface="Arial"/>
                <a:cs typeface="Arial"/>
                <a:sym typeface="Arial"/>
              </a:rPr>
              <a:t>[ Name ]</a:t>
            </a:r>
            <a:endParaRPr sz="800">
              <a:solidFill>
                <a:schemeClr val="dk1"/>
              </a:solidFill>
              <a:latin typeface="Calibri"/>
              <a:ea typeface="Calibri"/>
              <a:cs typeface="Calibri"/>
              <a:sym typeface="Calibri"/>
            </a:endParaRPr>
          </a:p>
        </p:txBody>
      </p:sp>
      <p:sp>
        <p:nvSpPr>
          <p:cNvPr id="3604" name="Google Shape;3604;p128"/>
          <p:cNvSpPr/>
          <p:nvPr/>
        </p:nvSpPr>
        <p:spPr>
          <a:xfrm>
            <a:off x="6705081" y="2736342"/>
            <a:ext cx="8493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800"/>
              <a:buFont typeface="Arial"/>
              <a:buNone/>
            </a:pPr>
            <a:r>
              <a:rPr i="1" lang="en-GB" sz="800">
                <a:solidFill>
                  <a:srgbClr val="94A3B8"/>
                </a:solidFill>
                <a:latin typeface="Arial"/>
                <a:ea typeface="Arial"/>
                <a:cs typeface="Arial"/>
                <a:sym typeface="Arial"/>
              </a:rPr>
              <a:t>[ Name ]</a:t>
            </a:r>
            <a:endParaRPr sz="800">
              <a:solidFill>
                <a:schemeClr val="dk1"/>
              </a:solidFill>
              <a:latin typeface="Calibri"/>
              <a:ea typeface="Calibri"/>
              <a:cs typeface="Calibri"/>
              <a:sym typeface="Calibri"/>
            </a:endParaRPr>
          </a:p>
        </p:txBody>
      </p:sp>
      <p:sp>
        <p:nvSpPr>
          <p:cNvPr id="3605" name="Google Shape;3605;p128"/>
          <p:cNvSpPr/>
          <p:nvPr/>
        </p:nvSpPr>
        <p:spPr>
          <a:xfrm>
            <a:off x="7554318" y="2736342"/>
            <a:ext cx="8493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800"/>
              <a:buFont typeface="Arial"/>
              <a:buNone/>
            </a:pPr>
            <a:r>
              <a:rPr i="1" lang="en-GB" sz="800">
                <a:solidFill>
                  <a:srgbClr val="94A3B8"/>
                </a:solidFill>
                <a:latin typeface="Arial"/>
                <a:ea typeface="Arial"/>
                <a:cs typeface="Arial"/>
                <a:sym typeface="Arial"/>
              </a:rPr>
              <a:t>[ Name ]</a:t>
            </a:r>
            <a:endParaRPr sz="800">
              <a:solidFill>
                <a:schemeClr val="dk1"/>
              </a:solidFill>
              <a:latin typeface="Calibri"/>
              <a:ea typeface="Calibri"/>
              <a:cs typeface="Calibri"/>
              <a:sym typeface="Calibri"/>
            </a:endParaRPr>
          </a:p>
        </p:txBody>
      </p:sp>
      <p:sp>
        <p:nvSpPr>
          <p:cNvPr id="3606" name="Google Shape;3606;p128"/>
          <p:cNvSpPr/>
          <p:nvPr/>
        </p:nvSpPr>
        <p:spPr>
          <a:xfrm>
            <a:off x="4595105" y="3120390"/>
            <a:ext cx="48000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800"/>
              <a:buFont typeface="Arial"/>
              <a:buNone/>
            </a:pPr>
            <a:r>
              <a:rPr b="1" lang="en-GB" sz="800">
                <a:solidFill>
                  <a:srgbClr val="1C2B3E"/>
                </a:solidFill>
                <a:latin typeface="Arial"/>
                <a:ea typeface="Arial"/>
                <a:cs typeface="Arial"/>
                <a:sym typeface="Arial"/>
              </a:rPr>
              <a:t>Team D</a:t>
            </a:r>
            <a:endParaRPr sz="800">
              <a:solidFill>
                <a:schemeClr val="dk1"/>
              </a:solidFill>
              <a:latin typeface="Calibri"/>
              <a:ea typeface="Calibri"/>
              <a:cs typeface="Calibri"/>
              <a:sym typeface="Calibri"/>
            </a:endParaRPr>
          </a:p>
        </p:txBody>
      </p:sp>
      <p:sp>
        <p:nvSpPr>
          <p:cNvPr id="3607" name="Google Shape;3607;p128"/>
          <p:cNvSpPr/>
          <p:nvPr/>
        </p:nvSpPr>
        <p:spPr>
          <a:xfrm>
            <a:off x="5006607" y="3120390"/>
            <a:ext cx="8493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800"/>
              <a:buFont typeface="Arial"/>
              <a:buNone/>
            </a:pPr>
            <a:r>
              <a:rPr i="1" lang="en-GB" sz="800">
                <a:solidFill>
                  <a:srgbClr val="94A3B8"/>
                </a:solidFill>
                <a:latin typeface="Arial"/>
                <a:ea typeface="Arial"/>
                <a:cs typeface="Arial"/>
                <a:sym typeface="Arial"/>
              </a:rPr>
              <a:t>[ Name ]</a:t>
            </a:r>
            <a:endParaRPr sz="800">
              <a:solidFill>
                <a:schemeClr val="dk1"/>
              </a:solidFill>
              <a:latin typeface="Calibri"/>
              <a:ea typeface="Calibri"/>
              <a:cs typeface="Calibri"/>
              <a:sym typeface="Calibri"/>
            </a:endParaRPr>
          </a:p>
        </p:txBody>
      </p:sp>
      <p:sp>
        <p:nvSpPr>
          <p:cNvPr id="3608" name="Google Shape;3608;p128"/>
          <p:cNvSpPr/>
          <p:nvPr/>
        </p:nvSpPr>
        <p:spPr>
          <a:xfrm>
            <a:off x="5855844" y="3120390"/>
            <a:ext cx="8493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800"/>
              <a:buFont typeface="Arial"/>
              <a:buNone/>
            </a:pPr>
            <a:r>
              <a:rPr i="1" lang="en-GB" sz="800">
                <a:solidFill>
                  <a:srgbClr val="94A3B8"/>
                </a:solidFill>
                <a:latin typeface="Arial"/>
                <a:ea typeface="Arial"/>
                <a:cs typeface="Arial"/>
                <a:sym typeface="Arial"/>
              </a:rPr>
              <a:t>[ Name ]</a:t>
            </a:r>
            <a:endParaRPr sz="800">
              <a:solidFill>
                <a:schemeClr val="dk1"/>
              </a:solidFill>
              <a:latin typeface="Calibri"/>
              <a:ea typeface="Calibri"/>
              <a:cs typeface="Calibri"/>
              <a:sym typeface="Calibri"/>
            </a:endParaRPr>
          </a:p>
        </p:txBody>
      </p:sp>
      <p:sp>
        <p:nvSpPr>
          <p:cNvPr id="3609" name="Google Shape;3609;p128"/>
          <p:cNvSpPr/>
          <p:nvPr/>
        </p:nvSpPr>
        <p:spPr>
          <a:xfrm>
            <a:off x="6705081" y="3120390"/>
            <a:ext cx="8493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800"/>
              <a:buFont typeface="Arial"/>
              <a:buNone/>
            </a:pPr>
            <a:r>
              <a:rPr i="1" lang="en-GB" sz="800">
                <a:solidFill>
                  <a:srgbClr val="94A3B8"/>
                </a:solidFill>
                <a:latin typeface="Arial"/>
                <a:ea typeface="Arial"/>
                <a:cs typeface="Arial"/>
                <a:sym typeface="Arial"/>
              </a:rPr>
              <a:t>[ Name ]</a:t>
            </a:r>
            <a:endParaRPr sz="800">
              <a:solidFill>
                <a:schemeClr val="dk1"/>
              </a:solidFill>
              <a:latin typeface="Calibri"/>
              <a:ea typeface="Calibri"/>
              <a:cs typeface="Calibri"/>
              <a:sym typeface="Calibri"/>
            </a:endParaRPr>
          </a:p>
        </p:txBody>
      </p:sp>
      <p:sp>
        <p:nvSpPr>
          <p:cNvPr id="3610" name="Google Shape;3610;p128"/>
          <p:cNvSpPr/>
          <p:nvPr/>
        </p:nvSpPr>
        <p:spPr>
          <a:xfrm>
            <a:off x="7554318" y="3120390"/>
            <a:ext cx="8493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800"/>
              <a:buFont typeface="Arial"/>
              <a:buNone/>
            </a:pPr>
            <a:r>
              <a:rPr i="1" lang="en-GB" sz="800">
                <a:solidFill>
                  <a:srgbClr val="94A3B8"/>
                </a:solidFill>
                <a:latin typeface="Arial"/>
                <a:ea typeface="Arial"/>
                <a:cs typeface="Arial"/>
                <a:sym typeface="Arial"/>
              </a:rPr>
              <a:t>[ Name ]</a:t>
            </a:r>
            <a:endParaRPr sz="800">
              <a:solidFill>
                <a:schemeClr val="dk1"/>
              </a:solidFill>
              <a:latin typeface="Calibri"/>
              <a:ea typeface="Calibri"/>
              <a:cs typeface="Calibri"/>
              <a:sym typeface="Calibri"/>
            </a:endParaRPr>
          </a:p>
        </p:txBody>
      </p:sp>
      <p:sp>
        <p:nvSpPr>
          <p:cNvPr id="3611" name="Google Shape;3611;p128"/>
          <p:cNvSpPr/>
          <p:nvPr/>
        </p:nvSpPr>
        <p:spPr>
          <a:xfrm>
            <a:off x="411500" y="3874774"/>
            <a:ext cx="8321400" cy="733500"/>
          </a:xfrm>
          <a:prstGeom prst="roundRect">
            <a:avLst>
              <a:gd fmla="val 8571" name="adj"/>
            </a:avLst>
          </a:prstGeom>
          <a:solidFill>
            <a:srgbClr val="FBEBD9"/>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612" name="Google Shape;3612;p128"/>
          <p:cNvSpPr/>
          <p:nvPr/>
        </p:nvSpPr>
        <p:spPr>
          <a:xfrm>
            <a:off x="562376" y="4011925"/>
            <a:ext cx="205800" cy="205800"/>
          </a:xfrm>
          <a:prstGeom prst="roundRect">
            <a:avLst>
              <a:gd fmla="val 22000" name="adj"/>
            </a:avLst>
          </a:prstGeom>
          <a:solidFill>
            <a:srgbClr val="E8821E"/>
          </a:solidFill>
          <a:ln>
            <a:noFill/>
          </a:ln>
        </p:spPr>
        <p:txBody>
          <a:bodyPr anchorCtr="0" anchor="t" bIns="22350" lIns="44750" spcFirstLastPara="1" rIns="44750" wrap="square" tIns="22350">
            <a:noAutofit/>
          </a:bodyPr>
          <a:lstStyle/>
          <a:p>
            <a:pPr indent="0" lvl="0" marL="0" marR="0" rtl="0" algn="l">
              <a:spcBef>
                <a:spcPts val="0"/>
              </a:spcBef>
              <a:spcAft>
                <a:spcPts val="0"/>
              </a:spcAft>
              <a:buNone/>
            </a:pPr>
            <a:r>
              <a:t/>
            </a:r>
            <a:endParaRPr sz="913">
              <a:solidFill>
                <a:schemeClr val="dk1"/>
              </a:solidFill>
              <a:latin typeface="Calibri"/>
              <a:ea typeface="Calibri"/>
              <a:cs typeface="Calibri"/>
              <a:sym typeface="Calibri"/>
            </a:endParaRPr>
          </a:p>
        </p:txBody>
      </p:sp>
      <p:pic>
        <p:nvPicPr>
          <p:cNvPr descr="/home/claude/maia/icons/FiHash_white.png" id="3613" name="Google Shape;3613;p128"/>
          <p:cNvPicPr preferRelativeResize="0"/>
          <p:nvPr/>
        </p:nvPicPr>
        <p:blipFill rotWithShape="1">
          <a:blip r:embed="rId7">
            <a:alphaModFix/>
          </a:blip>
          <a:srcRect b="0" l="0" r="0" t="0"/>
          <a:stretch/>
        </p:blipFill>
        <p:spPr>
          <a:xfrm>
            <a:off x="608690" y="4058236"/>
            <a:ext cx="113203" cy="113203"/>
          </a:xfrm>
          <a:prstGeom prst="rect">
            <a:avLst/>
          </a:prstGeom>
          <a:noFill/>
          <a:ln>
            <a:noFill/>
          </a:ln>
        </p:spPr>
      </p:pic>
      <p:sp>
        <p:nvSpPr>
          <p:cNvPr id="3614" name="Google Shape;3614;p128"/>
          <p:cNvSpPr/>
          <p:nvPr/>
        </p:nvSpPr>
        <p:spPr>
          <a:xfrm>
            <a:off x="828004" y="3998214"/>
            <a:ext cx="7566900" cy="233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1000"/>
              <a:buFont typeface="Arial"/>
              <a:buNone/>
            </a:pPr>
            <a:r>
              <a:rPr b="1" lang="en-GB" sz="1000">
                <a:solidFill>
                  <a:srgbClr val="1C2B3E"/>
                </a:solidFill>
              </a:rPr>
              <a:t>N</a:t>
            </a:r>
            <a:r>
              <a:rPr b="1" lang="en-GB" sz="1000">
                <a:solidFill>
                  <a:srgbClr val="1C2B3E"/>
                </a:solidFill>
                <a:latin typeface="Arial"/>
                <a:ea typeface="Arial"/>
                <a:cs typeface="Arial"/>
                <a:sym typeface="Arial"/>
              </a:rPr>
              <a:t>aming convention</a:t>
            </a:r>
            <a:endParaRPr sz="1000">
              <a:solidFill>
                <a:schemeClr val="dk1"/>
              </a:solidFill>
              <a:latin typeface="Calibri"/>
              <a:ea typeface="Calibri"/>
              <a:cs typeface="Calibri"/>
              <a:sym typeface="Calibri"/>
            </a:endParaRPr>
          </a:p>
        </p:txBody>
      </p:sp>
      <p:sp>
        <p:nvSpPr>
          <p:cNvPr id="3615" name="Google Shape;3615;p128"/>
          <p:cNvSpPr/>
          <p:nvPr/>
        </p:nvSpPr>
        <p:spPr>
          <a:xfrm>
            <a:off x="562375" y="4307630"/>
            <a:ext cx="8019600" cy="233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B3E"/>
              </a:buClr>
              <a:buSzPts val="900"/>
              <a:buFont typeface="Arial"/>
              <a:buNone/>
            </a:pPr>
            <a:r>
              <a:rPr lang="en-GB" sz="900">
                <a:solidFill>
                  <a:srgbClr val="1C2B3E"/>
                </a:solidFill>
                <a:latin typeface="Arial"/>
                <a:ea typeface="Arial"/>
                <a:cs typeface="Arial"/>
                <a:sym typeface="Arial"/>
              </a:rPr>
              <a:t>Type your team letter (A, B, C…) into the customer reference / notes field when confirming the SO — it helps the facilitator filter documents</a:t>
            </a:r>
            <a:r>
              <a:rPr lang="en-GB" sz="900">
                <a:solidFill>
                  <a:srgbClr val="1C2B3E"/>
                </a:solidFill>
              </a:rPr>
              <a:t>.</a:t>
            </a:r>
            <a:endParaRPr sz="900">
              <a:solidFill>
                <a:schemeClr val="dk1"/>
              </a:solidFill>
              <a:latin typeface="Calibri"/>
              <a:ea typeface="Calibri"/>
              <a:cs typeface="Calibri"/>
              <a:sym typeface="Calibri"/>
            </a:endParaRPr>
          </a:p>
        </p:txBody>
      </p:sp>
      <p:sp>
        <p:nvSpPr>
          <p:cNvPr id="3616" name="Google Shape;3616;p128"/>
          <p:cNvSpPr txBox="1"/>
          <p:nvPr>
            <p:ph idx="12" type="sldNum"/>
          </p:nvPr>
        </p:nvSpPr>
        <p:spPr>
          <a:xfrm>
            <a:off x="8347216" y="4750189"/>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3621" name="Shape 3621"/>
        <p:cNvGrpSpPr/>
        <p:nvPr/>
      </p:nvGrpSpPr>
      <p:grpSpPr>
        <a:xfrm>
          <a:off x="0" y="0"/>
          <a:ext cx="0" cy="0"/>
          <a:chOff x="0" y="0"/>
          <a:chExt cx="0" cy="0"/>
        </a:xfrm>
      </p:grpSpPr>
      <p:sp>
        <p:nvSpPr>
          <p:cNvPr id="3622" name="Google Shape;3622;p129"/>
          <p:cNvSpPr/>
          <p:nvPr/>
        </p:nvSpPr>
        <p:spPr>
          <a:xfrm>
            <a:off x="411502" y="260604"/>
            <a:ext cx="68583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GAME</a:t>
            </a:r>
            <a:endParaRPr sz="800">
              <a:solidFill>
                <a:schemeClr val="dk1"/>
              </a:solidFill>
              <a:latin typeface="Calibri"/>
              <a:ea typeface="Calibri"/>
              <a:cs typeface="Calibri"/>
              <a:sym typeface="Calibri"/>
            </a:endParaRPr>
          </a:p>
        </p:txBody>
      </p:sp>
      <p:sp>
        <p:nvSpPr>
          <p:cNvPr id="3623" name="Google Shape;3623;p129"/>
          <p:cNvSpPr/>
          <p:nvPr/>
        </p:nvSpPr>
        <p:spPr>
          <a:xfrm>
            <a:off x="411502" y="438912"/>
            <a:ext cx="8321400" cy="480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C2B3E"/>
              </a:buClr>
              <a:buSzPts val="2200"/>
              <a:buFont typeface="Arial"/>
              <a:buNone/>
            </a:pPr>
            <a:r>
              <a:rPr b="1" lang="en-GB" sz="2200">
                <a:solidFill>
                  <a:srgbClr val="1C2B3E"/>
                </a:solidFill>
                <a:latin typeface="Poppins"/>
                <a:ea typeface="Poppins"/>
                <a:cs typeface="Poppins"/>
                <a:sym typeface="Poppins"/>
              </a:rPr>
              <a:t>How to score points?</a:t>
            </a:r>
            <a:endParaRPr sz="2200">
              <a:solidFill>
                <a:schemeClr val="dk1"/>
              </a:solidFill>
              <a:latin typeface="Poppins"/>
              <a:ea typeface="Poppins"/>
              <a:cs typeface="Poppins"/>
              <a:sym typeface="Poppins"/>
            </a:endParaRPr>
          </a:p>
        </p:txBody>
      </p:sp>
      <p:sp>
        <p:nvSpPr>
          <p:cNvPr id="3624" name="Google Shape;3624;p129"/>
          <p:cNvSpPr/>
          <p:nvPr/>
        </p:nvSpPr>
        <p:spPr>
          <a:xfrm>
            <a:off x="411502" y="1337310"/>
            <a:ext cx="1565100" cy="1268700"/>
          </a:xfrm>
          <a:prstGeom prst="roundRect">
            <a:avLst>
              <a:gd fmla="val 6486" name="adj"/>
            </a:avLst>
          </a:prstGeom>
          <a:solidFill>
            <a:srgbClr val="F5F7FA"/>
          </a:solidFill>
          <a:ln>
            <a:noFill/>
          </a:ln>
          <a:effectLst>
            <a:outerShdw blurRad="101600" rotWithShape="0" algn="bl" dir="5400000" dist="38100">
              <a:srgbClr val="1C2B3E">
                <a:alpha val="1019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625" name="Google Shape;3625;p129"/>
          <p:cNvSpPr/>
          <p:nvPr/>
        </p:nvSpPr>
        <p:spPr>
          <a:xfrm>
            <a:off x="548669" y="1474470"/>
            <a:ext cx="315600" cy="315600"/>
          </a:xfrm>
          <a:prstGeom prst="ellipse">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626" name="Google Shape;3626;p129"/>
          <p:cNvSpPr/>
          <p:nvPr/>
        </p:nvSpPr>
        <p:spPr>
          <a:xfrm>
            <a:off x="548669" y="1474470"/>
            <a:ext cx="315600" cy="31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lang="en-GB" sz="1100">
                <a:solidFill>
                  <a:srgbClr val="FFFFFF"/>
                </a:solidFill>
                <a:latin typeface="Arial"/>
                <a:ea typeface="Arial"/>
                <a:cs typeface="Arial"/>
                <a:sym typeface="Arial"/>
              </a:rPr>
              <a:t>01</a:t>
            </a:r>
            <a:endParaRPr sz="1100">
              <a:solidFill>
                <a:schemeClr val="dk1"/>
              </a:solidFill>
              <a:latin typeface="Calibri"/>
              <a:ea typeface="Calibri"/>
              <a:cs typeface="Calibri"/>
              <a:sym typeface="Calibri"/>
            </a:endParaRPr>
          </a:p>
        </p:txBody>
      </p:sp>
      <p:sp>
        <p:nvSpPr>
          <p:cNvPr id="3627" name="Google Shape;3627;p129"/>
          <p:cNvSpPr/>
          <p:nvPr/>
        </p:nvSpPr>
        <p:spPr>
          <a:xfrm>
            <a:off x="1523928" y="1474470"/>
            <a:ext cx="315600" cy="315600"/>
          </a:xfrm>
          <a:prstGeom prst="roundRect">
            <a:avLst>
              <a:gd fmla="val 22000" name="adj"/>
            </a:avLst>
          </a:prstGeom>
          <a:solidFill>
            <a:srgbClr val="94A3B8"/>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Clipboard_navy.png" id="3628" name="Google Shape;3628;p129"/>
          <p:cNvPicPr preferRelativeResize="0"/>
          <p:nvPr/>
        </p:nvPicPr>
        <p:blipFill rotWithShape="1">
          <a:blip r:embed="rId3">
            <a:alphaModFix/>
          </a:blip>
          <a:srcRect b="0" l="0" r="0" t="0"/>
          <a:stretch/>
        </p:blipFill>
        <p:spPr>
          <a:xfrm>
            <a:off x="1599370" y="1556766"/>
            <a:ext cx="157734" cy="157734"/>
          </a:xfrm>
          <a:prstGeom prst="rect">
            <a:avLst/>
          </a:prstGeom>
          <a:noFill/>
          <a:ln>
            <a:noFill/>
          </a:ln>
        </p:spPr>
      </p:pic>
      <p:sp>
        <p:nvSpPr>
          <p:cNvPr id="3629" name="Google Shape;3629;p129"/>
          <p:cNvSpPr/>
          <p:nvPr/>
        </p:nvSpPr>
        <p:spPr>
          <a:xfrm>
            <a:off x="548669" y="1988820"/>
            <a:ext cx="1290600" cy="548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B3E"/>
              </a:buClr>
              <a:buSzPts val="1100"/>
              <a:buFont typeface="Arial"/>
              <a:buNone/>
            </a:pPr>
            <a:r>
              <a:rPr b="1" lang="en-GB" sz="1100">
                <a:solidFill>
                  <a:srgbClr val="1C2B3E"/>
                </a:solidFill>
              </a:rPr>
              <a:t>Read the mission card carefully.</a:t>
            </a:r>
            <a:endParaRPr sz="1100">
              <a:solidFill>
                <a:schemeClr val="dk1"/>
              </a:solidFill>
              <a:latin typeface="Calibri"/>
              <a:ea typeface="Calibri"/>
              <a:cs typeface="Calibri"/>
              <a:sym typeface="Calibri"/>
            </a:endParaRPr>
          </a:p>
        </p:txBody>
      </p:sp>
      <p:sp>
        <p:nvSpPr>
          <p:cNvPr id="3630" name="Google Shape;3630;p129"/>
          <p:cNvSpPr/>
          <p:nvPr/>
        </p:nvSpPr>
        <p:spPr>
          <a:xfrm>
            <a:off x="2100031" y="1337310"/>
            <a:ext cx="1565100" cy="1268700"/>
          </a:xfrm>
          <a:prstGeom prst="roundRect">
            <a:avLst>
              <a:gd fmla="val 6486" name="adj"/>
            </a:avLst>
          </a:prstGeom>
          <a:solidFill>
            <a:srgbClr val="F5F7FA"/>
          </a:solidFill>
          <a:ln>
            <a:noFill/>
          </a:ln>
          <a:effectLst>
            <a:outerShdw blurRad="101600" rotWithShape="0" algn="bl" dir="5400000" dist="38100">
              <a:srgbClr val="1C2B3E">
                <a:alpha val="1019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631" name="Google Shape;3631;p129"/>
          <p:cNvSpPr/>
          <p:nvPr/>
        </p:nvSpPr>
        <p:spPr>
          <a:xfrm>
            <a:off x="2237198" y="1474470"/>
            <a:ext cx="315600" cy="315600"/>
          </a:xfrm>
          <a:prstGeom prst="ellipse">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632" name="Google Shape;3632;p129"/>
          <p:cNvSpPr/>
          <p:nvPr/>
        </p:nvSpPr>
        <p:spPr>
          <a:xfrm>
            <a:off x="2237198" y="1474470"/>
            <a:ext cx="315600" cy="31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lang="en-GB" sz="1100">
                <a:solidFill>
                  <a:srgbClr val="FFFFFF"/>
                </a:solidFill>
                <a:latin typeface="Arial"/>
                <a:ea typeface="Arial"/>
                <a:cs typeface="Arial"/>
                <a:sym typeface="Arial"/>
              </a:rPr>
              <a:t>02</a:t>
            </a:r>
            <a:endParaRPr sz="1100">
              <a:solidFill>
                <a:schemeClr val="dk1"/>
              </a:solidFill>
              <a:latin typeface="Calibri"/>
              <a:ea typeface="Calibri"/>
              <a:cs typeface="Calibri"/>
              <a:sym typeface="Calibri"/>
            </a:endParaRPr>
          </a:p>
        </p:txBody>
      </p:sp>
      <p:sp>
        <p:nvSpPr>
          <p:cNvPr id="3633" name="Google Shape;3633;p129"/>
          <p:cNvSpPr/>
          <p:nvPr/>
        </p:nvSpPr>
        <p:spPr>
          <a:xfrm>
            <a:off x="3212458" y="1474470"/>
            <a:ext cx="315600" cy="315600"/>
          </a:xfrm>
          <a:prstGeom prst="roundRect">
            <a:avLst>
              <a:gd fmla="val 22000" name="adj"/>
            </a:avLst>
          </a:prstGeom>
          <a:solidFill>
            <a:srgbClr val="94A3B8"/>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FileText_navy.png" id="3634" name="Google Shape;3634;p129"/>
          <p:cNvPicPr preferRelativeResize="0"/>
          <p:nvPr/>
        </p:nvPicPr>
        <p:blipFill rotWithShape="1">
          <a:blip r:embed="rId4">
            <a:alphaModFix/>
          </a:blip>
          <a:srcRect b="0" l="0" r="0" t="0"/>
          <a:stretch/>
        </p:blipFill>
        <p:spPr>
          <a:xfrm>
            <a:off x="3287900" y="1556766"/>
            <a:ext cx="157734" cy="157734"/>
          </a:xfrm>
          <a:prstGeom prst="rect">
            <a:avLst/>
          </a:prstGeom>
          <a:noFill/>
          <a:ln>
            <a:noFill/>
          </a:ln>
        </p:spPr>
      </p:pic>
      <p:sp>
        <p:nvSpPr>
          <p:cNvPr id="3635" name="Google Shape;3635;p129"/>
          <p:cNvSpPr/>
          <p:nvPr/>
        </p:nvSpPr>
        <p:spPr>
          <a:xfrm>
            <a:off x="2237198" y="1988820"/>
            <a:ext cx="1290600" cy="548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B3E"/>
              </a:buClr>
              <a:buSzPts val="1100"/>
              <a:buFont typeface="Arial"/>
              <a:buNone/>
            </a:pPr>
            <a:r>
              <a:rPr b="1" lang="en-GB" sz="1100">
                <a:solidFill>
                  <a:srgbClr val="1C2B3E"/>
                </a:solidFill>
              </a:rPr>
              <a:t>Understand</a:t>
            </a:r>
            <a:r>
              <a:rPr b="1" lang="en-GB" sz="1100">
                <a:solidFill>
                  <a:srgbClr val="1C2B3E"/>
                </a:solidFill>
                <a:latin typeface="Arial"/>
                <a:ea typeface="Arial"/>
                <a:cs typeface="Arial"/>
                <a:sym typeface="Arial"/>
              </a:rPr>
              <a:t> the customer request</a:t>
            </a:r>
            <a:endParaRPr sz="1100">
              <a:solidFill>
                <a:schemeClr val="dk1"/>
              </a:solidFill>
              <a:latin typeface="Calibri"/>
              <a:ea typeface="Calibri"/>
              <a:cs typeface="Calibri"/>
              <a:sym typeface="Calibri"/>
            </a:endParaRPr>
          </a:p>
        </p:txBody>
      </p:sp>
      <p:sp>
        <p:nvSpPr>
          <p:cNvPr id="3636" name="Google Shape;3636;p129"/>
          <p:cNvSpPr/>
          <p:nvPr/>
        </p:nvSpPr>
        <p:spPr>
          <a:xfrm>
            <a:off x="3788561" y="1337310"/>
            <a:ext cx="1565100" cy="1268700"/>
          </a:xfrm>
          <a:prstGeom prst="roundRect">
            <a:avLst>
              <a:gd fmla="val 6486" name="adj"/>
            </a:avLst>
          </a:prstGeom>
          <a:solidFill>
            <a:srgbClr val="F5F7FA"/>
          </a:solidFill>
          <a:ln>
            <a:noFill/>
          </a:ln>
          <a:effectLst>
            <a:outerShdw blurRad="101600" rotWithShape="0" algn="bl" dir="5400000" dist="38100">
              <a:srgbClr val="1C2B3E">
                <a:alpha val="10199"/>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637" name="Google Shape;3637;p129"/>
          <p:cNvSpPr/>
          <p:nvPr/>
        </p:nvSpPr>
        <p:spPr>
          <a:xfrm>
            <a:off x="3925728" y="1474470"/>
            <a:ext cx="315600" cy="315600"/>
          </a:xfrm>
          <a:prstGeom prst="ellipse">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638" name="Google Shape;3638;p129"/>
          <p:cNvSpPr/>
          <p:nvPr/>
        </p:nvSpPr>
        <p:spPr>
          <a:xfrm>
            <a:off x="3925728" y="1474470"/>
            <a:ext cx="315600" cy="31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lang="en-GB" sz="1100">
                <a:solidFill>
                  <a:srgbClr val="FFFFFF"/>
                </a:solidFill>
                <a:latin typeface="Arial"/>
                <a:ea typeface="Arial"/>
                <a:cs typeface="Arial"/>
                <a:sym typeface="Arial"/>
              </a:rPr>
              <a:t>03</a:t>
            </a:r>
            <a:endParaRPr sz="1100">
              <a:solidFill>
                <a:schemeClr val="dk1"/>
              </a:solidFill>
              <a:latin typeface="Calibri"/>
              <a:ea typeface="Calibri"/>
              <a:cs typeface="Calibri"/>
              <a:sym typeface="Calibri"/>
            </a:endParaRPr>
          </a:p>
        </p:txBody>
      </p:sp>
      <p:sp>
        <p:nvSpPr>
          <p:cNvPr id="3639" name="Google Shape;3639;p129"/>
          <p:cNvSpPr/>
          <p:nvPr/>
        </p:nvSpPr>
        <p:spPr>
          <a:xfrm>
            <a:off x="4900988" y="1474470"/>
            <a:ext cx="315600" cy="315600"/>
          </a:xfrm>
          <a:prstGeom prst="roundRect">
            <a:avLst>
              <a:gd fmla="val 22000" name="adj"/>
            </a:avLst>
          </a:prstGeom>
          <a:solidFill>
            <a:srgbClr val="94A3B8"/>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Truck_navy.png" id="3640" name="Google Shape;3640;p129"/>
          <p:cNvPicPr preferRelativeResize="0"/>
          <p:nvPr/>
        </p:nvPicPr>
        <p:blipFill rotWithShape="1">
          <a:blip r:embed="rId5">
            <a:alphaModFix/>
          </a:blip>
          <a:srcRect b="0" l="0" r="0" t="0"/>
          <a:stretch/>
        </p:blipFill>
        <p:spPr>
          <a:xfrm>
            <a:off x="4976430" y="1556766"/>
            <a:ext cx="157734" cy="157734"/>
          </a:xfrm>
          <a:prstGeom prst="rect">
            <a:avLst/>
          </a:prstGeom>
          <a:noFill/>
          <a:ln>
            <a:noFill/>
          </a:ln>
        </p:spPr>
      </p:pic>
      <p:sp>
        <p:nvSpPr>
          <p:cNvPr id="3641" name="Google Shape;3641;p129"/>
          <p:cNvSpPr/>
          <p:nvPr/>
        </p:nvSpPr>
        <p:spPr>
          <a:xfrm>
            <a:off x="3925728" y="1988820"/>
            <a:ext cx="1290600" cy="548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B3E"/>
              </a:buClr>
              <a:buSzPts val="1100"/>
              <a:buFont typeface="Arial"/>
              <a:buNone/>
            </a:pPr>
            <a:r>
              <a:rPr b="1" lang="en-GB" sz="1100">
                <a:solidFill>
                  <a:srgbClr val="1C2B3E"/>
                </a:solidFill>
                <a:latin typeface="Arial"/>
                <a:ea typeface="Arial"/>
                <a:cs typeface="Arial"/>
                <a:sym typeface="Arial"/>
              </a:rPr>
              <a:t>Build the SO / QT correctly</a:t>
            </a:r>
            <a:endParaRPr sz="1100">
              <a:solidFill>
                <a:schemeClr val="dk1"/>
              </a:solidFill>
              <a:latin typeface="Calibri"/>
              <a:ea typeface="Calibri"/>
              <a:cs typeface="Calibri"/>
              <a:sym typeface="Calibri"/>
            </a:endParaRPr>
          </a:p>
        </p:txBody>
      </p:sp>
      <p:sp>
        <p:nvSpPr>
          <p:cNvPr id="3642" name="Google Shape;3642;p129"/>
          <p:cNvSpPr/>
          <p:nvPr/>
        </p:nvSpPr>
        <p:spPr>
          <a:xfrm>
            <a:off x="5477091" y="1337310"/>
            <a:ext cx="1565100" cy="1268700"/>
          </a:xfrm>
          <a:prstGeom prst="roundRect">
            <a:avLst>
              <a:gd fmla="val 6486" name="adj"/>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643" name="Google Shape;3643;p129"/>
          <p:cNvSpPr/>
          <p:nvPr/>
        </p:nvSpPr>
        <p:spPr>
          <a:xfrm>
            <a:off x="5614258" y="1474470"/>
            <a:ext cx="315600" cy="315600"/>
          </a:xfrm>
          <a:prstGeom prst="ellipse">
            <a:avLst/>
          </a:pr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644" name="Google Shape;3644;p129"/>
          <p:cNvSpPr/>
          <p:nvPr/>
        </p:nvSpPr>
        <p:spPr>
          <a:xfrm>
            <a:off x="5614258" y="1474470"/>
            <a:ext cx="315600" cy="31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821E"/>
              </a:buClr>
              <a:buSzPts val="1100"/>
              <a:buFont typeface="Arial"/>
              <a:buNone/>
            </a:pPr>
            <a:r>
              <a:rPr b="1" lang="en-GB" sz="1100">
                <a:solidFill>
                  <a:srgbClr val="E8821E"/>
                </a:solidFill>
                <a:latin typeface="Arial"/>
                <a:ea typeface="Arial"/>
                <a:cs typeface="Arial"/>
                <a:sym typeface="Arial"/>
              </a:rPr>
              <a:t>04</a:t>
            </a:r>
            <a:endParaRPr sz="1100">
              <a:solidFill>
                <a:schemeClr val="dk1"/>
              </a:solidFill>
              <a:latin typeface="Calibri"/>
              <a:ea typeface="Calibri"/>
              <a:cs typeface="Calibri"/>
              <a:sym typeface="Calibri"/>
            </a:endParaRPr>
          </a:p>
        </p:txBody>
      </p:sp>
      <p:sp>
        <p:nvSpPr>
          <p:cNvPr id="3645" name="Google Shape;3645;p129"/>
          <p:cNvSpPr/>
          <p:nvPr/>
        </p:nvSpPr>
        <p:spPr>
          <a:xfrm>
            <a:off x="6589518" y="1474470"/>
            <a:ext cx="315600" cy="315600"/>
          </a:xfrm>
          <a:prstGeom prst="roundRect">
            <a:avLst>
              <a:gd fmla="val 22000" name="adj"/>
            </a:avLst>
          </a:pr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Edit3_accent.png" id="3646" name="Google Shape;3646;p129"/>
          <p:cNvPicPr preferRelativeResize="0"/>
          <p:nvPr/>
        </p:nvPicPr>
        <p:blipFill rotWithShape="1">
          <a:blip r:embed="rId6">
            <a:alphaModFix/>
          </a:blip>
          <a:srcRect b="0" l="0" r="0" t="0"/>
          <a:stretch/>
        </p:blipFill>
        <p:spPr>
          <a:xfrm>
            <a:off x="6664960" y="1556766"/>
            <a:ext cx="157734" cy="157734"/>
          </a:xfrm>
          <a:prstGeom prst="rect">
            <a:avLst/>
          </a:prstGeom>
          <a:noFill/>
          <a:ln>
            <a:noFill/>
          </a:ln>
        </p:spPr>
      </p:pic>
      <p:sp>
        <p:nvSpPr>
          <p:cNvPr id="3647" name="Google Shape;3647;p129"/>
          <p:cNvSpPr/>
          <p:nvPr/>
        </p:nvSpPr>
        <p:spPr>
          <a:xfrm>
            <a:off x="5614258" y="1988820"/>
            <a:ext cx="1290600" cy="548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100"/>
              <a:buFont typeface="Arial"/>
              <a:buNone/>
            </a:pPr>
            <a:r>
              <a:rPr b="1" lang="en-GB" sz="1100">
                <a:solidFill>
                  <a:srgbClr val="FFFFFF"/>
                </a:solidFill>
              </a:rPr>
              <a:t>Process</a:t>
            </a:r>
            <a:r>
              <a:rPr b="1" lang="en-GB" sz="1100">
                <a:solidFill>
                  <a:srgbClr val="FFFFFF"/>
                </a:solidFill>
                <a:latin typeface="Arial"/>
                <a:ea typeface="Arial"/>
                <a:cs typeface="Arial"/>
                <a:sym typeface="Arial"/>
              </a:rPr>
              <a:t> it into DN / SI / </a:t>
            </a:r>
            <a:r>
              <a:rPr b="1" lang="en-GB" sz="1100">
                <a:solidFill>
                  <a:srgbClr val="FFFFFF"/>
                </a:solidFill>
              </a:rPr>
              <a:t>SWO</a:t>
            </a:r>
            <a:endParaRPr sz="1100">
              <a:solidFill>
                <a:schemeClr val="dk1"/>
              </a:solidFill>
              <a:latin typeface="Calibri"/>
              <a:ea typeface="Calibri"/>
              <a:cs typeface="Calibri"/>
              <a:sym typeface="Calibri"/>
            </a:endParaRPr>
          </a:p>
        </p:txBody>
      </p:sp>
      <p:sp>
        <p:nvSpPr>
          <p:cNvPr id="3648" name="Google Shape;3648;p129"/>
          <p:cNvSpPr/>
          <p:nvPr/>
        </p:nvSpPr>
        <p:spPr>
          <a:xfrm>
            <a:off x="411502" y="2846070"/>
            <a:ext cx="8321400" cy="480000"/>
          </a:xfrm>
          <a:prstGeom prst="roundRect">
            <a:avLst>
              <a:gd fmla="val 14286"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649" name="Google Shape;3649;p129"/>
          <p:cNvSpPr/>
          <p:nvPr/>
        </p:nvSpPr>
        <p:spPr>
          <a:xfrm>
            <a:off x="411502" y="2846070"/>
            <a:ext cx="1386900" cy="48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Arial"/>
              <a:buNone/>
            </a:pPr>
            <a:r>
              <a:rPr b="1" lang="en-GB" sz="1000">
                <a:solidFill>
                  <a:srgbClr val="FFFFFF"/>
                </a:solidFill>
                <a:latin typeface="Arial"/>
                <a:ea typeface="Arial"/>
                <a:cs typeface="Arial"/>
                <a:sym typeface="Arial"/>
              </a:rPr>
              <a:t>Team A</a:t>
            </a:r>
            <a:endParaRPr sz="1000">
              <a:solidFill>
                <a:schemeClr val="dk1"/>
              </a:solidFill>
              <a:latin typeface="Calibri"/>
              <a:ea typeface="Calibri"/>
              <a:cs typeface="Calibri"/>
              <a:sym typeface="Calibri"/>
            </a:endParaRPr>
          </a:p>
        </p:txBody>
      </p:sp>
      <p:sp>
        <p:nvSpPr>
          <p:cNvPr id="3650" name="Google Shape;3650;p129"/>
          <p:cNvSpPr/>
          <p:nvPr/>
        </p:nvSpPr>
        <p:spPr>
          <a:xfrm>
            <a:off x="1798378" y="2846070"/>
            <a:ext cx="1386900" cy="48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Arial"/>
              <a:buNone/>
            </a:pPr>
            <a:r>
              <a:rPr b="1" lang="en-GB" sz="1000">
                <a:solidFill>
                  <a:srgbClr val="FFFFFF"/>
                </a:solidFill>
                <a:latin typeface="Arial"/>
                <a:ea typeface="Arial"/>
                <a:cs typeface="Arial"/>
                <a:sym typeface="Arial"/>
              </a:rPr>
              <a:t>M1</a:t>
            </a:r>
            <a:endParaRPr sz="1000">
              <a:solidFill>
                <a:schemeClr val="dk1"/>
              </a:solidFill>
              <a:latin typeface="Calibri"/>
              <a:ea typeface="Calibri"/>
              <a:cs typeface="Calibri"/>
              <a:sym typeface="Calibri"/>
            </a:endParaRPr>
          </a:p>
        </p:txBody>
      </p:sp>
      <p:cxnSp>
        <p:nvCxnSpPr>
          <p:cNvPr id="3651" name="Google Shape;3651;p129"/>
          <p:cNvCxnSpPr/>
          <p:nvPr/>
        </p:nvCxnSpPr>
        <p:spPr>
          <a:xfrm>
            <a:off x="1798378" y="2928366"/>
            <a:ext cx="0" cy="315600"/>
          </a:xfrm>
          <a:prstGeom prst="straightConnector1">
            <a:avLst/>
          </a:prstGeom>
          <a:noFill/>
          <a:ln cap="flat" cmpd="sng" w="12700">
            <a:solidFill>
              <a:srgbClr val="32495F"/>
            </a:solidFill>
            <a:prstDash val="solid"/>
            <a:round/>
            <a:headEnd len="sm" w="sm" type="none"/>
            <a:tailEnd len="sm" w="sm" type="none"/>
          </a:ln>
        </p:spPr>
      </p:cxnSp>
      <p:sp>
        <p:nvSpPr>
          <p:cNvPr id="3652" name="Google Shape;3652;p129"/>
          <p:cNvSpPr/>
          <p:nvPr/>
        </p:nvSpPr>
        <p:spPr>
          <a:xfrm>
            <a:off x="3185253" y="2846070"/>
            <a:ext cx="1386900" cy="48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Arial"/>
              <a:buNone/>
            </a:pPr>
            <a:r>
              <a:rPr b="1" lang="en-GB" sz="1000">
                <a:solidFill>
                  <a:srgbClr val="FFFFFF"/>
                </a:solidFill>
                <a:latin typeface="Arial"/>
                <a:ea typeface="Arial"/>
                <a:cs typeface="Arial"/>
                <a:sym typeface="Arial"/>
              </a:rPr>
              <a:t>SO-2026-00041</a:t>
            </a:r>
            <a:endParaRPr sz="1000">
              <a:solidFill>
                <a:schemeClr val="dk1"/>
              </a:solidFill>
              <a:latin typeface="Calibri"/>
              <a:ea typeface="Calibri"/>
              <a:cs typeface="Calibri"/>
              <a:sym typeface="Calibri"/>
            </a:endParaRPr>
          </a:p>
        </p:txBody>
      </p:sp>
      <p:cxnSp>
        <p:nvCxnSpPr>
          <p:cNvPr id="3653" name="Google Shape;3653;p129"/>
          <p:cNvCxnSpPr/>
          <p:nvPr/>
        </p:nvCxnSpPr>
        <p:spPr>
          <a:xfrm>
            <a:off x="3185253" y="2928366"/>
            <a:ext cx="0" cy="315600"/>
          </a:xfrm>
          <a:prstGeom prst="straightConnector1">
            <a:avLst/>
          </a:prstGeom>
          <a:noFill/>
          <a:ln cap="flat" cmpd="sng" w="12700">
            <a:solidFill>
              <a:srgbClr val="32495F"/>
            </a:solidFill>
            <a:prstDash val="solid"/>
            <a:round/>
            <a:headEnd len="sm" w="sm" type="none"/>
            <a:tailEnd len="sm" w="sm" type="none"/>
          </a:ln>
        </p:spPr>
      </p:cxnSp>
      <p:sp>
        <p:nvSpPr>
          <p:cNvPr id="3654" name="Google Shape;3654;p129"/>
          <p:cNvSpPr/>
          <p:nvPr/>
        </p:nvSpPr>
        <p:spPr>
          <a:xfrm>
            <a:off x="4572130" y="2846070"/>
            <a:ext cx="1386900" cy="48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Arial"/>
              <a:buNone/>
            </a:pPr>
            <a:r>
              <a:rPr b="1" lang="en-GB" sz="1000">
                <a:solidFill>
                  <a:srgbClr val="FFFFFF"/>
                </a:solidFill>
                <a:latin typeface="Arial"/>
                <a:ea typeface="Arial"/>
                <a:cs typeface="Arial"/>
                <a:sym typeface="Arial"/>
              </a:rPr>
              <a:t>DN-2026-00018</a:t>
            </a:r>
            <a:endParaRPr sz="1000">
              <a:solidFill>
                <a:schemeClr val="dk1"/>
              </a:solidFill>
              <a:latin typeface="Calibri"/>
              <a:ea typeface="Calibri"/>
              <a:cs typeface="Calibri"/>
              <a:sym typeface="Calibri"/>
            </a:endParaRPr>
          </a:p>
        </p:txBody>
      </p:sp>
      <p:cxnSp>
        <p:nvCxnSpPr>
          <p:cNvPr id="3655" name="Google Shape;3655;p129"/>
          <p:cNvCxnSpPr/>
          <p:nvPr/>
        </p:nvCxnSpPr>
        <p:spPr>
          <a:xfrm>
            <a:off x="4572130" y="2928366"/>
            <a:ext cx="0" cy="315600"/>
          </a:xfrm>
          <a:prstGeom prst="straightConnector1">
            <a:avLst/>
          </a:prstGeom>
          <a:noFill/>
          <a:ln cap="flat" cmpd="sng" w="12700">
            <a:solidFill>
              <a:srgbClr val="32495F"/>
            </a:solidFill>
            <a:prstDash val="solid"/>
            <a:round/>
            <a:headEnd len="sm" w="sm" type="none"/>
            <a:tailEnd len="sm" w="sm" type="none"/>
          </a:ln>
        </p:spPr>
      </p:cxnSp>
      <p:sp>
        <p:nvSpPr>
          <p:cNvPr id="3656" name="Google Shape;3656;p129"/>
          <p:cNvSpPr/>
          <p:nvPr/>
        </p:nvSpPr>
        <p:spPr>
          <a:xfrm>
            <a:off x="5959005" y="2846070"/>
            <a:ext cx="1386900" cy="48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9D5C"/>
              </a:buClr>
              <a:buSzPts val="1000"/>
              <a:buFont typeface="Arial"/>
              <a:buNone/>
            </a:pPr>
            <a:r>
              <a:rPr b="1" lang="en-GB" sz="1000">
                <a:solidFill>
                  <a:srgbClr val="1A9D5C"/>
                </a:solidFill>
                <a:latin typeface="Arial"/>
                <a:ea typeface="Arial"/>
                <a:cs typeface="Arial"/>
                <a:sym typeface="Arial"/>
              </a:rPr>
              <a:t>Trap ✓</a:t>
            </a:r>
            <a:endParaRPr sz="1000">
              <a:solidFill>
                <a:schemeClr val="dk1"/>
              </a:solidFill>
              <a:latin typeface="Calibri"/>
              <a:ea typeface="Calibri"/>
              <a:cs typeface="Calibri"/>
              <a:sym typeface="Calibri"/>
            </a:endParaRPr>
          </a:p>
        </p:txBody>
      </p:sp>
      <p:cxnSp>
        <p:nvCxnSpPr>
          <p:cNvPr id="3657" name="Google Shape;3657;p129"/>
          <p:cNvCxnSpPr/>
          <p:nvPr/>
        </p:nvCxnSpPr>
        <p:spPr>
          <a:xfrm>
            <a:off x="5959005" y="2928366"/>
            <a:ext cx="0" cy="315600"/>
          </a:xfrm>
          <a:prstGeom prst="straightConnector1">
            <a:avLst/>
          </a:prstGeom>
          <a:noFill/>
          <a:ln cap="flat" cmpd="sng" w="12700">
            <a:solidFill>
              <a:srgbClr val="32495F"/>
            </a:solidFill>
            <a:prstDash val="solid"/>
            <a:round/>
            <a:headEnd len="sm" w="sm" type="none"/>
            <a:tailEnd len="sm" w="sm" type="none"/>
          </a:ln>
        </p:spPr>
      </p:cxnSp>
      <p:sp>
        <p:nvSpPr>
          <p:cNvPr id="3658" name="Google Shape;3658;p129"/>
          <p:cNvSpPr/>
          <p:nvPr/>
        </p:nvSpPr>
        <p:spPr>
          <a:xfrm>
            <a:off x="7345881" y="2846070"/>
            <a:ext cx="1386900" cy="48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9D5C"/>
              </a:buClr>
              <a:buSzPts val="1000"/>
              <a:buFont typeface="Arial"/>
              <a:buNone/>
            </a:pPr>
            <a:r>
              <a:rPr b="1" lang="en-GB" sz="1000">
                <a:solidFill>
                  <a:srgbClr val="1A9D5C"/>
                </a:solidFill>
                <a:latin typeface="Arial"/>
                <a:ea typeface="Arial"/>
                <a:cs typeface="Arial"/>
                <a:sym typeface="Arial"/>
              </a:rPr>
              <a:t>QC ✓</a:t>
            </a:r>
            <a:endParaRPr sz="1000">
              <a:solidFill>
                <a:schemeClr val="dk1"/>
              </a:solidFill>
              <a:latin typeface="Calibri"/>
              <a:ea typeface="Calibri"/>
              <a:cs typeface="Calibri"/>
              <a:sym typeface="Calibri"/>
            </a:endParaRPr>
          </a:p>
        </p:txBody>
      </p:sp>
      <p:cxnSp>
        <p:nvCxnSpPr>
          <p:cNvPr id="3659" name="Google Shape;3659;p129"/>
          <p:cNvCxnSpPr/>
          <p:nvPr/>
        </p:nvCxnSpPr>
        <p:spPr>
          <a:xfrm>
            <a:off x="7345881" y="2928366"/>
            <a:ext cx="0" cy="315600"/>
          </a:xfrm>
          <a:prstGeom prst="straightConnector1">
            <a:avLst/>
          </a:prstGeom>
          <a:noFill/>
          <a:ln cap="flat" cmpd="sng" w="12700">
            <a:solidFill>
              <a:srgbClr val="32495F"/>
            </a:solidFill>
            <a:prstDash val="solid"/>
            <a:round/>
            <a:headEnd len="sm" w="sm" type="none"/>
            <a:tailEnd len="sm" w="sm" type="none"/>
          </a:ln>
        </p:spPr>
      </p:cxnSp>
      <p:sp>
        <p:nvSpPr>
          <p:cNvPr id="3660" name="Google Shape;3660;p129"/>
          <p:cNvSpPr/>
          <p:nvPr/>
        </p:nvSpPr>
        <p:spPr>
          <a:xfrm>
            <a:off x="7165620" y="1337310"/>
            <a:ext cx="1565100" cy="1268700"/>
          </a:xfrm>
          <a:prstGeom prst="roundRect">
            <a:avLst>
              <a:gd fmla="val 6486" name="adj"/>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661" name="Google Shape;3661;p129"/>
          <p:cNvSpPr/>
          <p:nvPr/>
        </p:nvSpPr>
        <p:spPr>
          <a:xfrm>
            <a:off x="7302788" y="1474470"/>
            <a:ext cx="315600" cy="315600"/>
          </a:xfrm>
          <a:prstGeom prst="ellipse">
            <a:avLst/>
          </a:pr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662" name="Google Shape;3662;p129"/>
          <p:cNvSpPr/>
          <p:nvPr/>
        </p:nvSpPr>
        <p:spPr>
          <a:xfrm>
            <a:off x="7302788" y="1474470"/>
            <a:ext cx="315600" cy="31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821E"/>
              </a:buClr>
              <a:buSzPts val="1100"/>
              <a:buFont typeface="Arial"/>
              <a:buNone/>
            </a:pPr>
            <a:r>
              <a:rPr b="1" lang="en-GB" sz="1100">
                <a:solidFill>
                  <a:srgbClr val="E8821E"/>
                </a:solidFill>
                <a:latin typeface="Arial"/>
                <a:ea typeface="Arial"/>
                <a:cs typeface="Arial"/>
                <a:sym typeface="Arial"/>
              </a:rPr>
              <a:t>05</a:t>
            </a:r>
            <a:endParaRPr sz="1100">
              <a:solidFill>
                <a:schemeClr val="dk1"/>
              </a:solidFill>
              <a:latin typeface="Calibri"/>
              <a:ea typeface="Calibri"/>
              <a:cs typeface="Calibri"/>
              <a:sym typeface="Calibri"/>
            </a:endParaRPr>
          </a:p>
        </p:txBody>
      </p:sp>
      <p:sp>
        <p:nvSpPr>
          <p:cNvPr id="3663" name="Google Shape;3663;p129"/>
          <p:cNvSpPr/>
          <p:nvPr/>
        </p:nvSpPr>
        <p:spPr>
          <a:xfrm>
            <a:off x="8278047" y="1474470"/>
            <a:ext cx="315600" cy="315600"/>
          </a:xfrm>
          <a:prstGeom prst="roundRect">
            <a:avLst>
              <a:gd fmla="val 22000" name="adj"/>
            </a:avLst>
          </a:pr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Edit3_accent.png" id="3664" name="Google Shape;3664;p129"/>
          <p:cNvPicPr preferRelativeResize="0"/>
          <p:nvPr/>
        </p:nvPicPr>
        <p:blipFill rotWithShape="1">
          <a:blip r:embed="rId6">
            <a:alphaModFix/>
          </a:blip>
          <a:srcRect b="0" l="0" r="0" t="0"/>
          <a:stretch/>
        </p:blipFill>
        <p:spPr>
          <a:xfrm>
            <a:off x="8353489" y="1556766"/>
            <a:ext cx="157734" cy="157734"/>
          </a:xfrm>
          <a:prstGeom prst="rect">
            <a:avLst/>
          </a:prstGeom>
          <a:noFill/>
          <a:ln>
            <a:noFill/>
          </a:ln>
        </p:spPr>
      </p:pic>
      <p:sp>
        <p:nvSpPr>
          <p:cNvPr id="3665" name="Google Shape;3665;p129"/>
          <p:cNvSpPr/>
          <p:nvPr/>
        </p:nvSpPr>
        <p:spPr>
          <a:xfrm>
            <a:off x="7302788" y="1988820"/>
            <a:ext cx="1290600" cy="548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100"/>
              <a:buFont typeface="Arial"/>
              <a:buNone/>
            </a:pPr>
            <a:r>
              <a:rPr b="1" lang="en-GB" sz="1100">
                <a:solidFill>
                  <a:srgbClr val="FFFFFF"/>
                </a:solidFill>
                <a:latin typeface="Arial"/>
                <a:ea typeface="Arial"/>
                <a:cs typeface="Arial"/>
                <a:sym typeface="Arial"/>
              </a:rPr>
              <a:t>Write your IDs on the board</a:t>
            </a:r>
            <a:endParaRPr sz="1100">
              <a:solidFill>
                <a:schemeClr val="dk1"/>
              </a:solidFill>
              <a:latin typeface="Calibri"/>
              <a:ea typeface="Calibri"/>
              <a:cs typeface="Calibri"/>
              <a:sym typeface="Calibri"/>
            </a:endParaRPr>
          </a:p>
        </p:txBody>
      </p:sp>
      <p:sp>
        <p:nvSpPr>
          <p:cNvPr id="3666" name="Google Shape;3666;p129"/>
          <p:cNvSpPr/>
          <p:nvPr/>
        </p:nvSpPr>
        <p:spPr>
          <a:xfrm>
            <a:off x="411502" y="3374136"/>
            <a:ext cx="83193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D"/>
              </a:buClr>
              <a:buSzPts val="800"/>
              <a:buFont typeface="Arial"/>
              <a:buNone/>
            </a:pPr>
            <a:r>
              <a:rPr i="1" lang="en-GB" sz="800">
                <a:solidFill>
                  <a:srgbClr val="5B6B7D"/>
                </a:solidFill>
                <a:latin typeface="Arial"/>
                <a:ea typeface="Arial"/>
                <a:cs typeface="Arial"/>
                <a:sym typeface="Arial"/>
              </a:rPr>
              <a:t>Exceptions: M7 ends at a Quotation (no SO). M8 is a Service Work Order (SWO), not a Delivery Note.</a:t>
            </a:r>
            <a:endParaRPr sz="1100">
              <a:solidFill>
                <a:schemeClr val="dk1"/>
              </a:solidFill>
              <a:latin typeface="Calibri"/>
              <a:ea typeface="Calibri"/>
              <a:cs typeface="Calibri"/>
              <a:sym typeface="Calibri"/>
            </a:endParaRPr>
          </a:p>
        </p:txBody>
      </p:sp>
      <p:sp>
        <p:nvSpPr>
          <p:cNvPr id="3667" name="Google Shape;3667;p129"/>
          <p:cNvSpPr txBox="1"/>
          <p:nvPr>
            <p:ph idx="12" type="sldNum"/>
          </p:nvPr>
        </p:nvSpPr>
        <p:spPr>
          <a:xfrm>
            <a:off x="8347216" y="4750189"/>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3668" name="Google Shape;3668;p129"/>
          <p:cNvSpPr/>
          <p:nvPr/>
        </p:nvSpPr>
        <p:spPr>
          <a:xfrm>
            <a:off x="411450" y="3805475"/>
            <a:ext cx="8319300" cy="7191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630000" rtl="0" algn="l">
              <a:spcBef>
                <a:spcPts val="0"/>
              </a:spcBef>
              <a:spcAft>
                <a:spcPts val="0"/>
              </a:spcAft>
              <a:buNone/>
            </a:pPr>
            <a:r>
              <a:rPr b="1" lang="en-GB" sz="1600">
                <a:solidFill>
                  <a:schemeClr val="dk2"/>
                </a:solidFill>
              </a:rPr>
              <a:t>No ID = no score</a:t>
            </a:r>
            <a:endParaRPr b="1" sz="1600">
              <a:solidFill>
                <a:schemeClr val="dk2"/>
              </a:solidFill>
            </a:endParaRPr>
          </a:p>
        </p:txBody>
      </p:sp>
      <p:pic>
        <p:nvPicPr>
          <p:cNvPr id="3669" name="Google Shape;3669;p129" title="warning.png"/>
          <p:cNvPicPr preferRelativeResize="0"/>
          <p:nvPr/>
        </p:nvPicPr>
        <p:blipFill>
          <a:blip r:embed="rId7">
            <a:alphaModFix/>
          </a:blip>
          <a:stretch>
            <a:fillRect/>
          </a:stretch>
        </p:blipFill>
        <p:spPr>
          <a:xfrm>
            <a:off x="711928" y="4027875"/>
            <a:ext cx="274300" cy="274300"/>
          </a:xfrm>
          <a:prstGeom prst="rect">
            <a:avLst/>
          </a:prstGeom>
          <a:noFill/>
          <a:ln>
            <a:noFill/>
          </a:ln>
        </p:spPr>
      </p:pic>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3674" name="Shape 3674"/>
        <p:cNvGrpSpPr/>
        <p:nvPr/>
      </p:nvGrpSpPr>
      <p:grpSpPr>
        <a:xfrm>
          <a:off x="0" y="0"/>
          <a:ext cx="0" cy="0"/>
          <a:chOff x="0" y="0"/>
          <a:chExt cx="0" cy="0"/>
        </a:xfrm>
      </p:grpSpPr>
      <p:sp>
        <p:nvSpPr>
          <p:cNvPr id="3675" name="Google Shape;3675;p130"/>
          <p:cNvSpPr/>
          <p:nvPr/>
        </p:nvSpPr>
        <p:spPr>
          <a:xfrm>
            <a:off x="411502" y="260604"/>
            <a:ext cx="6858366"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21E"/>
              </a:buClr>
              <a:buSzPts val="800"/>
              <a:buFont typeface="Arial"/>
              <a:buNone/>
            </a:pPr>
            <a:r>
              <a:rPr b="1" lang="en-GB" sz="800">
                <a:solidFill>
                  <a:srgbClr val="E8821E"/>
                </a:solidFill>
                <a:latin typeface="Arial"/>
                <a:ea typeface="Arial"/>
                <a:cs typeface="Arial"/>
                <a:sym typeface="Arial"/>
              </a:rPr>
              <a:t>GAME</a:t>
            </a:r>
            <a:endParaRPr sz="800">
              <a:solidFill>
                <a:schemeClr val="dk1"/>
              </a:solidFill>
              <a:latin typeface="Calibri"/>
              <a:ea typeface="Calibri"/>
              <a:cs typeface="Calibri"/>
              <a:sym typeface="Calibri"/>
            </a:endParaRPr>
          </a:p>
        </p:txBody>
      </p:sp>
      <p:sp>
        <p:nvSpPr>
          <p:cNvPr id="3676" name="Google Shape;3676;p130"/>
          <p:cNvSpPr/>
          <p:nvPr/>
        </p:nvSpPr>
        <p:spPr>
          <a:xfrm>
            <a:off x="411502" y="438912"/>
            <a:ext cx="8321255" cy="4800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C2B3E"/>
              </a:buClr>
              <a:buSzPts val="2200"/>
              <a:buFont typeface="Arial"/>
              <a:buNone/>
            </a:pPr>
            <a:r>
              <a:rPr b="1" lang="en-GB" sz="2200">
                <a:solidFill>
                  <a:srgbClr val="1C2B3E"/>
                </a:solidFill>
                <a:latin typeface="Poppins"/>
                <a:ea typeface="Poppins"/>
                <a:cs typeface="Poppins"/>
                <a:sym typeface="Poppins"/>
              </a:rPr>
              <a:t>How teams win?</a:t>
            </a:r>
            <a:endParaRPr sz="2200">
              <a:solidFill>
                <a:schemeClr val="dk1"/>
              </a:solidFill>
              <a:latin typeface="Poppins"/>
              <a:ea typeface="Poppins"/>
              <a:cs typeface="Poppins"/>
              <a:sym typeface="Poppins"/>
            </a:endParaRPr>
          </a:p>
        </p:txBody>
      </p:sp>
      <p:sp>
        <p:nvSpPr>
          <p:cNvPr id="3677" name="Google Shape;3677;p130"/>
          <p:cNvSpPr/>
          <p:nvPr/>
        </p:nvSpPr>
        <p:spPr>
          <a:xfrm>
            <a:off x="411502" y="1257240"/>
            <a:ext cx="8321400" cy="582900"/>
          </a:xfrm>
          <a:prstGeom prst="roundRect">
            <a:avLst>
              <a:gd fmla="val 11765" name="adj"/>
            </a:avLst>
          </a:prstGeom>
          <a:solidFill>
            <a:srgbClr val="F5F7FA"/>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678" name="Google Shape;3678;p130"/>
          <p:cNvSpPr/>
          <p:nvPr/>
        </p:nvSpPr>
        <p:spPr>
          <a:xfrm>
            <a:off x="548669" y="1380684"/>
            <a:ext cx="342900" cy="342900"/>
          </a:xfrm>
          <a:prstGeom prst="ellipse">
            <a:avLst/>
          </a:prstGeom>
          <a:solidFill>
            <a:srgbClr val="1A9D5C"/>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CheckCircle_white.png" id="3679" name="Google Shape;3679;p130"/>
          <p:cNvPicPr preferRelativeResize="0"/>
          <p:nvPr/>
        </p:nvPicPr>
        <p:blipFill rotWithShape="1">
          <a:blip r:embed="rId3">
            <a:alphaModFix/>
          </a:blip>
          <a:srcRect b="0" l="0" r="0" t="0"/>
          <a:stretch/>
        </p:blipFill>
        <p:spPr>
          <a:xfrm>
            <a:off x="634399" y="1466409"/>
            <a:ext cx="171450" cy="171450"/>
          </a:xfrm>
          <a:prstGeom prst="rect">
            <a:avLst/>
          </a:prstGeom>
          <a:noFill/>
          <a:ln>
            <a:noFill/>
          </a:ln>
        </p:spPr>
      </p:pic>
      <p:sp>
        <p:nvSpPr>
          <p:cNvPr id="3680" name="Google Shape;3680;p130"/>
          <p:cNvSpPr/>
          <p:nvPr/>
        </p:nvSpPr>
        <p:spPr>
          <a:xfrm>
            <a:off x="1028755" y="1257240"/>
            <a:ext cx="3429300" cy="58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1200"/>
              <a:buFont typeface="Arial"/>
              <a:buNone/>
            </a:pPr>
            <a:r>
              <a:rPr b="1" lang="en-GB" sz="1200">
                <a:solidFill>
                  <a:srgbClr val="1C2B3E"/>
                </a:solidFill>
                <a:latin typeface="Arial"/>
                <a:ea typeface="Arial"/>
                <a:cs typeface="Arial"/>
                <a:sym typeface="Arial"/>
              </a:rPr>
              <a:t>QC pass</a:t>
            </a:r>
            <a:endParaRPr sz="1200">
              <a:solidFill>
                <a:schemeClr val="dk1"/>
              </a:solidFill>
              <a:latin typeface="Calibri"/>
              <a:ea typeface="Calibri"/>
              <a:cs typeface="Calibri"/>
              <a:sym typeface="Calibri"/>
            </a:endParaRPr>
          </a:p>
        </p:txBody>
      </p:sp>
      <p:sp>
        <p:nvSpPr>
          <p:cNvPr id="3681" name="Google Shape;3681;p130"/>
          <p:cNvSpPr/>
          <p:nvPr/>
        </p:nvSpPr>
        <p:spPr>
          <a:xfrm>
            <a:off x="411502" y="1257240"/>
            <a:ext cx="8115600" cy="5829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A9D5C"/>
              </a:buClr>
              <a:buSzPts val="1200"/>
              <a:buFont typeface="Arial"/>
              <a:buNone/>
            </a:pPr>
            <a:r>
              <a:rPr b="1" lang="en-GB" sz="1200">
                <a:solidFill>
                  <a:srgbClr val="1A9D5C"/>
                </a:solidFill>
                <a:latin typeface="Arial"/>
                <a:ea typeface="Arial"/>
                <a:cs typeface="Arial"/>
                <a:sym typeface="Arial"/>
              </a:rPr>
              <a:t>= 1 point</a:t>
            </a:r>
            <a:endParaRPr sz="1200">
              <a:solidFill>
                <a:schemeClr val="dk1"/>
              </a:solidFill>
              <a:latin typeface="Calibri"/>
              <a:ea typeface="Calibri"/>
              <a:cs typeface="Calibri"/>
              <a:sym typeface="Calibri"/>
            </a:endParaRPr>
          </a:p>
        </p:txBody>
      </p:sp>
      <p:sp>
        <p:nvSpPr>
          <p:cNvPr id="3682" name="Google Shape;3682;p130"/>
          <p:cNvSpPr/>
          <p:nvPr/>
        </p:nvSpPr>
        <p:spPr>
          <a:xfrm>
            <a:off x="411502" y="1943040"/>
            <a:ext cx="8321400" cy="582900"/>
          </a:xfrm>
          <a:prstGeom prst="roundRect">
            <a:avLst>
              <a:gd fmla="val 11765" name="adj"/>
            </a:avLst>
          </a:prstGeom>
          <a:solidFill>
            <a:srgbClr val="F5F7FA"/>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683" name="Google Shape;3683;p130"/>
          <p:cNvSpPr/>
          <p:nvPr/>
        </p:nvSpPr>
        <p:spPr>
          <a:xfrm>
            <a:off x="548669" y="2066484"/>
            <a:ext cx="342900" cy="342900"/>
          </a:xfrm>
          <a:prstGeom prst="ellipse">
            <a:avLst/>
          </a:prstGeom>
          <a:solidFill>
            <a:srgbClr val="E8821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Star_white.png" id="3684" name="Google Shape;3684;p130"/>
          <p:cNvPicPr preferRelativeResize="0"/>
          <p:nvPr/>
        </p:nvPicPr>
        <p:blipFill rotWithShape="1">
          <a:blip r:embed="rId4">
            <a:alphaModFix/>
          </a:blip>
          <a:srcRect b="0" l="0" r="0" t="0"/>
          <a:stretch/>
        </p:blipFill>
        <p:spPr>
          <a:xfrm>
            <a:off x="634399" y="2152209"/>
            <a:ext cx="171450" cy="171450"/>
          </a:xfrm>
          <a:prstGeom prst="rect">
            <a:avLst/>
          </a:prstGeom>
          <a:noFill/>
          <a:ln>
            <a:noFill/>
          </a:ln>
        </p:spPr>
      </p:pic>
      <p:sp>
        <p:nvSpPr>
          <p:cNvPr id="3685" name="Google Shape;3685;p130"/>
          <p:cNvSpPr/>
          <p:nvPr/>
        </p:nvSpPr>
        <p:spPr>
          <a:xfrm>
            <a:off x="1028755" y="1943040"/>
            <a:ext cx="3429300" cy="58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1200"/>
              <a:buFont typeface="Arial"/>
              <a:buNone/>
            </a:pPr>
            <a:r>
              <a:rPr b="1" lang="en-GB" sz="1200">
                <a:solidFill>
                  <a:srgbClr val="1C2B3E"/>
                </a:solidFill>
                <a:latin typeface="Arial"/>
                <a:ea typeface="Arial"/>
                <a:cs typeface="Arial"/>
                <a:sym typeface="Arial"/>
              </a:rPr>
              <a:t>Trap caught</a:t>
            </a:r>
            <a:endParaRPr sz="1200">
              <a:solidFill>
                <a:schemeClr val="dk1"/>
              </a:solidFill>
              <a:latin typeface="Calibri"/>
              <a:ea typeface="Calibri"/>
              <a:cs typeface="Calibri"/>
              <a:sym typeface="Calibri"/>
            </a:endParaRPr>
          </a:p>
        </p:txBody>
      </p:sp>
      <p:sp>
        <p:nvSpPr>
          <p:cNvPr id="3686" name="Google Shape;3686;p130"/>
          <p:cNvSpPr/>
          <p:nvPr/>
        </p:nvSpPr>
        <p:spPr>
          <a:xfrm>
            <a:off x="411502" y="1943040"/>
            <a:ext cx="8115600" cy="5829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8821E"/>
              </a:buClr>
              <a:buSzPts val="1200"/>
              <a:buFont typeface="Arial"/>
              <a:buNone/>
            </a:pPr>
            <a:r>
              <a:rPr b="1" lang="en-GB" sz="1200">
                <a:solidFill>
                  <a:srgbClr val="E8821E"/>
                </a:solidFill>
                <a:latin typeface="Arial"/>
                <a:ea typeface="Arial"/>
                <a:cs typeface="Arial"/>
                <a:sym typeface="Arial"/>
              </a:rPr>
              <a:t>= +1 bonus</a:t>
            </a:r>
            <a:endParaRPr sz="1200">
              <a:solidFill>
                <a:schemeClr val="dk1"/>
              </a:solidFill>
              <a:latin typeface="Calibri"/>
              <a:ea typeface="Calibri"/>
              <a:cs typeface="Calibri"/>
              <a:sym typeface="Calibri"/>
            </a:endParaRPr>
          </a:p>
        </p:txBody>
      </p:sp>
      <p:sp>
        <p:nvSpPr>
          <p:cNvPr id="3687" name="Google Shape;3687;p130"/>
          <p:cNvSpPr/>
          <p:nvPr/>
        </p:nvSpPr>
        <p:spPr>
          <a:xfrm>
            <a:off x="411502" y="2628840"/>
            <a:ext cx="8321400" cy="582900"/>
          </a:xfrm>
          <a:prstGeom prst="roundRect">
            <a:avLst>
              <a:gd fmla="val 11765" name="adj"/>
            </a:avLst>
          </a:prstGeom>
          <a:solidFill>
            <a:srgbClr val="F5F7FA"/>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688" name="Google Shape;3688;p130"/>
          <p:cNvSpPr/>
          <p:nvPr/>
        </p:nvSpPr>
        <p:spPr>
          <a:xfrm>
            <a:off x="548669" y="2752284"/>
            <a:ext cx="342900" cy="342900"/>
          </a:xfrm>
          <a:prstGeom prst="ellipse">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home/claude/maia/icons/FiClock_white.png" id="3689" name="Google Shape;3689;p130"/>
          <p:cNvPicPr preferRelativeResize="0"/>
          <p:nvPr/>
        </p:nvPicPr>
        <p:blipFill rotWithShape="1">
          <a:blip r:embed="rId5">
            <a:alphaModFix/>
          </a:blip>
          <a:srcRect b="0" l="0" r="0" t="0"/>
          <a:stretch/>
        </p:blipFill>
        <p:spPr>
          <a:xfrm>
            <a:off x="634399" y="2838009"/>
            <a:ext cx="171450" cy="171450"/>
          </a:xfrm>
          <a:prstGeom prst="rect">
            <a:avLst/>
          </a:prstGeom>
          <a:noFill/>
          <a:ln>
            <a:noFill/>
          </a:ln>
        </p:spPr>
      </p:pic>
      <p:sp>
        <p:nvSpPr>
          <p:cNvPr id="3690" name="Google Shape;3690;p130"/>
          <p:cNvSpPr/>
          <p:nvPr/>
        </p:nvSpPr>
        <p:spPr>
          <a:xfrm>
            <a:off x="1028755" y="2628840"/>
            <a:ext cx="3429300" cy="58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3E"/>
              </a:buClr>
              <a:buSzPts val="1200"/>
              <a:buFont typeface="Arial"/>
              <a:buNone/>
            </a:pPr>
            <a:r>
              <a:rPr b="1" lang="en-GB" sz="1200">
                <a:solidFill>
                  <a:srgbClr val="1C2B3E"/>
                </a:solidFill>
                <a:latin typeface="Arial"/>
                <a:ea typeface="Arial"/>
                <a:cs typeface="Arial"/>
                <a:sym typeface="Arial"/>
              </a:rPr>
              <a:t>Speed</a:t>
            </a:r>
            <a:endParaRPr sz="1200">
              <a:solidFill>
                <a:schemeClr val="dk1"/>
              </a:solidFill>
              <a:latin typeface="Calibri"/>
              <a:ea typeface="Calibri"/>
              <a:cs typeface="Calibri"/>
              <a:sym typeface="Calibri"/>
            </a:endParaRPr>
          </a:p>
        </p:txBody>
      </p:sp>
      <p:sp>
        <p:nvSpPr>
          <p:cNvPr id="3691" name="Google Shape;3691;p130"/>
          <p:cNvSpPr/>
          <p:nvPr/>
        </p:nvSpPr>
        <p:spPr>
          <a:xfrm>
            <a:off x="411502" y="2628840"/>
            <a:ext cx="8115600" cy="5829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C2B3E"/>
              </a:buClr>
              <a:buSzPts val="1200"/>
              <a:buFont typeface="Arial"/>
              <a:buNone/>
            </a:pPr>
            <a:r>
              <a:rPr b="1" lang="en-GB" sz="1200">
                <a:solidFill>
                  <a:srgbClr val="1C2B3E"/>
                </a:solidFill>
                <a:latin typeface="Arial"/>
                <a:ea typeface="Arial"/>
                <a:cs typeface="Arial"/>
                <a:sym typeface="Arial"/>
              </a:rPr>
              <a:t>= tie-break only</a:t>
            </a:r>
            <a:endParaRPr sz="1200">
              <a:solidFill>
                <a:schemeClr val="dk1"/>
              </a:solidFill>
              <a:latin typeface="Calibri"/>
              <a:ea typeface="Calibri"/>
              <a:cs typeface="Calibri"/>
              <a:sym typeface="Calibri"/>
            </a:endParaRPr>
          </a:p>
        </p:txBody>
      </p:sp>
      <p:sp>
        <p:nvSpPr>
          <p:cNvPr id="3692" name="Google Shape;3692;p130"/>
          <p:cNvSpPr/>
          <p:nvPr/>
        </p:nvSpPr>
        <p:spPr>
          <a:xfrm>
            <a:off x="411502" y="3348930"/>
            <a:ext cx="83214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800"/>
              <a:buFont typeface="Arial"/>
              <a:buNone/>
            </a:pPr>
            <a:r>
              <a:rPr b="1" lang="en-GB" sz="800">
                <a:solidFill>
                  <a:srgbClr val="94A3B8"/>
                </a:solidFill>
                <a:latin typeface="Arial"/>
                <a:ea typeface="Arial"/>
                <a:cs typeface="Arial"/>
                <a:sym typeface="Arial"/>
              </a:rPr>
              <a:t>SCOREBOARD HEADER</a:t>
            </a:r>
            <a:endParaRPr sz="800">
              <a:solidFill>
                <a:schemeClr val="dk1"/>
              </a:solidFill>
              <a:latin typeface="Calibri"/>
              <a:ea typeface="Calibri"/>
              <a:cs typeface="Calibri"/>
              <a:sym typeface="Calibri"/>
            </a:endParaRPr>
          </a:p>
        </p:txBody>
      </p:sp>
      <p:sp>
        <p:nvSpPr>
          <p:cNvPr id="3693" name="Google Shape;3693;p130"/>
          <p:cNvSpPr/>
          <p:nvPr/>
        </p:nvSpPr>
        <p:spPr>
          <a:xfrm>
            <a:off x="411502" y="3588960"/>
            <a:ext cx="8321400" cy="342900"/>
          </a:xfrm>
          <a:prstGeom prst="roundRect">
            <a:avLst>
              <a:gd fmla="val 16000" name="adj"/>
            </a:avLst>
          </a:prstGeom>
          <a:solidFill>
            <a:srgbClr val="1C2B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694" name="Google Shape;3694;p130"/>
          <p:cNvSpPr/>
          <p:nvPr/>
        </p:nvSpPr>
        <p:spPr>
          <a:xfrm>
            <a:off x="411502" y="3588960"/>
            <a:ext cx="16644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Arial"/>
              <a:buNone/>
            </a:pPr>
            <a:r>
              <a:rPr b="1" lang="en-GB" sz="900">
                <a:solidFill>
                  <a:srgbClr val="FFFFFF"/>
                </a:solidFill>
                <a:latin typeface="Arial"/>
                <a:ea typeface="Arial"/>
                <a:cs typeface="Arial"/>
                <a:sym typeface="Arial"/>
              </a:rPr>
              <a:t>Mission #</a:t>
            </a:r>
            <a:endParaRPr sz="900">
              <a:solidFill>
                <a:schemeClr val="dk1"/>
              </a:solidFill>
              <a:latin typeface="Calibri"/>
              <a:ea typeface="Calibri"/>
              <a:cs typeface="Calibri"/>
              <a:sym typeface="Calibri"/>
            </a:endParaRPr>
          </a:p>
        </p:txBody>
      </p:sp>
      <p:sp>
        <p:nvSpPr>
          <p:cNvPr id="3695" name="Google Shape;3695;p130"/>
          <p:cNvSpPr/>
          <p:nvPr/>
        </p:nvSpPr>
        <p:spPr>
          <a:xfrm>
            <a:off x="2075753" y="3588960"/>
            <a:ext cx="16644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Arial"/>
              <a:buNone/>
            </a:pPr>
            <a:r>
              <a:rPr b="1" lang="en-GB" sz="900">
                <a:solidFill>
                  <a:srgbClr val="FFFFFF"/>
                </a:solidFill>
                <a:latin typeface="Arial"/>
                <a:ea typeface="Arial"/>
                <a:cs typeface="Arial"/>
                <a:sym typeface="Arial"/>
              </a:rPr>
              <a:t>SO ID</a:t>
            </a:r>
            <a:endParaRPr sz="900">
              <a:solidFill>
                <a:schemeClr val="dk1"/>
              </a:solidFill>
              <a:latin typeface="Calibri"/>
              <a:ea typeface="Calibri"/>
              <a:cs typeface="Calibri"/>
              <a:sym typeface="Calibri"/>
            </a:endParaRPr>
          </a:p>
        </p:txBody>
      </p:sp>
      <p:cxnSp>
        <p:nvCxnSpPr>
          <p:cNvPr id="3696" name="Google Shape;3696;p130"/>
          <p:cNvCxnSpPr/>
          <p:nvPr/>
        </p:nvCxnSpPr>
        <p:spPr>
          <a:xfrm>
            <a:off x="2075753" y="3643824"/>
            <a:ext cx="0" cy="233100"/>
          </a:xfrm>
          <a:prstGeom prst="straightConnector1">
            <a:avLst/>
          </a:prstGeom>
          <a:noFill/>
          <a:ln cap="flat" cmpd="sng" w="12700">
            <a:solidFill>
              <a:srgbClr val="32495F"/>
            </a:solidFill>
            <a:prstDash val="solid"/>
            <a:round/>
            <a:headEnd len="sm" w="sm" type="none"/>
            <a:tailEnd len="sm" w="sm" type="none"/>
          </a:ln>
        </p:spPr>
      </p:cxnSp>
      <p:sp>
        <p:nvSpPr>
          <p:cNvPr id="3697" name="Google Shape;3697;p130"/>
          <p:cNvSpPr/>
          <p:nvPr/>
        </p:nvSpPr>
        <p:spPr>
          <a:xfrm>
            <a:off x="3740004" y="3588960"/>
            <a:ext cx="16644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Arial"/>
              <a:buNone/>
            </a:pPr>
            <a:r>
              <a:rPr b="1" lang="en-GB" sz="900">
                <a:solidFill>
                  <a:srgbClr val="FFFFFF"/>
                </a:solidFill>
                <a:latin typeface="Arial"/>
                <a:ea typeface="Arial"/>
                <a:cs typeface="Arial"/>
                <a:sym typeface="Arial"/>
              </a:rPr>
              <a:t>DN / SWO ID</a:t>
            </a:r>
            <a:endParaRPr sz="900">
              <a:solidFill>
                <a:schemeClr val="dk1"/>
              </a:solidFill>
              <a:latin typeface="Calibri"/>
              <a:ea typeface="Calibri"/>
              <a:cs typeface="Calibri"/>
              <a:sym typeface="Calibri"/>
            </a:endParaRPr>
          </a:p>
        </p:txBody>
      </p:sp>
      <p:cxnSp>
        <p:nvCxnSpPr>
          <p:cNvPr id="3698" name="Google Shape;3698;p130"/>
          <p:cNvCxnSpPr/>
          <p:nvPr/>
        </p:nvCxnSpPr>
        <p:spPr>
          <a:xfrm>
            <a:off x="3740004" y="3643824"/>
            <a:ext cx="0" cy="233100"/>
          </a:xfrm>
          <a:prstGeom prst="straightConnector1">
            <a:avLst/>
          </a:prstGeom>
          <a:noFill/>
          <a:ln cap="flat" cmpd="sng" w="12700">
            <a:solidFill>
              <a:srgbClr val="32495F"/>
            </a:solidFill>
            <a:prstDash val="solid"/>
            <a:round/>
            <a:headEnd len="sm" w="sm" type="none"/>
            <a:tailEnd len="sm" w="sm" type="none"/>
          </a:ln>
        </p:spPr>
      </p:cxnSp>
      <p:sp>
        <p:nvSpPr>
          <p:cNvPr id="3699" name="Google Shape;3699;p130"/>
          <p:cNvSpPr/>
          <p:nvPr/>
        </p:nvSpPr>
        <p:spPr>
          <a:xfrm>
            <a:off x="5404255" y="3588960"/>
            <a:ext cx="16644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Arial"/>
              <a:buNone/>
            </a:pPr>
            <a:r>
              <a:rPr b="1" lang="en-GB" sz="900">
                <a:solidFill>
                  <a:srgbClr val="FFFFFF"/>
                </a:solidFill>
                <a:latin typeface="Arial"/>
                <a:ea typeface="Arial"/>
                <a:cs typeface="Arial"/>
                <a:sym typeface="Arial"/>
              </a:rPr>
              <a:t>Trap caught?</a:t>
            </a:r>
            <a:endParaRPr sz="900">
              <a:solidFill>
                <a:schemeClr val="dk1"/>
              </a:solidFill>
              <a:latin typeface="Calibri"/>
              <a:ea typeface="Calibri"/>
              <a:cs typeface="Calibri"/>
              <a:sym typeface="Calibri"/>
            </a:endParaRPr>
          </a:p>
        </p:txBody>
      </p:sp>
      <p:cxnSp>
        <p:nvCxnSpPr>
          <p:cNvPr id="3700" name="Google Shape;3700;p130"/>
          <p:cNvCxnSpPr/>
          <p:nvPr/>
        </p:nvCxnSpPr>
        <p:spPr>
          <a:xfrm>
            <a:off x="5404255" y="3643824"/>
            <a:ext cx="0" cy="233100"/>
          </a:xfrm>
          <a:prstGeom prst="straightConnector1">
            <a:avLst/>
          </a:prstGeom>
          <a:noFill/>
          <a:ln cap="flat" cmpd="sng" w="12700">
            <a:solidFill>
              <a:srgbClr val="32495F"/>
            </a:solidFill>
            <a:prstDash val="solid"/>
            <a:round/>
            <a:headEnd len="sm" w="sm" type="none"/>
            <a:tailEnd len="sm" w="sm" type="none"/>
          </a:ln>
        </p:spPr>
      </p:cxnSp>
      <p:sp>
        <p:nvSpPr>
          <p:cNvPr id="3701" name="Google Shape;3701;p130"/>
          <p:cNvSpPr/>
          <p:nvPr/>
        </p:nvSpPr>
        <p:spPr>
          <a:xfrm>
            <a:off x="7068506" y="3588960"/>
            <a:ext cx="16644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Arial"/>
              <a:buNone/>
            </a:pPr>
            <a:r>
              <a:rPr b="1" lang="en-GB" sz="900">
                <a:solidFill>
                  <a:srgbClr val="FFFFFF"/>
                </a:solidFill>
                <a:latin typeface="Arial"/>
                <a:ea typeface="Arial"/>
                <a:cs typeface="Arial"/>
                <a:sym typeface="Arial"/>
              </a:rPr>
              <a:t>QC ✓ / ✗</a:t>
            </a:r>
            <a:endParaRPr sz="900">
              <a:solidFill>
                <a:schemeClr val="dk1"/>
              </a:solidFill>
              <a:latin typeface="Calibri"/>
              <a:ea typeface="Calibri"/>
              <a:cs typeface="Calibri"/>
              <a:sym typeface="Calibri"/>
            </a:endParaRPr>
          </a:p>
        </p:txBody>
      </p:sp>
      <p:cxnSp>
        <p:nvCxnSpPr>
          <p:cNvPr id="3702" name="Google Shape;3702;p130"/>
          <p:cNvCxnSpPr/>
          <p:nvPr/>
        </p:nvCxnSpPr>
        <p:spPr>
          <a:xfrm>
            <a:off x="7068506" y="3643824"/>
            <a:ext cx="0" cy="233100"/>
          </a:xfrm>
          <a:prstGeom prst="straightConnector1">
            <a:avLst/>
          </a:prstGeom>
          <a:noFill/>
          <a:ln cap="flat" cmpd="sng" w="12700">
            <a:solidFill>
              <a:srgbClr val="32495F"/>
            </a:solidFill>
            <a:prstDash val="solid"/>
            <a:round/>
            <a:headEnd len="sm" w="sm" type="none"/>
            <a:tailEnd len="sm" w="sm" type="none"/>
          </a:ln>
        </p:spPr>
      </p:cxnSp>
      <p:sp>
        <p:nvSpPr>
          <p:cNvPr id="3703" name="Google Shape;3703;p130"/>
          <p:cNvSpPr/>
          <p:nvPr/>
        </p:nvSpPr>
        <p:spPr>
          <a:xfrm>
            <a:off x="411502" y="4069020"/>
            <a:ext cx="8321400" cy="342900"/>
          </a:xfrm>
          <a:prstGeom prst="roundRect">
            <a:avLst>
              <a:gd fmla="val 50000" name="adj"/>
            </a:avLst>
          </a:prstGeom>
          <a:solidFill>
            <a:srgbClr val="DC4C3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704" name="Google Shape;3704;p130"/>
          <p:cNvSpPr/>
          <p:nvPr/>
        </p:nvSpPr>
        <p:spPr>
          <a:xfrm>
            <a:off x="411502" y="4069020"/>
            <a:ext cx="83214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lang="en-GB" sz="1100">
                <a:solidFill>
                  <a:srgbClr val="FFFFFF"/>
                </a:solidFill>
                <a:latin typeface="Arial"/>
                <a:ea typeface="Arial"/>
                <a:cs typeface="Arial"/>
                <a:sym typeface="Arial"/>
              </a:rPr>
              <a:t>Looks done but wrong = 0</a:t>
            </a:r>
            <a:endParaRPr sz="1100">
              <a:solidFill>
                <a:schemeClr val="dk1"/>
              </a:solidFill>
              <a:latin typeface="Calibri"/>
              <a:ea typeface="Calibri"/>
              <a:cs typeface="Calibri"/>
              <a:sym typeface="Calibri"/>
            </a:endParaRPr>
          </a:p>
        </p:txBody>
      </p:sp>
      <p:sp>
        <p:nvSpPr>
          <p:cNvPr id="3705" name="Google Shape;3705;p130"/>
          <p:cNvSpPr txBox="1"/>
          <p:nvPr>
            <p:ph idx="12" type="sldNum"/>
          </p:nvPr>
        </p:nvSpPr>
        <p:spPr>
          <a:xfrm>
            <a:off x="8347216" y="4750189"/>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1B2B3E"/>
      </a:dk1>
      <a:lt1>
        <a:srgbClr val="FFFFFF"/>
      </a:lt1>
      <a:dk2>
        <a:srgbClr val="44546A"/>
      </a:dk2>
      <a:lt2>
        <a:srgbClr val="E7E6E6"/>
      </a:lt2>
      <a:accent1>
        <a:srgbClr val="E8821F"/>
      </a:accent1>
      <a:accent2>
        <a:srgbClr val="FBEBD9"/>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