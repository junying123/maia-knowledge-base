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8" Type="http://schemas.openxmlformats.org/officeDocument/2006/relationships/tableStyles" Target="tableStyles.xml"/><Relationship Id="rId27" Type="http://schemas.openxmlformats.org/officeDocument/2006/relationships/viewProps" Target="viewProps.xml"/><Relationship Id="rId26" Type="http://schemas.openxmlformats.org/officeDocument/2006/relationships/presProps" Target="presProps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by naming the purpose: this is hands-on UAT, not a demo. The session succeeds only if we can make a defensible Green/Amber/Red call by 3:15.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Emphasise: we test prohibited actions as well as permitted ones. A control that has never been tried is not a control.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Highlighted rows are hands-on. Keep the walkthrough to one order and 15 minutes — no feature tour.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the tone: finding defects today is a good outcome, not an embarrassment.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single most misunderstood rule. Make Queenie and Ben repeat it back before moving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this early and plainly. If the client discovers a gap themselves later in the session, trust drops.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client-facing wording almost verbatim. This slide protects the defect log from noise.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dwell. This slide exists to make the after-state feel earned.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Confirm out loud with David that Approach 1 is still the adopted model before starting the scenarios.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not theoretical. QA has attempted each one; we will re-attempt live in the scenarios. Credit-override authority sits with the credit controllers — David, Grace and Apple — not with CJ or sales. Price authority stays with David and CJ only; Grace and Apple can view any price but never set 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Scenario 1. Keep to the window. If the scenario stalls, log the blocker and move on — the decision at 3:15 matters more than a completed run.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Scenario 2. Keep to the window. If the scenario stalls, log the blocker and move on — the decision at 3:15 matters more than a completed run.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Scenario 3. Keep to the window. If the scenario stalls, log the blocker and move on — the decision at 3:15 matters more than a completed run.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Steps 1-5 are technical. Step 6 is the commercial moment. Steps 7-9 are the support model: hypercare WhatsApp group, subscription start with the set-up fee balance held against delivery of all customisations, and a virtual UAT for each customisation as it ships.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result out loud, confirm it with David, and confirm the owner and date of every open item before anyone leaves.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21040" y="-2194560"/>
            <a:ext cx="6949440" cy="6949440"/>
          </a:xfrm>
          <a:prstGeom prst="ellipse">
            <a:avLst/>
          </a:prstGeom>
          <a:solidFill>
            <a:srgbClr val="1C1C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692640" y="3566160"/>
            <a:ext cx="4023360" cy="4023360"/>
          </a:xfrm>
          <a:prstGeom prst="ellipse">
            <a:avLst/>
          </a:prstGeom>
          <a:solidFill>
            <a:srgbClr val="1A1A2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457200"/>
            <a:ext cx="27432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m</a:t>
            </a:r>
            <a:r>
              <a:rPr lang="en-US" sz="3400" b="1" dirty="0">
                <a:solidFill>
                  <a:srgbClr val="E8945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a</a:t>
            </a:r>
            <a:r>
              <a:rPr lang="en-US" sz="34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ia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66928" y="187452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40" dirty="0">
                <a:solidFill>
                  <a:srgbClr val="E8945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USER ACCEPTANCE TESTING  ·  GO-LIVE READINESS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66928" y="2212848"/>
            <a:ext cx="841248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Macro Frozen × MAIA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566928" y="2962656"/>
            <a:ext cx="841248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2D3B6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Core Order Workflow UAT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566928" y="3858768"/>
            <a:ext cx="85953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A9A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run by AutorunBiz PLT × MAIA   ·   Facilitator: Ivan   ·   Walkthrough: Gareth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66928" y="4709160"/>
            <a:ext cx="292608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28 July 2026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66928" y="5047488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8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Frozen office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767328" y="4709160"/>
            <a:ext cx="292608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1:00 – 3:15 p.m.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767328" y="5047488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8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stop 3:15 p.m.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001000" y="2103120"/>
            <a:ext cx="3611880" cy="2331720"/>
          </a:xfrm>
          <a:prstGeom prst="roundRect">
            <a:avLst>
              <a:gd name="adj" fmla="val 4706"/>
            </a:avLst>
          </a:prstGeom>
          <a:solidFill>
            <a:srgbClr val="1E1E26"/>
          </a:solidFill>
          <a:ln w="12700">
            <a:solidFill>
              <a:srgbClr val="3333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21040" y="2377440"/>
            <a:ext cx="301752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60" dirty="0">
                <a:solidFill>
                  <a:srgbClr val="E8945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THE ONLY OUTPUT THAT MATTERS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8321040" y="2697480"/>
            <a:ext cx="301752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A go-live decision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by 3:15 p.m.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8321040" y="3584448"/>
            <a:ext cx="868680" cy="310896"/>
          </a:xfrm>
          <a:prstGeom prst="roundRect">
            <a:avLst>
              <a:gd name="adj" fmla="val 147059"/>
            </a:avLst>
          </a:prstGeom>
          <a:solidFill>
            <a:srgbClr val="2E8B62"/>
          </a:solidFill>
          <a:ln w="12700">
            <a:solidFill>
              <a:srgbClr val="2E8B6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21040" y="3584448"/>
            <a:ext cx="86868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2E2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GREEN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9281160" y="3584448"/>
            <a:ext cx="868680" cy="310896"/>
          </a:xfrm>
          <a:prstGeom prst="roundRect">
            <a:avLst>
              <a:gd name="adj" fmla="val 147059"/>
            </a:avLst>
          </a:prstGeom>
          <a:solidFill>
            <a:srgbClr val="D2941F"/>
          </a:solidFill>
          <a:ln w="12700">
            <a:solidFill>
              <a:srgbClr val="D2941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281160" y="3584448"/>
            <a:ext cx="86868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E22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AMBER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10241280" y="3584448"/>
            <a:ext cx="868680" cy="310896"/>
          </a:xfrm>
          <a:prstGeom prst="roundRect">
            <a:avLst>
              <a:gd name="adj" fmla="val 147059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241280" y="3584448"/>
            <a:ext cx="86868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E131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RED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8321040" y="4005072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A9A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Evidence-based, not opinion-based.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100584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06E2C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PURPOSE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06070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121216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What today decides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66928" y="1325880"/>
            <a:ext cx="106070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65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 hands-on User Acceptance Test, not a product demonstration. We are checking whether your team can run the core order workflow themselves.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66928" y="1920240"/>
            <a:ext cx="2418588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ADFD3"/>
            </a:solidFill>
            <a:prstDash val="solid"/>
          </a:ln>
          <a:effectLst>
            <a:outerShdw blurRad="177800" dist="38100" dir="5400000" algn="bl" rotWithShape="0">
              <a:srgbClr val="B9895E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41248" y="2194560"/>
            <a:ext cx="365760" cy="365760"/>
          </a:xfrm>
          <a:prstGeom prst="ellipse">
            <a:avLst/>
          </a:prstGeom>
          <a:solidFill>
            <a:srgbClr val="E8945A"/>
          </a:solidFill>
          <a:ln w="12700">
            <a:solidFill>
              <a:srgbClr val="E8945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219456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41248" y="2697480"/>
            <a:ext cx="1869948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21216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The workflow works end to end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41248" y="3401568"/>
            <a:ext cx="1869948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65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order → Sales Order → Pick List → Delivery Note → Invoice → SQL.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96412" y="1920240"/>
            <a:ext cx="2418588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ADFD3"/>
            </a:solidFill>
            <a:prstDash val="solid"/>
          </a:ln>
          <a:effectLst>
            <a:outerShdw blurRad="177800" dist="38100" dir="5400000" algn="bl" rotWithShape="0">
              <a:srgbClr val="B9895E">
                <a:alpha val="1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570732" y="2194560"/>
            <a:ext cx="365760" cy="365760"/>
          </a:xfrm>
          <a:prstGeom prst="ellipse">
            <a:avLst/>
          </a:prstGeom>
          <a:solidFill>
            <a:srgbClr val="E8945A"/>
          </a:solidFill>
          <a:ln w="12700">
            <a:solidFill>
              <a:srgbClr val="E8945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70732" y="219456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570732" y="2697480"/>
            <a:ext cx="1869948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21216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Each user can do their own job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570732" y="3401568"/>
            <a:ext cx="1869948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65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Gareth driving. Your people, your accounts, your roles.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025896" y="1920240"/>
            <a:ext cx="2418588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ADFD3"/>
            </a:solidFill>
            <a:prstDash val="solid"/>
          </a:ln>
          <a:effectLst>
            <a:outerShdw blurRad="177800" dist="38100" dir="5400000" algn="bl" rotWithShape="0">
              <a:srgbClr val="B9895E">
                <a:alpha val="1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300216" y="2194560"/>
            <a:ext cx="365760" cy="365760"/>
          </a:xfrm>
          <a:prstGeom prst="ellipse">
            <a:avLst/>
          </a:prstGeom>
          <a:solidFill>
            <a:srgbClr val="E8945A"/>
          </a:solidFill>
          <a:ln w="12700">
            <a:solidFill>
              <a:srgbClr val="E8945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00216" y="219456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300216" y="2697480"/>
            <a:ext cx="1869948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21216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Controls block what they should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300216" y="3401568"/>
            <a:ext cx="1869948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65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Permissions, price approval tiers and credit checks are tested by trying to break them.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755380" y="1920240"/>
            <a:ext cx="2418588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ADFD3"/>
            </a:solidFill>
            <a:prstDash val="solid"/>
          </a:ln>
          <a:effectLst>
            <a:outerShdw blurRad="177800" dist="38100" dir="5400000" algn="bl" rotWithShape="0">
              <a:srgbClr val="B9895E">
                <a:alpha val="1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029700" y="2194560"/>
            <a:ext cx="365760" cy="365760"/>
          </a:xfrm>
          <a:prstGeom prst="ellipse">
            <a:avLst/>
          </a:prstGeom>
          <a:solidFill>
            <a:srgbClr val="E8945A"/>
          </a:solidFill>
          <a:ln w="12700">
            <a:solidFill>
              <a:srgbClr val="E8945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029700" y="219456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029700" y="2697480"/>
            <a:ext cx="1869948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21216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The workflow is safe to go live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9029700" y="3401568"/>
            <a:ext cx="1869948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65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the final production-data synchronisation.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66928" y="4526280"/>
            <a:ext cx="10607040" cy="914400"/>
          </a:xfrm>
          <a:prstGeom prst="roundRect">
            <a:avLst>
              <a:gd name="adj" fmla="val 10000"/>
            </a:avLst>
          </a:prstGeom>
          <a:solidFill>
            <a:srgbClr val="F9E6D5"/>
          </a:solidFill>
          <a:ln w="12700">
            <a:solidFill>
              <a:srgbClr val="F2D3B6"/>
            </a:solidFill>
            <a:prstDash val="solid"/>
          </a:ln>
          <a:effectLst>
            <a:outerShdw blurRad="177800" dist="38100" dir="5400000" algn="bl" rotWithShape="0">
              <a:srgbClr val="B9895E">
                <a:alpha val="16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932688" y="4700016"/>
            <a:ext cx="100584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21216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Success = the evidence supports a clear Green, Amber or Red decision before 3:15 p.m.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932688" y="5029200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06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Anything we cannot prove today becomes a logged defect with an owner and a date — not an assumption.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100584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06E2C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RUNNING ORDER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06070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121216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Agenda — 1:00 to 3:15 p.m.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66928" y="1371600"/>
            <a:ext cx="8138160" cy="484632"/>
          </a:xfrm>
          <a:prstGeom prst="roundRect">
            <a:avLst>
              <a:gd name="adj" fmla="val 18868"/>
            </a:avLst>
          </a:prstGeom>
          <a:solidFill>
            <a:srgbClr val="FFFFFF"/>
          </a:solidFill>
          <a:ln w="12700">
            <a:solidFill>
              <a:srgbClr val="EADFD3"/>
            </a:solidFill>
            <a:prstDash val="solid"/>
          </a:ln>
          <a:effectLst>
            <a:outerShdw blurRad="177800" dist="38100" dir="5400000" algn="bl" rotWithShape="0">
              <a:srgbClr val="B9895E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68096" y="1399032"/>
            <a:ext cx="1371600" cy="4297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21216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1:00 – 1:15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2212848" y="1399032"/>
            <a:ext cx="4663440" cy="4297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212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Introduction, changes since last UAT, data notice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922008" y="1399032"/>
            <a:ext cx="1645920" cy="4297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565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Ivan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66928" y="1938528"/>
            <a:ext cx="8138160" cy="484632"/>
          </a:xfrm>
          <a:prstGeom prst="roundRect">
            <a:avLst>
              <a:gd name="adj" fmla="val 18868"/>
            </a:avLst>
          </a:prstGeom>
          <a:solidFill>
            <a:srgbClr val="FFFFFF"/>
          </a:solidFill>
          <a:ln w="12700">
            <a:solidFill>
              <a:srgbClr val="EADFD3"/>
            </a:solidFill>
            <a:prstDash val="solid"/>
          </a:ln>
          <a:effectLst>
            <a:outerShdw blurRad="177800" dist="38100" dir="5400000" algn="bl" rotWithShape="0">
              <a:srgbClr val="B9895E">
                <a:alpha val="1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68096" y="1965960"/>
            <a:ext cx="1371600" cy="4297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21216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1:15 – 1:30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2212848" y="1965960"/>
            <a:ext cx="4663440" cy="4297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212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One-order guided walkthrough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922008" y="1965960"/>
            <a:ext cx="1645920" cy="4297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565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Gareth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66928" y="2505456"/>
            <a:ext cx="8138160" cy="484632"/>
          </a:xfrm>
          <a:prstGeom prst="roundRect">
            <a:avLst>
              <a:gd name="adj" fmla="val 18868"/>
            </a:avLst>
          </a:prstGeom>
          <a:solidFill>
            <a:srgbClr val="FFFFFF"/>
          </a:solidFill>
          <a:ln w="12700">
            <a:solidFill>
              <a:srgbClr val="EADFD3"/>
            </a:solidFill>
            <a:prstDash val="solid"/>
          </a:ln>
          <a:effectLst>
            <a:outerShdw blurRad="177800" dist="38100" dir="5400000" algn="bl" rotWithShape="0">
              <a:srgbClr val="B9895E">
                <a:alpha val="16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68096" y="2532888"/>
            <a:ext cx="1371600" cy="4297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21216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1:30 – 1:40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2212848" y="2532888"/>
            <a:ext cx="4663440" cy="4297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212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operating model and roles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922008" y="2532888"/>
            <a:ext cx="1645920" cy="4297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565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Ivan + David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66928" y="3072384"/>
            <a:ext cx="8138160" cy="484632"/>
          </a:xfrm>
          <a:prstGeom prst="roundRect">
            <a:avLst>
              <a:gd name="adj" fmla="val 18868"/>
            </a:avLst>
          </a:prstGeom>
          <a:solidFill>
            <a:srgbClr val="F9E6D5"/>
          </a:solidFill>
          <a:ln w="12700">
            <a:solidFill>
              <a:srgbClr val="F2D3B6"/>
            </a:solidFill>
            <a:prstDash val="solid"/>
          </a:ln>
          <a:effectLst>
            <a:outerShdw blurRad="177800" dist="38100" dir="5400000" algn="bl" rotWithShape="0">
              <a:srgbClr val="B9895E">
                <a:alpha val="16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68096" y="3099816"/>
            <a:ext cx="1371600" cy="4297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06E2C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1:40 – 2:05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2212848" y="3099816"/>
            <a:ext cx="4663440" cy="4297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212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1 — Lead → Customer → non-PO kg order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922008" y="3099816"/>
            <a:ext cx="1645920" cy="4297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565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Queenie + team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66928" y="3639312"/>
            <a:ext cx="8138160" cy="484632"/>
          </a:xfrm>
          <a:prstGeom prst="roundRect">
            <a:avLst>
              <a:gd name="adj" fmla="val 18868"/>
            </a:avLst>
          </a:prstGeom>
          <a:solidFill>
            <a:srgbClr val="F9E6D5"/>
          </a:solidFill>
          <a:ln w="12700">
            <a:solidFill>
              <a:srgbClr val="F2D3B6"/>
            </a:solidFill>
            <a:prstDash val="solid"/>
          </a:ln>
          <a:effectLst>
            <a:outerShdw blurRad="177800" dist="38100" dir="5400000" algn="bl" rotWithShape="0">
              <a:srgbClr val="B9895E">
                <a:alpha val="16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68096" y="3666744"/>
            <a:ext cx="1371600" cy="4297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06E2C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2:05 – 2:30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2212848" y="3666744"/>
            <a:ext cx="4663440" cy="4297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212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2 — formal PO and carton order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922008" y="3666744"/>
            <a:ext cx="1645920" cy="4297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565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Grace, Ben, CJ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66928" y="4206240"/>
            <a:ext cx="8138160" cy="484632"/>
          </a:xfrm>
          <a:prstGeom prst="roundRect">
            <a:avLst>
              <a:gd name="adj" fmla="val 18868"/>
            </a:avLst>
          </a:prstGeom>
          <a:solidFill>
            <a:srgbClr val="F9E6D5"/>
          </a:solidFill>
          <a:ln w="12700">
            <a:solidFill>
              <a:srgbClr val="F2D3B6"/>
            </a:solidFill>
            <a:prstDash val="solid"/>
          </a:ln>
          <a:effectLst>
            <a:outerShdw blurRad="177800" dist="38100" dir="5400000" algn="bl" rotWithShape="0">
              <a:srgbClr val="B9895E">
                <a:alpha val="16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68096" y="4233672"/>
            <a:ext cx="1371600" cy="4297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06E2C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2:30 – 3:05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2212848" y="4233672"/>
            <a:ext cx="4663440" cy="4297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212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3 — live order and Pick List PDF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922008" y="4233672"/>
            <a:ext cx="1645920" cy="4297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565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 Macro Frozen team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66928" y="4773168"/>
            <a:ext cx="8138160" cy="484632"/>
          </a:xfrm>
          <a:prstGeom prst="roundRect">
            <a:avLst>
              <a:gd name="adj" fmla="val 18868"/>
            </a:avLst>
          </a:prstGeom>
          <a:solidFill>
            <a:srgbClr val="FFFFFF"/>
          </a:solidFill>
          <a:ln w="12700">
            <a:solidFill>
              <a:srgbClr val="EADFD3"/>
            </a:solidFill>
            <a:prstDash val="solid"/>
          </a:ln>
          <a:effectLst>
            <a:outerShdw blurRad="177800" dist="38100" dir="5400000" algn="bl" rotWithShape="0">
              <a:srgbClr val="B9895E">
                <a:alpha val="16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768096" y="4800600"/>
            <a:ext cx="1371600" cy="4297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21216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3:05 – 3:15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2212848" y="4800600"/>
            <a:ext cx="4663440" cy="4297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212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and go-live decision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922008" y="4800600"/>
            <a:ext cx="1645920" cy="4297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565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Ivan + David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9006840" y="1371600"/>
            <a:ext cx="2615184" cy="1600200"/>
          </a:xfrm>
          <a:prstGeom prst="roundRect">
            <a:avLst>
              <a:gd name="adj" fmla="val 5714"/>
            </a:avLst>
          </a:prstGeom>
          <a:solidFill>
            <a:srgbClr val="121216"/>
          </a:solidFill>
          <a:ln w="12700">
            <a:solidFill>
              <a:srgbClr val="121216"/>
            </a:solidFill>
            <a:prstDash val="solid"/>
          </a:ln>
          <a:effectLst>
            <a:outerShdw blurRad="177800" dist="38100" dir="5400000" algn="bl" rotWithShape="0">
              <a:srgbClr val="B9895E">
                <a:alpha val="16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9006840" y="1481328"/>
            <a:ext cx="2615184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E8945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85</a:t>
            </a:r>
            <a:endParaRPr lang="en-US" sz="5200" dirty="0"/>
          </a:p>
        </p:txBody>
      </p:sp>
      <p:sp>
        <p:nvSpPr>
          <p:cNvPr id="34" name="Text 32"/>
          <p:cNvSpPr/>
          <p:nvPr/>
        </p:nvSpPr>
        <p:spPr>
          <a:xfrm>
            <a:off x="9006840" y="2286000"/>
            <a:ext cx="2615184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B9B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minutes hands-on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B9B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your team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9006840" y="3108960"/>
            <a:ext cx="2615184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ADFD3"/>
            </a:solidFill>
            <a:prstDash val="solid"/>
          </a:ln>
          <a:effectLst>
            <a:outerShdw blurRad="177800" dist="38100" dir="5400000" algn="bl" rotWithShape="0">
              <a:srgbClr val="B9895E">
                <a:alpha val="16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9226296" y="3255264"/>
            <a:ext cx="217627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21216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Parking lot</a:t>
            </a:r>
            <a:endParaRPr lang="en-US" sz="1350" dirty="0"/>
          </a:p>
        </p:txBody>
      </p:sp>
      <p:sp>
        <p:nvSpPr>
          <p:cNvPr id="37" name="Text 35"/>
          <p:cNvSpPr/>
          <p:nvPr/>
        </p:nvSpPr>
        <p:spPr>
          <a:xfrm>
            <a:off x="9226296" y="3547872"/>
            <a:ext cx="2176272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65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Anything off today's scope gets written down and owned — not debated in the room.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9006840" y="4526280"/>
            <a:ext cx="2615184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8945A"/>
            </a:solidFill>
            <a:prstDash val="solid"/>
          </a:ln>
          <a:effectLst>
            <a:outerShdw blurRad="177800" dist="38100" dir="5400000" algn="bl" rotWithShape="0">
              <a:srgbClr val="B9895E">
                <a:alpha val="16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9226296" y="4617720"/>
            <a:ext cx="217627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C06E2C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Hard stop 3:15 p.m.</a:t>
            </a:r>
            <a:endParaRPr lang="en-US" sz="1350" dirty="0"/>
          </a:p>
        </p:txBody>
      </p:sp>
      <p:sp>
        <p:nvSpPr>
          <p:cNvPr id="40" name="Text 38"/>
          <p:cNvSpPr/>
          <p:nvPr/>
        </p:nvSpPr>
        <p:spPr>
          <a:xfrm>
            <a:off x="9226296" y="4892040"/>
            <a:ext cx="2176272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65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decision is made inside the session.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100584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06E2C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GROUND RULES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06070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121216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How we will run the session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66928" y="1417320"/>
            <a:ext cx="10607040" cy="1024128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12700">
            <a:solidFill>
              <a:srgbClr val="EADFD3"/>
            </a:solidFill>
            <a:prstDash val="solid"/>
          </a:ln>
          <a:effectLst>
            <a:outerShdw blurRad="177800" dist="38100" dir="5400000" algn="bl" rotWithShape="0">
              <a:srgbClr val="B9895E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77824" y="1737360"/>
            <a:ext cx="384048" cy="384048"/>
          </a:xfrm>
          <a:prstGeom prst="ellipse">
            <a:avLst/>
          </a:prstGeom>
          <a:solidFill>
            <a:srgbClr val="E8945A"/>
          </a:solidFill>
          <a:ln w="12700">
            <a:solidFill>
              <a:srgbClr val="E894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77824" y="173736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481328" y="1600200"/>
            <a:ext cx="35661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21216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Your hands on the keyboard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5093208" y="1600200"/>
            <a:ext cx="585216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65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Gareth demonstrates once, then observes. If we have to take over, that is a finding and we log it.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66928" y="2551176"/>
            <a:ext cx="10607040" cy="1024128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12700">
            <a:solidFill>
              <a:srgbClr val="EADFD3"/>
            </a:solidFill>
            <a:prstDash val="solid"/>
          </a:ln>
          <a:effectLst>
            <a:outerShdw blurRad="177800" dist="38100" dir="5400000" algn="bl" rotWithShape="0">
              <a:srgbClr val="B9895E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77824" y="2871216"/>
            <a:ext cx="384048" cy="384048"/>
          </a:xfrm>
          <a:prstGeom prst="ellipse">
            <a:avLst/>
          </a:prstGeom>
          <a:solidFill>
            <a:srgbClr val="E8945A"/>
          </a:solidFill>
          <a:ln w="12700">
            <a:solidFill>
              <a:srgbClr val="E8945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77824" y="2871216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481328" y="2734056"/>
            <a:ext cx="35661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21216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We test what must be blocked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5093208" y="2734056"/>
            <a:ext cx="585216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65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 will try to open Queenie's Lead. Lai will try to submit a Delivery Note. Both must fail.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66928" y="3685032"/>
            <a:ext cx="10607040" cy="1024128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12700">
            <a:solidFill>
              <a:srgbClr val="EADFD3"/>
            </a:solidFill>
            <a:prstDash val="solid"/>
          </a:ln>
          <a:effectLst>
            <a:outerShdw blurRad="177800" dist="38100" dir="5400000" algn="bl" rotWithShape="0">
              <a:srgbClr val="B9895E">
                <a:alpha val="1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77824" y="4005072"/>
            <a:ext cx="384048" cy="384048"/>
          </a:xfrm>
          <a:prstGeom prst="ellipse">
            <a:avLst/>
          </a:prstGeom>
          <a:solidFill>
            <a:srgbClr val="E8945A"/>
          </a:solidFill>
          <a:ln w="12700">
            <a:solidFill>
              <a:srgbClr val="E8945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77824" y="4005072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481328" y="3867912"/>
            <a:ext cx="35661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21216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Known data issue ≠ product defect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5093208" y="3867912"/>
            <a:ext cx="585216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65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logging a missing record: is it after 3 July, or on the known exception list?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66928" y="4818888"/>
            <a:ext cx="10607040" cy="1024128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12700">
            <a:solidFill>
              <a:srgbClr val="EADFD3"/>
            </a:solidFill>
            <a:prstDash val="solid"/>
          </a:ln>
          <a:effectLst>
            <a:outerShdw blurRad="177800" dist="38100" dir="5400000" algn="bl" rotWithShape="0">
              <a:srgbClr val="B9895E">
                <a:alpha val="1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77824" y="5138928"/>
            <a:ext cx="384048" cy="384048"/>
          </a:xfrm>
          <a:prstGeom prst="ellipse">
            <a:avLst/>
          </a:prstGeom>
          <a:solidFill>
            <a:srgbClr val="E8945A"/>
          </a:solidFill>
          <a:ln w="12700">
            <a:solidFill>
              <a:srgbClr val="E8945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77824" y="5138928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481328" y="5001768"/>
            <a:ext cx="35661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21216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Everything unresolved gets an owner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5093208" y="5001768"/>
            <a:ext cx="585216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65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Blocker, impact, workaround, owner, date. No open items leave this room unassigned.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66928" y="5779008"/>
            <a:ext cx="10607040" cy="566928"/>
          </a:xfrm>
          <a:prstGeom prst="roundRect">
            <a:avLst>
              <a:gd name="adj" fmla="val 16129"/>
            </a:avLst>
          </a:prstGeom>
          <a:solidFill>
            <a:srgbClr val="F9E6D5"/>
          </a:solidFill>
          <a:ln w="12700">
            <a:solidFill>
              <a:srgbClr val="F2D3B6"/>
            </a:solidFill>
            <a:prstDash val="solid"/>
          </a:ln>
          <a:effectLst>
            <a:outerShdw blurRad="177800" dist="38100" dir="5400000" algn="bl" rotWithShape="0">
              <a:srgbClr val="B9895E">
                <a:alpha val="16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66928" y="5779008"/>
            <a:ext cx="1060704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i="1" dirty="0">
                <a:solidFill>
                  <a:srgbClr val="C06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something is genuinely broken, we want to find it here — not on Monday with a real customer waiting.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100584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06E2C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CHANGES SINCE THE LAST UAT · 1 OF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06070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121216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What is different this time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66928" y="1481328"/>
            <a:ext cx="3340608" cy="2107692"/>
          </a:xfrm>
          <a:prstGeom prst="roundRect">
            <a:avLst>
              <a:gd name="adj" fmla="val 4338"/>
            </a:avLst>
          </a:prstGeom>
          <a:solidFill>
            <a:srgbClr val="FFFFFF"/>
          </a:solidFill>
          <a:ln w="12700">
            <a:solidFill>
              <a:srgbClr val="EADFD3"/>
            </a:solidFill>
            <a:prstDash val="solid"/>
          </a:ln>
          <a:effectLst>
            <a:outerShdw blurRad="177800" dist="38100" dir="5400000" algn="bl" rotWithShape="0">
              <a:srgbClr val="B9895E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719072"/>
            <a:ext cx="329184" cy="329184"/>
          </a:xfrm>
          <a:prstGeom prst="ellipse">
            <a:avLst/>
          </a:prstGeom>
          <a:solidFill>
            <a:srgbClr val="E8945A"/>
          </a:solidFill>
          <a:ln w="12700">
            <a:solidFill>
              <a:srgbClr val="E894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719072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243584" y="1682496"/>
            <a:ext cx="240792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1216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Leads only — Prospect hidden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2212848"/>
            <a:ext cx="2828544" cy="9189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65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place for new opportunities. Leads carry notes and details, then convert into a Customer with the information intact.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22960" y="3150108"/>
            <a:ext cx="2828544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06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more deciding between Lead and Prospect.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200144" y="1481328"/>
            <a:ext cx="3340608" cy="2107692"/>
          </a:xfrm>
          <a:prstGeom prst="roundRect">
            <a:avLst>
              <a:gd name="adj" fmla="val 4338"/>
            </a:avLst>
          </a:prstGeom>
          <a:solidFill>
            <a:srgbClr val="FFFFFF"/>
          </a:solidFill>
          <a:ln w="12700">
            <a:solidFill>
              <a:srgbClr val="EADFD3"/>
            </a:solidFill>
            <a:prstDash val="solid"/>
          </a:ln>
          <a:effectLst>
            <a:outerShdw blurRad="177800" dist="38100" dir="5400000" algn="bl" rotWithShape="0">
              <a:srgbClr val="B9895E">
                <a:alpha val="1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456176" y="1719072"/>
            <a:ext cx="329184" cy="329184"/>
          </a:xfrm>
          <a:prstGeom prst="ellipse">
            <a:avLst/>
          </a:prstGeom>
          <a:solidFill>
            <a:srgbClr val="E8945A"/>
          </a:solidFill>
          <a:ln w="12700">
            <a:solidFill>
              <a:srgbClr val="E8945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56176" y="1719072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76800" y="1682496"/>
            <a:ext cx="240792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1216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Box orders on kilogram items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456176" y="2212848"/>
            <a:ext cx="2828544" cy="9189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65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agreed method for customers who order in cartons when the item is priced by weight.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456176" y="3150108"/>
            <a:ext cx="2828544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06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the next slide for the exact rule.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833360" y="1481328"/>
            <a:ext cx="3340608" cy="2107692"/>
          </a:xfrm>
          <a:prstGeom prst="roundRect">
            <a:avLst>
              <a:gd name="adj" fmla="val 4338"/>
            </a:avLst>
          </a:prstGeom>
          <a:solidFill>
            <a:srgbClr val="FFFFFF"/>
          </a:solidFill>
          <a:ln w="12700">
            <a:solidFill>
              <a:srgbClr val="EADFD3"/>
            </a:solidFill>
            <a:prstDash val="solid"/>
          </a:ln>
          <a:effectLst>
            <a:outerShdw blurRad="177800" dist="38100" dir="5400000" algn="bl" rotWithShape="0">
              <a:srgbClr val="B9895E">
                <a:alpha val="1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089392" y="1719072"/>
            <a:ext cx="329184" cy="329184"/>
          </a:xfrm>
          <a:prstGeom prst="ellipse">
            <a:avLst/>
          </a:prstGeom>
          <a:solidFill>
            <a:srgbClr val="E8945A"/>
          </a:solidFill>
          <a:ln w="12700">
            <a:solidFill>
              <a:srgbClr val="E8945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089392" y="1719072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510016" y="1682496"/>
            <a:ext cx="240792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1216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Improved Pick List PDF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089392" y="2212848"/>
            <a:ext cx="2828544" cy="9189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65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Clearer customer details, better layout, practical space for handwriting, and re-upload back into MAIA.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089392" y="3150108"/>
            <a:ext cx="2828544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06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be judged in the warehouse, not on screen.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66928" y="3881628"/>
            <a:ext cx="3340608" cy="2107692"/>
          </a:xfrm>
          <a:prstGeom prst="roundRect">
            <a:avLst>
              <a:gd name="adj" fmla="val 4338"/>
            </a:avLst>
          </a:prstGeom>
          <a:solidFill>
            <a:srgbClr val="FFFFFF"/>
          </a:solidFill>
          <a:ln w="12700">
            <a:solidFill>
              <a:srgbClr val="EADFD3"/>
            </a:solidFill>
            <a:prstDash val="solid"/>
          </a:ln>
          <a:effectLst>
            <a:outerShdw blurRad="177800" dist="38100" dir="5400000" algn="bl" rotWithShape="0">
              <a:srgbClr val="B9895E">
                <a:alpha val="16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22960" y="4119372"/>
            <a:ext cx="329184" cy="329184"/>
          </a:xfrm>
          <a:prstGeom prst="ellipse">
            <a:avLst/>
          </a:prstGeom>
          <a:solidFill>
            <a:srgbClr val="E8945A"/>
          </a:solidFill>
          <a:ln w="12700">
            <a:solidFill>
              <a:srgbClr val="E8945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2960" y="4119372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4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243584" y="4082796"/>
            <a:ext cx="240792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1216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Shipping address on Customer Listing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22960" y="4613148"/>
            <a:ext cx="2828544" cy="9189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65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locations are now visible in the listing to help group orders by route or area.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822960" y="5550408"/>
            <a:ext cx="2828544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06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Lai will use this in Scenario 2.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200144" y="3881628"/>
            <a:ext cx="3340608" cy="2107692"/>
          </a:xfrm>
          <a:prstGeom prst="roundRect">
            <a:avLst>
              <a:gd name="adj" fmla="val 4338"/>
            </a:avLst>
          </a:prstGeom>
          <a:solidFill>
            <a:srgbClr val="FFFFFF"/>
          </a:solidFill>
          <a:ln w="12700">
            <a:solidFill>
              <a:srgbClr val="EADFD3"/>
            </a:solidFill>
            <a:prstDash val="solid"/>
          </a:ln>
          <a:effectLst>
            <a:outerShdw blurRad="177800" dist="38100" dir="5400000" algn="bl" rotWithShape="0">
              <a:srgbClr val="B9895E">
                <a:alpha val="16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456176" y="4119372"/>
            <a:ext cx="329184" cy="329184"/>
          </a:xfrm>
          <a:prstGeom prst="ellipse">
            <a:avLst/>
          </a:prstGeom>
          <a:solidFill>
            <a:srgbClr val="E8945A"/>
          </a:solidFill>
          <a:ln w="12700">
            <a:solidFill>
              <a:srgbClr val="E8945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456176" y="4119372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5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876800" y="4082796"/>
            <a:ext cx="240792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1216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Near-expiry and low-stock alerts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4456176" y="4613148"/>
            <a:ext cx="2828544" cy="9189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65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1 has shipped — notifications plus a report, with PDF output for users. Still being improved.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4456176" y="5550408"/>
            <a:ext cx="2828544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06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Refinements land in the first week of August.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7833360" y="3881628"/>
            <a:ext cx="3340608" cy="2107692"/>
          </a:xfrm>
          <a:prstGeom prst="roundRect">
            <a:avLst>
              <a:gd name="adj" fmla="val 4338"/>
            </a:avLst>
          </a:prstGeom>
          <a:solidFill>
            <a:srgbClr val="FFFFFF"/>
          </a:solidFill>
          <a:ln w="12700">
            <a:solidFill>
              <a:srgbClr val="EADFD3"/>
            </a:solidFill>
            <a:prstDash val="solid"/>
          </a:ln>
          <a:effectLst>
            <a:outerShdw blurRad="177800" dist="38100" dir="5400000" algn="bl" rotWithShape="0">
              <a:srgbClr val="B9895E">
                <a:alpha val="16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8089392" y="4119372"/>
            <a:ext cx="329184" cy="329184"/>
          </a:xfrm>
          <a:prstGeom prst="ellipse">
            <a:avLst/>
          </a:prstGeom>
          <a:solidFill>
            <a:srgbClr val="E8945A"/>
          </a:solidFill>
          <a:ln w="12700">
            <a:solidFill>
              <a:srgbClr val="E8945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089392" y="4119372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6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8510016" y="4082796"/>
            <a:ext cx="240792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1216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Excel-like bulk price setting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8089392" y="4613148"/>
            <a:ext cx="2828544" cy="9189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65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Excel-style editing experience with pivot table views by item or by customer.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8089392" y="5550408"/>
            <a:ext cx="2828544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06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awareness — not an acceptance target today.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566928" y="6437376"/>
            <a:ext cx="1106424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A8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on these two slides is presented so nobody mistakes a deliberate change for a defect.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100584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06E2C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CHANGES SINCE THE LAST UAT · 2 OF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06070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121216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What is different this time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66928" y="1481328"/>
            <a:ext cx="5157216" cy="2107692"/>
          </a:xfrm>
          <a:prstGeom prst="roundRect">
            <a:avLst>
              <a:gd name="adj" fmla="val 4338"/>
            </a:avLst>
          </a:prstGeom>
          <a:solidFill>
            <a:srgbClr val="FFFFFF"/>
          </a:solidFill>
          <a:ln w="12700">
            <a:solidFill>
              <a:srgbClr val="EADFD3"/>
            </a:solidFill>
            <a:prstDash val="solid"/>
          </a:ln>
          <a:effectLst>
            <a:outerShdw blurRad="177800" dist="38100" dir="5400000" algn="bl" rotWithShape="0">
              <a:srgbClr val="B9895E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719072"/>
            <a:ext cx="329184" cy="329184"/>
          </a:xfrm>
          <a:prstGeom prst="ellipse">
            <a:avLst/>
          </a:prstGeom>
          <a:solidFill>
            <a:srgbClr val="E8945A"/>
          </a:solidFill>
          <a:ln w="12700">
            <a:solidFill>
              <a:srgbClr val="E894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719072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7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243584" y="1682496"/>
            <a:ext cx="4224528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1216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SQL data synchronised to 3 July 2026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2212848"/>
            <a:ext cx="4645152" cy="9189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65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 synchronisation is loaded, with a short list of known source-data exceptions.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22960" y="3150108"/>
            <a:ext cx="464515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06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Covered in detail in two slides.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016752" y="1481328"/>
            <a:ext cx="5157216" cy="2107692"/>
          </a:xfrm>
          <a:prstGeom prst="roundRect">
            <a:avLst>
              <a:gd name="adj" fmla="val 4338"/>
            </a:avLst>
          </a:prstGeom>
          <a:solidFill>
            <a:srgbClr val="FFFFFF"/>
          </a:solidFill>
          <a:ln w="12700">
            <a:solidFill>
              <a:srgbClr val="EADFD3"/>
            </a:solidFill>
            <a:prstDash val="solid"/>
          </a:ln>
          <a:effectLst>
            <a:outerShdw blurRad="177800" dist="38100" dir="5400000" algn="bl" rotWithShape="0">
              <a:srgbClr val="B9895E">
                <a:alpha val="1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272784" y="1719072"/>
            <a:ext cx="329184" cy="329184"/>
          </a:xfrm>
          <a:prstGeom prst="ellipse">
            <a:avLst/>
          </a:prstGeom>
          <a:solidFill>
            <a:srgbClr val="E8945A"/>
          </a:solidFill>
          <a:ln w="12700">
            <a:solidFill>
              <a:srgbClr val="E8945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72784" y="1719072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8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693408" y="1682496"/>
            <a:ext cx="4224528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1216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SCN / CCN adapter hardening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272784" y="2212848"/>
            <a:ext cx="4645152" cy="9189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65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document flows work today, but the adapter is still being hardened.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272784" y="3150108"/>
            <a:ext cx="464515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06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first week of August.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66928" y="3881628"/>
            <a:ext cx="5157216" cy="2107692"/>
          </a:xfrm>
          <a:prstGeom prst="roundRect">
            <a:avLst>
              <a:gd name="adj" fmla="val 4338"/>
            </a:avLst>
          </a:prstGeom>
          <a:solidFill>
            <a:srgbClr val="FFFFFF"/>
          </a:solidFill>
          <a:ln w="12700">
            <a:solidFill>
              <a:srgbClr val="EADFD3"/>
            </a:solidFill>
            <a:prstDash val="solid"/>
          </a:ln>
          <a:effectLst>
            <a:outerShdw blurRad="177800" dist="38100" dir="5400000" algn="bl" rotWithShape="0">
              <a:srgbClr val="B9895E">
                <a:alpha val="1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22960" y="4119372"/>
            <a:ext cx="329184" cy="329184"/>
          </a:xfrm>
          <a:prstGeom prst="ellipse">
            <a:avLst/>
          </a:prstGeom>
          <a:solidFill>
            <a:srgbClr val="E8945A"/>
          </a:solidFill>
          <a:ln w="12700">
            <a:solidFill>
              <a:srgbClr val="E8945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4119372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9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243584" y="4082796"/>
            <a:ext cx="4224528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1216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Purchasing page hidden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22960" y="4613148"/>
            <a:ext cx="4645152" cy="9189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65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MAIA does not support a Purchasing Module for Macro Frozen. Hiding the page also keeps costing information out of view for current users.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22960" y="5550408"/>
            <a:ext cx="464515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06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 builds a habit on a workflow we do not run.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016752" y="3881628"/>
            <a:ext cx="5157216" cy="2107692"/>
          </a:xfrm>
          <a:prstGeom prst="roundRect">
            <a:avLst>
              <a:gd name="adj" fmla="val 4338"/>
            </a:avLst>
          </a:prstGeom>
          <a:solidFill>
            <a:srgbClr val="FFFFFF"/>
          </a:solidFill>
          <a:ln w="12700">
            <a:solidFill>
              <a:srgbClr val="EADFD3"/>
            </a:solidFill>
            <a:prstDash val="solid"/>
          </a:ln>
          <a:effectLst>
            <a:outerShdw blurRad="177800" dist="38100" dir="5400000" algn="bl" rotWithShape="0">
              <a:srgbClr val="B9895E">
                <a:alpha val="16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272784" y="4119372"/>
            <a:ext cx="329184" cy="329184"/>
          </a:xfrm>
          <a:prstGeom prst="ellipse">
            <a:avLst/>
          </a:prstGeom>
          <a:solidFill>
            <a:srgbClr val="E8945A"/>
          </a:solidFill>
          <a:ln w="12700">
            <a:solidFill>
              <a:srgbClr val="E8945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72784" y="4119372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10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693408" y="4082796"/>
            <a:ext cx="4224528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1216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Goods Receive Note stays in SQL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272784" y="4613148"/>
            <a:ext cx="4645152" cy="9189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65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GRN creation, stock receiving and purchasing-related stock entry continue in SQL, unchanged.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272784" y="5550408"/>
            <a:ext cx="464515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06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design — not a gap in today's test.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566928" y="6437376"/>
            <a:ext cx="1106424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A8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on these two slides is presented so nobody mistakes a deliberate change for a defect.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100584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06E2C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THE RULE THAT MATTERS MOST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06070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121216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Kilograms, cartons, and what actually gets billed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66928" y="1298448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65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billed quantity is always the actual picked weight. Never a guess made at order entry.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66928" y="1783080"/>
            <a:ext cx="512064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EADFD3"/>
            </a:solidFill>
            <a:prstDash val="solid"/>
          </a:ln>
          <a:effectLst>
            <a:outerShdw blurRad="177800" dist="38100" dir="5400000" algn="bl" rotWithShape="0">
              <a:srgbClr val="B9895E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41248" y="2011680"/>
            <a:ext cx="2286000" cy="292608"/>
          </a:xfrm>
          <a:prstGeom prst="roundRect">
            <a:avLst>
              <a:gd name="adj" fmla="val 156250"/>
            </a:avLst>
          </a:prstGeom>
          <a:solidFill>
            <a:srgbClr val="121216"/>
          </a:solidFill>
          <a:ln w="12700">
            <a:solidFill>
              <a:srgbClr val="12121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2011680"/>
            <a:ext cx="22860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CUSTOMER ORDERS IN KG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41248" y="2542032"/>
            <a:ext cx="27432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65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order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584448" y="2542032"/>
            <a:ext cx="18288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50" b="1" dirty="0">
                <a:solidFill>
                  <a:srgbClr val="121216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20.00 kg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841248" y="2926080"/>
            <a:ext cx="27432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65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Order quantity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584448" y="2926080"/>
            <a:ext cx="18288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50" b="1" dirty="0">
                <a:solidFill>
                  <a:srgbClr val="121216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20.00 kg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841248" y="3310128"/>
            <a:ext cx="27432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65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picked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584448" y="3310128"/>
            <a:ext cx="18288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50" b="1" dirty="0">
                <a:solidFill>
                  <a:srgbClr val="121216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19.71 kg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841248" y="3767328"/>
            <a:ext cx="4572000" cy="0"/>
          </a:xfrm>
          <a:prstGeom prst="line">
            <a:avLst/>
          </a:prstGeom>
          <a:noFill/>
          <a:ln w="12700">
            <a:solidFill>
              <a:srgbClr val="EADFD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1248" y="3895344"/>
            <a:ext cx="29260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65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Billed on the Delivery Note and Invoice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3218688" y="3895344"/>
            <a:ext cx="21945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000" b="1" dirty="0">
                <a:solidFill>
                  <a:srgbClr val="C06E2C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19.71 kg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841248" y="4498848"/>
            <a:ext cx="4572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65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short pick is normal. The customer is billed for what actually left the warehouse, not what was ordered.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053328" y="1783080"/>
            <a:ext cx="5120640" cy="3291840"/>
          </a:xfrm>
          <a:prstGeom prst="roundRect">
            <a:avLst>
              <a:gd name="adj" fmla="val 2778"/>
            </a:avLst>
          </a:prstGeom>
          <a:solidFill>
            <a:srgbClr val="F9E6D5"/>
          </a:solidFill>
          <a:ln w="12700">
            <a:solidFill>
              <a:srgbClr val="F2D3B6"/>
            </a:solidFill>
            <a:prstDash val="solid"/>
          </a:ln>
          <a:effectLst>
            <a:outerShdw blurRad="177800" dist="38100" dir="5400000" algn="bl" rotWithShape="0">
              <a:srgbClr val="B9895E">
                <a:alpha val="1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327648" y="2011680"/>
            <a:ext cx="3108960" cy="292608"/>
          </a:xfrm>
          <a:prstGeom prst="roundRect">
            <a:avLst>
              <a:gd name="adj" fmla="val 156250"/>
            </a:avLst>
          </a:prstGeom>
          <a:solidFill>
            <a:srgbClr val="121216"/>
          </a:solidFill>
          <a:ln w="12700">
            <a:solidFill>
              <a:srgbClr val="12121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27648" y="2011680"/>
            <a:ext cx="31089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9E6D5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CUSTOMER ORDERS IN CARTONS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327648" y="2542032"/>
            <a:ext cx="27432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A5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 Notes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796528" y="2542032"/>
            <a:ext cx="21031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50" b="1" dirty="0">
                <a:solidFill>
                  <a:srgbClr val="121216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“2 cartons”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6327648" y="2871216"/>
            <a:ext cx="27432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A5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Order quantity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796528" y="2871216"/>
            <a:ext cx="21031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50" b="1" dirty="0">
                <a:solidFill>
                  <a:srgbClr val="121216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1 kg placeholder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6327648" y="3200400"/>
            <a:ext cx="27432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A5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Carton 1 picked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796528" y="3200400"/>
            <a:ext cx="21031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50" b="1" dirty="0">
                <a:solidFill>
                  <a:srgbClr val="121216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10.44 kg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6327648" y="3529584"/>
            <a:ext cx="27432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A5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Carton 2 picked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796528" y="3529584"/>
            <a:ext cx="21031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50" b="1" dirty="0">
                <a:solidFill>
                  <a:srgbClr val="121216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11.82 kg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6327648" y="3877056"/>
            <a:ext cx="4572000" cy="0"/>
          </a:xfrm>
          <a:prstGeom prst="line">
            <a:avLst/>
          </a:prstGeom>
          <a:noFill/>
          <a:ln w="12700">
            <a:solidFill>
              <a:srgbClr val="F2D3B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27648" y="3986784"/>
            <a:ext cx="29260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7A5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Billed on the Delivery Note and Invoice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8705088" y="3986784"/>
            <a:ext cx="21945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000" b="1" dirty="0">
                <a:solidFill>
                  <a:srgbClr val="C06E2C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22.26 kg</a:t>
            </a:r>
            <a:endParaRPr lang="en-US" sz="3000" dirty="0"/>
          </a:p>
        </p:txBody>
      </p:sp>
      <p:sp>
        <p:nvSpPr>
          <p:cNvPr id="32" name="Shape 30"/>
          <p:cNvSpPr/>
          <p:nvPr/>
        </p:nvSpPr>
        <p:spPr>
          <a:xfrm>
            <a:off x="566928" y="5303520"/>
            <a:ext cx="10607040" cy="868680"/>
          </a:xfrm>
          <a:prstGeom prst="roundRect">
            <a:avLst>
              <a:gd name="adj" fmla="val 10526"/>
            </a:avLst>
          </a:prstGeom>
          <a:solidFill>
            <a:srgbClr val="121216"/>
          </a:solidFill>
          <a:ln w="12700">
            <a:solidFill>
              <a:srgbClr val="121216"/>
            </a:solidFill>
            <a:prstDash val="solid"/>
          </a:ln>
          <a:effectLst>
            <a:outerShdw blurRad="177800" dist="38100" dir="5400000" algn="bl" rotWithShape="0">
              <a:srgbClr val="B9895E">
                <a:alpha val="16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932688" y="5431536"/>
            <a:ext cx="100584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Carton count goes in Additional Notes.  The 1 kg placeholder holds the line.  Real weight is confirmed at picking.</a:t>
            </a:r>
            <a:endParaRPr lang="en-US" sz="1400" b="1" dirty="0">
              <a:solidFill>
                <a:srgbClr val="FFFFFF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932688" y="5760720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9A9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splitting of document lines is not built yet, so Lai breaks the picked total into individual weight lines by hand, and Grace checks it before submitting.</a:t>
            </a:r>
            <a:endParaRPr lang="en-US" sz="1200" dirty="0">
              <a:solidFill>
                <a:srgbClr val="A9A9B3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100584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06E2C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HONEST STATUS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06070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21216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What is not ready — and not part of today's acceptance</a:t>
            </a:r>
            <a:endParaRPr lang="en-US" sz="2800" b="1" dirty="0">
              <a:solidFill>
                <a:srgbClr val="121216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66928" y="1371600"/>
            <a:ext cx="8138160" cy="603504"/>
          </a:xfrm>
          <a:prstGeom prst="roundRect">
            <a:avLst>
              <a:gd name="adj" fmla="val 15152"/>
            </a:avLst>
          </a:prstGeom>
          <a:solidFill>
            <a:srgbClr val="FFFFFF"/>
          </a:solidFill>
          <a:ln w="12700">
            <a:solidFill>
              <a:srgbClr val="EADFD3"/>
            </a:solidFill>
            <a:prstDash val="solid"/>
          </a:ln>
          <a:effectLst>
            <a:outerShdw blurRad="177800" dist="38100" dir="5400000" algn="bl" rotWithShape="0">
              <a:srgbClr val="B9895E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609344"/>
            <a:ext cx="128016" cy="128016"/>
          </a:xfrm>
          <a:prstGeom prst="ellipse">
            <a:avLst/>
          </a:prstGeom>
          <a:solidFill>
            <a:srgbClr val="E8945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15568" y="1371600"/>
            <a:ext cx="4572000" cy="6035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212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Dashboard by salesperson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733288" y="1371600"/>
            <a:ext cx="2743200" cy="6035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65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first week of September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66928" y="2084832"/>
            <a:ext cx="8138160" cy="603504"/>
          </a:xfrm>
          <a:prstGeom prst="roundRect">
            <a:avLst>
              <a:gd name="adj" fmla="val 15152"/>
            </a:avLst>
          </a:prstGeom>
          <a:solidFill>
            <a:srgbClr val="FFFFFF"/>
          </a:solidFill>
          <a:ln w="12700">
            <a:solidFill>
              <a:srgbClr val="EADFD3"/>
            </a:solidFill>
            <a:prstDash val="solid"/>
          </a:ln>
          <a:effectLst>
            <a:outerShdw blurRad="177800" dist="38100" dir="5400000" algn="bl" rotWithShape="0">
              <a:srgbClr val="B9895E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22960" y="2322576"/>
            <a:ext cx="128016" cy="128016"/>
          </a:xfrm>
          <a:prstGeom prst="ellipse">
            <a:avLst/>
          </a:prstGeom>
          <a:solidFill>
            <a:srgbClr val="E8945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15568" y="2084832"/>
            <a:ext cx="4572000" cy="6035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212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Catalogue Generator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5733288" y="2084832"/>
            <a:ext cx="2743200" cy="6035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65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mid-September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66928" y="2798064"/>
            <a:ext cx="8138160" cy="603504"/>
          </a:xfrm>
          <a:prstGeom prst="roundRect">
            <a:avLst>
              <a:gd name="adj" fmla="val 15152"/>
            </a:avLst>
          </a:prstGeom>
          <a:solidFill>
            <a:srgbClr val="FFFFFF"/>
          </a:solidFill>
          <a:ln w="12700">
            <a:solidFill>
              <a:srgbClr val="EADFD3"/>
            </a:solidFill>
            <a:prstDash val="solid"/>
          </a:ln>
          <a:effectLst>
            <a:outerShdw blurRad="177800" dist="38100" dir="5400000" algn="bl" rotWithShape="0">
              <a:srgbClr val="B9895E">
                <a:alpha val="1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22960" y="3035808"/>
            <a:ext cx="128016" cy="128016"/>
          </a:xfrm>
          <a:prstGeom prst="ellipse">
            <a:avLst/>
          </a:prstGeom>
          <a:solidFill>
            <a:srgbClr val="E8945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15568" y="2798064"/>
            <a:ext cx="4572000" cy="6035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212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 bank-statement reconciliation and OR creation in SQL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5733288" y="2798064"/>
            <a:ext cx="2743200" cy="6035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65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mid-September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66928" y="3511296"/>
            <a:ext cx="8138160" cy="603504"/>
          </a:xfrm>
          <a:prstGeom prst="roundRect">
            <a:avLst>
              <a:gd name="adj" fmla="val 15152"/>
            </a:avLst>
          </a:prstGeom>
          <a:solidFill>
            <a:srgbClr val="FFFFFF"/>
          </a:solidFill>
          <a:ln w="12700">
            <a:solidFill>
              <a:srgbClr val="EADFD3"/>
            </a:solidFill>
            <a:prstDash val="solid"/>
          </a:ln>
          <a:effectLst>
            <a:outerShdw blurRad="177800" dist="38100" dir="5400000" algn="bl" rotWithShape="0">
              <a:srgbClr val="B9895E">
                <a:alpha val="1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22960" y="3749040"/>
            <a:ext cx="128016" cy="128016"/>
          </a:xfrm>
          <a:prstGeom prst="ellipse">
            <a:avLst/>
          </a:prstGeom>
          <a:solidFill>
            <a:srgbClr val="E8945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15568" y="3511296"/>
            <a:ext cx="4572000" cy="6035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212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Packing List Excel extraction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5733288" y="3511296"/>
            <a:ext cx="2743200" cy="6035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65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completed — not part of the adopted workflow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66928" y="4224528"/>
            <a:ext cx="8138160" cy="603504"/>
          </a:xfrm>
          <a:prstGeom prst="roundRect">
            <a:avLst>
              <a:gd name="adj" fmla="val 15152"/>
            </a:avLst>
          </a:prstGeom>
          <a:solidFill>
            <a:srgbClr val="FFFFFF"/>
          </a:solidFill>
          <a:ln w="12700">
            <a:solidFill>
              <a:srgbClr val="EADFD3"/>
            </a:solidFill>
            <a:prstDash val="solid"/>
          </a:ln>
          <a:effectLst>
            <a:outerShdw blurRad="177800" dist="38100" dir="5400000" algn="bl" rotWithShape="0">
              <a:srgbClr val="B9895E">
                <a:alpha val="1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22960" y="4462272"/>
            <a:ext cx="128016" cy="128016"/>
          </a:xfrm>
          <a:prstGeom prst="ellipse">
            <a:avLst/>
          </a:prstGeom>
          <a:solidFill>
            <a:srgbClr val="E8945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15568" y="4224528"/>
            <a:ext cx="4572000" cy="6035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212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line splitting across SO, DO and Pick List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5733288" y="4224528"/>
            <a:ext cx="2743200" cy="6035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65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completed — manual breakdown continues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66928" y="4937760"/>
            <a:ext cx="8138160" cy="603504"/>
          </a:xfrm>
          <a:prstGeom prst="roundRect">
            <a:avLst>
              <a:gd name="adj" fmla="val 15152"/>
            </a:avLst>
          </a:prstGeom>
          <a:solidFill>
            <a:srgbClr val="FFFFFF"/>
          </a:solidFill>
          <a:ln w="12700">
            <a:solidFill>
              <a:srgbClr val="EADFD3"/>
            </a:solidFill>
            <a:prstDash val="solid"/>
          </a:ln>
          <a:effectLst>
            <a:outerShdw blurRad="177800" dist="38100" dir="5400000" algn="bl" rotWithShape="0">
              <a:srgbClr val="B9895E">
                <a:alpha val="1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22960" y="5175504"/>
            <a:ext cx="128016" cy="128016"/>
          </a:xfrm>
          <a:prstGeom prst="ellipse">
            <a:avLst/>
          </a:prstGeom>
          <a:solidFill>
            <a:srgbClr val="E8945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115568" y="4937760"/>
            <a:ext cx="4572000" cy="6035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212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Goods Receive Note creation for stock entry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5733288" y="4937760"/>
            <a:ext cx="2743200" cy="6035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65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Outside current MAIA scope — continue in SQL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9006840" y="1371600"/>
            <a:ext cx="2615184" cy="4169664"/>
          </a:xfrm>
          <a:prstGeom prst="roundRect">
            <a:avLst>
              <a:gd name="adj" fmla="val 3497"/>
            </a:avLst>
          </a:prstGeom>
          <a:solidFill>
            <a:srgbClr val="F9E6D5"/>
          </a:solidFill>
          <a:ln w="12700">
            <a:solidFill>
              <a:srgbClr val="F2D3B6"/>
            </a:solidFill>
            <a:prstDash val="solid"/>
          </a:ln>
          <a:effectLst>
            <a:outerShdw blurRad="177800" dist="38100" dir="5400000" algn="bl" rotWithShape="0">
              <a:srgbClr val="B9895E">
                <a:alpha val="16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9226296" y="1517904"/>
            <a:ext cx="217627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21216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Also out of scope today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9281160" y="1828800"/>
            <a:ext cx="2112264" cy="1554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7A5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Purchasing module workflows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7A5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Delivery-route management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7A5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application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7A5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Barcode / QR scanning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7A5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 and supplier payments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7A5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Cosmetic-only improvements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9226296" y="3529584"/>
            <a:ext cx="2176272" cy="0"/>
          </a:xfrm>
          <a:prstGeom prst="line">
            <a:avLst/>
          </a:prstGeom>
          <a:noFill/>
          <a:ln w="12700">
            <a:solidFill>
              <a:srgbClr val="F2D3B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226296" y="3657600"/>
            <a:ext cx="2176272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2E8B62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RESOLVED SINCE LAST REVIEW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9226296" y="3913632"/>
            <a:ext cx="2176272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65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of Delivery is now confirmed in scope — capture and storage are part of today's acceptance.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566928" y="6437376"/>
            <a:ext cx="1106424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A8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of the above blocks go-live for the core order workflow. They are tracked with their own dates.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100584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06E2C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BEFORE WE START TESTING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06070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121216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What is in the UAT data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66928" y="1417320"/>
            <a:ext cx="3200400" cy="1691640"/>
          </a:xfrm>
          <a:prstGeom prst="roundRect">
            <a:avLst>
              <a:gd name="adj" fmla="val 5405"/>
            </a:avLst>
          </a:prstGeom>
          <a:solidFill>
            <a:srgbClr val="121216"/>
          </a:solidFill>
          <a:ln w="12700">
            <a:solidFill>
              <a:srgbClr val="121216"/>
            </a:solidFill>
            <a:prstDash val="solid"/>
          </a:ln>
          <a:effectLst>
            <a:outerShdw blurRad="177800" dist="38100" dir="5400000" algn="bl" rotWithShape="0">
              <a:srgbClr val="B9895E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66928" y="1600200"/>
            <a:ext cx="32004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E8945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3 JULY 2026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66928" y="2286000"/>
            <a:ext cx="32004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B9B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synchronisation cut-off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B9B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this environment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66928" y="3310128"/>
            <a:ext cx="3200400" cy="2331720"/>
          </a:xfrm>
          <a:prstGeom prst="roundRect">
            <a:avLst>
              <a:gd name="adj" fmla="val 3922"/>
            </a:avLst>
          </a:prstGeom>
          <a:solidFill>
            <a:srgbClr val="F9E6D5"/>
          </a:solidFill>
          <a:ln w="12700">
            <a:solidFill>
              <a:srgbClr val="F2D3B6"/>
            </a:solidFill>
            <a:prstDash val="solid"/>
          </a:ln>
          <a:effectLst>
            <a:outerShdw blurRad="177800" dist="38100" dir="5400000" algn="bl" rotWithShape="0">
              <a:srgbClr val="B9895E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04672" y="347472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21216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Before logging a missing record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04672" y="3803904"/>
            <a:ext cx="256032" cy="256032"/>
          </a:xfrm>
          <a:prstGeom prst="ellipse">
            <a:avLst/>
          </a:prstGeom>
          <a:solidFill>
            <a:srgbClr val="C06E2C"/>
          </a:solidFill>
          <a:ln w="12700">
            <a:solidFill>
              <a:srgbClr val="C06E2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" y="3803904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133856" y="3776472"/>
            <a:ext cx="246888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A5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it dated after 3 July?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04672" y="4224528"/>
            <a:ext cx="256032" cy="256032"/>
          </a:xfrm>
          <a:prstGeom prst="ellipse">
            <a:avLst/>
          </a:prstGeom>
          <a:solidFill>
            <a:srgbClr val="C06E2C"/>
          </a:solidFill>
          <a:ln w="12700">
            <a:solidFill>
              <a:srgbClr val="C06E2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4672" y="4224528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133856" y="4197096"/>
            <a:ext cx="246888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A5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it on the known exception list?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04672" y="4645152"/>
            <a:ext cx="256032" cy="256032"/>
          </a:xfrm>
          <a:prstGeom prst="ellipse">
            <a:avLst/>
          </a:prstGeom>
          <a:solidFill>
            <a:srgbClr val="C06E2C"/>
          </a:solidFill>
          <a:ln w="12700">
            <a:solidFill>
              <a:srgbClr val="C06E2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4672" y="4645152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133856" y="4617720"/>
            <a:ext cx="246888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A5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it exist in SQL at all?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04672" y="5065776"/>
            <a:ext cx="256032" cy="256032"/>
          </a:xfrm>
          <a:prstGeom prst="ellipse">
            <a:avLst/>
          </a:prstGeom>
          <a:solidFill>
            <a:srgbClr val="C06E2C"/>
          </a:solidFill>
          <a:ln w="12700">
            <a:solidFill>
              <a:srgbClr val="C06E2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04672" y="5065776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4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133856" y="5038344"/>
            <a:ext cx="246888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A5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then classify it as a defect.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087368" y="1417320"/>
            <a:ext cx="7086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1216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Records that could not be synchronised</a:t>
            </a:r>
            <a:endParaRPr lang="en-US" sz="15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/>
        </p:nvGraphicFramePr>
        <p:xfrm>
          <a:off x="4087368" y="1783080"/>
          <a:ext cx="7086600" cy="1828800"/>
        </p:xfrm>
        <a:graphic>
          <a:graphicData uri="http://schemas.openxmlformats.org/drawingml/2006/table">
            <a:tbl>
              <a:tblPr/>
              <a:tblGrid>
                <a:gridCol w="2743200"/>
                <a:gridCol w="685800"/>
                <a:gridCol w="1234440"/>
                <a:gridCol w="2423160"/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212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Exception</a:t>
                      </a:r>
                      <a:endParaRPr lang="en-US" sz="11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212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</a:t>
                      </a:r>
                      <a:endParaRPr lang="en-US" sz="11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b="1" dirty="0">
                          <a:solidFill>
                            <a:srgbClr val="1212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Amount</a:t>
                      </a:r>
                      <a:endParaRPr lang="en-US" sz="11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212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Current understanding</a:t>
                      </a:r>
                      <a:endParaRPr lang="en-US" sz="11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212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Payment Entries with missing Invoice references</a:t>
                      </a:r>
                      <a:endParaRPr lang="en-US" sz="11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212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1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b="1" dirty="0">
                          <a:solidFill>
                            <a:srgbClr val="1212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RM593,457</a:t>
                      </a:r>
                      <a:endParaRPr lang="en-US" sz="11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212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Linked Invoices are suspected deleted</a:t>
                      </a:r>
                      <a:endParaRPr lang="en-US" sz="11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212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Zero-amount Payment Entries</a:t>
                      </a:r>
                      <a:endParaRPr lang="en-US" sz="11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212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1212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RM0</a:t>
                      </a:r>
                      <a:endParaRPr lang="en-US" sz="11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212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accounting-ledger impact</a:t>
                      </a:r>
                      <a:endParaRPr lang="en-US" sz="11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212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Delivery Note with zero quantity</a:t>
                      </a:r>
                      <a:endParaRPr lang="en-US" sz="11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212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1212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212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Invalid or incomplete DN record</a:t>
                      </a:r>
                      <a:endParaRPr lang="en-US" sz="11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3" name="Shape 20"/>
          <p:cNvSpPr/>
          <p:nvPr/>
        </p:nvSpPr>
        <p:spPr>
          <a:xfrm>
            <a:off x="4087368" y="3703320"/>
            <a:ext cx="7086600" cy="1938528"/>
          </a:xfrm>
          <a:prstGeom prst="roundRect">
            <a:avLst>
              <a:gd name="adj" fmla="val 4717"/>
            </a:avLst>
          </a:prstGeom>
          <a:solidFill>
            <a:srgbClr val="FFFFFF"/>
          </a:solidFill>
          <a:ln w="12700">
            <a:solidFill>
              <a:srgbClr val="E8945A"/>
            </a:solidFill>
            <a:prstDash val="solid"/>
          </a:ln>
          <a:effectLst>
            <a:outerShdw blurRad="177800" dist="38100" dir="5400000" algn="bl" rotWithShape="0">
              <a:srgbClr val="B9895E">
                <a:alpha val="16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4343400" y="3858768"/>
            <a:ext cx="6574536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C06E2C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These are existing source-data issues, not new MAIA defects.</a:t>
            </a:r>
            <a:endParaRPr lang="en-US" sz="1450" dirty="0"/>
          </a:p>
        </p:txBody>
      </p:sp>
      <p:sp>
        <p:nvSpPr>
          <p:cNvPr id="25" name="Text 22"/>
          <p:cNvSpPr/>
          <p:nvPr/>
        </p:nvSpPr>
        <p:spPr>
          <a:xfrm>
            <a:off x="4343400" y="4206240"/>
            <a:ext cx="6574536" cy="1280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65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are tracked separately for data remediation. Today we are validating workflow, permissions, controls, documents and the valid synchronised records. If a newer customer, item, price or document is missing, we check the cut-off and the exception list before treating it as a defect.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100584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06E2C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WHERE WE STARTED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06070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21216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Before MAIA — today's order-to-invoice flow</a:t>
            </a:r>
            <a:endParaRPr lang="en-US" sz="3000" dirty="0"/>
          </a:p>
        </p:txBody>
      </p:sp>
      <p:pic>
        <p:nvPicPr>
          <p:cNvPr id="4" name="Image 0" descr="28Jul26_Macrofrozen_current_workflow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298448"/>
            <a:ext cx="7863840" cy="523951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613648" y="1298448"/>
            <a:ext cx="3008376" cy="1243584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 w="12700">
            <a:solidFill>
              <a:srgbClr val="EADFD3"/>
            </a:solidFill>
            <a:prstDash val="solid"/>
          </a:ln>
          <a:effectLst>
            <a:outerShdw blurRad="177800" dist="38100" dir="5400000" algn="bl" rotWithShape="0">
              <a:srgbClr val="B9895E">
                <a:alpha val="16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833104" y="1444752"/>
            <a:ext cx="256946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06E2C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17 steps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8833104" y="1810512"/>
            <a:ext cx="2569464" cy="6035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65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customer order to filed proof of delivery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8613648" y="2670048"/>
            <a:ext cx="3008376" cy="1243584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 w="12700">
            <a:solidFill>
              <a:srgbClr val="EADFD3"/>
            </a:solidFill>
            <a:prstDash val="solid"/>
          </a:ln>
          <a:effectLst>
            <a:outerShdw blurRad="177800" dist="38100" dir="5400000" algn="bl" rotWithShape="0">
              <a:srgbClr val="B9895E">
                <a:alpha val="16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8833104" y="2816352"/>
            <a:ext cx="256946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06E2C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One bottleneck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8833104" y="3182112"/>
            <a:ext cx="2569464" cy="6035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65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David reads, interprets and consolidates every message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8613648" y="4041648"/>
            <a:ext cx="3008376" cy="1243584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 w="12700">
            <a:solidFill>
              <a:srgbClr val="EADFD3"/>
            </a:solidFill>
            <a:prstDash val="solid"/>
          </a:ln>
          <a:effectLst>
            <a:outerShdw blurRad="177800" dist="38100" dir="5400000" algn="bl" rotWithShape="0">
              <a:srgbClr val="B9895E">
                <a:alpha val="16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8833104" y="4187952"/>
            <a:ext cx="256946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06E2C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Three re-entries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8833104" y="4553712"/>
            <a:ext cx="2569464" cy="6035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65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packing list, fresh template, then SQL by hand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8613648" y="5413248"/>
            <a:ext cx="3008376" cy="1124712"/>
          </a:xfrm>
          <a:prstGeom prst="roundRect">
            <a:avLst>
              <a:gd name="adj" fmla="val 8130"/>
            </a:avLst>
          </a:prstGeom>
          <a:solidFill>
            <a:srgbClr val="121216"/>
          </a:solidFill>
          <a:ln w="12700">
            <a:solidFill>
              <a:srgbClr val="121216"/>
            </a:solidFill>
            <a:prstDash val="solid"/>
          </a:ln>
          <a:effectLst>
            <a:outerShdw blurRad="177800" dist="38100" dir="5400000" algn="bl" rotWithShape="0">
              <a:srgbClr val="B9895E">
                <a:alpha val="16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8833104" y="5541264"/>
            <a:ext cx="2569464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2D3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re-entry is a chance to bill the wrong weight.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100584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06E2C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THE ADOPTED TARGET — APPROACH 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06070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21216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After MAIA — the workflow we are testing today</a:t>
            </a:r>
            <a:endParaRPr lang="en-US" sz="3000" dirty="0"/>
          </a:p>
        </p:txBody>
      </p:sp>
      <p:pic>
        <p:nvPicPr>
          <p:cNvPr id="4" name="Image 0" descr="28Jul26_Macrofrozen_maia_workflow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371600"/>
            <a:ext cx="7863840" cy="431596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613648" y="1371600"/>
            <a:ext cx="3008376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ADFD3"/>
            </a:solidFill>
            <a:prstDash val="solid"/>
          </a:ln>
          <a:effectLst>
            <a:outerShdw blurRad="177800" dist="38100" dir="5400000" algn="bl" rotWithShape="0">
              <a:srgbClr val="B9895E">
                <a:alpha val="16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833104" y="1554480"/>
            <a:ext cx="2569464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1216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No separate Excel Packing List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833104" y="2048256"/>
            <a:ext cx="2569464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65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Pick List becomes the Draft Delivery Note directly.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8613648" y="2852928"/>
            <a:ext cx="3008376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ADFD3"/>
            </a:solidFill>
            <a:prstDash val="solid"/>
          </a:ln>
          <a:effectLst>
            <a:outerShdw blurRad="177800" dist="38100" dir="5400000" algn="bl" rotWithShape="0">
              <a:srgbClr val="B9895E">
                <a:alpha val="16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8833104" y="3035808"/>
            <a:ext cx="2569464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1216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One source of quantity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833104" y="3529584"/>
            <a:ext cx="2569464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65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picked weight flows through DN and Invoice.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8613648" y="4334256"/>
            <a:ext cx="3008376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ADFD3"/>
            </a:solidFill>
            <a:prstDash val="solid"/>
          </a:ln>
          <a:effectLst>
            <a:outerShdw blurRad="177800" dist="38100" dir="5400000" algn="bl" rotWithShape="0">
              <a:srgbClr val="B9895E">
                <a:alpha val="16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8833104" y="4517136"/>
            <a:ext cx="2569464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1216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Controls built into the flow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8833104" y="5010912"/>
            <a:ext cx="2569464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65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approval and two credit checks, before anything ships.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66928" y="5806440"/>
            <a:ext cx="7863840" cy="731520"/>
          </a:xfrm>
          <a:prstGeom prst="roundRect">
            <a:avLst>
              <a:gd name="adj" fmla="val 12500"/>
            </a:avLst>
          </a:prstGeom>
          <a:solidFill>
            <a:srgbClr val="F9E6D5"/>
          </a:solidFill>
          <a:ln w="12700">
            <a:solidFill>
              <a:srgbClr val="F2D3B6"/>
            </a:solidFill>
            <a:prstDash val="solid"/>
          </a:ln>
          <a:effectLst>
            <a:outerShdw blurRad="177800" dist="38100" dir="5400000" algn="bl" rotWithShape="0">
              <a:srgbClr val="B9895E">
                <a:alpha val="16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566928" y="5806440"/>
            <a:ext cx="786384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7A5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 — picked total 99.20 kg becomes DN lines of 19.80 + 20.10 + 19.65 + 19.90 + 19.75 kg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100584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06E2C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CONFIRM THE OPERATING MODEL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06070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121216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Who does what today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66928" y="1463040"/>
            <a:ext cx="3328416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ADFD3"/>
            </a:solidFill>
            <a:prstDash val="solid"/>
          </a:ln>
          <a:effectLst>
            <a:outerShdw blurRad="177800" dist="38100" dir="5400000" algn="bl" rotWithShape="0">
              <a:srgbClr val="B9895E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719072"/>
            <a:ext cx="457200" cy="457200"/>
          </a:xfrm>
          <a:prstGeom prst="ellipse">
            <a:avLst/>
          </a:prstGeom>
          <a:solidFill>
            <a:srgbClr val="12121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719072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08176" y="1719072"/>
            <a:ext cx="2231136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21216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David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408176" y="1993392"/>
            <a:ext cx="2231136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06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· Credit &amp; Price Controller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2377440"/>
            <a:ext cx="2816352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65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Approves below-minimum prices. Shares credit overrides with Finance. Final go-live call.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206240" y="1463040"/>
            <a:ext cx="3328416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ADFD3"/>
            </a:solidFill>
            <a:prstDash val="solid"/>
          </a:ln>
          <a:effectLst>
            <a:outerShdw blurRad="177800" dist="38100" dir="5400000" algn="bl" rotWithShape="0">
              <a:srgbClr val="B9895E">
                <a:alpha val="1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462272" y="1719072"/>
            <a:ext cx="457200" cy="457200"/>
          </a:xfrm>
          <a:prstGeom prst="ellipse">
            <a:avLst/>
          </a:prstGeom>
          <a:solidFill>
            <a:srgbClr val="C06E2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62272" y="1719072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C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047488" y="1719072"/>
            <a:ext cx="2231136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21216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CJ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5047488" y="1993392"/>
            <a:ext cx="2231136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06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Manager &amp; Sales User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462272" y="2377440"/>
            <a:ext cx="2816352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65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Sees the whole sales team. Approves mid-tier price exceptions. Runs own orders too.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845552" y="1463040"/>
            <a:ext cx="3328416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ADFD3"/>
            </a:solidFill>
            <a:prstDash val="solid"/>
          </a:ln>
          <a:effectLst>
            <a:outerShdw blurRad="177800" dist="38100" dir="5400000" algn="bl" rotWithShape="0">
              <a:srgbClr val="B9895E">
                <a:alpha val="1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101584" y="1719072"/>
            <a:ext cx="457200" cy="457200"/>
          </a:xfrm>
          <a:prstGeom prst="ellipse">
            <a:avLst/>
          </a:prstGeom>
          <a:solidFill>
            <a:srgbClr val="F9E6D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101584" y="1719072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06E2C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Q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686800" y="1719072"/>
            <a:ext cx="2231136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21216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Queenie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8686800" y="1993392"/>
            <a:ext cx="2231136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06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User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101584" y="2377440"/>
            <a:ext cx="2816352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65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Leads and customers. Forwards orders to MAIA, reviews the draft, submits the SO.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66928" y="3739896"/>
            <a:ext cx="3328416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ADFD3"/>
            </a:solidFill>
            <a:prstDash val="solid"/>
          </a:ln>
          <a:effectLst>
            <a:outerShdw blurRad="177800" dist="38100" dir="5400000" algn="bl" rotWithShape="0">
              <a:srgbClr val="B9895E">
                <a:alpha val="16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22960" y="3995928"/>
            <a:ext cx="457200" cy="457200"/>
          </a:xfrm>
          <a:prstGeom prst="ellipse">
            <a:avLst/>
          </a:prstGeom>
          <a:solidFill>
            <a:srgbClr val="F9E6D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2960" y="3995928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06E2C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B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408176" y="3995928"/>
            <a:ext cx="2231136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21216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Ben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1408176" y="4270248"/>
            <a:ext cx="2231136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06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User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22960" y="4654296"/>
            <a:ext cx="2816352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65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Leads and customers. Forwards orders to MAIA, reviews the draft, submits the SO.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4206240" y="3739896"/>
            <a:ext cx="3328416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ADFD3"/>
            </a:solidFill>
            <a:prstDash val="solid"/>
          </a:ln>
          <a:effectLst>
            <a:outerShdw blurRad="177800" dist="38100" dir="5400000" algn="bl" rotWithShape="0">
              <a:srgbClr val="B9895E">
                <a:alpha val="16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462272" y="3995928"/>
            <a:ext cx="457200" cy="457200"/>
          </a:xfrm>
          <a:prstGeom prst="ellipse">
            <a:avLst/>
          </a:prstGeom>
          <a:solidFill>
            <a:srgbClr val="C06E2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462272" y="3995928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L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5047488" y="3995928"/>
            <a:ext cx="2231136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21216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Lai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5047488" y="4270248"/>
            <a:ext cx="2231136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06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 Manager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462272" y="4654296"/>
            <a:ext cx="2816352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65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List, actual picked quantity, box weights, Draft Delivery Note. Cannot submit a DN.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7845552" y="3739896"/>
            <a:ext cx="3328416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ADFD3"/>
            </a:solidFill>
            <a:prstDash val="solid"/>
          </a:ln>
          <a:effectLst>
            <a:outerShdw blurRad="177800" dist="38100" dir="5400000" algn="bl" rotWithShape="0">
              <a:srgbClr val="B9895E">
                <a:alpha val="16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8101584" y="3995928"/>
            <a:ext cx="457200" cy="457200"/>
          </a:xfrm>
          <a:prstGeom prst="ellipse">
            <a:avLst/>
          </a:prstGeom>
          <a:solidFill>
            <a:srgbClr val="12121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101584" y="3995928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G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8686800" y="3995928"/>
            <a:ext cx="2231136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21216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Grace</a:t>
            </a:r>
            <a:endParaRPr lang="en-US" sz="1700" dirty="0"/>
          </a:p>
        </p:txBody>
      </p:sp>
      <p:sp>
        <p:nvSpPr>
          <p:cNvPr id="38" name="Text 36"/>
          <p:cNvSpPr/>
          <p:nvPr/>
        </p:nvSpPr>
        <p:spPr>
          <a:xfrm>
            <a:off x="8686800" y="4270248"/>
            <a:ext cx="2231136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06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· Credit Controller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8101584" y="4654296"/>
            <a:ext cx="2816352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65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PO intake, reviews every DN line, submits the DN, then creates the Invoice.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566928" y="6437376"/>
            <a:ext cx="1106424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A8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named user logs in with their own account. No shared credentials during UAT or after go-live.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100584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06E2C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ACCESS CONTROL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06070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121216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Who can see what — and what nobody can see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66928" y="1417320"/>
            <a:ext cx="2459736" cy="2514600"/>
          </a:xfrm>
          <a:prstGeom prst="roundRect">
            <a:avLst>
              <a:gd name="adj" fmla="val 3717"/>
            </a:avLst>
          </a:prstGeom>
          <a:solidFill>
            <a:srgbClr val="F9E6D5"/>
          </a:solidFill>
          <a:ln w="12700">
            <a:solidFill>
              <a:srgbClr val="F2D3B6"/>
            </a:solidFill>
            <a:prstDash val="solid"/>
          </a:ln>
          <a:effectLst>
            <a:outerShdw blurRad="177800" dist="38100" dir="5400000" algn="bl" rotWithShape="0">
              <a:srgbClr val="B9895E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86384" y="1600200"/>
            <a:ext cx="2020824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1216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Sales Users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86384" y="1911096"/>
            <a:ext cx="2020824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06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Queenie · Ben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04672" y="2331720"/>
            <a:ext cx="2002536" cy="1463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7A5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Leads &amp; customers only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7A5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Sales Orders only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7A5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Can't see each other's records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82696" y="1417320"/>
            <a:ext cx="2459736" cy="2514600"/>
          </a:xfrm>
          <a:prstGeom prst="roundRect">
            <a:avLst>
              <a:gd name="adj" fmla="val 3717"/>
            </a:avLst>
          </a:prstGeom>
          <a:solidFill>
            <a:srgbClr val="FFFFFF"/>
          </a:solidFill>
          <a:ln w="12700">
            <a:solidFill>
              <a:srgbClr val="EADFD3"/>
            </a:solidFill>
            <a:prstDash val="solid"/>
          </a:ln>
          <a:effectLst>
            <a:outerShdw blurRad="177800" dist="38100" dir="5400000" algn="bl" rotWithShape="0">
              <a:srgbClr val="B9895E">
                <a:alpha val="1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502152" y="1600200"/>
            <a:ext cx="2020824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1216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Sales Manager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502152" y="1911096"/>
            <a:ext cx="2020824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06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CJ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520440" y="2331720"/>
            <a:ext cx="2002536" cy="1463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565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Sees whole sales team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565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Approves mid-tier prices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565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credit-override rights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998464" y="1417320"/>
            <a:ext cx="2459736" cy="2514600"/>
          </a:xfrm>
          <a:prstGeom prst="roundRect">
            <a:avLst>
              <a:gd name="adj" fmla="val 3717"/>
            </a:avLst>
          </a:prstGeom>
          <a:solidFill>
            <a:srgbClr val="121216"/>
          </a:solidFill>
          <a:ln w="12700">
            <a:solidFill>
              <a:srgbClr val="121216"/>
            </a:solidFill>
            <a:prstDash val="solid"/>
          </a:ln>
          <a:effectLst>
            <a:outerShdw blurRad="177800" dist="38100" dir="5400000" algn="bl" rotWithShape="0">
              <a:srgbClr val="B9895E">
                <a:alpha val="16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217920" y="1600200"/>
            <a:ext cx="2020824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Owner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217920" y="1911096"/>
            <a:ext cx="2020824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9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David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236208" y="2331720"/>
            <a:ext cx="2002536" cy="1463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B9B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Sees everything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B9B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 any price tier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B9B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Approves credit overrides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B9B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one who sees cost price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714232" y="1417320"/>
            <a:ext cx="2459736" cy="2514600"/>
          </a:xfrm>
          <a:prstGeom prst="roundRect">
            <a:avLst>
              <a:gd name="adj" fmla="val 3717"/>
            </a:avLst>
          </a:prstGeom>
          <a:solidFill>
            <a:srgbClr val="FFFFFF"/>
          </a:solidFill>
          <a:ln w="12700">
            <a:solidFill>
              <a:srgbClr val="C06E2C"/>
            </a:solidFill>
            <a:prstDash val="solid"/>
          </a:ln>
          <a:effectLst>
            <a:outerShdw blurRad="177800" dist="38100" dir="5400000" algn="bl" rotWithShape="0">
              <a:srgbClr val="B9895E">
                <a:alpha val="16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933688" y="1600200"/>
            <a:ext cx="2020824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1216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Finance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933688" y="1911096"/>
            <a:ext cx="2020824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06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Grace · Apple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951976" y="2331720"/>
            <a:ext cx="2002536" cy="1463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565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controllers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565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prices, can't set them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565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cost-price visibility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66928" y="4069080"/>
            <a:ext cx="1060704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8945A"/>
            </a:solidFill>
            <a:prstDash val="solid"/>
          </a:ln>
          <a:effectLst>
            <a:outerShdw blurRad="177800" dist="38100" dir="5400000" algn="bl" rotWithShape="0">
              <a:srgbClr val="B9895E">
                <a:alpha val="16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77824" y="4197096"/>
            <a:ext cx="100584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06E2C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“See all” never means see everything — the negative tests we will run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77824" y="4544568"/>
            <a:ext cx="320040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565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Queenie cannot see Ben's Leads or customers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565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 cannot see Queenie's Leads or customers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565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users cannot approve their own price exception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279392" y="4544568"/>
            <a:ext cx="320040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565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CJ cannot approve below the minimum price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565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Grace and Apple cannot set or approve any price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565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Lai cannot submit a Delivery Note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680960" y="4544568"/>
            <a:ext cx="320040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565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users cannot edit credit limits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565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David, Grace or Apple can approve a credit override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565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David can see product buying cost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100584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06E2C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CONTROLS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06070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121216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Price approval and credit checks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66928" y="1371600"/>
            <a:ext cx="63093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21216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Three-tier price approval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66928" y="1783080"/>
            <a:ext cx="6309360" cy="932688"/>
          </a:xfrm>
          <a:prstGeom prst="roundRect">
            <a:avLst>
              <a:gd name="adj" fmla="val 9804"/>
            </a:avLst>
          </a:prstGeom>
          <a:solidFill>
            <a:srgbClr val="FFFFFF"/>
          </a:solidFill>
          <a:ln w="12700">
            <a:solidFill>
              <a:srgbClr val="EADFD3"/>
            </a:solidFill>
            <a:prstDash val="solid"/>
          </a:ln>
          <a:effectLst>
            <a:outerShdw blurRad="177800" dist="38100" dir="5400000" algn="bl" rotWithShape="0">
              <a:srgbClr val="B9895E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41248" y="2148840"/>
            <a:ext cx="201168" cy="201168"/>
          </a:xfrm>
          <a:prstGeom prst="ellipse">
            <a:avLst/>
          </a:prstGeom>
          <a:solidFill>
            <a:srgbClr val="2E8B6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88720" y="1911096"/>
            <a:ext cx="3200400" cy="6766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212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or above the approved customer price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407408" y="1911096"/>
            <a:ext cx="1417320" cy="6766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65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Auto-proceed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824728" y="1911096"/>
            <a:ext cx="822960" cy="6766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2E8B62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No approver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66928" y="2825496"/>
            <a:ext cx="6309360" cy="932688"/>
          </a:xfrm>
          <a:prstGeom prst="roundRect">
            <a:avLst>
              <a:gd name="adj" fmla="val 9804"/>
            </a:avLst>
          </a:prstGeom>
          <a:solidFill>
            <a:srgbClr val="FFFFFF"/>
          </a:solidFill>
          <a:ln w="12700">
            <a:solidFill>
              <a:srgbClr val="EADFD3"/>
            </a:solidFill>
            <a:prstDash val="solid"/>
          </a:ln>
          <a:effectLst>
            <a:outerShdw blurRad="177800" dist="38100" dir="5400000" algn="bl" rotWithShape="0">
              <a:srgbClr val="B9895E">
                <a:alpha val="1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41248" y="3191256"/>
            <a:ext cx="201168" cy="201168"/>
          </a:xfrm>
          <a:prstGeom prst="ellipse">
            <a:avLst/>
          </a:prstGeom>
          <a:solidFill>
            <a:srgbClr val="D2941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88720" y="2953512"/>
            <a:ext cx="3200400" cy="6766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212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customer price, above the minimum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407408" y="2953512"/>
            <a:ext cx="1417320" cy="6766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65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required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824728" y="2953512"/>
            <a:ext cx="822960" cy="6766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D2941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CJ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66928" y="3867912"/>
            <a:ext cx="6309360" cy="932688"/>
          </a:xfrm>
          <a:prstGeom prst="roundRect">
            <a:avLst>
              <a:gd name="adj" fmla="val 9804"/>
            </a:avLst>
          </a:prstGeom>
          <a:solidFill>
            <a:srgbClr val="FFFFFF"/>
          </a:solidFill>
          <a:ln w="12700">
            <a:solidFill>
              <a:srgbClr val="EADFD3"/>
            </a:solidFill>
            <a:prstDash val="solid"/>
          </a:ln>
          <a:effectLst>
            <a:outerShdw blurRad="177800" dist="38100" dir="5400000" algn="bl" rotWithShape="0">
              <a:srgbClr val="B9895E">
                <a:alpha val="1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41248" y="4233672"/>
            <a:ext cx="201168" cy="201168"/>
          </a:xfrm>
          <a:prstGeom prst="ellipse">
            <a:avLst/>
          </a:prstGeom>
          <a:solidFill>
            <a:srgbClr val="C039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88720" y="3995928"/>
            <a:ext cx="3200400" cy="6766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212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the minimum price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407408" y="3995928"/>
            <a:ext cx="1417320" cy="6766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65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required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824728" y="3995928"/>
            <a:ext cx="822960" cy="6766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C0392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David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66928" y="4956048"/>
            <a:ext cx="6309360" cy="1417320"/>
          </a:xfrm>
          <a:prstGeom prst="roundRect">
            <a:avLst>
              <a:gd name="adj" fmla="val 6452"/>
            </a:avLst>
          </a:prstGeom>
          <a:solidFill>
            <a:srgbClr val="F9E6D5"/>
          </a:solidFill>
          <a:ln w="12700">
            <a:solidFill>
              <a:srgbClr val="F2D3B6"/>
            </a:solidFill>
            <a:prstDash val="solid"/>
          </a:ln>
          <a:effectLst>
            <a:outerShdw blurRad="177800" dist="38100" dir="5400000" algn="bl" rotWithShape="0">
              <a:srgbClr val="B9895E">
                <a:alpha val="16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41248" y="5084064"/>
            <a:ext cx="576072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21216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Hard rules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41248" y="5340096"/>
            <a:ext cx="5760720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7A5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users can never approve their own price  ·  CJ can never approve below the minimum  ·  Grace and Apple can view any price but never set one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841248" y="5870448"/>
            <a:ext cx="57607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C06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Today, approving means CJ or David open the order themselves, set the price, and submit it — the requester tags them with a comment to notify.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7187184" y="1371600"/>
            <a:ext cx="3986784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21216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Credit checks run twice</a:t>
            </a:r>
            <a:endParaRPr lang="en-US" sz="1700" dirty="0"/>
          </a:p>
        </p:txBody>
      </p:sp>
      <p:sp>
        <p:nvSpPr>
          <p:cNvPr id="25" name="Shape 23"/>
          <p:cNvSpPr/>
          <p:nvPr/>
        </p:nvSpPr>
        <p:spPr>
          <a:xfrm>
            <a:off x="7187184" y="1783080"/>
            <a:ext cx="3986784" cy="1188720"/>
          </a:xfrm>
          <a:prstGeom prst="roundRect">
            <a:avLst>
              <a:gd name="adj" fmla="val 7692"/>
            </a:avLst>
          </a:prstGeom>
          <a:solidFill>
            <a:srgbClr val="121216"/>
          </a:solidFill>
          <a:ln w="12700">
            <a:solidFill>
              <a:srgbClr val="121216"/>
            </a:solidFill>
            <a:prstDash val="solid"/>
          </a:ln>
          <a:effectLst>
            <a:outerShdw blurRad="177800" dist="38100" dir="5400000" algn="bl" rotWithShape="0">
              <a:srgbClr val="B9895E">
                <a:alpha val="16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461504" y="2084832"/>
            <a:ext cx="384048" cy="384048"/>
          </a:xfrm>
          <a:prstGeom prst="ellipse">
            <a:avLst/>
          </a:prstGeom>
          <a:solidFill>
            <a:srgbClr val="E8945A"/>
          </a:solidFill>
          <a:ln w="12700">
            <a:solidFill>
              <a:srgbClr val="E8945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461504" y="2084832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1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991856" y="1920240"/>
            <a:ext cx="2889504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At Sales Order submission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7991856" y="2231136"/>
            <a:ext cx="2889504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9A9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the order enters the warehouse queue.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7187184" y="3081528"/>
            <a:ext cx="3986784" cy="1188720"/>
          </a:xfrm>
          <a:prstGeom prst="roundRect">
            <a:avLst>
              <a:gd name="adj" fmla="val 7692"/>
            </a:avLst>
          </a:prstGeom>
          <a:solidFill>
            <a:srgbClr val="121216"/>
          </a:solidFill>
          <a:ln w="12700">
            <a:solidFill>
              <a:srgbClr val="121216"/>
            </a:solidFill>
            <a:prstDash val="solid"/>
          </a:ln>
          <a:effectLst>
            <a:outerShdw blurRad="177800" dist="38100" dir="5400000" algn="bl" rotWithShape="0">
              <a:srgbClr val="B9895E">
                <a:alpha val="16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7461504" y="3383280"/>
            <a:ext cx="384048" cy="384048"/>
          </a:xfrm>
          <a:prstGeom prst="ellipse">
            <a:avLst/>
          </a:prstGeom>
          <a:solidFill>
            <a:srgbClr val="E8945A"/>
          </a:solidFill>
          <a:ln w="12700">
            <a:solidFill>
              <a:srgbClr val="E8945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461504" y="338328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2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7991856" y="3218688"/>
            <a:ext cx="2889504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Again at Delivery Note stage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7991856" y="3529584"/>
            <a:ext cx="2889504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9A9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goods leave and before invoicing.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7187184" y="4379976"/>
            <a:ext cx="3986784" cy="1993392"/>
          </a:xfrm>
          <a:prstGeom prst="roundRect">
            <a:avLst>
              <a:gd name="adj" fmla="val 4587"/>
            </a:avLst>
          </a:prstGeom>
          <a:solidFill>
            <a:srgbClr val="FFFFFF"/>
          </a:solidFill>
          <a:ln w="12700">
            <a:solidFill>
              <a:srgbClr val="EADFD3"/>
            </a:solidFill>
            <a:prstDash val="solid"/>
          </a:ln>
          <a:effectLst>
            <a:outerShdw blurRad="177800" dist="38100" dir="5400000" algn="bl" rotWithShape="0">
              <a:srgbClr val="B9895E">
                <a:alpha val="16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7461504" y="4517136"/>
            <a:ext cx="3438144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21216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Each check tests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7498080" y="4791456"/>
            <a:ext cx="3364992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565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Outstanding balance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565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limit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565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Overdue position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565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Previous invoice clearance, where required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7461504" y="5779008"/>
            <a:ext cx="3438144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06E2C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David, Grace or Apple — the credit controllers — approve an override.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100584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06E2C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SCOPE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06070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121216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What we are accepting today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66928" y="1417320"/>
            <a:ext cx="6858000" cy="4663440"/>
          </a:xfrm>
          <a:prstGeom prst="roundRect">
            <a:avLst>
              <a:gd name="adj" fmla="val 1961"/>
            </a:avLst>
          </a:prstGeom>
          <a:solidFill>
            <a:srgbClr val="FFFFFF"/>
          </a:solidFill>
          <a:ln w="12700">
            <a:solidFill>
              <a:srgbClr val="EADFD3"/>
            </a:solidFill>
            <a:prstDash val="solid"/>
          </a:ln>
          <a:effectLst>
            <a:outerShdw blurRad="177800" dist="38100" dir="5400000" algn="bl" rotWithShape="0">
              <a:srgbClr val="B9895E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77824" y="1600200"/>
            <a:ext cx="621792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21216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Included in today's acceptance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77824" y="1993392"/>
            <a:ext cx="1417320" cy="53035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C06E2C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Access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304288" y="1993392"/>
            <a:ext cx="480060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65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Logins, roles, permissions, sales ownership limits, manager oversight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77824" y="2560320"/>
            <a:ext cx="1417320" cy="53035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C06E2C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Leads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304288" y="2560320"/>
            <a:ext cx="480060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65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Creation, notes, conversion to Customer, information carry-over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77824" y="3127248"/>
            <a:ext cx="1417320" cy="53035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C06E2C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Order intake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304288" y="3127248"/>
            <a:ext cx="480060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65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forwarding, Draft SO, customer and SKU matching, user corrections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77824" y="3694176"/>
            <a:ext cx="1417320" cy="53035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C06E2C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Units, price, credit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304288" y="3694176"/>
            <a:ext cx="480060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65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Kilogram orders, carton requests, approval routing, credit check at SO and re-check at DN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77824" y="4261104"/>
            <a:ext cx="1417320" cy="53035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C06E2C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Warehouse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304288" y="4261104"/>
            <a:ext cx="480060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65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List creation and grouping, shipping-address columns, MAIA's own PDF layout, re-upload, actual quantities and box weights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77824" y="4828032"/>
            <a:ext cx="1417320" cy="53035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C06E2C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Documents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304288" y="4828032"/>
            <a:ext cx="480060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65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DN from Pick List, review, submission, Invoice creation, POD capture. SO, Invoice and DN keep the SQL PDF layout.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77824" y="5394960"/>
            <a:ext cx="1417320" cy="53035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C06E2C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Data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304288" y="5394960"/>
            <a:ext cx="480060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65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synchronisation, record integrity, duplicate-document controls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754112" y="1417320"/>
            <a:ext cx="3419856" cy="4663440"/>
          </a:xfrm>
          <a:prstGeom prst="roundRect">
            <a:avLst>
              <a:gd name="adj" fmla="val 2674"/>
            </a:avLst>
          </a:prstGeom>
          <a:solidFill>
            <a:srgbClr val="121216"/>
          </a:solidFill>
          <a:ln w="12700">
            <a:solidFill>
              <a:srgbClr val="121216"/>
            </a:solidFill>
            <a:prstDash val="solid"/>
          </a:ln>
          <a:effectLst>
            <a:outerShdw blurRad="177800" dist="38100" dir="5400000" algn="bl" rotWithShape="0">
              <a:srgbClr val="B9895E">
                <a:alpha val="16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065008" y="1600200"/>
            <a:ext cx="2798064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Not acceptance-gated today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8101584" y="1993392"/>
            <a:ext cx="2761488" cy="3840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B9B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Dashboard by salesperson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B9B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Catalogue Generator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B9B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 bank-statement reconciliation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B9B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Receipt creation from AR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B9B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Packing List Excel extraction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B9B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document-line splitting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B9B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Goods Receive Note creation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B9B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Purchasing module workflows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B9B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product catalogue workflow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B9B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Delivery-route management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B9B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application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B9B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Barcode / QR scanning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B9B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 and supplier reconciliation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B9B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Near-expiry / low-stock refinements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B9B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Cosmetic-only improvements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66928" y="6437376"/>
            <a:ext cx="1106424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A8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Anything outside the left column goes to the parking lot with an owner — it does not change today's decision.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E6D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106070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80" dirty="0">
                <a:solidFill>
                  <a:srgbClr val="C06E2C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SCENARIO 1  ·  1:40 – 2:05  ·  PRIMARY USER: QUEENIE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94944"/>
            <a:ext cx="106070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21216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Lead → Customer → non-PO kilogram order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66928" y="1243584"/>
            <a:ext cx="106070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A5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the simplified Lead model, notes carry-over, sales ownership restrictions, and a standard kilogram order end to end.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66928" y="1810512"/>
            <a:ext cx="6858000" cy="4251960"/>
          </a:xfrm>
          <a:prstGeom prst="roundRect">
            <a:avLst>
              <a:gd name="adj" fmla="val 2151"/>
            </a:avLst>
          </a:prstGeom>
          <a:solidFill>
            <a:srgbClr val="FFFFFF"/>
          </a:solidFill>
          <a:ln w="12700">
            <a:solidFill>
              <a:srgbClr val="F2D3B6"/>
            </a:solidFill>
            <a:prstDash val="solid"/>
          </a:ln>
          <a:effectLst>
            <a:outerShdw blurRad="177800" dist="38100" dir="5400000" algn="bl" rotWithShape="0">
              <a:srgbClr val="B9895E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77824" y="1956816"/>
            <a:ext cx="6217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1216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Steps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77824" y="2331720"/>
            <a:ext cx="256032" cy="256032"/>
          </a:xfrm>
          <a:prstGeom prst="ellipse">
            <a:avLst/>
          </a:prstGeom>
          <a:solidFill>
            <a:srgbClr val="E8945A"/>
          </a:solidFill>
          <a:ln w="12700">
            <a:solidFill>
              <a:srgbClr val="E8945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77824" y="2331720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243584" y="2286000"/>
            <a:ext cx="59436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212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Queenie creates a Lead and adds customer notes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77824" y="2734056"/>
            <a:ext cx="256032" cy="256032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77824" y="2734056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243584" y="2688336"/>
            <a:ext cx="59436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212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 attempts to open Queenie's Lead — access must be denied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77824" y="3136392"/>
            <a:ext cx="256032" cy="256032"/>
          </a:xfrm>
          <a:prstGeom prst="ellipse">
            <a:avLst/>
          </a:prstGeom>
          <a:solidFill>
            <a:srgbClr val="E8945A"/>
          </a:solidFill>
          <a:ln w="12700">
            <a:solidFill>
              <a:srgbClr val="E8945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77824" y="3136392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3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243584" y="3090672"/>
            <a:ext cx="59436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212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Queenie converts the Lead to a Customer; notes and ownership carry over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77824" y="3538728"/>
            <a:ext cx="256032" cy="256032"/>
          </a:xfrm>
          <a:prstGeom prst="ellipse">
            <a:avLst/>
          </a:prstGeom>
          <a:solidFill>
            <a:srgbClr val="E8945A"/>
          </a:solidFill>
          <a:ln w="12700">
            <a:solidFill>
              <a:srgbClr val="E8945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77824" y="3538728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4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243584" y="3493008"/>
            <a:ext cx="59436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212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Queenie forwards a 20 kg order; MAIA drafts the SO; she reviews and submits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77824" y="3941064"/>
            <a:ext cx="256032" cy="256032"/>
          </a:xfrm>
          <a:prstGeom prst="ellipse">
            <a:avLst/>
          </a:prstGeom>
          <a:solidFill>
            <a:srgbClr val="E8945A"/>
          </a:solidFill>
          <a:ln w="12700">
            <a:solidFill>
              <a:srgbClr val="E8945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77824" y="3941064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5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243584" y="3895344"/>
            <a:ext cx="59436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212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price auto-proceeds; credit check passes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877824" y="4343400"/>
            <a:ext cx="256032" cy="256032"/>
          </a:xfrm>
          <a:prstGeom prst="ellipse">
            <a:avLst/>
          </a:prstGeom>
          <a:solidFill>
            <a:srgbClr val="E8945A"/>
          </a:solidFill>
          <a:ln w="12700">
            <a:solidFill>
              <a:srgbClr val="E8945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77824" y="4343400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6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243584" y="4297680"/>
            <a:ext cx="59436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212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Lai creates the Pick List; actual picked quantity is 19.71 kg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877824" y="4745736"/>
            <a:ext cx="256032" cy="256032"/>
          </a:xfrm>
          <a:prstGeom prst="ellipse">
            <a:avLst/>
          </a:prstGeom>
          <a:solidFill>
            <a:srgbClr val="E8945A"/>
          </a:solidFill>
          <a:ln w="12700">
            <a:solidFill>
              <a:srgbClr val="E8945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77824" y="4745736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7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243584" y="4700016"/>
            <a:ext cx="59436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212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Lai completes the Pick List, creates the Draft DN, splits the box weights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877824" y="5148072"/>
            <a:ext cx="256032" cy="256032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77824" y="5148072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8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243584" y="5102352"/>
            <a:ext cx="59436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212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Lai attempts to submit the DN — must be denied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877824" y="5550408"/>
            <a:ext cx="256032" cy="256032"/>
          </a:xfrm>
          <a:prstGeom prst="ellipse">
            <a:avLst/>
          </a:prstGeom>
          <a:solidFill>
            <a:srgbClr val="E8945A"/>
          </a:solidFill>
          <a:ln w="12700">
            <a:solidFill>
              <a:srgbClr val="E8945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77824" y="5550408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9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243584" y="5504688"/>
            <a:ext cx="59436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212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Grace reviews and submits the DN, then creates the Invoice; verify SQL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7754112" y="1810512"/>
            <a:ext cx="3419856" cy="4251960"/>
          </a:xfrm>
          <a:prstGeom prst="roundRect">
            <a:avLst>
              <a:gd name="adj" fmla="val 2674"/>
            </a:avLst>
          </a:prstGeom>
          <a:solidFill>
            <a:srgbClr val="121216"/>
          </a:solidFill>
          <a:ln w="12700">
            <a:solidFill>
              <a:srgbClr val="121216"/>
            </a:solidFill>
            <a:prstDash val="solid"/>
          </a:ln>
          <a:effectLst>
            <a:outerShdw blurRad="177800" dist="38100" dir="5400000" algn="bl" rotWithShape="0">
              <a:srgbClr val="B9895E">
                <a:alpha val="16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8065008" y="1956816"/>
            <a:ext cx="2798064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945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Pass criteria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8083296" y="2478024"/>
            <a:ext cx="128016" cy="128016"/>
          </a:xfrm>
          <a:prstGeom prst="ellipse">
            <a:avLst/>
          </a:prstGeom>
          <a:solidFill>
            <a:srgbClr val="2E8B6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357616" y="2359152"/>
            <a:ext cx="2505456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Prospect is not visible anywhere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8083296" y="3008376"/>
            <a:ext cx="128016" cy="128016"/>
          </a:xfrm>
          <a:prstGeom prst="ellipse">
            <a:avLst/>
          </a:prstGeom>
          <a:solidFill>
            <a:srgbClr val="2E8B6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357616" y="2889504"/>
            <a:ext cx="2505456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 is blocked from Queenie's Lead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8083296" y="3538728"/>
            <a:ext cx="128016" cy="128016"/>
          </a:xfrm>
          <a:prstGeom prst="ellipse">
            <a:avLst/>
          </a:prstGeom>
          <a:solidFill>
            <a:srgbClr val="2E8B6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357616" y="3419856"/>
            <a:ext cx="2505456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 and ownership survive conversion</a:t>
            </a:r>
            <a:endParaRPr lang="en-US" sz="1250" dirty="0"/>
          </a:p>
        </p:txBody>
      </p:sp>
      <p:sp>
        <p:nvSpPr>
          <p:cNvPr id="42" name="Shape 40"/>
          <p:cNvSpPr/>
          <p:nvPr/>
        </p:nvSpPr>
        <p:spPr>
          <a:xfrm>
            <a:off x="8083296" y="4069080"/>
            <a:ext cx="128016" cy="128016"/>
          </a:xfrm>
          <a:prstGeom prst="ellipse">
            <a:avLst/>
          </a:prstGeom>
          <a:solidFill>
            <a:srgbClr val="2E8B6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357616" y="3950208"/>
            <a:ext cx="2505456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 uses the actual 19.71 kg</a:t>
            </a:r>
            <a:endParaRPr lang="en-US" sz="1250" dirty="0"/>
          </a:p>
        </p:txBody>
      </p:sp>
      <p:sp>
        <p:nvSpPr>
          <p:cNvPr id="44" name="Shape 42"/>
          <p:cNvSpPr/>
          <p:nvPr/>
        </p:nvSpPr>
        <p:spPr>
          <a:xfrm>
            <a:off x="8083296" y="4599432"/>
            <a:ext cx="128016" cy="128016"/>
          </a:xfrm>
          <a:prstGeom prst="ellipse">
            <a:avLst/>
          </a:prstGeom>
          <a:solidFill>
            <a:srgbClr val="2E8B6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357616" y="4480560"/>
            <a:ext cx="2505456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permission holds</a:t>
            </a:r>
            <a:endParaRPr lang="en-US" sz="1250" dirty="0"/>
          </a:p>
        </p:txBody>
      </p:sp>
      <p:sp>
        <p:nvSpPr>
          <p:cNvPr id="46" name="Shape 44"/>
          <p:cNvSpPr/>
          <p:nvPr/>
        </p:nvSpPr>
        <p:spPr>
          <a:xfrm>
            <a:off x="8083296" y="5129784"/>
            <a:ext cx="128016" cy="128016"/>
          </a:xfrm>
          <a:prstGeom prst="ellipse">
            <a:avLst/>
          </a:prstGeom>
          <a:solidFill>
            <a:srgbClr val="2E8B6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357616" y="5010912"/>
            <a:ext cx="2505456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records are correct</a:t>
            </a:r>
            <a:endParaRPr lang="en-US" sz="1250" dirty="0"/>
          </a:p>
        </p:txBody>
      </p:sp>
      <p:sp>
        <p:nvSpPr>
          <p:cNvPr id="48" name="Text 46"/>
          <p:cNvSpPr/>
          <p:nvPr/>
        </p:nvSpPr>
        <p:spPr>
          <a:xfrm>
            <a:off x="566928" y="6199632"/>
            <a:ext cx="106070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C06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Red-numbered steps are actions that MUST fail. If they succeed, that is a blocker.</a:t>
            </a:r>
            <a:endParaRPr lang="en-US" sz="11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E6D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106070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80" dirty="0">
                <a:solidFill>
                  <a:srgbClr val="C06E2C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SCENARIO 2  ·  2:05 – 2:30  ·  PRIMARY USERS: GRACE, BEN, CJ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94944"/>
            <a:ext cx="106070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21216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Formal PO and carton order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66928" y="1243584"/>
            <a:ext cx="106070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A5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formal PO intake, the carton rule on a kilogram-based item, and middle-tier price approval routing.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66928" y="1810512"/>
            <a:ext cx="6858000" cy="4251960"/>
          </a:xfrm>
          <a:prstGeom prst="roundRect">
            <a:avLst>
              <a:gd name="adj" fmla="val 2151"/>
            </a:avLst>
          </a:prstGeom>
          <a:solidFill>
            <a:srgbClr val="FFFFFF"/>
          </a:solidFill>
          <a:ln w="12700">
            <a:solidFill>
              <a:srgbClr val="F2D3B6"/>
            </a:solidFill>
            <a:prstDash val="solid"/>
          </a:ln>
          <a:effectLst>
            <a:outerShdw blurRad="177800" dist="38100" dir="5400000" algn="bl" rotWithShape="0">
              <a:srgbClr val="B9895E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77824" y="1956816"/>
            <a:ext cx="6217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1216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Steps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77824" y="2331720"/>
            <a:ext cx="256032" cy="256032"/>
          </a:xfrm>
          <a:prstGeom prst="ellipse">
            <a:avLst/>
          </a:prstGeom>
          <a:solidFill>
            <a:srgbClr val="E8945A"/>
          </a:solidFill>
          <a:ln w="12700">
            <a:solidFill>
              <a:srgbClr val="E8945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77824" y="2331720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243584" y="2286000"/>
            <a:ext cx="59436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212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Grace uploads the customer PO; MAIA extracts customer, item and PO reference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77824" y="2734056"/>
            <a:ext cx="256032" cy="256032"/>
          </a:xfrm>
          <a:prstGeom prst="ellipse">
            <a:avLst/>
          </a:prstGeom>
          <a:solidFill>
            <a:srgbClr val="E8945A"/>
          </a:solidFill>
          <a:ln w="12700">
            <a:solidFill>
              <a:srgbClr val="E8945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77824" y="2734056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243584" y="2688336"/>
            <a:ext cx="59436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212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 verifies customer &amp; SKU; notes “2 cartons” with the 1 kg placeholder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77824" y="3136392"/>
            <a:ext cx="256032" cy="256032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77824" y="3136392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3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243584" y="3090672"/>
            <a:ext cx="59436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212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 attempts to set the price himself — must be denied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77824" y="3538728"/>
            <a:ext cx="256032" cy="256032"/>
          </a:xfrm>
          <a:prstGeom prst="ellipse">
            <a:avLst/>
          </a:prstGeom>
          <a:solidFill>
            <a:srgbClr val="E8945A"/>
          </a:solidFill>
          <a:ln w="12700">
            <a:solidFill>
              <a:srgbClr val="E8945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77824" y="3538728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4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243584" y="3493008"/>
            <a:ext cx="59436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212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 tags CJ in a comment to request approval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77824" y="3941064"/>
            <a:ext cx="256032" cy="256032"/>
          </a:xfrm>
          <a:prstGeom prst="ellipse">
            <a:avLst/>
          </a:prstGeom>
          <a:solidFill>
            <a:srgbClr val="E8945A"/>
          </a:solidFill>
          <a:ln w="12700">
            <a:solidFill>
              <a:srgbClr val="E8945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77824" y="3941064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5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243584" y="3895344"/>
            <a:ext cx="59436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212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CJ opens the SO, sets the price, and submits; SO credit check passes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877824" y="4343400"/>
            <a:ext cx="256032" cy="256032"/>
          </a:xfrm>
          <a:prstGeom prst="ellipse">
            <a:avLst/>
          </a:prstGeom>
          <a:solidFill>
            <a:srgbClr val="E8945A"/>
          </a:solidFill>
          <a:ln w="12700">
            <a:solidFill>
              <a:srgbClr val="E8945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77824" y="4343400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6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243584" y="4297680"/>
            <a:ext cx="59436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212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Lai groups the order using the shipping address and prints the Pick List PDF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877824" y="4745736"/>
            <a:ext cx="256032" cy="256032"/>
          </a:xfrm>
          <a:prstGeom prst="ellipse">
            <a:avLst/>
          </a:prstGeom>
          <a:solidFill>
            <a:srgbClr val="E8945A"/>
          </a:solidFill>
          <a:ln w="12700">
            <a:solidFill>
              <a:srgbClr val="E8945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77824" y="4745736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7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243584" y="4700016"/>
            <a:ext cx="59436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212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 records carton weights of 10.44 kg and 11.82 kg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877824" y="5148072"/>
            <a:ext cx="256032" cy="256032"/>
          </a:xfrm>
          <a:prstGeom prst="ellipse">
            <a:avLst/>
          </a:prstGeom>
          <a:solidFill>
            <a:srgbClr val="E8945A"/>
          </a:solidFill>
          <a:ln w="12700">
            <a:solidFill>
              <a:srgbClr val="E8945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77824" y="5148072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8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243584" y="5102352"/>
            <a:ext cx="59436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212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List uploaded and completed; Draft DN total confirms at 22.26 kg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877824" y="5550408"/>
            <a:ext cx="256032" cy="256032"/>
          </a:xfrm>
          <a:prstGeom prst="ellipse">
            <a:avLst/>
          </a:prstGeom>
          <a:solidFill>
            <a:srgbClr val="E8945A"/>
          </a:solidFill>
          <a:ln w="12700">
            <a:solidFill>
              <a:srgbClr val="E8945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77824" y="5550408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9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243584" y="5504688"/>
            <a:ext cx="59436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212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Grace reviews, submits the DN and creates the Invoice; verify SQL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7754112" y="1810512"/>
            <a:ext cx="3419856" cy="4251960"/>
          </a:xfrm>
          <a:prstGeom prst="roundRect">
            <a:avLst>
              <a:gd name="adj" fmla="val 2674"/>
            </a:avLst>
          </a:prstGeom>
          <a:solidFill>
            <a:srgbClr val="121216"/>
          </a:solidFill>
          <a:ln w="12700">
            <a:solidFill>
              <a:srgbClr val="121216"/>
            </a:solidFill>
            <a:prstDash val="solid"/>
          </a:ln>
          <a:effectLst>
            <a:outerShdw blurRad="177800" dist="38100" dir="5400000" algn="bl" rotWithShape="0">
              <a:srgbClr val="B9895E">
                <a:alpha val="16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8065008" y="1956816"/>
            <a:ext cx="2798064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945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Pass criteria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8083296" y="2478024"/>
            <a:ext cx="128016" cy="128016"/>
          </a:xfrm>
          <a:prstGeom prst="ellipse">
            <a:avLst/>
          </a:prstGeom>
          <a:solidFill>
            <a:srgbClr val="2E8B6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357616" y="2359152"/>
            <a:ext cx="2505456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 mapping works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8083296" y="3008376"/>
            <a:ext cx="128016" cy="128016"/>
          </a:xfrm>
          <a:prstGeom prst="ellipse">
            <a:avLst/>
          </a:prstGeom>
          <a:solidFill>
            <a:srgbClr val="2E8B6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357616" y="2889504"/>
            <a:ext cx="2505456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carton rule is followed exactly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8083296" y="3538728"/>
            <a:ext cx="128016" cy="128016"/>
          </a:xfrm>
          <a:prstGeom prst="ellipse">
            <a:avLst/>
          </a:prstGeom>
          <a:solidFill>
            <a:srgbClr val="2E8B6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357616" y="3419856"/>
            <a:ext cx="2505456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Self-approval is blocked</a:t>
            </a:r>
            <a:endParaRPr lang="en-US" sz="1250" dirty="0"/>
          </a:p>
        </p:txBody>
      </p:sp>
      <p:sp>
        <p:nvSpPr>
          <p:cNvPr id="42" name="Shape 40"/>
          <p:cNvSpPr/>
          <p:nvPr/>
        </p:nvSpPr>
        <p:spPr>
          <a:xfrm>
            <a:off x="8083296" y="4069080"/>
            <a:ext cx="128016" cy="128016"/>
          </a:xfrm>
          <a:prstGeom prst="ellipse">
            <a:avLst/>
          </a:prstGeom>
          <a:solidFill>
            <a:srgbClr val="2E8B6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357616" y="3950208"/>
            <a:ext cx="2505456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CJ can set and submit an eligible price</a:t>
            </a:r>
            <a:endParaRPr lang="en-US" sz="1250" dirty="0"/>
          </a:p>
        </p:txBody>
      </p:sp>
      <p:sp>
        <p:nvSpPr>
          <p:cNvPr id="44" name="Shape 42"/>
          <p:cNvSpPr/>
          <p:nvPr/>
        </p:nvSpPr>
        <p:spPr>
          <a:xfrm>
            <a:off x="8083296" y="4599432"/>
            <a:ext cx="128016" cy="128016"/>
          </a:xfrm>
          <a:prstGeom prst="ellipse">
            <a:avLst/>
          </a:prstGeom>
          <a:solidFill>
            <a:srgbClr val="2E8B6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357616" y="4480560"/>
            <a:ext cx="2505456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Shipping address supports grouping</a:t>
            </a:r>
            <a:endParaRPr lang="en-US" sz="1250" dirty="0"/>
          </a:p>
        </p:txBody>
      </p:sp>
      <p:sp>
        <p:nvSpPr>
          <p:cNvPr id="46" name="Shape 44"/>
          <p:cNvSpPr/>
          <p:nvPr/>
        </p:nvSpPr>
        <p:spPr>
          <a:xfrm>
            <a:off x="8083296" y="5129784"/>
            <a:ext cx="128016" cy="128016"/>
          </a:xfrm>
          <a:prstGeom prst="ellipse">
            <a:avLst/>
          </a:prstGeom>
          <a:solidFill>
            <a:srgbClr val="2E8B6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357616" y="5010912"/>
            <a:ext cx="2505456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printed PDF is usable for handwriting</a:t>
            </a:r>
            <a:endParaRPr lang="en-US" sz="1250" dirty="0"/>
          </a:p>
        </p:txBody>
      </p:sp>
      <p:sp>
        <p:nvSpPr>
          <p:cNvPr id="48" name="Shape 46"/>
          <p:cNvSpPr/>
          <p:nvPr/>
        </p:nvSpPr>
        <p:spPr>
          <a:xfrm>
            <a:off x="8083296" y="5660136"/>
            <a:ext cx="128016" cy="128016"/>
          </a:xfrm>
          <a:prstGeom prst="ellipse">
            <a:avLst/>
          </a:prstGeom>
          <a:solidFill>
            <a:srgbClr val="2E8B6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357616" y="5541264"/>
            <a:ext cx="2505456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quantity is 22.26 kg</a:t>
            </a:r>
            <a:endParaRPr lang="en-US" sz="1250" dirty="0"/>
          </a:p>
        </p:txBody>
      </p:sp>
      <p:sp>
        <p:nvSpPr>
          <p:cNvPr id="50" name="Text 48"/>
          <p:cNvSpPr/>
          <p:nvPr/>
        </p:nvSpPr>
        <p:spPr>
          <a:xfrm>
            <a:off x="566928" y="6199632"/>
            <a:ext cx="106070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C06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Red-numbered steps are actions that MUST fail. If they succeed, that is a blocker.</a:t>
            </a:r>
            <a:endParaRPr lang="en-US" sz="11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E6D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106070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80" dirty="0">
                <a:solidFill>
                  <a:srgbClr val="C06E2C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SCENARIO 3  ·  2:30 – 3:05  ·  USERS: THE ENTIRE MACRO FROZEN TEAM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94944"/>
            <a:ext cx="106070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21216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Live operational order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66928" y="1243584"/>
            <a:ext cx="106070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A5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 the real team can run a real order without Gareth taking over. Real order, real accounts, real roles. Gareth and Ivan observe; every assist is logged.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66928" y="1810512"/>
            <a:ext cx="6858000" cy="4251960"/>
          </a:xfrm>
          <a:prstGeom prst="roundRect">
            <a:avLst>
              <a:gd name="adj" fmla="val 2151"/>
            </a:avLst>
          </a:prstGeom>
          <a:solidFill>
            <a:srgbClr val="FFFFFF"/>
          </a:solidFill>
          <a:ln w="12700">
            <a:solidFill>
              <a:srgbClr val="F2D3B6"/>
            </a:solidFill>
            <a:prstDash val="solid"/>
          </a:ln>
          <a:effectLst>
            <a:outerShdw blurRad="177800" dist="38100" dir="5400000" algn="bl" rotWithShape="0">
              <a:srgbClr val="B9895E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77824" y="1956816"/>
            <a:ext cx="6217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1216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Steps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77824" y="2331720"/>
            <a:ext cx="256032" cy="256032"/>
          </a:xfrm>
          <a:prstGeom prst="ellipse">
            <a:avLst/>
          </a:prstGeom>
          <a:solidFill>
            <a:srgbClr val="E8945A"/>
          </a:solidFill>
          <a:ln w="12700">
            <a:solidFill>
              <a:srgbClr val="E8945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77824" y="2331720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243584" y="2286000"/>
            <a:ext cx="59436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212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Salesperson receives the order and forwards it to MAIA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77824" y="2734056"/>
            <a:ext cx="256032" cy="256032"/>
          </a:xfrm>
          <a:prstGeom prst="ellipse">
            <a:avLst/>
          </a:prstGeom>
          <a:solidFill>
            <a:srgbClr val="E8945A"/>
          </a:solidFill>
          <a:ln w="12700">
            <a:solidFill>
              <a:srgbClr val="E8945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77824" y="2734056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243584" y="2688336"/>
            <a:ext cx="59436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212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Salesperson reviews the Draft SO and submits it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77824" y="3136392"/>
            <a:ext cx="256032" cy="256032"/>
          </a:xfrm>
          <a:prstGeom prst="ellipse">
            <a:avLst/>
          </a:prstGeom>
          <a:solidFill>
            <a:srgbClr val="E8945A"/>
          </a:solidFill>
          <a:ln w="12700">
            <a:solidFill>
              <a:srgbClr val="E8945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77824" y="3136392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3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243584" y="3090672"/>
            <a:ext cx="59436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212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and credit controls run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77824" y="3538728"/>
            <a:ext cx="256032" cy="256032"/>
          </a:xfrm>
          <a:prstGeom prst="ellipse">
            <a:avLst/>
          </a:prstGeom>
          <a:solidFill>
            <a:srgbClr val="E8945A"/>
          </a:solidFill>
          <a:ln w="12700">
            <a:solidFill>
              <a:srgbClr val="E8945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77824" y="3538728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4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243584" y="3493008"/>
            <a:ext cx="59436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212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Lai groups the order using shipping information and produces the Pick List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77824" y="3941064"/>
            <a:ext cx="256032" cy="256032"/>
          </a:xfrm>
          <a:prstGeom prst="ellipse">
            <a:avLst/>
          </a:prstGeom>
          <a:solidFill>
            <a:srgbClr val="E8945A"/>
          </a:solidFill>
          <a:ln w="12700">
            <a:solidFill>
              <a:srgbClr val="E8945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77824" y="3941064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5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243584" y="3895344"/>
            <a:ext cx="59436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212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 records the actual picked quantity and box weights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877824" y="4343400"/>
            <a:ext cx="256032" cy="256032"/>
          </a:xfrm>
          <a:prstGeom prst="ellipse">
            <a:avLst/>
          </a:prstGeom>
          <a:solidFill>
            <a:srgbClr val="E8945A"/>
          </a:solidFill>
          <a:ln w="12700">
            <a:solidFill>
              <a:srgbClr val="E8945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77824" y="4343400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6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243584" y="4297680"/>
            <a:ext cx="59436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212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Lai completes the Pick List and creates the Draft DN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877824" y="4745736"/>
            <a:ext cx="256032" cy="256032"/>
          </a:xfrm>
          <a:prstGeom prst="ellipse">
            <a:avLst/>
          </a:prstGeom>
          <a:solidFill>
            <a:srgbClr val="E8945A"/>
          </a:solidFill>
          <a:ln w="12700">
            <a:solidFill>
              <a:srgbClr val="E8945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77824" y="4745736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7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243584" y="4700016"/>
            <a:ext cx="59436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212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Lai splits the actual line weights; DN credit check runs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877824" y="5148072"/>
            <a:ext cx="256032" cy="256032"/>
          </a:xfrm>
          <a:prstGeom prst="ellipse">
            <a:avLst/>
          </a:prstGeom>
          <a:solidFill>
            <a:srgbClr val="E8945A"/>
          </a:solidFill>
          <a:ln w="12700">
            <a:solidFill>
              <a:srgbClr val="E8945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77824" y="5148072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8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243584" y="5102352"/>
            <a:ext cx="59436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212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Grace reviews, submits the DN and creates the Invoice; verify SQL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877824" y="5550408"/>
            <a:ext cx="256032" cy="256032"/>
          </a:xfrm>
          <a:prstGeom prst="ellipse">
            <a:avLst/>
          </a:prstGeom>
          <a:solidFill>
            <a:srgbClr val="E8945A"/>
          </a:solidFill>
          <a:ln w="12700">
            <a:solidFill>
              <a:srgbClr val="E8945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77824" y="5550408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9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243584" y="5504688"/>
            <a:ext cx="59436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212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team explains each handoff in their own words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7754112" y="1810512"/>
            <a:ext cx="3419856" cy="4251960"/>
          </a:xfrm>
          <a:prstGeom prst="roundRect">
            <a:avLst>
              <a:gd name="adj" fmla="val 2674"/>
            </a:avLst>
          </a:prstGeom>
          <a:solidFill>
            <a:srgbClr val="121216"/>
          </a:solidFill>
          <a:ln w="12700">
            <a:solidFill>
              <a:srgbClr val="121216"/>
            </a:solidFill>
            <a:prstDash val="solid"/>
          </a:ln>
          <a:effectLst>
            <a:outerShdw blurRad="177800" dist="38100" dir="5400000" algn="bl" rotWithShape="0">
              <a:srgbClr val="B9895E">
                <a:alpha val="16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8065008" y="1956816"/>
            <a:ext cx="2798064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945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Pass criteria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8083296" y="2478024"/>
            <a:ext cx="128016" cy="128016"/>
          </a:xfrm>
          <a:prstGeom prst="ellipse">
            <a:avLst/>
          </a:prstGeom>
          <a:solidFill>
            <a:srgbClr val="2E8B6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357616" y="2359152"/>
            <a:ext cx="2505456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operate independently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8083296" y="3008376"/>
            <a:ext cx="128016" cy="128016"/>
          </a:xfrm>
          <a:prstGeom prst="ellipse">
            <a:avLst/>
          </a:prstGeom>
          <a:solidFill>
            <a:srgbClr val="2E8B6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357616" y="2889504"/>
            <a:ext cx="2505456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Visibility rules hold under real use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8083296" y="3538728"/>
            <a:ext cx="128016" cy="128016"/>
          </a:xfrm>
          <a:prstGeom prst="ellipse">
            <a:avLst/>
          </a:prstGeom>
          <a:solidFill>
            <a:srgbClr val="2E8B6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357616" y="3419856"/>
            <a:ext cx="2505456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Handoffs are clear to the team itself</a:t>
            </a:r>
            <a:endParaRPr lang="en-US" sz="1250" dirty="0"/>
          </a:p>
        </p:txBody>
      </p:sp>
      <p:sp>
        <p:nvSpPr>
          <p:cNvPr id="42" name="Shape 40"/>
          <p:cNvSpPr/>
          <p:nvPr/>
        </p:nvSpPr>
        <p:spPr>
          <a:xfrm>
            <a:off x="8083296" y="4069080"/>
            <a:ext cx="128016" cy="128016"/>
          </a:xfrm>
          <a:prstGeom prst="ellipse">
            <a:avLst/>
          </a:prstGeom>
          <a:solidFill>
            <a:srgbClr val="2E8B6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357616" y="3950208"/>
            <a:ext cx="2505456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PDF is practical in the warehouse</a:t>
            </a:r>
            <a:endParaRPr lang="en-US" sz="1250" dirty="0"/>
          </a:p>
        </p:txBody>
      </p:sp>
      <p:sp>
        <p:nvSpPr>
          <p:cNvPr id="44" name="Shape 42"/>
          <p:cNvSpPr/>
          <p:nvPr/>
        </p:nvSpPr>
        <p:spPr>
          <a:xfrm>
            <a:off x="8083296" y="4599432"/>
            <a:ext cx="128016" cy="128016"/>
          </a:xfrm>
          <a:prstGeom prst="ellipse">
            <a:avLst/>
          </a:prstGeom>
          <a:solidFill>
            <a:srgbClr val="2E8B6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357616" y="4480560"/>
            <a:ext cx="2505456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Quantities and SQL records are correct</a:t>
            </a:r>
            <a:endParaRPr lang="en-US" sz="1250" dirty="0"/>
          </a:p>
        </p:txBody>
      </p:sp>
      <p:sp>
        <p:nvSpPr>
          <p:cNvPr id="46" name="Shape 44"/>
          <p:cNvSpPr/>
          <p:nvPr/>
        </p:nvSpPr>
        <p:spPr>
          <a:xfrm>
            <a:off x="8083296" y="5129784"/>
            <a:ext cx="128016" cy="128016"/>
          </a:xfrm>
          <a:prstGeom prst="ellipse">
            <a:avLst/>
          </a:prstGeom>
          <a:solidFill>
            <a:srgbClr val="2E8B6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357616" y="5010912"/>
            <a:ext cx="2505456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 falls back to the old Excel process</a:t>
            </a:r>
            <a:endParaRPr lang="en-US" sz="1250" dirty="0"/>
          </a:p>
        </p:txBody>
      </p:sp>
      <p:sp>
        <p:nvSpPr>
          <p:cNvPr id="48" name="Text 46"/>
          <p:cNvSpPr/>
          <p:nvPr/>
        </p:nvSpPr>
        <p:spPr>
          <a:xfrm>
            <a:off x="566928" y="6199632"/>
            <a:ext cx="106070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C06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scripted denials here — this run is judged on whether the team gets through it unaided.</a:t>
            </a:r>
            <a:endParaRPr lang="en-US" sz="11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100584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06E2C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DISCIPLINE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06070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121216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How we classify what we find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66928" y="1463040"/>
            <a:ext cx="10607040" cy="786384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 w="12700">
            <a:solidFill>
              <a:srgbClr val="EADFD3"/>
            </a:solidFill>
            <a:prstDash val="solid"/>
          </a:ln>
          <a:effectLst>
            <a:outerShdw blurRad="177800" dist="38100" dir="5400000" algn="bl" rotWithShape="0">
              <a:srgbClr val="B9895E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682496"/>
            <a:ext cx="2103120" cy="347472"/>
          </a:xfrm>
          <a:prstGeom prst="roundRect">
            <a:avLst>
              <a:gd name="adj" fmla="val 131579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682496"/>
            <a:ext cx="21031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BLOCKER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172968" y="1463040"/>
            <a:ext cx="4206240" cy="7863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212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workflow is unsafe or impossible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516368" y="1463040"/>
            <a:ext cx="3383280" cy="7863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unless fixed and re-tested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66928" y="2359152"/>
            <a:ext cx="10607040" cy="786384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 w="12700">
            <a:solidFill>
              <a:srgbClr val="EADFD3"/>
            </a:solidFill>
            <a:prstDash val="solid"/>
          </a:ln>
          <a:effectLst>
            <a:outerShdw blurRad="177800" dist="38100" dir="5400000" algn="bl" rotWithShape="0">
              <a:srgbClr val="B9895E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2578608"/>
            <a:ext cx="2103120" cy="347472"/>
          </a:xfrm>
          <a:prstGeom prst="roundRect">
            <a:avLst>
              <a:gd name="adj" fmla="val 131579"/>
            </a:avLst>
          </a:prstGeom>
          <a:solidFill>
            <a:srgbClr val="D2941F"/>
          </a:solidFill>
          <a:ln w="12700">
            <a:solidFill>
              <a:srgbClr val="D2941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578608"/>
            <a:ext cx="21031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MAJOR WITH WORKAROUND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172968" y="2359152"/>
            <a:ext cx="4206240" cy="7863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212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works with a controlled workaround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516368" y="2359152"/>
            <a:ext cx="3383280" cy="7863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D29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Amber is possible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66928" y="3255264"/>
            <a:ext cx="10607040" cy="786384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 w="12700">
            <a:solidFill>
              <a:srgbClr val="EADFD3"/>
            </a:solidFill>
            <a:prstDash val="solid"/>
          </a:ln>
          <a:effectLst>
            <a:outerShdw blurRad="177800" dist="38100" dir="5400000" algn="bl" rotWithShape="0">
              <a:srgbClr val="B9895E">
                <a:alpha val="1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2960" y="3474720"/>
            <a:ext cx="2103120" cy="347472"/>
          </a:xfrm>
          <a:prstGeom prst="roundRect">
            <a:avLst>
              <a:gd name="adj" fmla="val 131579"/>
            </a:avLst>
          </a:prstGeom>
          <a:solidFill>
            <a:srgbClr val="2E8B62"/>
          </a:solidFill>
          <a:ln w="12700">
            <a:solidFill>
              <a:srgbClr val="2E8B6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3474720"/>
            <a:ext cx="21031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MINOR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172968" y="3255264"/>
            <a:ext cx="4206240" cy="7863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212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material effect on correctness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516368" y="3255264"/>
            <a:ext cx="3383280" cy="7863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2E8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not block go-live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66928" y="4151376"/>
            <a:ext cx="10607040" cy="786384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 w="12700">
            <a:solidFill>
              <a:srgbClr val="EADFD3"/>
            </a:solidFill>
            <a:prstDash val="solid"/>
          </a:ln>
          <a:effectLst>
            <a:outerShdw blurRad="177800" dist="38100" dir="5400000" algn="bl" rotWithShape="0">
              <a:srgbClr val="B9895E">
                <a:alpha val="1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22960" y="4370832"/>
            <a:ext cx="2103120" cy="347472"/>
          </a:xfrm>
          <a:prstGeom prst="roundRect">
            <a:avLst>
              <a:gd name="adj" fmla="val 131579"/>
            </a:avLst>
          </a:prstGeom>
          <a:solidFill>
            <a:srgbClr val="56565F"/>
          </a:solidFill>
          <a:ln w="12700">
            <a:solidFill>
              <a:srgbClr val="56565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4370832"/>
            <a:ext cx="21031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ENHANCEMENT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172968" y="4151376"/>
            <a:ext cx="4206240" cy="7863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212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future improvement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516368" y="4151376"/>
            <a:ext cx="3383280" cy="7863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565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Parking lot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66928" y="5047488"/>
            <a:ext cx="10607040" cy="786384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 w="12700">
            <a:solidFill>
              <a:srgbClr val="EADFD3"/>
            </a:solidFill>
            <a:prstDash val="solid"/>
          </a:ln>
          <a:effectLst>
            <a:outerShdw blurRad="177800" dist="38100" dir="5400000" algn="bl" rotWithShape="0">
              <a:srgbClr val="B9895E">
                <a:alpha val="1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22960" y="5266944"/>
            <a:ext cx="2103120" cy="347472"/>
          </a:xfrm>
          <a:prstGeom prst="roundRect">
            <a:avLst>
              <a:gd name="adj" fmla="val 131579"/>
            </a:avLst>
          </a:prstGeom>
          <a:solidFill>
            <a:srgbClr val="C06E2C"/>
          </a:solidFill>
          <a:ln w="12700">
            <a:solidFill>
              <a:srgbClr val="C06E2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2960" y="5266944"/>
            <a:ext cx="21031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KNOWN DATA EXCEPTION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3172968" y="5047488"/>
            <a:ext cx="4206240" cy="7863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212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existing SQL source-data issue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516368" y="5047488"/>
            <a:ext cx="3383280" cy="7863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C06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Tracked separately from defects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566928" y="5596128"/>
            <a:ext cx="10607040" cy="713232"/>
          </a:xfrm>
          <a:prstGeom prst="roundRect">
            <a:avLst>
              <a:gd name="adj" fmla="val 12821"/>
            </a:avLst>
          </a:prstGeom>
          <a:solidFill>
            <a:srgbClr val="F9E6D5"/>
          </a:solidFill>
          <a:ln w="12700">
            <a:solidFill>
              <a:srgbClr val="F2D3B6"/>
            </a:solidFill>
            <a:prstDash val="solid"/>
          </a:ln>
          <a:effectLst>
            <a:outerShdw blurRad="177800" dist="38100" dir="5400000" algn="bl" rotWithShape="0">
              <a:srgbClr val="B9895E">
                <a:alpha val="16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566928" y="5596128"/>
            <a:ext cx="10607040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7A5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happens in the room, by agreement — not afterwards by email.</a:t>
            </a:r>
            <a:endParaRPr lang="en-US" sz="13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100584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06E2C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3:05 – 3:15 P.M.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06070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121216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The go-live decision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66928" y="1463040"/>
            <a:ext cx="3328416" cy="4617720"/>
          </a:xfrm>
          <a:prstGeom prst="roundRect">
            <a:avLst>
              <a:gd name="adj" fmla="val 2747"/>
            </a:avLst>
          </a:prstGeom>
          <a:solidFill>
            <a:srgbClr val="FFFFFF"/>
          </a:solidFill>
          <a:ln w="12700">
            <a:solidFill>
              <a:srgbClr val="EADFD3"/>
            </a:solidFill>
            <a:prstDash val="solid"/>
          </a:ln>
          <a:effectLst>
            <a:outerShdw blurRad="177800" dist="38100" dir="5400000" algn="bl" rotWithShape="0">
              <a:srgbClr val="B9895E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66928" y="1463040"/>
            <a:ext cx="3328416" cy="841248"/>
          </a:xfrm>
          <a:prstGeom prst="roundRect">
            <a:avLst>
              <a:gd name="adj" fmla="val 10870"/>
            </a:avLst>
          </a:prstGeom>
          <a:solidFill>
            <a:srgbClr val="2E8B62"/>
          </a:solidFill>
          <a:ln w="12700">
            <a:solidFill>
              <a:srgbClr val="2E8B6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1554480"/>
            <a:ext cx="2779776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GREEN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41248" y="1901952"/>
            <a:ext cx="2779776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Proceed to go-live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77824" y="2487168"/>
            <a:ext cx="2706624" cy="3383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565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scenarios pass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565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Accounts and permissions correct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565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ownership restrictions hold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565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visibility is in place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565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List PDF is usable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565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and credit controls work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565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quantity drives DN and Invoice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565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records are correct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565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blocker remains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206240" y="1463040"/>
            <a:ext cx="3328416" cy="4617720"/>
          </a:xfrm>
          <a:prstGeom prst="roundRect">
            <a:avLst>
              <a:gd name="adj" fmla="val 2747"/>
            </a:avLst>
          </a:prstGeom>
          <a:solidFill>
            <a:srgbClr val="FFFFFF"/>
          </a:solidFill>
          <a:ln w="12700">
            <a:solidFill>
              <a:srgbClr val="EADFD3"/>
            </a:solidFill>
            <a:prstDash val="solid"/>
          </a:ln>
          <a:effectLst>
            <a:outerShdw blurRad="177800" dist="38100" dir="5400000" algn="bl" rotWithShape="0">
              <a:srgbClr val="B9895E">
                <a:alpha val="1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206240" y="1463040"/>
            <a:ext cx="3328416" cy="841248"/>
          </a:xfrm>
          <a:prstGeom prst="roundRect">
            <a:avLst>
              <a:gd name="adj" fmla="val 10870"/>
            </a:avLst>
          </a:prstGeom>
          <a:solidFill>
            <a:srgbClr val="D2941F"/>
          </a:solidFill>
          <a:ln w="12700">
            <a:solidFill>
              <a:srgbClr val="D2941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80560" y="1554480"/>
            <a:ext cx="2779776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AMBER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480560" y="1901952"/>
            <a:ext cx="2779776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Proceed with conditions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517136" y="2487168"/>
            <a:ext cx="2706624" cy="3383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565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data-integrity risk remains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565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permission risk remains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565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workaround is documented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565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owner is assigned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565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expiry date is set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565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Frozen accepts the constraint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845552" y="1463040"/>
            <a:ext cx="3328416" cy="4617720"/>
          </a:xfrm>
          <a:prstGeom prst="roundRect">
            <a:avLst>
              <a:gd name="adj" fmla="val 2747"/>
            </a:avLst>
          </a:prstGeom>
          <a:solidFill>
            <a:srgbClr val="FFFFFF"/>
          </a:solidFill>
          <a:ln w="12700">
            <a:solidFill>
              <a:srgbClr val="EADFD3"/>
            </a:solidFill>
            <a:prstDash val="solid"/>
          </a:ln>
          <a:effectLst>
            <a:outerShdw blurRad="177800" dist="38100" dir="5400000" algn="bl" rotWithShape="0">
              <a:srgbClr val="B9895E">
                <a:alpha val="1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845552" y="1463040"/>
            <a:ext cx="3328416" cy="841248"/>
          </a:xfrm>
          <a:prstGeom prst="roundRect">
            <a:avLst>
              <a:gd name="adj" fmla="val 10870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119872" y="1554480"/>
            <a:ext cx="2779776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RED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8119872" y="1901952"/>
            <a:ext cx="2779776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go live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56448" y="2487168"/>
            <a:ext cx="2706624" cy="3383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565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users can see each other's records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565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visibility is missing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565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setup is incomplete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565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Unauthorised approval or submission is possible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565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customer, item, quantity, price or weight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565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documents are created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565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write failure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565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List PDF is unusable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565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cannot complete the flow alone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66928" y="6437376"/>
            <a:ext cx="1106424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A8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two-way synchronisation is never enabled after a Red decision.</a:t>
            </a:r>
            <a:endParaRPr lang="en-US" sz="9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100584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06E2C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AFTER A GREEN OR APPROVED AMBER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06070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121216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The go-live transition and what follows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66928" y="1481328"/>
            <a:ext cx="335280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ADFD3"/>
            </a:solidFill>
            <a:prstDash val="solid"/>
          </a:ln>
          <a:effectLst>
            <a:outerShdw blurRad="177800" dist="38100" dir="5400000" algn="bl" rotWithShape="0">
              <a:srgbClr val="B9895E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700784"/>
            <a:ext cx="365760" cy="365760"/>
          </a:xfrm>
          <a:prstGeom prst="ellipse">
            <a:avLst/>
          </a:prstGeom>
          <a:solidFill>
            <a:srgbClr val="E8945A"/>
          </a:solidFill>
          <a:ln w="12700">
            <a:solidFill>
              <a:srgbClr val="E894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700784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298448" y="1700784"/>
            <a:ext cx="2365248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1216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Catch-up sync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2176272"/>
            <a:ext cx="2840736" cy="6583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65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final SQL synchronisation up to the current date and time.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194048" y="1481328"/>
            <a:ext cx="335280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ADFD3"/>
            </a:solidFill>
            <a:prstDash val="solid"/>
          </a:ln>
          <a:effectLst>
            <a:outerShdw blurRad="177800" dist="38100" dir="5400000" algn="bl" rotWithShape="0">
              <a:srgbClr val="B9895E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450080" y="1700784"/>
            <a:ext cx="365760" cy="365760"/>
          </a:xfrm>
          <a:prstGeom prst="ellipse">
            <a:avLst/>
          </a:prstGeom>
          <a:solidFill>
            <a:srgbClr val="E8945A"/>
          </a:solidFill>
          <a:ln w="12700">
            <a:solidFill>
              <a:srgbClr val="E8945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50080" y="1700784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925568" y="1700784"/>
            <a:ext cx="2365248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1216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Reconcile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450080" y="2176272"/>
            <a:ext cx="2840736" cy="6583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65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key record counts and control totals against SQL.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821168" y="1481328"/>
            <a:ext cx="335280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ADFD3"/>
            </a:solidFill>
            <a:prstDash val="solid"/>
          </a:ln>
          <a:effectLst>
            <a:outerShdw blurRad="177800" dist="38100" dir="5400000" algn="bl" rotWithShape="0">
              <a:srgbClr val="B9895E">
                <a:alpha val="1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077200" y="1700784"/>
            <a:ext cx="365760" cy="365760"/>
          </a:xfrm>
          <a:prstGeom prst="ellipse">
            <a:avLst/>
          </a:prstGeom>
          <a:solidFill>
            <a:srgbClr val="E8945A"/>
          </a:solidFill>
          <a:ln w="12700">
            <a:solidFill>
              <a:srgbClr val="E8945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77200" y="1700784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552688" y="1700784"/>
            <a:ext cx="2365248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1216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Confirm exclusions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077200" y="2176272"/>
            <a:ext cx="2840736" cy="6583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65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the known excluded records remain documented.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66928" y="3090672"/>
            <a:ext cx="335280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ADFD3"/>
            </a:solidFill>
            <a:prstDash val="solid"/>
          </a:ln>
          <a:effectLst>
            <a:outerShdw blurRad="177800" dist="38100" dir="5400000" algn="bl" rotWithShape="0">
              <a:srgbClr val="B9895E">
                <a:alpha val="1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22960" y="3310128"/>
            <a:ext cx="365760" cy="365760"/>
          </a:xfrm>
          <a:prstGeom prst="ellipse">
            <a:avLst/>
          </a:prstGeom>
          <a:solidFill>
            <a:srgbClr val="E8945A"/>
          </a:solidFill>
          <a:ln w="12700">
            <a:solidFill>
              <a:srgbClr val="E8945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3310128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298448" y="3310128"/>
            <a:ext cx="2365248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1216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Enable live sync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22960" y="3785616"/>
            <a:ext cx="2840736" cy="6583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65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on ongoing two-way synchronisation between MAIA and SQL.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194048" y="3090672"/>
            <a:ext cx="335280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ADFD3"/>
            </a:solidFill>
            <a:prstDash val="solid"/>
          </a:ln>
          <a:effectLst>
            <a:outerShdw blurRad="177800" dist="38100" dir="5400000" algn="bl" rotWithShape="0">
              <a:srgbClr val="B9895E">
                <a:alpha val="1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450080" y="3310128"/>
            <a:ext cx="365760" cy="365760"/>
          </a:xfrm>
          <a:prstGeom prst="ellipse">
            <a:avLst/>
          </a:prstGeom>
          <a:solidFill>
            <a:srgbClr val="E8945A"/>
          </a:solidFill>
          <a:ln w="12700">
            <a:solidFill>
              <a:srgbClr val="E8945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450080" y="3310128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925568" y="3310128"/>
            <a:ext cx="2365248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1216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Smoke test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450080" y="3785616"/>
            <a:ext cx="2840736" cy="6583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65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 controlled post-sync test on a real order before opening it up.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7821168" y="3090672"/>
            <a:ext cx="3352800" cy="1463040"/>
          </a:xfrm>
          <a:prstGeom prst="roundRect">
            <a:avLst>
              <a:gd name="adj" fmla="val 6250"/>
            </a:avLst>
          </a:prstGeom>
          <a:solidFill>
            <a:srgbClr val="F9E6D5"/>
          </a:solidFill>
          <a:ln w="12700">
            <a:solidFill>
              <a:srgbClr val="E8945A"/>
            </a:solidFill>
            <a:prstDash val="solid"/>
          </a:ln>
          <a:effectLst>
            <a:outerShdw blurRad="177800" dist="38100" dir="5400000" algn="bl" rotWithShape="0">
              <a:srgbClr val="B9895E">
                <a:alpha val="16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077200" y="3310128"/>
            <a:ext cx="365760" cy="365760"/>
          </a:xfrm>
          <a:prstGeom prst="ellipse">
            <a:avLst/>
          </a:prstGeom>
          <a:solidFill>
            <a:srgbClr val="2E8B62"/>
          </a:solidFill>
          <a:ln w="12700">
            <a:solidFill>
              <a:srgbClr val="2E8B6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077200" y="3310128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6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8552688" y="3310128"/>
            <a:ext cx="2365248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1216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Official go-live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8077200" y="3785616"/>
            <a:ext cx="2840736" cy="6583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65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MAIA workflow becomes Macro Frozen's live operating process.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566928" y="4700016"/>
            <a:ext cx="335280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ADFD3"/>
            </a:solidFill>
            <a:prstDash val="solid"/>
          </a:ln>
          <a:effectLst>
            <a:outerShdw blurRad="177800" dist="38100" dir="5400000" algn="bl" rotWithShape="0">
              <a:srgbClr val="B9895E">
                <a:alpha val="16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822960" y="4919472"/>
            <a:ext cx="365760" cy="365760"/>
          </a:xfrm>
          <a:prstGeom prst="ellipse">
            <a:avLst/>
          </a:prstGeom>
          <a:solidFill>
            <a:srgbClr val="121216"/>
          </a:solidFill>
          <a:ln w="12700">
            <a:solidFill>
              <a:srgbClr val="12121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22960" y="4919472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7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1298448" y="4919472"/>
            <a:ext cx="2365248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1216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Hypercare group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822960" y="5394960"/>
            <a:ext cx="2840736" cy="6583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65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MAIA sets up a WhatsApp group for live support, issue resolution, bug reports and improvement feedback.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4194048" y="4700016"/>
            <a:ext cx="335280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ADFD3"/>
            </a:solidFill>
            <a:prstDash val="solid"/>
          </a:ln>
          <a:effectLst>
            <a:outerShdw blurRad="177800" dist="38100" dir="5400000" algn="bl" rotWithShape="0">
              <a:srgbClr val="B9895E">
                <a:alpha val="16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450080" y="4919472"/>
            <a:ext cx="365760" cy="365760"/>
          </a:xfrm>
          <a:prstGeom prst="ellipse">
            <a:avLst/>
          </a:prstGeom>
          <a:solidFill>
            <a:srgbClr val="121216"/>
          </a:solidFill>
          <a:ln w="12700">
            <a:solidFill>
              <a:srgbClr val="12121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450080" y="4919472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8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4925568" y="4919472"/>
            <a:ext cx="2365248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1216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Subscription starts</a:t>
            </a:r>
            <a:endParaRPr lang="en-US" sz="1500" dirty="0"/>
          </a:p>
        </p:txBody>
      </p:sp>
      <p:sp>
        <p:nvSpPr>
          <p:cNvPr id="43" name="Text 41"/>
          <p:cNvSpPr/>
          <p:nvPr/>
        </p:nvSpPr>
        <p:spPr>
          <a:xfrm>
            <a:off x="4450080" y="5394960"/>
            <a:ext cx="2840736" cy="6583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65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balance of the set-up fee falls due only on delivery of all customisations.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7821168" y="4700016"/>
            <a:ext cx="335280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ADFD3"/>
            </a:solidFill>
            <a:prstDash val="solid"/>
          </a:ln>
          <a:effectLst>
            <a:outerShdw blurRad="177800" dist="38100" dir="5400000" algn="bl" rotWithShape="0">
              <a:srgbClr val="B9895E">
                <a:alpha val="16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8077200" y="4919472"/>
            <a:ext cx="365760" cy="365760"/>
          </a:xfrm>
          <a:prstGeom prst="ellipse">
            <a:avLst/>
          </a:prstGeom>
          <a:solidFill>
            <a:srgbClr val="121216"/>
          </a:solidFill>
          <a:ln w="12700">
            <a:solidFill>
              <a:srgbClr val="12121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077200" y="4919472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9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8552688" y="4919472"/>
            <a:ext cx="2365248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1216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Virtual UAT per release</a:t>
            </a:r>
            <a:endParaRPr lang="en-US" sz="1500" dirty="0"/>
          </a:p>
        </p:txBody>
      </p:sp>
      <p:sp>
        <p:nvSpPr>
          <p:cNvPr id="48" name="Text 46"/>
          <p:cNvSpPr/>
          <p:nvPr/>
        </p:nvSpPr>
        <p:spPr>
          <a:xfrm>
            <a:off x="8077200" y="5394960"/>
            <a:ext cx="2840736" cy="6583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65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run a virtual UAT session for each customisation feature as it ships.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566928" y="6437376"/>
            <a:ext cx="1106424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A8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Items still in build — dashboard, catalogue generator, AR reconciliation, near-expiry refinements — continue on their own dates and do not gate this transition.</a:t>
            </a:r>
            <a:endParaRPr lang="en-US" sz="9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828800"/>
            <a:ext cx="6217920" cy="6217920"/>
          </a:xfrm>
          <a:prstGeom prst="ellipse">
            <a:avLst/>
          </a:prstGeom>
          <a:solidFill>
            <a:srgbClr val="1B1B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77724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20" dirty="0">
                <a:solidFill>
                  <a:srgbClr val="E8945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CLOSING THE SESSION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1097280"/>
            <a:ext cx="822960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Today's result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566928" y="2057400"/>
            <a:ext cx="2103120" cy="868680"/>
          </a:xfrm>
          <a:prstGeom prst="roundRect">
            <a:avLst>
              <a:gd name="adj" fmla="val 12632"/>
            </a:avLst>
          </a:prstGeom>
          <a:solidFill>
            <a:srgbClr val="1E1E26"/>
          </a:solidFill>
          <a:ln w="25400">
            <a:solidFill>
              <a:srgbClr val="2E8B6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2057400"/>
            <a:ext cx="210312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2E8B62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GREEN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2898648" y="2057400"/>
            <a:ext cx="2103120" cy="868680"/>
          </a:xfrm>
          <a:prstGeom prst="roundRect">
            <a:avLst>
              <a:gd name="adj" fmla="val 12632"/>
            </a:avLst>
          </a:prstGeom>
          <a:solidFill>
            <a:srgbClr val="1E1E26"/>
          </a:solidFill>
          <a:ln w="25400">
            <a:solidFill>
              <a:srgbClr val="D2941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898648" y="2057400"/>
            <a:ext cx="210312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D2941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AMBER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5230368" y="2057400"/>
            <a:ext cx="2103120" cy="868680"/>
          </a:xfrm>
          <a:prstGeom prst="roundRect">
            <a:avLst>
              <a:gd name="adj" fmla="val 12632"/>
            </a:avLst>
          </a:prstGeom>
          <a:solidFill>
            <a:srgbClr val="1E1E26"/>
          </a:solidFill>
          <a:ln w="25400">
            <a:solidFill>
              <a:srgbClr val="C0392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230368" y="2057400"/>
            <a:ext cx="210312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C0392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RED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566928" y="3200400"/>
            <a:ext cx="676656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B9B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tested the revised workflow, the simplified Lead model, sales ownership restrictions, manager visibility, carton handling on kilogram items, the improved Pick List PDF, shipping-address grouping, actual-weight processing, approvals, documents and SQL synchronisation.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66928" y="4434840"/>
            <a:ext cx="6766560" cy="1417320"/>
          </a:xfrm>
          <a:prstGeom prst="roundRect">
            <a:avLst>
              <a:gd name="adj" fmla="val 7742"/>
            </a:avLst>
          </a:prstGeom>
          <a:solidFill>
            <a:srgbClr val="1E1E26"/>
          </a:solidFill>
          <a:ln w="12700">
            <a:solidFill>
              <a:srgbClr val="3333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77824" y="4590288"/>
            <a:ext cx="6126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945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Still outside today's acceptance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77824" y="4882896"/>
            <a:ext cx="612648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A9A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Dashboard  ·  Product Catalogue Generator  ·  AR reconciliation  ·  Packing List Excel extraction  ·  Automatic document-line splitting  ·  Goods Receive Note creation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7772400" y="3200400"/>
            <a:ext cx="3840480" cy="2651760"/>
          </a:xfrm>
          <a:prstGeom prst="roundRect">
            <a:avLst>
              <a:gd name="adj" fmla="val 4138"/>
            </a:avLst>
          </a:prstGeom>
          <a:solidFill>
            <a:srgbClr val="E8945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83296" y="3401568"/>
            <a:ext cx="32004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A211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Next step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083296" y="3749040"/>
            <a:ext cx="3200400" cy="1371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A21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approval we run the catch-up synchronisation, reconcile the records, enable live two-way sync, then go live. A hypercare WhatsApp group opens the same day.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083296" y="5138928"/>
            <a:ext cx="32004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A211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Every open item leaves here with an owner and a date.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66928" y="6035040"/>
            <a:ext cx="18288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m</a:t>
            </a:r>
            <a:r>
              <a:rPr lang="en-US" sz="2000" b="1" dirty="0">
                <a:solidFill>
                  <a:srgbClr val="E8945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a</a:t>
            </a:r>
            <a:r>
              <a:rPr lang="en-US" sz="20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ia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5943600" y="6108192"/>
            <a:ext cx="56692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A6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Frozen × MAIA  ·  Core Order Workflow UAT  ·  28 July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17954</Words>
  <Application>WPS Sheets</Application>
  <PresentationFormat>On-screen Show (16:9)</PresentationFormat>
  <Paragraphs>1003</Paragraphs>
  <Slides>22</Slides>
  <Notes>22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36" baseType="lpstr">
      <vt:lpstr>Arial</vt:lpstr>
      <vt:lpstr>SimSun</vt:lpstr>
      <vt:lpstr>Wingdings</vt:lpstr>
      <vt:lpstr>Arial</vt:lpstr>
      <vt:lpstr>Arial</vt:lpstr>
      <vt:lpstr>Calibri</vt:lpstr>
      <vt:lpstr>Helvetica Neue</vt:lpstr>
      <vt:lpstr>Calibri</vt:lpstr>
      <vt:lpstr>Calibri</vt:lpstr>
      <vt:lpstr>Microsoft YaHei</vt:lpstr>
      <vt:lpstr>汉仪旗黑</vt:lpstr>
      <vt:lpstr>Arial Unicode MS</vt:lpstr>
      <vt:lpstr>宋体-简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Macro Frozen x MAIA - Core Order Workflow UAT</dc:title>
  <dc:creator>Mindhive / AutorunBiz PLT</dc:creator>
  <dc:subject>PptxGenJS Presentation</dc:subject>
  <cp:lastModifiedBy>icyh</cp:lastModifiedBy>
  <cp:revision>2</cp:revision>
  <dcterms:created xsi:type="dcterms:W3CDTF">2026-07-28T03:18:00Z</dcterms:created>
  <dcterms:modified xsi:type="dcterms:W3CDTF">2026-07-28T03:18:00Z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095922168A85C446671F686A59166874_42</vt:lpwstr>
  </property>
  <property fmtid="{D5CDD505-2E9C-101B-9397-08002B2CF9AE}" pid="3" name="KSOProductBuildVer">
    <vt:lpwstr>1033-12.1.25880.25880</vt:lpwstr>
  </property>
</Properties>
</file>